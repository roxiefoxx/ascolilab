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C1A6"/>
    <a:srgbClr val="A4BCC0"/>
    <a:srgbClr val="95C7AD"/>
    <a:srgbClr val="A6CEB5"/>
    <a:srgbClr val="B0CDAA"/>
    <a:srgbClr val="B2CDD1"/>
    <a:srgbClr val="A9CF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3323" autoAdjust="0"/>
    <p:restoredTop sz="94636"/>
  </p:normalViewPr>
  <p:slideViewPr>
    <p:cSldViewPr snapToGrid="0">
      <p:cViewPr>
        <p:scale>
          <a:sx n="25" d="100"/>
          <a:sy n="25" d="100"/>
        </p:scale>
        <p:origin x="65" y="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9C7E77-5BFA-C642-AED3-9B979E907EAE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21394-7F37-354B-8EF7-C845D2950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50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21394-7F37-354B-8EF7-C845D29506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65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5207-0181-A549-9D11-7073704B198D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D004-D783-024C-82BA-6E9C37A27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107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5207-0181-A549-9D11-7073704B198D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D004-D783-024C-82BA-6E9C37A27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979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5207-0181-A549-9D11-7073704B198D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D004-D783-024C-82BA-6E9C37A27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563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5207-0181-A549-9D11-7073704B198D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D004-D783-024C-82BA-6E9C37A27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08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5207-0181-A549-9D11-7073704B198D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D004-D783-024C-82BA-6E9C37A27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426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5207-0181-A549-9D11-7073704B198D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D004-D783-024C-82BA-6E9C37A27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05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5207-0181-A549-9D11-7073704B198D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D004-D783-024C-82BA-6E9C37A27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616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5207-0181-A549-9D11-7073704B198D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D004-D783-024C-82BA-6E9C37A27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16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5207-0181-A549-9D11-7073704B198D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D004-D783-024C-82BA-6E9C37A27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84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5207-0181-A549-9D11-7073704B198D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D004-D783-024C-82BA-6E9C37A27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24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5207-0181-A549-9D11-7073704B198D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D004-D783-024C-82BA-6E9C37A27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828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25207-0181-A549-9D11-7073704B198D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3D004-D783-024C-82BA-6E9C37A27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5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image" Target="../media/image14.png"/><Relationship Id="rId26" Type="http://schemas.openxmlformats.org/officeDocument/2006/relationships/image" Target="../media/image21.png"/><Relationship Id="rId3" Type="http://schemas.openxmlformats.org/officeDocument/2006/relationships/image" Target="../media/image1.gif"/><Relationship Id="rId21" Type="http://schemas.openxmlformats.org/officeDocument/2006/relationships/image" Target="../media/image17.png"/><Relationship Id="rId34" Type="http://schemas.openxmlformats.org/officeDocument/2006/relationships/image" Target="../media/image29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2.wdp"/><Relationship Id="rId25" Type="http://schemas.openxmlformats.org/officeDocument/2006/relationships/image" Target="../media/image20.png"/><Relationship Id="rId3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0" Type="http://schemas.openxmlformats.org/officeDocument/2006/relationships/image" Target="../media/image16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24" Type="http://schemas.openxmlformats.org/officeDocument/2006/relationships/image" Target="../media/image19.png"/><Relationship Id="rId32" Type="http://schemas.openxmlformats.org/officeDocument/2006/relationships/image" Target="../media/image27.png"/><Relationship Id="rId5" Type="http://schemas.openxmlformats.org/officeDocument/2006/relationships/image" Target="../media/image3.png"/><Relationship Id="rId15" Type="http://schemas.openxmlformats.org/officeDocument/2006/relationships/image" Target="../media/image12.emf"/><Relationship Id="rId23" Type="http://schemas.openxmlformats.org/officeDocument/2006/relationships/image" Target="../media/image18.png"/><Relationship Id="rId28" Type="http://schemas.openxmlformats.org/officeDocument/2006/relationships/image" Target="../media/image23.png"/><Relationship Id="rId36" Type="http://schemas.microsoft.com/office/2007/relationships/hdphoto" Target="../media/hdphoto4.wdp"/><Relationship Id="rId10" Type="http://schemas.openxmlformats.org/officeDocument/2006/relationships/image" Target="../media/image7.png"/><Relationship Id="rId19" Type="http://schemas.openxmlformats.org/officeDocument/2006/relationships/image" Target="../media/image15.png"/><Relationship Id="rId31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microsoft.com/office/2007/relationships/hdphoto" Target="../media/hdphoto1.wdp"/><Relationship Id="rId14" Type="http://schemas.openxmlformats.org/officeDocument/2006/relationships/image" Target="../media/image11.tiff"/><Relationship Id="rId22" Type="http://schemas.microsoft.com/office/2007/relationships/hdphoto" Target="../media/hdphoto3.wdp"/><Relationship Id="rId27" Type="http://schemas.openxmlformats.org/officeDocument/2006/relationships/image" Target="../media/image22.png"/><Relationship Id="rId30" Type="http://schemas.openxmlformats.org/officeDocument/2006/relationships/image" Target="../media/image25.png"/><Relationship Id="rId35" Type="http://schemas.openxmlformats.org/officeDocument/2006/relationships/image" Target="../media/image30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C1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>
            <a:extLst>
              <a:ext uri="{FF2B5EF4-FFF2-40B4-BE49-F238E27FC236}">
                <a16:creationId xmlns:a16="http://schemas.microsoft.com/office/drawing/2014/main" id="{72ECDACE-026E-3BF5-C581-FF617771E84B}"/>
              </a:ext>
            </a:extLst>
          </p:cNvPr>
          <p:cNvSpPr/>
          <p:nvPr/>
        </p:nvSpPr>
        <p:spPr>
          <a:xfrm>
            <a:off x="773557" y="2645236"/>
            <a:ext cx="28873035" cy="23257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19963" tIns="310162" rIns="619963" bIns="310162" anchor="t">
            <a:normAutofit fontScale="70000" lnSpcReduction="20000"/>
          </a:bodyPr>
          <a:lstStyle/>
          <a:p>
            <a:pPr algn="ctr" defTabSz="915040">
              <a:tabLst>
                <a:tab pos="0" algn="l"/>
              </a:tabLst>
            </a:pPr>
            <a:r>
              <a:rPr lang="pt-BR" sz="5500" spc="-1" dirty="0">
                <a:solidFill>
                  <a:srgbClr val="262626"/>
                </a:solidFill>
                <a:latin typeface="Calibri"/>
                <a:ea typeface="DejaVu Sans"/>
              </a:rPr>
              <a:t>Jean Mimar Santa Cruz Yabarrena &amp;</a:t>
            </a:r>
            <a:r>
              <a:rPr lang="en-US" sz="5500" spc="-1" dirty="0">
                <a:solidFill>
                  <a:srgbClr val="262626"/>
                </a:solidFill>
                <a:latin typeface="Calibri"/>
                <a:ea typeface="DejaVu Sans"/>
              </a:rPr>
              <a:t> Giorgio A. Ascoli</a:t>
            </a:r>
            <a:endParaRPr lang="pt-BR" sz="5500" spc="-1" dirty="0">
              <a:solidFill>
                <a:srgbClr val="000000"/>
              </a:solidFill>
              <a:latin typeface="Arial"/>
            </a:endParaRPr>
          </a:p>
          <a:p>
            <a:pPr algn="ctr" defTabSz="915040">
              <a:spcBef>
                <a:spcPts val="1200"/>
              </a:spcBef>
              <a:tabLst>
                <a:tab pos="0" algn="l"/>
              </a:tabLst>
            </a:pPr>
            <a:r>
              <a:rPr lang="en-GB" sz="5100" i="1" spc="-1" dirty="0">
                <a:solidFill>
                  <a:srgbClr val="262626"/>
                </a:solidFill>
                <a:latin typeface="Calibri"/>
                <a:ea typeface="DejaVu Sans"/>
              </a:rPr>
              <a:t>Center for Neural Informatics, Structures, &amp; Plasticity (CN3), College of Engineering and Computing</a:t>
            </a:r>
          </a:p>
          <a:p>
            <a:pPr algn="ctr" defTabSz="915040">
              <a:spcBef>
                <a:spcPts val="1200"/>
              </a:spcBef>
              <a:tabLst>
                <a:tab pos="0" algn="l"/>
              </a:tabLst>
            </a:pPr>
            <a:r>
              <a:rPr lang="en-GB" sz="5100" i="1" spc="-1" dirty="0">
                <a:solidFill>
                  <a:srgbClr val="262626"/>
                </a:solidFill>
                <a:latin typeface="Calibri"/>
                <a:ea typeface="DejaVu Sans"/>
              </a:rPr>
              <a:t>George Mason University, Fairfax, VA, USA - </a:t>
            </a:r>
            <a:r>
              <a:rPr lang="en-GB" sz="5100" i="1" spc="-1" dirty="0">
                <a:solidFill>
                  <a:srgbClr val="000000"/>
                </a:solidFill>
                <a:latin typeface="Calibri"/>
                <a:ea typeface="DejaVu Sans"/>
              </a:rPr>
              <a:t>ascoli@gmu.edu</a:t>
            </a:r>
            <a:endParaRPr lang="pt-BR" sz="51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A932744-8265-88FA-90D2-FFE1B50BEAA8}"/>
              </a:ext>
            </a:extLst>
          </p:cNvPr>
          <p:cNvSpPr/>
          <p:nvPr/>
        </p:nvSpPr>
        <p:spPr>
          <a:xfrm>
            <a:off x="3041835" y="151743"/>
            <a:ext cx="23848734" cy="245247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19963" tIns="310162" rIns="619963" bIns="310162" anchor="ctr">
            <a:noAutofit/>
          </a:bodyPr>
          <a:lstStyle/>
          <a:p>
            <a:pPr algn="ctr" defTabSz="915040"/>
            <a:r>
              <a:rPr lang="en-US" sz="8000" b="1" spc="-1" dirty="0">
                <a:solidFill>
                  <a:srgbClr val="000000"/>
                </a:solidFill>
                <a:latin typeface="Calibri"/>
                <a:ea typeface="DejaVu Sans"/>
              </a:rPr>
              <a:t>Data-Driven Functional Analysis of a </a:t>
            </a:r>
          </a:p>
          <a:p>
            <a:pPr algn="ctr" defTabSz="915040"/>
            <a:r>
              <a:rPr lang="en-US" sz="8000" b="1" spc="-1" dirty="0">
                <a:solidFill>
                  <a:srgbClr val="000000"/>
                </a:solidFill>
                <a:latin typeface="Calibri"/>
                <a:ea typeface="DejaVu Sans"/>
              </a:rPr>
              <a:t>Mammalian Neuron Type Connectome</a:t>
            </a:r>
            <a:endParaRPr lang="pt-BR" sz="8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15A15C3-37DA-4A93-DD46-7B187216A3A9}"/>
              </a:ext>
            </a:extLst>
          </p:cNvPr>
          <p:cNvSpPr/>
          <p:nvPr/>
        </p:nvSpPr>
        <p:spPr>
          <a:xfrm>
            <a:off x="-358793" y="-5508402"/>
            <a:ext cx="180477" cy="187826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1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A6157612-5B55-2D6E-A48B-C42E7C07C64D}"/>
              </a:ext>
            </a:extLst>
          </p:cNvPr>
          <p:cNvSpPr/>
          <p:nvPr/>
        </p:nvSpPr>
        <p:spPr>
          <a:xfrm>
            <a:off x="-358793" y="-5508402"/>
            <a:ext cx="180477" cy="187826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1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13" name="Group 3">
            <a:extLst>
              <a:ext uri="{FF2B5EF4-FFF2-40B4-BE49-F238E27FC236}">
                <a16:creationId xmlns:a16="http://schemas.microsoft.com/office/drawing/2014/main" id="{4CFC7050-BB4F-28DC-EB38-204793A81EFE}"/>
              </a:ext>
            </a:extLst>
          </p:cNvPr>
          <p:cNvGrpSpPr/>
          <p:nvPr/>
        </p:nvGrpSpPr>
        <p:grpSpPr>
          <a:xfrm>
            <a:off x="26367867" y="201949"/>
            <a:ext cx="3624766" cy="2340528"/>
            <a:chOff x="40716360" y="266400"/>
            <a:chExt cx="2613240" cy="1458360"/>
          </a:xfrm>
        </p:grpSpPr>
        <p:sp>
          <p:nvSpPr>
            <p:cNvPr id="14" name="Rounded Rectangle 4">
              <a:extLst>
                <a:ext uri="{FF2B5EF4-FFF2-40B4-BE49-F238E27FC236}">
                  <a16:creationId xmlns:a16="http://schemas.microsoft.com/office/drawing/2014/main" id="{C2DCACB5-A104-3ECC-FF88-2265469B5FEB}"/>
                </a:ext>
              </a:extLst>
            </p:cNvPr>
            <p:cNvSpPr/>
            <p:nvPr/>
          </p:nvSpPr>
          <p:spPr>
            <a:xfrm>
              <a:off x="40716360" y="266400"/>
              <a:ext cx="2613240" cy="145836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5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59" tIns="45029" rIns="90059" bIns="45029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1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15" name="Picture 4" descr="C:\Documents and Settings\gillette\My Documents\gmulogo.gif">
              <a:extLst>
                <a:ext uri="{FF2B5EF4-FFF2-40B4-BE49-F238E27FC236}">
                  <a16:creationId xmlns:a16="http://schemas.microsoft.com/office/drawing/2014/main" id="{8564A6DF-1D4B-F85F-74AC-EA95CCC757EB}"/>
                </a:ext>
              </a:extLst>
            </p:cNvPr>
            <p:cNvPicPr/>
            <p:nvPr/>
          </p:nvPicPr>
          <p:blipFill>
            <a:blip r:embed="rId3"/>
            <a:srcRect r="64215"/>
            <a:stretch/>
          </p:blipFill>
          <p:spPr>
            <a:xfrm>
              <a:off x="40923000" y="290520"/>
              <a:ext cx="2246400" cy="143424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16" name="Picture 5">
            <a:extLst>
              <a:ext uri="{FF2B5EF4-FFF2-40B4-BE49-F238E27FC236}">
                <a16:creationId xmlns:a16="http://schemas.microsoft.com/office/drawing/2014/main" id="{79D1ABFA-31D0-8826-8E84-8BF1A98119B7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325993" y="236384"/>
            <a:ext cx="2517626" cy="2387333"/>
          </a:xfrm>
          <a:prstGeom prst="rect">
            <a:avLst/>
          </a:prstGeom>
          <a:ln w="0">
            <a:noFill/>
          </a:ln>
        </p:spPr>
      </p:pic>
      <p:sp>
        <p:nvSpPr>
          <p:cNvPr id="17" name="Rectangle 22">
            <a:extLst>
              <a:ext uri="{FF2B5EF4-FFF2-40B4-BE49-F238E27FC236}">
                <a16:creationId xmlns:a16="http://schemas.microsoft.com/office/drawing/2014/main" id="{7E36109E-89B2-6D05-B61E-DC096EFC5693}"/>
              </a:ext>
            </a:extLst>
          </p:cNvPr>
          <p:cNvSpPr/>
          <p:nvPr/>
        </p:nvSpPr>
        <p:spPr>
          <a:xfrm>
            <a:off x="360" y="-4229930"/>
            <a:ext cx="43914011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-44309" rIns="90059" bIns="-44309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1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" name="Rectangle 23">
            <a:extLst>
              <a:ext uri="{FF2B5EF4-FFF2-40B4-BE49-F238E27FC236}">
                <a16:creationId xmlns:a16="http://schemas.microsoft.com/office/drawing/2014/main" id="{D3CA8F6B-21F7-6BE7-CE28-53A55E928BAD}"/>
              </a:ext>
            </a:extLst>
          </p:cNvPr>
          <p:cNvSpPr/>
          <p:nvPr/>
        </p:nvSpPr>
        <p:spPr>
          <a:xfrm>
            <a:off x="130044" y="-4106010"/>
            <a:ext cx="43914011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-44309" rIns="90059" bIns="-44309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1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607" name="Group 606">
            <a:extLst>
              <a:ext uri="{FF2B5EF4-FFF2-40B4-BE49-F238E27FC236}">
                <a16:creationId xmlns:a16="http://schemas.microsoft.com/office/drawing/2014/main" id="{40651397-0A98-9453-FB67-4AC51D9CFC19}"/>
              </a:ext>
            </a:extLst>
          </p:cNvPr>
          <p:cNvGrpSpPr/>
          <p:nvPr/>
        </p:nvGrpSpPr>
        <p:grpSpPr>
          <a:xfrm>
            <a:off x="10475859" y="17396576"/>
            <a:ext cx="9175821" cy="10315273"/>
            <a:chOff x="24624610" y="11350187"/>
            <a:chExt cx="9175821" cy="10315273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5577B2CC-E09B-586C-916F-AB9FA588DDCD}"/>
                </a:ext>
              </a:extLst>
            </p:cNvPr>
            <p:cNvSpPr/>
            <p:nvPr/>
          </p:nvSpPr>
          <p:spPr>
            <a:xfrm>
              <a:off x="24624610" y="11401561"/>
              <a:ext cx="9175821" cy="10263899"/>
            </a:xfrm>
            <a:prstGeom prst="roundRect">
              <a:avLst>
                <a:gd name="adj" fmla="val 2585"/>
              </a:avLst>
            </a:prstGeom>
            <a:solidFill>
              <a:schemeClr val="bg1">
                <a:lumMod val="95000"/>
              </a:schemeClr>
            </a:solidFill>
            <a:ln w="7620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 sz="1801" dirty="0"/>
            </a:p>
          </p:txBody>
        </p:sp>
        <p:sp>
          <p:nvSpPr>
            <p:cNvPr id="22" name="Rectangle 75">
              <a:extLst>
                <a:ext uri="{FF2B5EF4-FFF2-40B4-BE49-F238E27FC236}">
                  <a16:creationId xmlns:a16="http://schemas.microsoft.com/office/drawing/2014/main" id="{84EF9183-6C51-39D8-9221-D4E89F73C4FB}"/>
                </a:ext>
              </a:extLst>
            </p:cNvPr>
            <p:cNvSpPr/>
            <p:nvPr/>
          </p:nvSpPr>
          <p:spPr>
            <a:xfrm>
              <a:off x="27706821" y="11350187"/>
              <a:ext cx="4318910" cy="94993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59" tIns="45029" rIns="90059" bIns="45029" anchor="t">
              <a:noAutofit/>
            </a:bodyPr>
            <a:lstStyle/>
            <a:p>
              <a:pPr algn="ctr" defTabSz="915040"/>
              <a:r>
                <a:rPr lang="en-US" sz="5404" b="1" spc="-1" dirty="0">
                  <a:solidFill>
                    <a:srgbClr val="800080"/>
                  </a:solidFill>
                  <a:latin typeface="Calibri"/>
                </a:rPr>
                <a:t>Connectivity</a:t>
              </a:r>
              <a:endParaRPr lang="pt-BR" sz="5404" spc="-1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505" name="Content Placeholder 3">
              <a:extLst>
                <a:ext uri="{FF2B5EF4-FFF2-40B4-BE49-F238E27FC236}">
                  <a16:creationId xmlns:a16="http://schemas.microsoft.com/office/drawing/2014/main" id="{D9BA528E-D3FD-1D6B-B6AB-FE35CD063B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1999" t="20505" r="48766" b="11940"/>
            <a:stretch>
              <a:fillRect/>
            </a:stretch>
          </p:blipFill>
          <p:spPr>
            <a:xfrm>
              <a:off x="24960550" y="12752300"/>
              <a:ext cx="4943124" cy="4787570"/>
            </a:xfrm>
            <a:prstGeom prst="rect">
              <a:avLst/>
            </a:prstGeom>
            <a:ln>
              <a:solidFill>
                <a:schemeClr val="tx2"/>
              </a:solidFill>
            </a:ln>
          </p:spPr>
        </p:pic>
        <p:sp>
          <p:nvSpPr>
            <p:cNvPr id="195" name="Heptagon 194">
              <a:extLst>
                <a:ext uri="{FF2B5EF4-FFF2-40B4-BE49-F238E27FC236}">
                  <a16:creationId xmlns:a16="http://schemas.microsoft.com/office/drawing/2014/main" id="{1391E4AE-0AFB-C5B9-29C9-26EBFC8387F2}"/>
                </a:ext>
              </a:extLst>
            </p:cNvPr>
            <p:cNvSpPr/>
            <p:nvPr/>
          </p:nvSpPr>
          <p:spPr>
            <a:xfrm>
              <a:off x="26172171" y="11507620"/>
              <a:ext cx="1042989" cy="1080964"/>
            </a:xfrm>
            <a:prstGeom prst="heptagon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4000" b="1" dirty="0">
                  <a:solidFill>
                    <a:srgbClr val="FFFF00"/>
                  </a:solidFill>
                </a:rPr>
                <a:t>2</a:t>
              </a:r>
              <a:endParaRPr lang="en-BR" sz="4000" b="1" dirty="0">
                <a:solidFill>
                  <a:srgbClr val="FFFF0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12FED41B-D1F7-6AAF-00C4-F5213F9471FA}"/>
                </a:ext>
              </a:extLst>
            </p:cNvPr>
            <p:cNvSpPr txBox="1"/>
            <p:nvPr/>
          </p:nvSpPr>
          <p:spPr>
            <a:xfrm>
              <a:off x="25133041" y="17693383"/>
              <a:ext cx="2934724" cy="3231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kumimoji="0" lang="en-US" sz="15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Tecuatl et al. </a:t>
              </a:r>
              <a:r>
                <a:rPr lang="en-US" sz="150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2021 PMID33361464</a:t>
              </a:r>
              <a:endParaRPr kumimoji="0" lang="en-US" sz="15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</a:endParaRPr>
            </a:p>
          </p:txBody>
        </p:sp>
        <p:pic>
          <p:nvPicPr>
            <p:cNvPr id="209" name="Picture 208">
              <a:extLst>
                <a:ext uri="{FF2B5EF4-FFF2-40B4-BE49-F238E27FC236}">
                  <a16:creationId xmlns:a16="http://schemas.microsoft.com/office/drawing/2014/main" id="{AA4B6532-2196-8D96-3983-F55711086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45234" t="40468" r="48986" b="50917"/>
            <a:stretch>
              <a:fillRect/>
            </a:stretch>
          </p:blipFill>
          <p:spPr>
            <a:xfrm>
              <a:off x="31773490" y="11455651"/>
              <a:ext cx="822376" cy="915243"/>
            </a:xfrm>
            <a:prstGeom prst="rect">
              <a:avLst/>
            </a:prstGeom>
          </p:spPr>
        </p:pic>
        <p:sp>
          <p:nvSpPr>
            <p:cNvPr id="214" name="Rectangle 82">
              <a:extLst>
                <a:ext uri="{FF2B5EF4-FFF2-40B4-BE49-F238E27FC236}">
                  <a16:creationId xmlns:a16="http://schemas.microsoft.com/office/drawing/2014/main" id="{3E77D120-7042-0DF6-3C71-348DEE52F36B}"/>
                </a:ext>
              </a:extLst>
            </p:cNvPr>
            <p:cNvSpPr/>
            <p:nvPr/>
          </p:nvSpPr>
          <p:spPr>
            <a:xfrm>
              <a:off x="24779657" y="19947636"/>
              <a:ext cx="8830739" cy="151053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59" tIns="45029" rIns="90059" bIns="45029" anchor="t">
              <a:noAutofit/>
            </a:bodyPr>
            <a:lstStyle/>
            <a:p>
              <a:pPr defTabSz="915040"/>
              <a:r>
                <a:rPr lang="en-US" sz="2500" spc="-1" dirty="0">
                  <a:solidFill>
                    <a:srgbClr val="000000"/>
                  </a:solidFill>
                </a:rPr>
                <a:t>Connectivity stoichiometry of all directional neuron pairs. Computational geometry also derives the distances along the </a:t>
              </a:r>
              <a:r>
                <a:rPr lang="en-US" sz="2500" spc="-1" dirty="0">
                  <a:solidFill>
                    <a:schemeClr val="accent2"/>
                  </a:solidFill>
                </a:rPr>
                <a:t>axonal</a:t>
              </a:r>
              <a:r>
                <a:rPr lang="en-US" sz="2500" spc="-1" dirty="0">
                  <a:solidFill>
                    <a:srgbClr val="000000"/>
                  </a:solidFill>
                </a:rPr>
                <a:t> path (affecting signal failure and delay) the </a:t>
              </a:r>
              <a:r>
                <a:rPr lang="en-US" sz="2500" spc="-1" dirty="0">
                  <a:solidFill>
                    <a:schemeClr val="accent2"/>
                  </a:solidFill>
                </a:rPr>
                <a:t>dendritic</a:t>
              </a:r>
              <a:r>
                <a:rPr lang="en-US" sz="2500" spc="-1" dirty="0">
                  <a:solidFill>
                    <a:srgbClr val="000000"/>
                  </a:solidFill>
                </a:rPr>
                <a:t> path (affecting signal attenuation and spread)</a:t>
              </a:r>
            </a:p>
          </p:txBody>
        </p:sp>
        <p:sp>
          <p:nvSpPr>
            <p:cNvPr id="528" name="Flowchart: Multidocument 1">
              <a:extLst>
                <a:ext uri="{FF2B5EF4-FFF2-40B4-BE49-F238E27FC236}">
                  <a16:creationId xmlns:a16="http://schemas.microsoft.com/office/drawing/2014/main" id="{0C71572C-3C43-CB41-D402-4F6BA9E6D796}"/>
                </a:ext>
              </a:extLst>
            </p:cNvPr>
            <p:cNvSpPr/>
            <p:nvPr/>
          </p:nvSpPr>
          <p:spPr>
            <a:xfrm>
              <a:off x="25068772" y="18325854"/>
              <a:ext cx="2205479" cy="1338943"/>
            </a:xfrm>
            <a:prstGeom prst="flowChartMultidocumen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Neuron types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Hippocampome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1.0</a:t>
              </a:r>
            </a:p>
          </p:txBody>
        </p:sp>
        <p:pic>
          <p:nvPicPr>
            <p:cNvPr id="529" name="Picture 528">
              <a:extLst>
                <a:ext uri="{FF2B5EF4-FFF2-40B4-BE49-F238E27FC236}">
                  <a16:creationId xmlns:a16="http://schemas.microsoft.com/office/drawing/2014/main" id="{C83D1A7A-5D37-A566-A010-7782C8D6C5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0885" t="20505" r="22000" b="11940"/>
            <a:stretch>
              <a:fillRect/>
            </a:stretch>
          </p:blipFill>
          <p:spPr>
            <a:xfrm>
              <a:off x="30106213" y="12723741"/>
              <a:ext cx="3568561" cy="5001141"/>
            </a:xfrm>
            <a:prstGeom prst="rect">
              <a:avLst/>
            </a:prstGeom>
            <a:ln>
              <a:solidFill>
                <a:schemeClr val="tx2"/>
              </a:solidFill>
            </a:ln>
          </p:spPr>
        </p:pic>
        <p:sp>
          <p:nvSpPr>
            <p:cNvPr id="530" name="Arrow: Pentagon 3">
              <a:extLst>
                <a:ext uri="{FF2B5EF4-FFF2-40B4-BE49-F238E27FC236}">
                  <a16:creationId xmlns:a16="http://schemas.microsoft.com/office/drawing/2014/main" id="{336536E1-8B05-A6F6-9113-E45239E7B3EF}"/>
                </a:ext>
              </a:extLst>
            </p:cNvPr>
            <p:cNvSpPr/>
            <p:nvPr/>
          </p:nvSpPr>
          <p:spPr>
            <a:xfrm>
              <a:off x="27935420" y="18416599"/>
              <a:ext cx="2128156" cy="925286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Axonal-dendritic overlap</a:t>
              </a:r>
            </a:p>
          </p:txBody>
        </p:sp>
        <p:sp>
          <p:nvSpPr>
            <p:cNvPr id="531" name="Rectangle: Beveled 5">
              <a:extLst>
                <a:ext uri="{FF2B5EF4-FFF2-40B4-BE49-F238E27FC236}">
                  <a16:creationId xmlns:a16="http://schemas.microsoft.com/office/drawing/2014/main" id="{B9D3ED40-F7FD-1792-A1BE-2AD2F0D50F7B}"/>
                </a:ext>
              </a:extLst>
            </p:cNvPr>
            <p:cNvSpPr/>
            <p:nvPr/>
          </p:nvSpPr>
          <p:spPr>
            <a:xfrm>
              <a:off x="31000062" y="18250141"/>
              <a:ext cx="1905000" cy="1262743"/>
            </a:xfrm>
            <a:prstGeom prst="beve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BR" dirty="0"/>
                <a:t>Probability of connection</a:t>
              </a:r>
            </a:p>
          </p:txBody>
        </p:sp>
        <p:sp>
          <p:nvSpPr>
            <p:cNvPr id="534" name="Right Arrow 533">
              <a:extLst>
                <a:ext uri="{FF2B5EF4-FFF2-40B4-BE49-F238E27FC236}">
                  <a16:creationId xmlns:a16="http://schemas.microsoft.com/office/drawing/2014/main" id="{990C09B9-5155-1EE0-CFA0-6BE1D4E4E3AD}"/>
                </a:ext>
              </a:extLst>
            </p:cNvPr>
            <p:cNvSpPr/>
            <p:nvPr/>
          </p:nvSpPr>
          <p:spPr>
            <a:xfrm>
              <a:off x="27302085" y="18580805"/>
              <a:ext cx="651342" cy="437727"/>
            </a:xfrm>
            <a:prstGeom prst="right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535" name="Right Arrow 534">
              <a:extLst>
                <a:ext uri="{FF2B5EF4-FFF2-40B4-BE49-F238E27FC236}">
                  <a16:creationId xmlns:a16="http://schemas.microsoft.com/office/drawing/2014/main" id="{98303C81-5999-26A6-DB21-6E0F4C83FB18}"/>
                </a:ext>
              </a:extLst>
            </p:cNvPr>
            <p:cNvSpPr/>
            <p:nvPr/>
          </p:nvSpPr>
          <p:spPr>
            <a:xfrm>
              <a:off x="30099229" y="18621719"/>
              <a:ext cx="865870" cy="476031"/>
            </a:xfrm>
            <a:prstGeom prst="right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3438D6D-3C7C-7A93-D729-C624A9988404}"/>
              </a:ext>
            </a:extLst>
          </p:cNvPr>
          <p:cNvSpPr/>
          <p:nvPr/>
        </p:nvSpPr>
        <p:spPr>
          <a:xfrm>
            <a:off x="179663" y="5027621"/>
            <a:ext cx="15030411" cy="12196503"/>
          </a:xfrm>
          <a:prstGeom prst="roundRect">
            <a:avLst>
              <a:gd name="adj" fmla="val 4880"/>
            </a:avLst>
          </a:prstGeom>
          <a:solidFill>
            <a:schemeClr val="bg1">
              <a:lumMod val="95000"/>
            </a:schemeClr>
          </a:solidFill>
          <a:ln w="762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4800" b="1" dirty="0">
              <a:solidFill>
                <a:schemeClr val="tx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8530DBC-8F9E-2A6A-2FAE-3F13B51A9FF0}"/>
                  </a:ext>
                </a:extLst>
              </p:cNvPr>
              <p:cNvSpPr txBox="1"/>
              <p:nvPr/>
            </p:nvSpPr>
            <p:spPr>
              <a:xfrm>
                <a:off x="2024321" y="12271469"/>
                <a:ext cx="11320275" cy="194040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5004" b="1" i="1" kern="300" spc="-90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5004" b="1" i="1" kern="300" spc="-90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pt-BR" sz="5004" b="1" i="1" kern="300" spc="-90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d>
                            <m:dPr>
                              <m:ctrlPr>
                                <a:rPr lang="ar-AE" sz="5004" b="1" i="1" kern="300" spc="-90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5004" b="1" i="1" kern="300" spc="-90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  <m:r>
                                <a:rPr lang="ar-AE" sz="5004" b="1" kern="300" spc="-90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5004" b="1" i="1" kern="300" spc="-90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sub>
                      </m:sSub>
                      <m:r>
                        <a:rPr lang="ar-AE" sz="5004" b="1" kern="300" spc="-9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ar-AE" sz="5004" b="1" i="1" kern="300" spc="-9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5004" b="1" i="1" kern="300" spc="-9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pt-BR" sz="5004" b="1" i="1" kern="300" spc="-90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ar-AE" sz="5004" b="1" i="1" kern="300" spc="-90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ar-AE" sz="5004" b="1" i="1" kern="300" spc="-90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5004" b="1" i="1" kern="300" spc="-900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pt-BR" sz="5004" b="1" i="1" kern="300" spc="-900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  <m:sub>
                              <m:d>
                                <m:dPr>
                                  <m:ctrlPr>
                                    <a:rPr lang="ar-AE" sz="5004" b="1" i="1" kern="300" spc="-90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5004" b="1" i="1" kern="300" spc="-90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e>
                              </m:d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sz="5004" b="1" i="1" kern="300" spc="-9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5004" b="1" i="1" kern="300" spc="-90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ar-AE" sz="5004" b="1" i="1" kern="300" spc="-9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ar-AE" sz="5004" b="1" kern="300" spc="-9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ar-AE" sz="5004" b="1" i="1" kern="300" spc="-9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5004" b="1" i="1" kern="300" spc="-9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ar-AE" sz="5004" b="1" i="1" kern="300" spc="-9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ar-AE" sz="5004" b="1" kern="300" spc="-9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ar-AE" sz="5004" b="1" i="1" kern="300" spc="-9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5004" b="1" i="1" kern="300" spc="-9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b>
                          <m:r>
                            <a:rPr lang="ar-AE" sz="5004" b="1" i="1" kern="300" spc="-9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d>
                        <m:dPr>
                          <m:ctrlPr>
                            <a:rPr lang="ar-AE" sz="5004" b="1" i="1" kern="300" spc="-9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5004" b="1" i="1" kern="300" spc="-90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5004" b="1" i="1" kern="300" spc="-90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ar-AE" sz="5004" b="1" i="1" kern="300" spc="-90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pt-BR" sz="5004" b="1" i="1" kern="300" spc="-90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𝒆𝒇</m:t>
                              </m:r>
                            </m:sub>
                          </m:sSub>
                          <m:r>
                            <a:rPr lang="ar-AE" sz="5004" b="1" i="1" kern="300" spc="-90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5004" b="1" i="1" kern="300" spc="-90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5004" b="1" i="1" kern="300" spc="-90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ar-AE" sz="5004" b="1" i="1" kern="300" spc="-90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𝒓𝒆𝒗</m:t>
                              </m:r>
                            </m:sub>
                          </m:sSub>
                        </m:e>
                      </m:d>
                      <m:r>
                        <a:rPr lang="ar-AE" sz="5004" b="1" kern="300" spc="-9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ar-AE" sz="5004" b="1" i="1" kern="300" spc="-9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5004" b="1" i="1" kern="300" spc="-9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ar-AE" sz="5004" b="1" i="1" kern="300" spc="-9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ar-AE" sz="5004" b="1" kern="300" spc="-9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ar-AE" sz="5004" b="1" i="1" kern="300" spc="-9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5004" b="1" i="1" kern="300" spc="-9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𝜿</m:t>
                          </m:r>
                        </m:e>
                        <m:sub>
                          <m:r>
                            <a:rPr lang="ar-AE" sz="5004" b="1" i="1" kern="300" spc="-9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sz="5004" b="1" kern="300" spc="-900" dirty="0">
                  <a:latin typeface="Avenir Book" panose="02000503020000020003" pitchFamily="2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8530DBC-8F9E-2A6A-2FAE-3F13B51A9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321" y="12271469"/>
                <a:ext cx="11320275" cy="1940400"/>
              </a:xfrm>
              <a:prstGeom prst="rect">
                <a:avLst/>
              </a:prstGeom>
              <a:blipFill>
                <a:blip r:embed="rId7"/>
                <a:stretch>
                  <a:fillRect t="-128105" b="-20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75">
            <a:extLst>
              <a:ext uri="{FF2B5EF4-FFF2-40B4-BE49-F238E27FC236}">
                <a16:creationId xmlns:a16="http://schemas.microsoft.com/office/drawing/2014/main" id="{D0C4AF3B-F8F5-E49A-0491-1A05A5BE0E56}"/>
              </a:ext>
            </a:extLst>
          </p:cNvPr>
          <p:cNvSpPr/>
          <p:nvPr/>
        </p:nvSpPr>
        <p:spPr>
          <a:xfrm>
            <a:off x="5815836" y="4946000"/>
            <a:ext cx="3159886" cy="9499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 algn="ctr" defTabSz="915040"/>
            <a:r>
              <a:rPr lang="en-US" sz="5404" b="1" spc="-1" dirty="0">
                <a:solidFill>
                  <a:srgbClr val="800080"/>
                </a:solidFill>
                <a:latin typeface="Calibri"/>
                <a:ea typeface="DejaVu Sans"/>
              </a:rPr>
              <a:t>Problem</a:t>
            </a:r>
            <a:endParaRPr lang="pt-BR" sz="5404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Rectangle 75">
            <a:extLst>
              <a:ext uri="{FF2B5EF4-FFF2-40B4-BE49-F238E27FC236}">
                <a16:creationId xmlns:a16="http://schemas.microsoft.com/office/drawing/2014/main" id="{FE55C77F-67ED-57B6-EBC7-A9F397CF5939}"/>
              </a:ext>
            </a:extLst>
          </p:cNvPr>
          <p:cNvSpPr/>
          <p:nvPr/>
        </p:nvSpPr>
        <p:spPr>
          <a:xfrm>
            <a:off x="5735314" y="7162506"/>
            <a:ext cx="3568561" cy="9499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 algn="ctr" defTabSz="915040"/>
            <a:r>
              <a:rPr lang="en-US" sz="5404" b="1" spc="-1" dirty="0">
                <a:solidFill>
                  <a:srgbClr val="800080"/>
                </a:solidFill>
                <a:latin typeface="Calibri"/>
              </a:rPr>
              <a:t>Objective</a:t>
            </a:r>
            <a:endParaRPr lang="pt-BR" sz="5404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Rectangle 82">
            <a:extLst>
              <a:ext uri="{FF2B5EF4-FFF2-40B4-BE49-F238E27FC236}">
                <a16:creationId xmlns:a16="http://schemas.microsoft.com/office/drawing/2014/main" id="{03388756-4B9A-0C5E-3AC5-21FBE1A55AEE}"/>
              </a:ext>
            </a:extLst>
          </p:cNvPr>
          <p:cNvSpPr/>
          <p:nvPr/>
        </p:nvSpPr>
        <p:spPr>
          <a:xfrm>
            <a:off x="396706" y="5745880"/>
            <a:ext cx="13979694" cy="157594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 algn="ctr" defTabSz="915040"/>
            <a:r>
              <a:rPr lang="en-US" sz="2500" spc="-1" dirty="0">
                <a:solidFill>
                  <a:srgbClr val="000000"/>
                </a:solidFill>
                <a:latin typeface="Arial"/>
                <a:ea typeface="DejaVu Sans"/>
              </a:rPr>
              <a:t>The enormous </a:t>
            </a:r>
            <a:r>
              <a:rPr lang="en-US" sz="2500" spc="-1" dirty="0">
                <a:solidFill>
                  <a:srgbClr val="E46765"/>
                </a:solidFill>
                <a:latin typeface="Arial"/>
                <a:ea typeface="DejaVu Sans"/>
              </a:rPr>
              <a:t>complexity</a:t>
            </a:r>
            <a:r>
              <a:rPr lang="en-US" sz="2500" spc="-1" dirty="0">
                <a:solidFill>
                  <a:srgbClr val="000000"/>
                </a:solidFill>
                <a:latin typeface="Arial"/>
                <a:ea typeface="DejaVu Sans"/>
              </a:rPr>
              <a:t> of </a:t>
            </a:r>
            <a:r>
              <a:rPr lang="en-US" sz="2500" spc="-1" dirty="0">
                <a:solidFill>
                  <a:srgbClr val="E46765"/>
                </a:solidFill>
                <a:latin typeface="Arial"/>
                <a:ea typeface="DejaVu Sans"/>
              </a:rPr>
              <a:t>and computational cost </a:t>
            </a:r>
            <a:r>
              <a:rPr lang="en-US" sz="2500" spc="-1" dirty="0">
                <a:solidFill>
                  <a:srgbClr val="000000"/>
                </a:solidFill>
                <a:latin typeface="Arial"/>
                <a:ea typeface="DejaVu Sans"/>
              </a:rPr>
              <a:t>for simulating biological neural networks is a major challenge in computational neuroscience. Translating this complexity into data-driven simulations requires availability of suitable experimental data and modeling feasibility</a:t>
            </a:r>
            <a:endParaRPr lang="pt-BR" sz="25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Rectangle 82">
            <a:extLst>
              <a:ext uri="{FF2B5EF4-FFF2-40B4-BE49-F238E27FC236}">
                <a16:creationId xmlns:a16="http://schemas.microsoft.com/office/drawing/2014/main" id="{1360E5A7-6910-E2D4-9BD9-360ACC673731}"/>
              </a:ext>
            </a:extLst>
          </p:cNvPr>
          <p:cNvSpPr/>
          <p:nvPr/>
        </p:nvSpPr>
        <p:spPr>
          <a:xfrm>
            <a:off x="472983" y="8090945"/>
            <a:ext cx="14493219" cy="157594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 algn="ctr" defTabSz="915040"/>
            <a:r>
              <a:rPr lang="en-US" sz="2500" spc="-1" dirty="0">
                <a:solidFill>
                  <a:srgbClr val="000000"/>
                </a:solidFill>
              </a:rPr>
              <a:t>This work provides a computational framework founded on experimentally derived parameters to model hippocampal circuits at the crucial level of neuron types, enabling efficient simulations by reducing connectivity complexity without sacrificing biological accuracy</a:t>
            </a:r>
            <a:endParaRPr lang="en-US" sz="25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DE4FF7E-526E-4A46-7B66-D091E8091DDF}"/>
              </a:ext>
            </a:extLst>
          </p:cNvPr>
          <p:cNvSpPr/>
          <p:nvPr/>
        </p:nvSpPr>
        <p:spPr>
          <a:xfrm rot="16200000">
            <a:off x="5494619" y="11745515"/>
            <a:ext cx="2111795" cy="5258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500" dirty="0"/>
              <a:t>Census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F413222-6AF8-E5EA-012C-D1FB18F18EB3}"/>
              </a:ext>
            </a:extLst>
          </p:cNvPr>
          <p:cNvSpPr/>
          <p:nvPr/>
        </p:nvSpPr>
        <p:spPr>
          <a:xfrm rot="16200000">
            <a:off x="6356465" y="11738020"/>
            <a:ext cx="2126785" cy="5258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500" dirty="0"/>
              <a:t>Connectivity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F141C89-1A5A-5428-B859-638D59237F48}"/>
              </a:ext>
            </a:extLst>
          </p:cNvPr>
          <p:cNvSpPr/>
          <p:nvPr/>
        </p:nvSpPr>
        <p:spPr>
          <a:xfrm rot="16200000">
            <a:off x="7325520" y="11581591"/>
            <a:ext cx="2108442" cy="8503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500" dirty="0"/>
              <a:t>Synaptic Physiology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8AAB8D3A-386D-A4FD-CE44-B3BD286902BA}"/>
              </a:ext>
            </a:extLst>
          </p:cNvPr>
          <p:cNvSpPr/>
          <p:nvPr/>
        </p:nvSpPr>
        <p:spPr>
          <a:xfrm>
            <a:off x="9127051" y="9728676"/>
            <a:ext cx="2137808" cy="126226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500" dirty="0">
                <a:solidFill>
                  <a:srgbClr val="FFFF00"/>
                </a:solidFill>
              </a:rPr>
              <a:t>Membrane electro-</a:t>
            </a:r>
          </a:p>
          <a:p>
            <a:pPr algn="ctr"/>
            <a:r>
              <a:rPr lang="en-BR" sz="2500" dirty="0">
                <a:solidFill>
                  <a:srgbClr val="FFFF00"/>
                </a:solidFill>
              </a:rPr>
              <a:t>physiology</a:t>
            </a:r>
          </a:p>
        </p:txBody>
      </p:sp>
      <p:pic>
        <p:nvPicPr>
          <p:cNvPr id="43" name="Picture 3">
            <a:extLst>
              <a:ext uri="{FF2B5EF4-FFF2-40B4-BE49-F238E27FC236}">
                <a16:creationId xmlns:a16="http://schemas.microsoft.com/office/drawing/2014/main" id="{49308574-84E6-B813-060D-5311AF31B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alphaModFix amt="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108" y="10040643"/>
            <a:ext cx="3428457" cy="2242396"/>
          </a:xfrm>
          <a:prstGeom prst="rect">
            <a:avLst/>
          </a:prstGeom>
          <a:noFill/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AB1913D0-C920-ABED-1F1E-C3DB5B3940FA}"/>
              </a:ext>
            </a:extLst>
          </p:cNvPr>
          <p:cNvSpPr/>
          <p:nvPr/>
        </p:nvSpPr>
        <p:spPr>
          <a:xfrm rot="16200000">
            <a:off x="11845733" y="11655124"/>
            <a:ext cx="2075894" cy="7358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500" dirty="0"/>
              <a:t>Transfer Function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D910E086-1EAD-8F6D-ACAB-D8A5D1C9A098}"/>
              </a:ext>
            </a:extLst>
          </p:cNvPr>
          <p:cNvSpPr/>
          <p:nvPr/>
        </p:nvSpPr>
        <p:spPr>
          <a:xfrm>
            <a:off x="2474240" y="12538782"/>
            <a:ext cx="1663908" cy="5258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500" dirty="0"/>
              <a:t>Activity</a:t>
            </a:r>
          </a:p>
        </p:txBody>
      </p:sp>
      <p:sp>
        <p:nvSpPr>
          <p:cNvPr id="48" name="Left Brace 47">
            <a:extLst>
              <a:ext uri="{FF2B5EF4-FFF2-40B4-BE49-F238E27FC236}">
                <a16:creationId xmlns:a16="http://schemas.microsoft.com/office/drawing/2014/main" id="{D0EB64EC-1CFB-3351-1E50-6AC8305D917F}"/>
              </a:ext>
            </a:extLst>
          </p:cNvPr>
          <p:cNvSpPr/>
          <p:nvPr/>
        </p:nvSpPr>
        <p:spPr>
          <a:xfrm rot="16200000">
            <a:off x="9246441" y="10873144"/>
            <a:ext cx="1129683" cy="6715330"/>
          </a:xfrm>
          <a:prstGeom prst="leftBrace">
            <a:avLst>
              <a:gd name="adj1" fmla="val 8333"/>
              <a:gd name="adj2" fmla="val 50000"/>
            </a:avLst>
          </a:prstGeom>
          <a:noFill/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R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95" name="Rounded Rectangle 494">
            <a:extLst>
              <a:ext uri="{FF2B5EF4-FFF2-40B4-BE49-F238E27FC236}">
                <a16:creationId xmlns:a16="http://schemas.microsoft.com/office/drawing/2014/main" id="{2558FED4-764A-3903-33AF-5FF0DA77AC1A}"/>
              </a:ext>
            </a:extLst>
          </p:cNvPr>
          <p:cNvSpPr/>
          <p:nvPr/>
        </p:nvSpPr>
        <p:spPr>
          <a:xfrm>
            <a:off x="7824131" y="15324675"/>
            <a:ext cx="1663908" cy="790501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500" dirty="0"/>
              <a:t>Markov</a:t>
            </a:r>
          </a:p>
          <a:p>
            <a:pPr algn="ctr"/>
            <a:r>
              <a:rPr lang="en-BR" sz="2500" dirty="0"/>
              <a:t>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6" name="TextBox 495">
                <a:extLst>
                  <a:ext uri="{FF2B5EF4-FFF2-40B4-BE49-F238E27FC236}">
                    <a16:creationId xmlns:a16="http://schemas.microsoft.com/office/drawing/2014/main" id="{A82759B5-C695-59E2-DD99-036305D602A7}"/>
                  </a:ext>
                </a:extLst>
              </p:cNvPr>
              <p:cNvSpPr txBox="1"/>
              <p:nvPr/>
            </p:nvSpPr>
            <p:spPr>
              <a:xfrm>
                <a:off x="7079448" y="16190149"/>
                <a:ext cx="5542936" cy="1033975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 sz="5004" b="1" i="1" kern="300" spc="-50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5004" b="1" i="1" kern="300" spc="-50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5004" b="1" i="1" kern="300" spc="-50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pt-BR" sz="5004" b="1" i="1" kern="300" spc="-50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pt-BR" sz="5004" b="1" i="1" kern="300" spc="-50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5004" b="1" i="1" kern="300" spc="-50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ar-AE" sz="5004" b="1" kern="300" spc="-5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5004" b="1" i="0" kern="300" spc="-5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5004" b="1" i="1" kern="300" spc="-50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5004" b="1" i="1" kern="300" spc="-50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5004" b="1" i="1" kern="300" spc="-50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pt-BR" sz="5004" b="1" i="1" kern="300" spc="-50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t-BR" sz="5004" b="1" i="1" kern="300" spc="-50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5004" b="1" i="1" kern="300" spc="-50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5004" b="1" i="1" kern="300" spc="-50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pt-BR" sz="5004" b="1" i="1" kern="300" spc="-50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5004" b="1" kern="300" spc="-500" dirty="0">
                  <a:latin typeface="Avenir Book" panose="02000503020000020003" pitchFamily="2" charset="0"/>
                </a:endParaRPr>
              </a:p>
            </p:txBody>
          </p:sp>
        </mc:Choice>
        <mc:Fallback xmlns="">
          <p:sp>
            <p:nvSpPr>
              <p:cNvPr id="496" name="TextBox 495">
                <a:extLst>
                  <a:ext uri="{FF2B5EF4-FFF2-40B4-BE49-F238E27FC236}">
                    <a16:creationId xmlns:a16="http://schemas.microsoft.com/office/drawing/2014/main" id="{A82759B5-C695-59E2-DD99-036305D60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448" y="16190149"/>
                <a:ext cx="5542936" cy="1033975"/>
              </a:xfrm>
              <a:prstGeom prst="rect">
                <a:avLst/>
              </a:prstGeom>
              <a:blipFill>
                <a:blip r:embed="rId10"/>
                <a:stretch>
                  <a:fillRect b="-13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7" name="TextBox 496">
                <a:extLst>
                  <a:ext uri="{FF2B5EF4-FFF2-40B4-BE49-F238E27FC236}">
                    <a16:creationId xmlns:a16="http://schemas.microsoft.com/office/drawing/2014/main" id="{A57B02BA-1E0D-3D67-1399-648AC8930533}"/>
                  </a:ext>
                </a:extLst>
              </p:cNvPr>
              <p:cNvSpPr txBox="1"/>
              <p:nvPr/>
            </p:nvSpPr>
            <p:spPr>
              <a:xfrm>
                <a:off x="9220077" y="14530147"/>
                <a:ext cx="1138955" cy="1033975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5004" b="1" i="1" kern="300" spc="-90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5004" b="1" i="1" kern="300" spc="-90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pt-BR" sz="5004" b="1" i="1" kern="300" spc="-90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sz="5004" b="1" kern="300" spc="-901" dirty="0">
                  <a:latin typeface="Avenir Book" panose="02000503020000020003" pitchFamily="2" charset="0"/>
                </a:endParaRPr>
              </a:p>
            </p:txBody>
          </p:sp>
        </mc:Choice>
        <mc:Fallback xmlns="">
          <p:sp>
            <p:nvSpPr>
              <p:cNvPr id="497" name="TextBox 496">
                <a:extLst>
                  <a:ext uri="{FF2B5EF4-FFF2-40B4-BE49-F238E27FC236}">
                    <a16:creationId xmlns:a16="http://schemas.microsoft.com/office/drawing/2014/main" id="{A57B02BA-1E0D-3D67-1399-648AC8930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077" y="14530147"/>
                <a:ext cx="1138955" cy="1033975"/>
              </a:xfrm>
              <a:prstGeom prst="rect">
                <a:avLst/>
              </a:prstGeom>
              <a:blipFill>
                <a:blip r:embed="rId11"/>
                <a:stretch>
                  <a:fillRect b="-60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9" name="Heptagon 508">
            <a:extLst>
              <a:ext uri="{FF2B5EF4-FFF2-40B4-BE49-F238E27FC236}">
                <a16:creationId xmlns:a16="http://schemas.microsoft.com/office/drawing/2014/main" id="{DDF6788E-2345-E085-69EC-FD106E1CA10B}"/>
              </a:ext>
            </a:extLst>
          </p:cNvPr>
          <p:cNvSpPr/>
          <p:nvPr/>
        </p:nvSpPr>
        <p:spPr>
          <a:xfrm>
            <a:off x="5955896" y="9794805"/>
            <a:ext cx="1042989" cy="1080964"/>
          </a:xfrm>
          <a:prstGeom prst="heptagon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b="1" dirty="0">
                <a:solidFill>
                  <a:srgbClr val="FFFF00"/>
                </a:solidFill>
              </a:rPr>
              <a:t>1</a:t>
            </a:r>
            <a:endParaRPr lang="en-BR" sz="4000" b="1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510" name="Heptagon 509">
            <a:extLst>
              <a:ext uri="{FF2B5EF4-FFF2-40B4-BE49-F238E27FC236}">
                <a16:creationId xmlns:a16="http://schemas.microsoft.com/office/drawing/2014/main" id="{C350EF21-95A6-3A7B-1E38-708B108A0C7F}"/>
              </a:ext>
            </a:extLst>
          </p:cNvPr>
          <p:cNvSpPr/>
          <p:nvPr/>
        </p:nvSpPr>
        <p:spPr>
          <a:xfrm>
            <a:off x="7009296" y="9795276"/>
            <a:ext cx="1042989" cy="1080964"/>
          </a:xfrm>
          <a:prstGeom prst="heptagon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b="1" dirty="0">
                <a:solidFill>
                  <a:srgbClr val="FFFF00"/>
                </a:solidFill>
              </a:rPr>
              <a:t>2</a:t>
            </a:r>
            <a:endParaRPr lang="en-BR" sz="4000" b="1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511" name="Heptagon 510">
            <a:extLst>
              <a:ext uri="{FF2B5EF4-FFF2-40B4-BE49-F238E27FC236}">
                <a16:creationId xmlns:a16="http://schemas.microsoft.com/office/drawing/2014/main" id="{C9331F5B-86D2-F33D-F0E1-0844FB9E9CAB}"/>
              </a:ext>
            </a:extLst>
          </p:cNvPr>
          <p:cNvSpPr/>
          <p:nvPr/>
        </p:nvSpPr>
        <p:spPr>
          <a:xfrm>
            <a:off x="8050243" y="9765633"/>
            <a:ext cx="1042989" cy="1080964"/>
          </a:xfrm>
          <a:prstGeom prst="heptagon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b="1" dirty="0">
                <a:solidFill>
                  <a:srgbClr val="FFFF00"/>
                </a:solidFill>
              </a:rPr>
              <a:t>3</a:t>
            </a:r>
            <a:endParaRPr lang="en-BR" sz="4000" b="1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192" name="Heptagon 191">
            <a:extLst>
              <a:ext uri="{FF2B5EF4-FFF2-40B4-BE49-F238E27FC236}">
                <a16:creationId xmlns:a16="http://schemas.microsoft.com/office/drawing/2014/main" id="{B70EB8A4-B10F-0495-B9B2-E3D80857D075}"/>
              </a:ext>
            </a:extLst>
          </p:cNvPr>
          <p:cNvSpPr/>
          <p:nvPr/>
        </p:nvSpPr>
        <p:spPr>
          <a:xfrm>
            <a:off x="11321345" y="9786371"/>
            <a:ext cx="1042989" cy="1080964"/>
          </a:xfrm>
          <a:prstGeom prst="heptagon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b="1" dirty="0">
                <a:solidFill>
                  <a:srgbClr val="FFFF00"/>
                </a:solidFill>
              </a:rPr>
              <a:t>4</a:t>
            </a:r>
            <a:endParaRPr lang="en-BR" sz="4000" b="1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193" name="Heptagon 192">
            <a:extLst>
              <a:ext uri="{FF2B5EF4-FFF2-40B4-BE49-F238E27FC236}">
                <a16:creationId xmlns:a16="http://schemas.microsoft.com/office/drawing/2014/main" id="{39B355B4-06C3-516A-D3BC-6B5558A7AD37}"/>
              </a:ext>
            </a:extLst>
          </p:cNvPr>
          <p:cNvSpPr/>
          <p:nvPr/>
        </p:nvSpPr>
        <p:spPr>
          <a:xfrm>
            <a:off x="12374211" y="9823528"/>
            <a:ext cx="1042989" cy="1080964"/>
          </a:xfrm>
          <a:prstGeom prst="heptagon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b="1" dirty="0">
                <a:solidFill>
                  <a:srgbClr val="FFFF00"/>
                </a:solidFill>
              </a:rPr>
              <a:t>5</a:t>
            </a:r>
            <a:endParaRPr lang="en-BR" sz="4000" b="1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637787BE-2056-6E36-86AB-FF8F32337887}"/>
                  </a:ext>
                </a:extLst>
              </p:cNvPr>
              <p:cNvSpPr txBox="1"/>
              <p:nvPr/>
            </p:nvSpPr>
            <p:spPr>
              <a:xfrm>
                <a:off x="1864827" y="15106874"/>
                <a:ext cx="3424764" cy="164999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3700" b="1" i="1" kern="300" spc="-50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700" b="1" i="1" kern="300" spc="-50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3700" b="1" i="1" kern="300" spc="-50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700" b="1" i="1" kern="300" spc="-50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pt-BR" sz="3700" b="1" i="1" kern="300" spc="-50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pt-BR" sz="3700" b="1" i="1" kern="300" spc="-50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3700" b="1" i="1" kern="300" spc="-50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700" b="1" i="1" kern="300" spc="-50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pt-BR" sz="3700" b="1" i="1" kern="300" spc="-50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pt-BR" sz="3700" b="1" i="1" kern="300" spc="-50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t-BR" sz="3700" b="1" i="1" kern="300" spc="-50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3700" b="1" i="1" kern="300" spc="-50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pt-BR" sz="3700" b="1" i="1" kern="300" spc="-50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3700" b="1" i="1" kern="300" spc="-50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700" b="1" i="1" kern="300" spc="-50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pt-BR" sz="3700" b="1" i="1" kern="300" spc="-50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pt-BR" sz="3700" b="1" i="1" kern="300" spc="-50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pt-BR" sz="3700" b="1" i="1" kern="300" spc="-50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3700" b="1" i="1" kern="300" spc="-50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700" b="1" i="1" kern="300" spc="-50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pt-BR" sz="3700" b="1" i="1" kern="300" spc="-500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3700" b="1" kern="300" spc="-500" dirty="0">
                  <a:latin typeface="Avenir Book" panose="02000503020000020003" pitchFamily="2" charset="0"/>
                </a:endParaRPr>
              </a:p>
            </p:txBody>
          </p:sp>
        </mc:Choice>
        <mc:Fallback xmlns="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637787BE-2056-6E36-86AB-FF8F32337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827" y="15106874"/>
                <a:ext cx="3424764" cy="1649990"/>
              </a:xfrm>
              <a:prstGeom prst="rect">
                <a:avLst/>
              </a:prstGeom>
              <a:blipFill>
                <a:blip r:embed="rId12"/>
                <a:stretch>
                  <a:fillRect b="-1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2BE048E5-1352-04BA-CA4C-A2E322E0F6C6}"/>
              </a:ext>
            </a:extLst>
          </p:cNvPr>
          <p:cNvSpPr/>
          <p:nvPr/>
        </p:nvSpPr>
        <p:spPr>
          <a:xfrm>
            <a:off x="343910" y="15919404"/>
            <a:ext cx="1663908" cy="410909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dirty="0">
                <a:solidFill>
                  <a:srgbClr val="EEC300"/>
                </a:solidFill>
              </a:rPr>
              <a:t>P</a:t>
            </a:r>
            <a:r>
              <a:rPr lang="en-BR" sz="1700" b="1" dirty="0">
                <a:solidFill>
                  <a:srgbClr val="EEC300"/>
                </a:solidFill>
              </a:rPr>
              <a:t>re-synaptic</a:t>
            </a:r>
          </a:p>
        </p:txBody>
      </p:sp>
      <p:sp>
        <p:nvSpPr>
          <p:cNvPr id="203" name="Right Arrow 202">
            <a:extLst>
              <a:ext uri="{FF2B5EF4-FFF2-40B4-BE49-F238E27FC236}">
                <a16:creationId xmlns:a16="http://schemas.microsoft.com/office/drawing/2014/main" id="{F1FB3545-5D86-9E72-592E-581FE31D299D}"/>
              </a:ext>
            </a:extLst>
          </p:cNvPr>
          <p:cNvSpPr/>
          <p:nvPr/>
        </p:nvSpPr>
        <p:spPr>
          <a:xfrm>
            <a:off x="367809" y="15567330"/>
            <a:ext cx="1556133" cy="216159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solidFill>
                <a:srgbClr val="EEC300"/>
              </a:solidFill>
            </a:endParaRPr>
          </a:p>
        </p:txBody>
      </p:sp>
      <p:sp>
        <p:nvSpPr>
          <p:cNvPr id="204" name="Rounded Rectangle 203">
            <a:extLst>
              <a:ext uri="{FF2B5EF4-FFF2-40B4-BE49-F238E27FC236}">
                <a16:creationId xmlns:a16="http://schemas.microsoft.com/office/drawing/2014/main" id="{2326BB18-E58D-18AF-4141-F02C8BDF3C15}"/>
              </a:ext>
            </a:extLst>
          </p:cNvPr>
          <p:cNvSpPr/>
          <p:nvPr/>
        </p:nvSpPr>
        <p:spPr>
          <a:xfrm rot="5400000">
            <a:off x="4752645" y="15669644"/>
            <a:ext cx="1663908" cy="410909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dirty="0">
                <a:solidFill>
                  <a:srgbClr val="EEC300"/>
                </a:solidFill>
              </a:rPr>
              <a:t>P</a:t>
            </a:r>
            <a:r>
              <a:rPr lang="en-BR" sz="1700" b="1" dirty="0">
                <a:solidFill>
                  <a:srgbClr val="EEC300"/>
                </a:solidFill>
              </a:rPr>
              <a:t>os-synaptic</a:t>
            </a:r>
          </a:p>
        </p:txBody>
      </p:sp>
      <p:sp>
        <p:nvSpPr>
          <p:cNvPr id="205" name="Right Arrow 204">
            <a:extLst>
              <a:ext uri="{FF2B5EF4-FFF2-40B4-BE49-F238E27FC236}">
                <a16:creationId xmlns:a16="http://schemas.microsoft.com/office/drawing/2014/main" id="{13746C75-40A7-BD21-912B-53C24B4903FA}"/>
              </a:ext>
            </a:extLst>
          </p:cNvPr>
          <p:cNvSpPr/>
          <p:nvPr/>
        </p:nvSpPr>
        <p:spPr>
          <a:xfrm rot="5400000">
            <a:off x="4426978" y="15309860"/>
            <a:ext cx="1556133" cy="216159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solidFill>
                <a:srgbClr val="EEC300"/>
              </a:solidFill>
            </a:endParaRPr>
          </a:p>
        </p:txBody>
      </p:sp>
      <p:sp>
        <p:nvSpPr>
          <p:cNvPr id="216" name="Rounded Rectangle 215">
            <a:extLst>
              <a:ext uri="{FF2B5EF4-FFF2-40B4-BE49-F238E27FC236}">
                <a16:creationId xmlns:a16="http://schemas.microsoft.com/office/drawing/2014/main" id="{3EDD50B3-8A83-783C-55F1-8A08ABB1DCCD}"/>
              </a:ext>
            </a:extLst>
          </p:cNvPr>
          <p:cNvSpPr/>
          <p:nvPr/>
        </p:nvSpPr>
        <p:spPr>
          <a:xfrm rot="16200000">
            <a:off x="10832374" y="11595037"/>
            <a:ext cx="2108442" cy="8503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500" dirty="0"/>
              <a:t>Synaptic Physiology</a:t>
            </a:r>
          </a:p>
        </p:txBody>
      </p:sp>
      <p:sp>
        <p:nvSpPr>
          <p:cNvPr id="217" name="Rounded Rectangle 216">
            <a:extLst>
              <a:ext uri="{FF2B5EF4-FFF2-40B4-BE49-F238E27FC236}">
                <a16:creationId xmlns:a16="http://schemas.microsoft.com/office/drawing/2014/main" id="{8ADC368D-FD79-7A02-3E50-55AA709D1762}"/>
              </a:ext>
            </a:extLst>
          </p:cNvPr>
          <p:cNvSpPr/>
          <p:nvPr/>
        </p:nvSpPr>
        <p:spPr>
          <a:xfrm rot="16200000">
            <a:off x="8840038" y="11794443"/>
            <a:ext cx="1963234" cy="52583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700" b="1" i="1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BR" sz="2700" b="1" i="1" baseline="-250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ref  </a:t>
            </a:r>
            <a:r>
              <a:rPr lang="en-BR" sz="2700" b="1" i="1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=V</a:t>
            </a:r>
            <a:r>
              <a:rPr lang="en-BR" sz="2700" b="1" i="1" baseline="-250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thresh</a:t>
            </a:r>
          </a:p>
        </p:txBody>
      </p:sp>
      <p:sp>
        <p:nvSpPr>
          <p:cNvPr id="218" name="Rounded Rectangle 217">
            <a:extLst>
              <a:ext uri="{FF2B5EF4-FFF2-40B4-BE49-F238E27FC236}">
                <a16:creationId xmlns:a16="http://schemas.microsoft.com/office/drawing/2014/main" id="{3A2E7C6E-5544-F16C-1A30-87A4BB76C708}"/>
              </a:ext>
            </a:extLst>
          </p:cNvPr>
          <p:cNvSpPr/>
          <p:nvPr/>
        </p:nvSpPr>
        <p:spPr>
          <a:xfrm rot="16200000">
            <a:off x="10019018" y="11824738"/>
            <a:ext cx="1787944" cy="478282"/>
          </a:xfrm>
          <a:prstGeom prst="roundRect">
            <a:avLst/>
          </a:prstGeom>
          <a:solidFill>
            <a:srgbClr val="E467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700" b="1" i="1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BR" sz="2700" b="1" i="1" baseline="-250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ref  </a:t>
            </a:r>
            <a:r>
              <a:rPr lang="en-BR" sz="2700" b="1" i="1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V</a:t>
            </a:r>
            <a:r>
              <a:rPr lang="en-BR" sz="2700" b="1" i="1" baseline="-250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rest</a:t>
            </a:r>
          </a:p>
        </p:txBody>
      </p:sp>
      <p:sp>
        <p:nvSpPr>
          <p:cNvPr id="222" name="Rounded Rectangle 221">
            <a:extLst>
              <a:ext uri="{FF2B5EF4-FFF2-40B4-BE49-F238E27FC236}">
                <a16:creationId xmlns:a16="http://schemas.microsoft.com/office/drawing/2014/main" id="{78D8F7F6-39EE-353B-5E93-46D3AEC3C619}"/>
              </a:ext>
            </a:extLst>
          </p:cNvPr>
          <p:cNvSpPr/>
          <p:nvPr/>
        </p:nvSpPr>
        <p:spPr>
          <a:xfrm rot="16200000">
            <a:off x="8450994" y="11780481"/>
            <a:ext cx="1663908" cy="52583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500" dirty="0">
                <a:solidFill>
                  <a:schemeClr val="tx2"/>
                </a:solidFill>
              </a:rPr>
              <a:t>Inhibitory</a:t>
            </a:r>
          </a:p>
        </p:txBody>
      </p:sp>
      <p:sp>
        <p:nvSpPr>
          <p:cNvPr id="223" name="Rounded Rectangle 222">
            <a:extLst>
              <a:ext uri="{FF2B5EF4-FFF2-40B4-BE49-F238E27FC236}">
                <a16:creationId xmlns:a16="http://schemas.microsoft.com/office/drawing/2014/main" id="{42D0B897-D8B6-2C63-E16A-49DB6EF7F9E8}"/>
              </a:ext>
            </a:extLst>
          </p:cNvPr>
          <p:cNvSpPr/>
          <p:nvPr/>
        </p:nvSpPr>
        <p:spPr>
          <a:xfrm rot="16200000">
            <a:off x="9561901" y="11833857"/>
            <a:ext cx="1663908" cy="525830"/>
          </a:xfrm>
          <a:prstGeom prst="roundRect">
            <a:avLst/>
          </a:prstGeom>
          <a:solidFill>
            <a:srgbClr val="E467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500" dirty="0"/>
              <a:t>Excitatory</a:t>
            </a:r>
          </a:p>
        </p:txBody>
      </p:sp>
      <p:pic>
        <p:nvPicPr>
          <p:cNvPr id="549" name="Picture 548" descr="A green brain with a key&#10;&#10;AI-generated content may be incorrect.">
            <a:extLst>
              <a:ext uri="{FF2B5EF4-FFF2-40B4-BE49-F238E27FC236}">
                <a16:creationId xmlns:a16="http://schemas.microsoft.com/office/drawing/2014/main" id="{6CC4613F-809A-12BB-5D69-54C17D9A775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200183">
            <a:off x="10259859" y="14309513"/>
            <a:ext cx="914400" cy="914400"/>
          </a:xfrm>
          <a:prstGeom prst="rect">
            <a:avLst/>
          </a:prstGeom>
        </p:spPr>
      </p:pic>
      <p:sp>
        <p:nvSpPr>
          <p:cNvPr id="582" name="Rounded Rectangle 581">
            <a:extLst>
              <a:ext uri="{FF2B5EF4-FFF2-40B4-BE49-F238E27FC236}">
                <a16:creationId xmlns:a16="http://schemas.microsoft.com/office/drawing/2014/main" id="{F9679124-A713-2EA2-680B-6D14E84E359C}"/>
              </a:ext>
            </a:extLst>
          </p:cNvPr>
          <p:cNvSpPr/>
          <p:nvPr/>
        </p:nvSpPr>
        <p:spPr>
          <a:xfrm>
            <a:off x="815872" y="9453696"/>
            <a:ext cx="1663908" cy="410909"/>
          </a:xfrm>
          <a:prstGeom prst="roundRect">
            <a:avLst/>
          </a:prstGeom>
          <a:solidFill>
            <a:schemeClr val="accent3">
              <a:lumMod val="75000"/>
              <a:alpha val="6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dirty="0">
                <a:solidFill>
                  <a:srgbClr val="EEC300"/>
                </a:solidFill>
              </a:rPr>
              <a:t>P</a:t>
            </a:r>
            <a:r>
              <a:rPr lang="en-BR" sz="1700" b="1" dirty="0">
                <a:solidFill>
                  <a:srgbClr val="EEC300"/>
                </a:solidFill>
              </a:rPr>
              <a:t>re-synaptic</a:t>
            </a:r>
          </a:p>
        </p:txBody>
      </p:sp>
      <p:sp>
        <p:nvSpPr>
          <p:cNvPr id="583" name="Rounded Rectangle 582">
            <a:extLst>
              <a:ext uri="{FF2B5EF4-FFF2-40B4-BE49-F238E27FC236}">
                <a16:creationId xmlns:a16="http://schemas.microsoft.com/office/drawing/2014/main" id="{29DABDE6-DAC5-8A01-540B-F6B4D8865254}"/>
              </a:ext>
            </a:extLst>
          </p:cNvPr>
          <p:cNvSpPr/>
          <p:nvPr/>
        </p:nvSpPr>
        <p:spPr>
          <a:xfrm rot="5400000">
            <a:off x="3693601" y="10550573"/>
            <a:ext cx="1663908" cy="410909"/>
          </a:xfrm>
          <a:prstGeom prst="roundRect">
            <a:avLst/>
          </a:prstGeom>
          <a:solidFill>
            <a:schemeClr val="accent3">
              <a:lumMod val="75000"/>
              <a:alpha val="6277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dirty="0">
                <a:solidFill>
                  <a:srgbClr val="EEC300"/>
                </a:solidFill>
              </a:rPr>
              <a:t>P</a:t>
            </a:r>
            <a:r>
              <a:rPr lang="en-BR" sz="1700" b="1" dirty="0">
                <a:solidFill>
                  <a:srgbClr val="EEC300"/>
                </a:solidFill>
              </a:rPr>
              <a:t>os-synaptic</a:t>
            </a:r>
          </a:p>
        </p:txBody>
      </p: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D80F916A-06D1-C2C3-9093-F3A932AA8371}"/>
              </a:ext>
            </a:extLst>
          </p:cNvPr>
          <p:cNvGrpSpPr/>
          <p:nvPr/>
        </p:nvGrpSpPr>
        <p:grpSpPr>
          <a:xfrm>
            <a:off x="19762806" y="17381275"/>
            <a:ext cx="10833737" cy="10308924"/>
            <a:chOff x="19762806" y="17673883"/>
            <a:chExt cx="10833737" cy="10308924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4D6A690C-6212-29AF-2D98-8D07B2CD4CFC}"/>
                </a:ext>
              </a:extLst>
            </p:cNvPr>
            <p:cNvSpPr/>
            <p:nvPr/>
          </p:nvSpPr>
          <p:spPr>
            <a:xfrm>
              <a:off x="19762806" y="17673883"/>
              <a:ext cx="10512408" cy="10308924"/>
            </a:xfrm>
            <a:prstGeom prst="roundRect">
              <a:avLst>
                <a:gd name="adj" fmla="val 3639"/>
              </a:avLst>
            </a:prstGeom>
            <a:solidFill>
              <a:schemeClr val="bg1">
                <a:lumMod val="95000"/>
              </a:schemeClr>
            </a:solidFill>
            <a:ln w="7620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 sz="1801" dirty="0"/>
            </a:p>
          </p:txBody>
        </p:sp>
        <p:sp>
          <p:nvSpPr>
            <p:cNvPr id="23" name="Rectangle 75">
              <a:extLst>
                <a:ext uri="{FF2B5EF4-FFF2-40B4-BE49-F238E27FC236}">
                  <a16:creationId xmlns:a16="http://schemas.microsoft.com/office/drawing/2014/main" id="{8F39D4C2-84EE-8045-C088-414EBDB88C01}"/>
                </a:ext>
              </a:extLst>
            </p:cNvPr>
            <p:cNvSpPr/>
            <p:nvPr/>
          </p:nvSpPr>
          <p:spPr>
            <a:xfrm>
              <a:off x="23208592" y="17816595"/>
              <a:ext cx="3903912" cy="138345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59" tIns="45029" rIns="90059" bIns="45029" anchor="t">
              <a:noAutofit/>
            </a:bodyPr>
            <a:lstStyle/>
            <a:p>
              <a:pPr algn="ctr" defTabSz="915040">
                <a:lnSpc>
                  <a:spcPts val="4385"/>
                </a:lnSpc>
              </a:pPr>
              <a:r>
                <a:rPr lang="en-US" sz="5404" b="1" spc="-1" dirty="0">
                  <a:solidFill>
                    <a:srgbClr val="800080"/>
                  </a:solidFill>
                  <a:latin typeface="Calibri"/>
                </a:rPr>
                <a:t>Synaptic</a:t>
              </a:r>
            </a:p>
            <a:p>
              <a:pPr algn="ctr" defTabSz="915040">
                <a:lnSpc>
                  <a:spcPts val="4385"/>
                </a:lnSpc>
              </a:pPr>
              <a:r>
                <a:rPr lang="en-US" sz="5404" b="1" spc="-1" dirty="0">
                  <a:solidFill>
                    <a:srgbClr val="800080"/>
                  </a:solidFill>
                  <a:latin typeface="Calibri"/>
                </a:rPr>
                <a:t>Physiology</a:t>
              </a:r>
              <a:endParaRPr lang="pt-BR" sz="5404" spc="-1" dirty="0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CF1CD57-6AC1-3050-652C-8B493D431C8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9902090" y="24468770"/>
              <a:ext cx="7858261" cy="3330563"/>
              <a:chOff x="89361" y="166255"/>
              <a:chExt cx="5159123" cy="2186590"/>
            </a:xfrm>
          </p:grpSpPr>
          <p:pic>
            <p:nvPicPr>
              <p:cNvPr id="27" name="Picture 26" descr="Diagram&#10;&#10;Description automatically generated">
                <a:extLst>
                  <a:ext uri="{FF2B5EF4-FFF2-40B4-BE49-F238E27FC236}">
                    <a16:creationId xmlns:a16="http://schemas.microsoft.com/office/drawing/2014/main" id="{875549A0-F6AB-6FFC-99B2-1847A8ACA59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40" b="66181"/>
              <a:stretch/>
            </p:blipFill>
            <p:spPr>
              <a:xfrm>
                <a:off x="89361" y="166255"/>
                <a:ext cx="5141875" cy="2186247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</p:pic>
          <p:pic>
            <p:nvPicPr>
              <p:cNvPr id="28" name="Picture 27" descr="Diagram&#10;&#10;Description automatically generated">
                <a:extLst>
                  <a:ext uri="{FF2B5EF4-FFF2-40B4-BE49-F238E27FC236}">
                    <a16:creationId xmlns:a16="http://schemas.microsoft.com/office/drawing/2014/main" id="{32E49CCF-B67A-E795-801E-3DB7E9A1CD5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838" t="34728" r="27797" b="40924"/>
              <a:stretch/>
            </p:blipFill>
            <p:spPr>
              <a:xfrm>
                <a:off x="2215161" y="166255"/>
                <a:ext cx="1712422" cy="1669802"/>
              </a:xfrm>
              <a:prstGeom prst="rect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</p:spPr>
          </p:pic>
          <p:pic>
            <p:nvPicPr>
              <p:cNvPr id="29" name="Picture 28" descr="Diagram&#10;&#10;Description automatically generated">
                <a:extLst>
                  <a:ext uri="{FF2B5EF4-FFF2-40B4-BE49-F238E27FC236}">
                    <a16:creationId xmlns:a16="http://schemas.microsoft.com/office/drawing/2014/main" id="{6D54D2F9-44CF-08E3-C0BD-04161BE002B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8326" t="3678" r="4506" b="89232"/>
              <a:stretch/>
            </p:blipFill>
            <p:spPr>
              <a:xfrm>
                <a:off x="3932995" y="214669"/>
                <a:ext cx="1315489" cy="486295"/>
              </a:xfrm>
              <a:prstGeom prst="rect">
                <a:avLst/>
              </a:prstGeom>
              <a:ln>
                <a:solidFill>
                  <a:schemeClr val="tx2"/>
                </a:solidFill>
              </a:ln>
            </p:spPr>
          </p:pic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16F189B-250D-B93A-B432-76ECB121C9AF}"/>
                  </a:ext>
                </a:extLst>
              </p:cNvPr>
              <p:cNvSpPr/>
              <p:nvPr/>
            </p:nvSpPr>
            <p:spPr>
              <a:xfrm>
                <a:off x="140530" y="181433"/>
                <a:ext cx="304505" cy="2104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3853AA0-B6DB-EF37-19DA-67BA1882D44E}"/>
                  </a:ext>
                </a:extLst>
              </p:cNvPr>
              <p:cNvSpPr/>
              <p:nvPr/>
            </p:nvSpPr>
            <p:spPr>
              <a:xfrm>
                <a:off x="89362" y="2164674"/>
                <a:ext cx="283820" cy="1881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/>
              </a:p>
            </p:txBody>
          </p:sp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271BB4A-6BFB-8FA7-25C6-D6007A3ED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9842456" y="19072625"/>
              <a:ext cx="6214387" cy="5299746"/>
            </a:xfrm>
            <a:prstGeom prst="rect">
              <a:avLst/>
            </a:prstGeom>
            <a:ln>
              <a:solidFill>
                <a:schemeClr val="tx2"/>
              </a:solidFill>
            </a:ln>
          </p:spPr>
        </p:pic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id="{2AC3C4A1-235D-F8CB-943F-11C1FD13C56F}"/>
                </a:ext>
              </a:extLst>
            </p:cNvPr>
            <p:cNvSpPr txBox="1"/>
            <p:nvPr/>
          </p:nvSpPr>
          <p:spPr>
            <a:xfrm rot="16200000">
              <a:off x="25042778" y="22793103"/>
              <a:ext cx="2633979" cy="55399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Moradi et al. 2020 PMID</a:t>
              </a:r>
              <a:r>
                <a:rPr lang="en-US" sz="150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31472001</a:t>
              </a: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</a:endParaRPr>
            </a:p>
            <a:p>
              <a:pPr lvl="0">
                <a:defRPr/>
              </a:pPr>
              <a:r>
                <a: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Moradi et al. </a:t>
              </a:r>
              <a:r>
                <a:rPr lang="en-US" sz="150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2022 PMID35513471</a:t>
              </a: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</a:endParaRPr>
            </a:p>
          </p:txBody>
        </p:sp>
        <p:sp>
          <p:nvSpPr>
            <p:cNvPr id="489" name="Rectangle: Beveled 5">
              <a:extLst>
                <a:ext uri="{FF2B5EF4-FFF2-40B4-BE49-F238E27FC236}">
                  <a16:creationId xmlns:a16="http://schemas.microsoft.com/office/drawing/2014/main" id="{299F2CA8-D5C9-C534-17C5-9E2099BD9270}"/>
                </a:ext>
              </a:extLst>
            </p:cNvPr>
            <p:cNvSpPr/>
            <p:nvPr/>
          </p:nvSpPr>
          <p:spPr>
            <a:xfrm>
              <a:off x="26696167" y="20961076"/>
              <a:ext cx="2216716" cy="1501770"/>
            </a:xfrm>
            <a:prstGeom prst="beve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Tsodyks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Pawelzik</a:t>
              </a:r>
              <a:r>
                <a:rPr lang="en-US" dirty="0">
                  <a:solidFill>
                    <a:prstClr val="white"/>
                  </a:solidFill>
                  <a:latin typeface="Calibri"/>
                </a:rPr>
                <a:t>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Markram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TPM Model</a:t>
              </a:r>
            </a:p>
          </p:txBody>
        </p:sp>
        <p:sp>
          <p:nvSpPr>
            <p:cNvPr id="490" name="Rectangle: Beveled 5">
              <a:extLst>
                <a:ext uri="{FF2B5EF4-FFF2-40B4-BE49-F238E27FC236}">
                  <a16:creationId xmlns:a16="http://schemas.microsoft.com/office/drawing/2014/main" id="{D1978771-4D32-31A3-6827-4344ED9B8910}"/>
                </a:ext>
              </a:extLst>
            </p:cNvPr>
            <p:cNvSpPr/>
            <p:nvPr/>
          </p:nvSpPr>
          <p:spPr>
            <a:xfrm>
              <a:off x="26696167" y="23141538"/>
              <a:ext cx="2216713" cy="1262743"/>
            </a:xfrm>
            <a:prstGeom prst="beve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Predictive features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Deep Learning</a:t>
              </a:r>
            </a:p>
          </p:txBody>
        </p:sp>
        <p:sp>
          <p:nvSpPr>
            <p:cNvPr id="491" name="Rectangle: Beveled 5">
              <a:extLst>
                <a:ext uri="{FF2B5EF4-FFF2-40B4-BE49-F238E27FC236}">
                  <a16:creationId xmlns:a16="http://schemas.microsoft.com/office/drawing/2014/main" id="{C91F37C8-A0A6-16B9-8623-3FCF21DF3DEE}"/>
                </a:ext>
              </a:extLst>
            </p:cNvPr>
            <p:cNvSpPr/>
            <p:nvPr/>
          </p:nvSpPr>
          <p:spPr>
            <a:xfrm>
              <a:off x="26696166" y="19018254"/>
              <a:ext cx="2216715" cy="1262743"/>
            </a:xfrm>
            <a:prstGeom prst="beve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Simulated signal + Normalization</a:t>
              </a:r>
            </a:p>
          </p:txBody>
        </p:sp>
        <p:sp>
          <p:nvSpPr>
            <p:cNvPr id="493" name="Rectangle 82">
              <a:extLst>
                <a:ext uri="{FF2B5EF4-FFF2-40B4-BE49-F238E27FC236}">
                  <a16:creationId xmlns:a16="http://schemas.microsoft.com/office/drawing/2014/main" id="{3EB7598D-240E-47E8-54DC-1F9ED2D75480}"/>
                </a:ext>
              </a:extLst>
            </p:cNvPr>
            <p:cNvSpPr/>
            <p:nvPr/>
          </p:nvSpPr>
          <p:spPr>
            <a:xfrm>
              <a:off x="27962564" y="24782127"/>
              <a:ext cx="2633979" cy="283165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59" tIns="45029" rIns="90059" bIns="45029" anchor="t">
              <a:noAutofit/>
            </a:bodyPr>
            <a:lstStyle/>
            <a:p>
              <a:pPr defTabSz="915040"/>
              <a:r>
                <a:rPr lang="en-US" sz="2200" spc="-1" dirty="0">
                  <a:solidFill>
                    <a:srgbClr val="000000"/>
                  </a:solidFill>
                  <a:latin typeface="Arial"/>
                  <a:ea typeface="DejaVu Sans"/>
                </a:rPr>
                <a:t>1200 articles</a:t>
              </a:r>
            </a:p>
            <a:p>
              <a:pPr defTabSz="915040"/>
              <a:r>
                <a:rPr lang="en-US" sz="2200" spc="-1" dirty="0">
                  <a:solidFill>
                    <a:srgbClr val="000000"/>
                  </a:solidFill>
                  <a:latin typeface="Arial"/>
                  <a:ea typeface="DejaVu Sans"/>
                </a:rPr>
                <a:t>8000 excerpts</a:t>
              </a:r>
            </a:p>
            <a:p>
              <a:pPr defTabSz="915040"/>
              <a:r>
                <a:rPr lang="en-US" sz="2200" spc="-1" dirty="0">
                  <a:solidFill>
                    <a:srgbClr val="000000"/>
                  </a:solidFill>
                  <a:latin typeface="Arial"/>
                  <a:ea typeface="DejaVu Sans"/>
                </a:rPr>
                <a:t>40k data entities</a:t>
              </a:r>
            </a:p>
            <a:p>
              <a:pPr defTabSz="915040"/>
              <a:endParaRPr lang="en-US" sz="2200" spc="-1" dirty="0">
                <a:solidFill>
                  <a:srgbClr val="000000"/>
                </a:solidFill>
                <a:latin typeface="Arial"/>
                <a:ea typeface="DejaVu Sans"/>
              </a:endParaRPr>
            </a:p>
            <a:p>
              <a:pPr defTabSz="915040"/>
              <a:r>
                <a:rPr lang="en-US" sz="2200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~</a:t>
              </a:r>
              <a:r>
                <a:rPr lang="en-US" sz="2200" dirty="0">
                  <a:solidFill>
                    <a:schemeClr val="accent2"/>
                  </a:solidFill>
                  <a:latin typeface="Arial" pitchFamily="34" charset="0"/>
                  <a:cs typeface="Arial" pitchFamily="34" charset="0"/>
                </a:rPr>
                <a:t>90% of all </a:t>
              </a:r>
            </a:p>
            <a:p>
              <a:pPr defTabSz="915040"/>
              <a:r>
                <a:rPr lang="en-US" sz="2200" dirty="0">
                  <a:solidFill>
                    <a:schemeClr val="accent2"/>
                  </a:solidFill>
                  <a:latin typeface="Arial" pitchFamily="34" charset="0"/>
                  <a:cs typeface="Arial" pitchFamily="34" charset="0"/>
                </a:rPr>
                <a:t>needed neuron type pairs characterized</a:t>
              </a:r>
            </a:p>
            <a:p>
              <a:pPr defTabSz="915040"/>
              <a:endParaRPr lang="pt-BR" sz="2702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" name="Heptagon 195">
              <a:extLst>
                <a:ext uri="{FF2B5EF4-FFF2-40B4-BE49-F238E27FC236}">
                  <a16:creationId xmlns:a16="http://schemas.microsoft.com/office/drawing/2014/main" id="{E45D32A4-4947-CE0D-8B4F-F291D52A2421}"/>
                </a:ext>
              </a:extLst>
            </p:cNvPr>
            <p:cNvSpPr/>
            <p:nvPr/>
          </p:nvSpPr>
          <p:spPr>
            <a:xfrm>
              <a:off x="21094892" y="17810034"/>
              <a:ext cx="1042989" cy="1080964"/>
            </a:xfrm>
            <a:prstGeom prst="heptagon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4000" b="1" dirty="0">
                  <a:solidFill>
                    <a:srgbClr val="FFFF00"/>
                  </a:solidFill>
                </a:rPr>
                <a:t>3</a:t>
              </a:r>
              <a:endParaRPr lang="en-BR" sz="4000" b="1" dirty="0">
                <a:solidFill>
                  <a:srgbClr val="FFFF0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97" name="Heptagon 196">
              <a:extLst>
                <a:ext uri="{FF2B5EF4-FFF2-40B4-BE49-F238E27FC236}">
                  <a16:creationId xmlns:a16="http://schemas.microsoft.com/office/drawing/2014/main" id="{3682F0CA-84E4-64EC-6BA9-CF07158C2B44}"/>
                </a:ext>
              </a:extLst>
            </p:cNvPr>
            <p:cNvSpPr/>
            <p:nvPr/>
          </p:nvSpPr>
          <p:spPr>
            <a:xfrm>
              <a:off x="27993955" y="17786505"/>
              <a:ext cx="1042989" cy="1080964"/>
            </a:xfrm>
            <a:prstGeom prst="heptagon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4000" b="1" dirty="0">
                  <a:solidFill>
                    <a:srgbClr val="FFFF00"/>
                  </a:solidFill>
                </a:rPr>
                <a:t>4</a:t>
              </a:r>
              <a:endParaRPr lang="en-BR" sz="4000" b="1" dirty="0">
                <a:solidFill>
                  <a:srgbClr val="FFFF00"/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208" name="Picture 207">
              <a:extLst>
                <a:ext uri="{FF2B5EF4-FFF2-40B4-BE49-F238E27FC236}">
                  <a16:creationId xmlns:a16="http://schemas.microsoft.com/office/drawing/2014/main" id="{F3D91EE5-6F7F-C460-F7EC-AE38ACC10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51835" t="40000" r="42496" b="50635"/>
            <a:stretch>
              <a:fillRect/>
            </a:stretch>
          </p:blipFill>
          <p:spPr>
            <a:xfrm>
              <a:off x="22296887" y="17850905"/>
              <a:ext cx="806813" cy="994835"/>
            </a:xfrm>
            <a:prstGeom prst="rect">
              <a:avLst/>
            </a:prstGeom>
          </p:spPr>
        </p:pic>
        <p:pic>
          <p:nvPicPr>
            <p:cNvPr id="210" name="Picture 209">
              <a:extLst>
                <a:ext uri="{FF2B5EF4-FFF2-40B4-BE49-F238E27FC236}">
                  <a16:creationId xmlns:a16="http://schemas.microsoft.com/office/drawing/2014/main" id="{4208D9E9-1006-81DD-9CDB-4EC613CB0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5928" t="39086" r="9133" b="50987"/>
            <a:stretch>
              <a:fillRect/>
            </a:stretch>
          </p:blipFill>
          <p:spPr>
            <a:xfrm>
              <a:off x="27066887" y="17748018"/>
              <a:ext cx="702626" cy="1054642"/>
            </a:xfrm>
            <a:prstGeom prst="rect">
              <a:avLst/>
            </a:prstGeom>
          </p:spPr>
        </p:pic>
        <p:sp>
          <p:nvSpPr>
            <p:cNvPr id="532" name="Right Arrow 531">
              <a:extLst>
                <a:ext uri="{FF2B5EF4-FFF2-40B4-BE49-F238E27FC236}">
                  <a16:creationId xmlns:a16="http://schemas.microsoft.com/office/drawing/2014/main" id="{7ECD70E3-535F-E201-6976-CABE7522EFA0}"/>
                </a:ext>
              </a:extLst>
            </p:cNvPr>
            <p:cNvSpPr/>
            <p:nvPr/>
          </p:nvSpPr>
          <p:spPr>
            <a:xfrm rot="5400000">
              <a:off x="27480125" y="20418271"/>
              <a:ext cx="651342" cy="437727"/>
            </a:xfrm>
            <a:prstGeom prst="right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533" name="Right Arrow 532">
              <a:extLst>
                <a:ext uri="{FF2B5EF4-FFF2-40B4-BE49-F238E27FC236}">
                  <a16:creationId xmlns:a16="http://schemas.microsoft.com/office/drawing/2014/main" id="{5F6BBF30-C4B0-4368-CD46-1A0E7F5D7EFD}"/>
                </a:ext>
              </a:extLst>
            </p:cNvPr>
            <p:cNvSpPr/>
            <p:nvPr/>
          </p:nvSpPr>
          <p:spPr>
            <a:xfrm rot="5400000">
              <a:off x="27460245" y="22588319"/>
              <a:ext cx="651342" cy="437727"/>
            </a:xfrm>
            <a:prstGeom prst="right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4A3D5AE0-FF9D-84E2-7C1D-A8D60704D48F}"/>
                </a:ext>
              </a:extLst>
            </p:cNvPr>
            <p:cNvSpPr/>
            <p:nvPr/>
          </p:nvSpPr>
          <p:spPr>
            <a:xfrm>
              <a:off x="24728514" y="25197317"/>
              <a:ext cx="461394" cy="595066"/>
            </a:xfrm>
            <a:prstGeom prst="ellipse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541" name="Oval 540">
              <a:extLst>
                <a:ext uri="{FF2B5EF4-FFF2-40B4-BE49-F238E27FC236}">
                  <a16:creationId xmlns:a16="http://schemas.microsoft.com/office/drawing/2014/main" id="{03A459EF-4A56-4909-DF45-97D8550B34D7}"/>
                </a:ext>
              </a:extLst>
            </p:cNvPr>
            <p:cNvSpPr/>
            <p:nvPr/>
          </p:nvSpPr>
          <p:spPr>
            <a:xfrm>
              <a:off x="25479884" y="25150910"/>
              <a:ext cx="292408" cy="418899"/>
            </a:xfrm>
            <a:prstGeom prst="ellipse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567" name="Rectangle 566">
              <a:extLst>
                <a:ext uri="{FF2B5EF4-FFF2-40B4-BE49-F238E27FC236}">
                  <a16:creationId xmlns:a16="http://schemas.microsoft.com/office/drawing/2014/main" id="{777F96D9-0655-2B6D-EE62-CA1412AB1267}"/>
                </a:ext>
              </a:extLst>
            </p:cNvPr>
            <p:cNvSpPr/>
            <p:nvPr/>
          </p:nvSpPr>
          <p:spPr>
            <a:xfrm>
              <a:off x="19873646" y="19111197"/>
              <a:ext cx="223123" cy="246184"/>
            </a:xfrm>
            <a:prstGeom prst="rect">
              <a:avLst/>
            </a:prstGeom>
            <a:solidFill>
              <a:srgbClr val="FBFBF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568" name="Rectangle 567">
              <a:extLst>
                <a:ext uri="{FF2B5EF4-FFF2-40B4-BE49-F238E27FC236}">
                  <a16:creationId xmlns:a16="http://schemas.microsoft.com/office/drawing/2014/main" id="{33434B79-5C0E-AB92-7D55-19D30B3CED24}"/>
                </a:ext>
              </a:extLst>
            </p:cNvPr>
            <p:cNvSpPr/>
            <p:nvPr/>
          </p:nvSpPr>
          <p:spPr>
            <a:xfrm>
              <a:off x="20016737" y="21336725"/>
              <a:ext cx="223123" cy="246184"/>
            </a:xfrm>
            <a:prstGeom prst="rect">
              <a:avLst/>
            </a:prstGeom>
            <a:solidFill>
              <a:srgbClr val="FBFBF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569" name="Rectangle 568">
              <a:extLst>
                <a:ext uri="{FF2B5EF4-FFF2-40B4-BE49-F238E27FC236}">
                  <a16:creationId xmlns:a16="http://schemas.microsoft.com/office/drawing/2014/main" id="{CF84329E-1B0E-7196-3AF9-5CA0136D697A}"/>
                </a:ext>
              </a:extLst>
            </p:cNvPr>
            <p:cNvSpPr/>
            <p:nvPr/>
          </p:nvSpPr>
          <p:spPr>
            <a:xfrm>
              <a:off x="22361248" y="21345392"/>
              <a:ext cx="223123" cy="246184"/>
            </a:xfrm>
            <a:prstGeom prst="rect">
              <a:avLst/>
            </a:prstGeom>
            <a:solidFill>
              <a:srgbClr val="FBFBF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570" name="Rectangle 569">
              <a:extLst>
                <a:ext uri="{FF2B5EF4-FFF2-40B4-BE49-F238E27FC236}">
                  <a16:creationId xmlns:a16="http://schemas.microsoft.com/office/drawing/2014/main" id="{F9520017-17ED-7EC5-C0DE-C8F46D64A4B8}"/>
                </a:ext>
              </a:extLst>
            </p:cNvPr>
            <p:cNvSpPr/>
            <p:nvPr/>
          </p:nvSpPr>
          <p:spPr>
            <a:xfrm>
              <a:off x="24595594" y="26848705"/>
              <a:ext cx="737927" cy="154953"/>
            </a:xfrm>
            <a:prstGeom prst="rect">
              <a:avLst/>
            </a:prstGeom>
            <a:solidFill>
              <a:srgbClr val="FBFBF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571" name="Rectangle 570">
              <a:extLst>
                <a:ext uri="{FF2B5EF4-FFF2-40B4-BE49-F238E27FC236}">
                  <a16:creationId xmlns:a16="http://schemas.microsoft.com/office/drawing/2014/main" id="{C9DE07A1-5970-ECD8-5FB4-B3348BE1E7F8}"/>
                </a:ext>
              </a:extLst>
            </p:cNvPr>
            <p:cNvSpPr/>
            <p:nvPr/>
          </p:nvSpPr>
          <p:spPr>
            <a:xfrm>
              <a:off x="24554404" y="27018592"/>
              <a:ext cx="737927" cy="154953"/>
            </a:xfrm>
            <a:prstGeom prst="rect">
              <a:avLst/>
            </a:prstGeom>
            <a:solidFill>
              <a:srgbClr val="FBFBF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grpSp>
          <p:nvGrpSpPr>
            <p:cNvPr id="587" name="Group 586">
              <a:extLst>
                <a:ext uri="{FF2B5EF4-FFF2-40B4-BE49-F238E27FC236}">
                  <a16:creationId xmlns:a16="http://schemas.microsoft.com/office/drawing/2014/main" id="{E6BEF109-6C83-8CBF-B801-B43DA634CB05}"/>
                </a:ext>
              </a:extLst>
            </p:cNvPr>
            <p:cNvGrpSpPr/>
            <p:nvPr/>
          </p:nvGrpSpPr>
          <p:grpSpPr>
            <a:xfrm rot="16200000">
              <a:off x="26897268" y="21110691"/>
              <a:ext cx="5370095" cy="1243263"/>
              <a:chOff x="34863505" y="4062663"/>
              <a:chExt cx="5370095" cy="1243263"/>
            </a:xfrm>
          </p:grpSpPr>
          <p:sp>
            <p:nvSpPr>
              <p:cNvPr id="588" name="Rounded Rectangle 587">
                <a:extLst>
                  <a:ext uri="{FF2B5EF4-FFF2-40B4-BE49-F238E27FC236}">
                    <a16:creationId xmlns:a16="http://schemas.microsoft.com/office/drawing/2014/main" id="{7B36B064-572A-E188-348F-6D2051179FED}"/>
                  </a:ext>
                </a:extLst>
              </p:cNvPr>
              <p:cNvSpPr/>
              <p:nvPr/>
            </p:nvSpPr>
            <p:spPr>
              <a:xfrm>
                <a:off x="34863505" y="4062663"/>
                <a:ext cx="5370095" cy="124326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7D0EE47E-D235-9F3A-BBFC-7615C04EBCD2}"/>
                  </a:ext>
                </a:extLst>
              </p:cNvPr>
              <p:cNvSpPr txBox="1"/>
              <p:nvPr/>
            </p:nvSpPr>
            <p:spPr>
              <a:xfrm>
                <a:off x="34939705" y="4141145"/>
                <a:ext cx="256272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BR" sz="1600" dirty="0">
                    <a:solidFill>
                      <a:srgbClr val="FFC000"/>
                    </a:solidFill>
                  </a:rPr>
                  <a:t>Synaptic Modeling Values</a:t>
                </a:r>
              </a:p>
            </p:txBody>
          </p:sp>
          <p:pic>
            <p:nvPicPr>
              <p:cNvPr id="590" name="Picture 589">
                <a:extLst>
                  <a:ext uri="{FF2B5EF4-FFF2-40B4-BE49-F238E27FC236}">
                    <a16:creationId xmlns:a16="http://schemas.microsoft.com/office/drawing/2014/main" id="{FA0A48E8-22E9-9285-1B0F-13F9D58A91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rightnessContrast bright="50000" contrast="-30000"/>
                        </a14:imgEffect>
                      </a14:imgLayer>
                    </a14:imgProps>
                  </a:ext>
                </a:extLst>
              </a:blip>
              <a:srcRect l="4014" t="32050" r="82328" b="8876"/>
              <a:stretch>
                <a:fillRect/>
              </a:stretch>
            </p:blipFill>
            <p:spPr>
              <a:xfrm>
                <a:off x="35048993" y="4518940"/>
                <a:ext cx="717884" cy="661736"/>
              </a:xfrm>
              <a:prstGeom prst="rect">
                <a:avLst/>
              </a:prstGeom>
            </p:spPr>
          </p:pic>
          <p:pic>
            <p:nvPicPr>
              <p:cNvPr id="591" name="Picture 590">
                <a:extLst>
                  <a:ext uri="{FF2B5EF4-FFF2-40B4-BE49-F238E27FC236}">
                    <a16:creationId xmlns:a16="http://schemas.microsoft.com/office/drawing/2014/main" id="{45B2D2D9-A419-C955-6822-10CAEEF948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sharpenSoften amount="-32000"/>
                        </a14:imgEffect>
                        <a14:imgEffect>
                          <a14:colorTemperature colorTemp="5723"/>
                        </a14:imgEffect>
                        <a14:imgEffect>
                          <a14:saturation sat="194000"/>
                        </a14:imgEffect>
                        <a14:imgEffect>
                          <a14:brightnessContrast bright="8000" contrast="85000"/>
                        </a14:imgEffect>
                      </a14:imgLayer>
                    </a14:imgProps>
                  </a:ext>
                </a:extLst>
              </a:blip>
              <a:srcRect l="18239" t="25753" r="73826" b="8012"/>
              <a:stretch>
                <a:fillRect/>
              </a:stretch>
            </p:blipFill>
            <p:spPr>
              <a:xfrm>
                <a:off x="35870148" y="4479762"/>
                <a:ext cx="417094" cy="741948"/>
              </a:xfrm>
              <a:prstGeom prst="rect">
                <a:avLst/>
              </a:prstGeom>
            </p:spPr>
          </p:pic>
          <p:sp>
            <p:nvSpPr>
              <p:cNvPr id="592" name="TextBox 591">
                <a:extLst>
                  <a:ext uri="{FF2B5EF4-FFF2-40B4-BE49-F238E27FC236}">
                    <a16:creationId xmlns:a16="http://schemas.microsoft.com/office/drawing/2014/main" id="{C07C8E83-5459-CB23-4D9A-ABB81B61DB95}"/>
                  </a:ext>
                </a:extLst>
              </p:cNvPr>
              <p:cNvSpPr txBox="1"/>
              <p:nvPr/>
            </p:nvSpPr>
            <p:spPr>
              <a:xfrm>
                <a:off x="36325342" y="4476181"/>
                <a:ext cx="1311442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BR" sz="1500" dirty="0">
                    <a:solidFill>
                      <a:schemeClr val="accent6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Age: 14 days</a:t>
                </a:r>
              </a:p>
              <a:p>
                <a:r>
                  <a:rPr lang="en-BR" sz="1500" dirty="0">
                    <a:solidFill>
                      <a:schemeClr val="accent6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 = 22 °C</a:t>
                </a:r>
              </a:p>
              <a:p>
                <a:r>
                  <a:rPr lang="en-BR" sz="1500" dirty="0">
                    <a:solidFill>
                      <a:schemeClr val="accent6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Vh = 60 mV</a:t>
                </a:r>
              </a:p>
            </p:txBody>
          </p:sp>
          <p:sp>
            <p:nvSpPr>
              <p:cNvPr id="593" name="TextBox 592">
                <a:extLst>
                  <a:ext uri="{FF2B5EF4-FFF2-40B4-BE49-F238E27FC236}">
                    <a16:creationId xmlns:a16="http://schemas.microsoft.com/office/drawing/2014/main" id="{917330A7-A4AF-A4B7-59E5-EFC55A6151F7}"/>
                  </a:ext>
                </a:extLst>
              </p:cNvPr>
              <p:cNvSpPr txBox="1"/>
              <p:nvPr/>
            </p:nvSpPr>
            <p:spPr>
              <a:xfrm>
                <a:off x="37521481" y="4203590"/>
                <a:ext cx="1311442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BR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𝜏</a:t>
                </a:r>
                <a:r>
                  <a:rPr lang="en-BR" baseline="-250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 </a:t>
                </a:r>
                <a:r>
                  <a:rPr lang="en-BR" sz="15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 1457 ms</a:t>
                </a:r>
              </a:p>
              <a:p>
                <a:r>
                  <a:rPr lang="en-BR" sz="16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𝜏</a:t>
                </a:r>
                <a:r>
                  <a:rPr lang="en-BR" sz="1600" baseline="-250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 </a:t>
                </a:r>
                <a:r>
                  <a:rPr lang="en-BR" sz="15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 28.11 ms</a:t>
                </a:r>
              </a:p>
              <a:p>
                <a:r>
                  <a:rPr lang="en-BR" sz="16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𝜏</a:t>
                </a:r>
                <a:r>
                  <a:rPr lang="en-BR" sz="1600" baseline="-250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 </a:t>
                </a:r>
                <a:r>
                  <a:rPr lang="en-BR" sz="15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  4.39 ms</a:t>
                </a:r>
              </a:p>
            </p:txBody>
          </p:sp>
          <p:sp>
            <p:nvSpPr>
              <p:cNvPr id="594" name="TextBox 593">
                <a:extLst>
                  <a:ext uri="{FF2B5EF4-FFF2-40B4-BE49-F238E27FC236}">
                    <a16:creationId xmlns:a16="http://schemas.microsoft.com/office/drawing/2014/main" id="{F8905F61-F063-6ED6-8549-99994844852C}"/>
                  </a:ext>
                </a:extLst>
              </p:cNvPr>
              <p:cNvSpPr txBox="1"/>
              <p:nvPr/>
            </p:nvSpPr>
            <p:spPr>
              <a:xfrm>
                <a:off x="38877540" y="4226673"/>
                <a:ext cx="1311442" cy="815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g</a:t>
                </a:r>
                <a:r>
                  <a:rPr lang="en-BR" sz="15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1.606 nS</a:t>
                </a:r>
              </a:p>
              <a:p>
                <a:r>
                  <a:rPr lang="en-BR" sz="16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U = 0.2558</a:t>
                </a:r>
                <a:endParaRPr lang="en-BR" sz="15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BR" sz="1600" dirty="0"/>
                  <a:t> </a:t>
                </a:r>
                <a:endParaRPr lang="en-BR" sz="1500" dirty="0"/>
              </a:p>
            </p:txBody>
          </p:sp>
        </p:grpSp>
      </p:grp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DB43751-9A8C-A255-E5B5-AB62FE916610}"/>
              </a:ext>
            </a:extLst>
          </p:cNvPr>
          <p:cNvSpPr/>
          <p:nvPr/>
        </p:nvSpPr>
        <p:spPr>
          <a:xfrm>
            <a:off x="15858269" y="27832770"/>
            <a:ext cx="14416944" cy="10532867"/>
          </a:xfrm>
          <a:prstGeom prst="roundRect">
            <a:avLst>
              <a:gd name="adj" fmla="val 3537"/>
            </a:avLst>
          </a:prstGeom>
          <a:solidFill>
            <a:srgbClr val="FBFBFB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1801" dirty="0"/>
          </a:p>
        </p:txBody>
      </p:sp>
      <p:sp>
        <p:nvSpPr>
          <p:cNvPr id="36" name="Rectangle 75">
            <a:extLst>
              <a:ext uri="{FF2B5EF4-FFF2-40B4-BE49-F238E27FC236}">
                <a16:creationId xmlns:a16="http://schemas.microsoft.com/office/drawing/2014/main" id="{20940CD5-8410-DF4F-B2A1-1F22BB82EA0F}"/>
              </a:ext>
            </a:extLst>
          </p:cNvPr>
          <p:cNvSpPr/>
          <p:nvPr/>
        </p:nvSpPr>
        <p:spPr>
          <a:xfrm rot="18179078">
            <a:off x="15625122" y="31350258"/>
            <a:ext cx="5917698" cy="5584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 algn="ctr" defTabSz="915040"/>
            <a:r>
              <a:rPr lang="en-US" sz="3200" b="1" spc="-1" dirty="0">
                <a:solidFill>
                  <a:srgbClr val="EEC300"/>
                </a:solidFill>
                <a:latin typeface="Calibri"/>
              </a:rPr>
              <a:t>Graph-theoretic network analysis </a:t>
            </a:r>
            <a:endParaRPr lang="pt-BR" sz="3200" spc="-1" dirty="0">
              <a:solidFill>
                <a:srgbClr val="EEC300"/>
              </a:solidFill>
              <a:latin typeface="Arial"/>
            </a:endParaRPr>
          </a:p>
        </p:txBody>
      </p:sp>
      <p:sp>
        <p:nvSpPr>
          <p:cNvPr id="499" name="Up Arrow 498">
            <a:extLst>
              <a:ext uri="{FF2B5EF4-FFF2-40B4-BE49-F238E27FC236}">
                <a16:creationId xmlns:a16="http://schemas.microsoft.com/office/drawing/2014/main" id="{EA0CB84B-C349-8D03-A19E-7DF36DBDE6EE}"/>
              </a:ext>
            </a:extLst>
          </p:cNvPr>
          <p:cNvSpPr/>
          <p:nvPr/>
        </p:nvSpPr>
        <p:spPr>
          <a:xfrm>
            <a:off x="22198186" y="29253021"/>
            <a:ext cx="339588" cy="4940881"/>
          </a:xfrm>
          <a:prstGeom prst="up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00" name="Up Arrow 499">
            <a:extLst>
              <a:ext uri="{FF2B5EF4-FFF2-40B4-BE49-F238E27FC236}">
                <a16:creationId xmlns:a16="http://schemas.microsoft.com/office/drawing/2014/main" id="{FDF4A2C7-90D5-3537-765E-4FC00471C323}"/>
              </a:ext>
            </a:extLst>
          </p:cNvPr>
          <p:cNvSpPr/>
          <p:nvPr/>
        </p:nvSpPr>
        <p:spPr>
          <a:xfrm rot="14375719">
            <a:off x="19758489" y="32782849"/>
            <a:ext cx="319108" cy="5510007"/>
          </a:xfrm>
          <a:prstGeom prst="up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01" name="Up Arrow 500">
            <a:extLst>
              <a:ext uri="{FF2B5EF4-FFF2-40B4-BE49-F238E27FC236}">
                <a16:creationId xmlns:a16="http://schemas.microsoft.com/office/drawing/2014/main" id="{BB75BC86-AA78-0ECE-723C-BAB3F0EEFCAE}"/>
              </a:ext>
            </a:extLst>
          </p:cNvPr>
          <p:cNvSpPr/>
          <p:nvPr/>
        </p:nvSpPr>
        <p:spPr>
          <a:xfrm rot="7538539">
            <a:off x="24260485" y="33056687"/>
            <a:ext cx="376317" cy="5261366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02" name="Rounded Rectangle 501">
            <a:extLst>
              <a:ext uri="{FF2B5EF4-FFF2-40B4-BE49-F238E27FC236}">
                <a16:creationId xmlns:a16="http://schemas.microsoft.com/office/drawing/2014/main" id="{1010B522-3D46-B26B-9E5B-6F30A4701992}"/>
              </a:ext>
            </a:extLst>
          </p:cNvPr>
          <p:cNvSpPr/>
          <p:nvPr/>
        </p:nvSpPr>
        <p:spPr>
          <a:xfrm>
            <a:off x="24895761" y="37383799"/>
            <a:ext cx="1663908" cy="52583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500" dirty="0"/>
              <a:t>Time</a:t>
            </a:r>
          </a:p>
        </p:txBody>
      </p:sp>
      <p:sp>
        <p:nvSpPr>
          <p:cNvPr id="503" name="Rounded Rectangle 502">
            <a:extLst>
              <a:ext uri="{FF2B5EF4-FFF2-40B4-BE49-F238E27FC236}">
                <a16:creationId xmlns:a16="http://schemas.microsoft.com/office/drawing/2014/main" id="{ED8EFF4A-0376-75E2-BC36-5A1B3949B481}"/>
              </a:ext>
            </a:extLst>
          </p:cNvPr>
          <p:cNvSpPr/>
          <p:nvPr/>
        </p:nvSpPr>
        <p:spPr>
          <a:xfrm>
            <a:off x="16358894" y="37247168"/>
            <a:ext cx="1949890" cy="5162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500" dirty="0"/>
              <a:t>Topology</a:t>
            </a:r>
          </a:p>
        </p:txBody>
      </p:sp>
      <p:sp>
        <p:nvSpPr>
          <p:cNvPr id="504" name="Rounded Rectangle 503">
            <a:extLst>
              <a:ext uri="{FF2B5EF4-FFF2-40B4-BE49-F238E27FC236}">
                <a16:creationId xmlns:a16="http://schemas.microsoft.com/office/drawing/2014/main" id="{AD926A18-24FB-EC2B-E06B-BB2E795F8138}"/>
              </a:ext>
            </a:extLst>
          </p:cNvPr>
          <p:cNvSpPr/>
          <p:nvPr/>
        </p:nvSpPr>
        <p:spPr>
          <a:xfrm>
            <a:off x="20457918" y="29478358"/>
            <a:ext cx="1663908" cy="525479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500" dirty="0"/>
              <a:t>Type</a:t>
            </a:r>
          </a:p>
        </p:txBody>
      </p:sp>
      <p:sp>
        <p:nvSpPr>
          <p:cNvPr id="200" name="Rectangle 75">
            <a:extLst>
              <a:ext uri="{FF2B5EF4-FFF2-40B4-BE49-F238E27FC236}">
                <a16:creationId xmlns:a16="http://schemas.microsoft.com/office/drawing/2014/main" id="{11F9B497-E761-C6F4-5C82-4FCB80417BB9}"/>
              </a:ext>
            </a:extLst>
          </p:cNvPr>
          <p:cNvSpPr/>
          <p:nvPr/>
        </p:nvSpPr>
        <p:spPr>
          <a:xfrm>
            <a:off x="18186935" y="28200331"/>
            <a:ext cx="4436262" cy="10177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 algn="ctr" defTabSz="915040"/>
            <a:r>
              <a:rPr lang="en-US" sz="5404" b="1" spc="-1" dirty="0">
                <a:solidFill>
                  <a:srgbClr val="800080"/>
                </a:solidFill>
                <a:latin typeface="Calibri"/>
              </a:rPr>
              <a:t>Applications</a:t>
            </a:r>
            <a:endParaRPr lang="pt-BR" sz="5404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FEF35BF6-0D8C-0BF8-4289-4C2418A6D4C7}"/>
              </a:ext>
            </a:extLst>
          </p:cNvPr>
          <p:cNvGrpSpPr/>
          <p:nvPr/>
        </p:nvGrpSpPr>
        <p:grpSpPr>
          <a:xfrm>
            <a:off x="26991246" y="28806373"/>
            <a:ext cx="2483236" cy="3591218"/>
            <a:chOff x="36043272" y="16298957"/>
            <a:chExt cx="1768047" cy="2816006"/>
          </a:xfrm>
        </p:grpSpPr>
        <p:pic>
          <p:nvPicPr>
            <p:cNvPr id="227" name="Picture 2" descr="C:\Users\Ruchi\Dropbox\NMO\NeuronReview\Ruchi-WorkInProgress\Figures-rawdata\CompartmentModel1-t1.png">
              <a:extLst>
                <a:ext uri="{FF2B5EF4-FFF2-40B4-BE49-F238E27FC236}">
                  <a16:creationId xmlns:a16="http://schemas.microsoft.com/office/drawing/2014/main" id="{3CCA673E-17F8-51D0-163C-6BD76D83A8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/>
            <a:srcRect/>
            <a:stretch>
              <a:fillRect/>
            </a:stretch>
          </p:blipFill>
          <p:spPr bwMode="auto">
            <a:xfrm>
              <a:off x="36043272" y="16298957"/>
              <a:ext cx="1768047" cy="28160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8" name="Picture 3">
              <a:extLst>
                <a:ext uri="{FF2B5EF4-FFF2-40B4-BE49-F238E27FC236}">
                  <a16:creationId xmlns:a16="http://schemas.microsoft.com/office/drawing/2014/main" id="{FD6F4810-45F0-071C-9CFB-0F09AFCE44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/>
            <a:srcRect l="39999" t="25781" r="58125" b="58594"/>
            <a:stretch>
              <a:fillRect/>
            </a:stretch>
          </p:blipFill>
          <p:spPr bwMode="auto">
            <a:xfrm>
              <a:off x="37586413" y="16391924"/>
              <a:ext cx="172258" cy="75093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</p:pic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E291BEE2-83EE-E269-F6CE-61EDD4270E6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6203792" y="17502803"/>
              <a:ext cx="624016" cy="454481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B053913A-D50A-3F5A-1879-C11296C21CAE}"/>
                </a:ext>
              </a:extLst>
            </p:cNvPr>
            <p:cNvCxnSpPr>
              <a:cxnSpLocks/>
              <a:stCxn id="231" idx="6"/>
            </p:cNvCxnSpPr>
            <p:nvPr/>
          </p:nvCxnSpPr>
          <p:spPr bwMode="auto">
            <a:xfrm>
              <a:off x="36263663" y="17401193"/>
              <a:ext cx="558522" cy="55217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961AD1D1-C3A4-D328-5C86-0C607ADB8F04}"/>
                </a:ext>
              </a:extLst>
            </p:cNvPr>
            <p:cNvSpPr/>
            <p:nvPr/>
          </p:nvSpPr>
          <p:spPr bwMode="auto">
            <a:xfrm rot="18684909">
              <a:off x="36156687" y="17418061"/>
              <a:ext cx="128770" cy="62834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30A61BCA-3CEB-D90F-CB23-D8D603F4DF6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6217069" y="16473245"/>
              <a:ext cx="262173" cy="45448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FC97EB5D-4DBF-0198-2872-90DA156E864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6313765" y="16414763"/>
              <a:ext cx="260008" cy="45448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17D18A49-DB4B-1692-B727-6FDCEB9D9482}"/>
                </a:ext>
              </a:extLst>
            </p:cNvPr>
            <p:cNvSpPr/>
            <p:nvPr/>
          </p:nvSpPr>
          <p:spPr bwMode="auto">
            <a:xfrm rot="19938704">
              <a:off x="36194319" y="16364773"/>
              <a:ext cx="114838" cy="100365"/>
            </a:xfrm>
            <a:custGeom>
              <a:avLst/>
              <a:gdLst>
                <a:gd name="connsiteX0" fmla="*/ 0 w 294332"/>
                <a:gd name="connsiteY0" fmla="*/ 177800 h 177800"/>
                <a:gd name="connsiteX1" fmla="*/ 6350 w 294332"/>
                <a:gd name="connsiteY1" fmla="*/ 98425 h 177800"/>
                <a:gd name="connsiteX2" fmla="*/ 12700 w 294332"/>
                <a:gd name="connsiteY2" fmla="*/ 76200 h 177800"/>
                <a:gd name="connsiteX3" fmla="*/ 22225 w 294332"/>
                <a:gd name="connsiteY3" fmla="*/ 41275 h 177800"/>
                <a:gd name="connsiteX4" fmla="*/ 31750 w 294332"/>
                <a:gd name="connsiteY4" fmla="*/ 31750 h 177800"/>
                <a:gd name="connsiteX5" fmla="*/ 41275 w 294332"/>
                <a:gd name="connsiteY5" fmla="*/ 12700 h 177800"/>
                <a:gd name="connsiteX6" fmla="*/ 50800 w 294332"/>
                <a:gd name="connsiteY6" fmla="*/ 6350 h 177800"/>
                <a:gd name="connsiteX7" fmla="*/ 88900 w 294332"/>
                <a:gd name="connsiteY7" fmla="*/ 9525 h 177800"/>
                <a:gd name="connsiteX8" fmla="*/ 101600 w 294332"/>
                <a:gd name="connsiteY8" fmla="*/ 28575 h 177800"/>
                <a:gd name="connsiteX9" fmla="*/ 107950 w 294332"/>
                <a:gd name="connsiteY9" fmla="*/ 38100 h 177800"/>
                <a:gd name="connsiteX10" fmla="*/ 114300 w 294332"/>
                <a:gd name="connsiteY10" fmla="*/ 60325 h 177800"/>
                <a:gd name="connsiteX11" fmla="*/ 120650 w 294332"/>
                <a:gd name="connsiteY11" fmla="*/ 88900 h 177800"/>
                <a:gd name="connsiteX12" fmla="*/ 117475 w 294332"/>
                <a:gd name="connsiteY12" fmla="*/ 171450 h 177800"/>
                <a:gd name="connsiteX13" fmla="*/ 107950 w 294332"/>
                <a:gd name="connsiteY13" fmla="*/ 174625 h 177800"/>
                <a:gd name="connsiteX14" fmla="*/ 92075 w 294332"/>
                <a:gd name="connsiteY14" fmla="*/ 171450 h 177800"/>
                <a:gd name="connsiteX15" fmla="*/ 85725 w 294332"/>
                <a:gd name="connsiteY15" fmla="*/ 161925 h 177800"/>
                <a:gd name="connsiteX16" fmla="*/ 79375 w 294332"/>
                <a:gd name="connsiteY16" fmla="*/ 142875 h 177800"/>
                <a:gd name="connsiteX17" fmla="*/ 82550 w 294332"/>
                <a:gd name="connsiteY17" fmla="*/ 69850 h 177800"/>
                <a:gd name="connsiteX18" fmla="*/ 92075 w 294332"/>
                <a:gd name="connsiteY18" fmla="*/ 31750 h 177800"/>
                <a:gd name="connsiteX19" fmla="*/ 95250 w 294332"/>
                <a:gd name="connsiteY19" fmla="*/ 22225 h 177800"/>
                <a:gd name="connsiteX20" fmla="*/ 104775 w 294332"/>
                <a:gd name="connsiteY20" fmla="*/ 15875 h 177800"/>
                <a:gd name="connsiteX21" fmla="*/ 111125 w 294332"/>
                <a:gd name="connsiteY21" fmla="*/ 6350 h 177800"/>
                <a:gd name="connsiteX22" fmla="*/ 130175 w 294332"/>
                <a:gd name="connsiteY22" fmla="*/ 0 h 177800"/>
                <a:gd name="connsiteX23" fmla="*/ 168275 w 294332"/>
                <a:gd name="connsiteY23" fmla="*/ 9525 h 177800"/>
                <a:gd name="connsiteX24" fmla="*/ 177800 w 294332"/>
                <a:gd name="connsiteY24" fmla="*/ 15875 h 177800"/>
                <a:gd name="connsiteX25" fmla="*/ 187325 w 294332"/>
                <a:gd name="connsiteY25" fmla="*/ 38100 h 177800"/>
                <a:gd name="connsiteX26" fmla="*/ 193675 w 294332"/>
                <a:gd name="connsiteY26" fmla="*/ 57150 h 177800"/>
                <a:gd name="connsiteX27" fmla="*/ 196850 w 294332"/>
                <a:gd name="connsiteY27" fmla="*/ 66675 h 177800"/>
                <a:gd name="connsiteX28" fmla="*/ 200025 w 294332"/>
                <a:gd name="connsiteY28" fmla="*/ 79375 h 177800"/>
                <a:gd name="connsiteX29" fmla="*/ 206375 w 294332"/>
                <a:gd name="connsiteY29" fmla="*/ 114300 h 177800"/>
                <a:gd name="connsiteX30" fmla="*/ 193675 w 294332"/>
                <a:gd name="connsiteY30" fmla="*/ 171450 h 177800"/>
                <a:gd name="connsiteX31" fmla="*/ 184150 w 294332"/>
                <a:gd name="connsiteY31" fmla="*/ 168275 h 177800"/>
                <a:gd name="connsiteX32" fmla="*/ 174625 w 294332"/>
                <a:gd name="connsiteY32" fmla="*/ 149225 h 177800"/>
                <a:gd name="connsiteX33" fmla="*/ 168275 w 294332"/>
                <a:gd name="connsiteY33" fmla="*/ 139700 h 177800"/>
                <a:gd name="connsiteX34" fmla="*/ 174625 w 294332"/>
                <a:gd name="connsiteY34" fmla="*/ 47625 h 177800"/>
                <a:gd name="connsiteX35" fmla="*/ 180975 w 294332"/>
                <a:gd name="connsiteY35" fmla="*/ 28575 h 177800"/>
                <a:gd name="connsiteX36" fmla="*/ 193675 w 294332"/>
                <a:gd name="connsiteY36" fmla="*/ 9525 h 177800"/>
                <a:gd name="connsiteX37" fmla="*/ 212725 w 294332"/>
                <a:gd name="connsiteY37" fmla="*/ 3175 h 177800"/>
                <a:gd name="connsiteX38" fmla="*/ 263525 w 294332"/>
                <a:gd name="connsiteY38" fmla="*/ 6350 h 177800"/>
                <a:gd name="connsiteX39" fmla="*/ 273050 w 294332"/>
                <a:gd name="connsiteY39" fmla="*/ 25400 h 177800"/>
                <a:gd name="connsiteX40" fmla="*/ 276225 w 294332"/>
                <a:gd name="connsiteY40" fmla="*/ 38100 h 177800"/>
                <a:gd name="connsiteX41" fmla="*/ 282575 w 294332"/>
                <a:gd name="connsiteY41" fmla="*/ 60325 h 177800"/>
                <a:gd name="connsiteX42" fmla="*/ 288925 w 294332"/>
                <a:gd name="connsiteY42" fmla="*/ 88900 h 177800"/>
                <a:gd name="connsiteX43" fmla="*/ 292100 w 294332"/>
                <a:gd name="connsiteY43" fmla="*/ 168275 h 17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94332" h="177800">
                  <a:moveTo>
                    <a:pt x="0" y="177800"/>
                  </a:moveTo>
                  <a:cubicBezTo>
                    <a:pt x="1793" y="145522"/>
                    <a:pt x="1182" y="126851"/>
                    <a:pt x="6350" y="98425"/>
                  </a:cubicBezTo>
                  <a:cubicBezTo>
                    <a:pt x="10309" y="76649"/>
                    <a:pt x="8166" y="94335"/>
                    <a:pt x="12700" y="76200"/>
                  </a:cubicBezTo>
                  <a:cubicBezTo>
                    <a:pt x="14353" y="69587"/>
                    <a:pt x="17684" y="45816"/>
                    <a:pt x="22225" y="41275"/>
                  </a:cubicBezTo>
                  <a:lnTo>
                    <a:pt x="31750" y="31750"/>
                  </a:lnTo>
                  <a:cubicBezTo>
                    <a:pt x="34332" y="24003"/>
                    <a:pt x="35120" y="18855"/>
                    <a:pt x="41275" y="12700"/>
                  </a:cubicBezTo>
                  <a:cubicBezTo>
                    <a:pt x="43973" y="10002"/>
                    <a:pt x="47625" y="8467"/>
                    <a:pt x="50800" y="6350"/>
                  </a:cubicBezTo>
                  <a:cubicBezTo>
                    <a:pt x="63500" y="7408"/>
                    <a:pt x="76586" y="6241"/>
                    <a:pt x="88900" y="9525"/>
                  </a:cubicBezTo>
                  <a:cubicBezTo>
                    <a:pt x="99317" y="12303"/>
                    <a:pt x="98104" y="21583"/>
                    <a:pt x="101600" y="28575"/>
                  </a:cubicBezTo>
                  <a:cubicBezTo>
                    <a:pt x="103307" y="31988"/>
                    <a:pt x="105833" y="34925"/>
                    <a:pt x="107950" y="38100"/>
                  </a:cubicBezTo>
                  <a:cubicBezTo>
                    <a:pt x="117876" y="77802"/>
                    <a:pt x="105190" y="28441"/>
                    <a:pt x="114300" y="60325"/>
                  </a:cubicBezTo>
                  <a:cubicBezTo>
                    <a:pt x="117289" y="70787"/>
                    <a:pt x="118468" y="77988"/>
                    <a:pt x="120650" y="88900"/>
                  </a:cubicBezTo>
                  <a:cubicBezTo>
                    <a:pt x="119592" y="116417"/>
                    <a:pt x="121511" y="144210"/>
                    <a:pt x="117475" y="171450"/>
                  </a:cubicBezTo>
                  <a:cubicBezTo>
                    <a:pt x="116985" y="174761"/>
                    <a:pt x="111297" y="174625"/>
                    <a:pt x="107950" y="174625"/>
                  </a:cubicBezTo>
                  <a:cubicBezTo>
                    <a:pt x="102554" y="174625"/>
                    <a:pt x="97367" y="172508"/>
                    <a:pt x="92075" y="171450"/>
                  </a:cubicBezTo>
                  <a:cubicBezTo>
                    <a:pt x="89958" y="168275"/>
                    <a:pt x="87275" y="165412"/>
                    <a:pt x="85725" y="161925"/>
                  </a:cubicBezTo>
                  <a:cubicBezTo>
                    <a:pt x="83007" y="155808"/>
                    <a:pt x="79375" y="142875"/>
                    <a:pt x="79375" y="142875"/>
                  </a:cubicBezTo>
                  <a:cubicBezTo>
                    <a:pt x="80433" y="118533"/>
                    <a:pt x="80874" y="94157"/>
                    <a:pt x="82550" y="69850"/>
                  </a:cubicBezTo>
                  <a:cubicBezTo>
                    <a:pt x="83665" y="53678"/>
                    <a:pt x="86975" y="47050"/>
                    <a:pt x="92075" y="31750"/>
                  </a:cubicBezTo>
                  <a:cubicBezTo>
                    <a:pt x="93133" y="28575"/>
                    <a:pt x="92465" y="24081"/>
                    <a:pt x="95250" y="22225"/>
                  </a:cubicBezTo>
                  <a:lnTo>
                    <a:pt x="104775" y="15875"/>
                  </a:lnTo>
                  <a:cubicBezTo>
                    <a:pt x="106892" y="12700"/>
                    <a:pt x="107889" y="8372"/>
                    <a:pt x="111125" y="6350"/>
                  </a:cubicBezTo>
                  <a:cubicBezTo>
                    <a:pt x="116801" y="2802"/>
                    <a:pt x="130175" y="0"/>
                    <a:pt x="130175" y="0"/>
                  </a:cubicBezTo>
                  <a:cubicBezTo>
                    <a:pt x="139697" y="1587"/>
                    <a:pt x="159889" y="3935"/>
                    <a:pt x="168275" y="9525"/>
                  </a:cubicBezTo>
                  <a:lnTo>
                    <a:pt x="177800" y="15875"/>
                  </a:lnTo>
                  <a:cubicBezTo>
                    <a:pt x="186199" y="49470"/>
                    <a:pt x="174796" y="9909"/>
                    <a:pt x="187325" y="38100"/>
                  </a:cubicBezTo>
                  <a:cubicBezTo>
                    <a:pt x="190043" y="44217"/>
                    <a:pt x="191558" y="50800"/>
                    <a:pt x="193675" y="57150"/>
                  </a:cubicBezTo>
                  <a:cubicBezTo>
                    <a:pt x="194733" y="60325"/>
                    <a:pt x="196038" y="63428"/>
                    <a:pt x="196850" y="66675"/>
                  </a:cubicBezTo>
                  <a:cubicBezTo>
                    <a:pt x="197908" y="70908"/>
                    <a:pt x="199308" y="75071"/>
                    <a:pt x="200025" y="79375"/>
                  </a:cubicBezTo>
                  <a:cubicBezTo>
                    <a:pt x="206009" y="115276"/>
                    <a:pt x="199563" y="93864"/>
                    <a:pt x="206375" y="114300"/>
                  </a:cubicBezTo>
                  <a:cubicBezTo>
                    <a:pt x="206281" y="115796"/>
                    <a:pt x="216570" y="167634"/>
                    <a:pt x="193675" y="171450"/>
                  </a:cubicBezTo>
                  <a:cubicBezTo>
                    <a:pt x="190374" y="172000"/>
                    <a:pt x="187325" y="169333"/>
                    <a:pt x="184150" y="168275"/>
                  </a:cubicBezTo>
                  <a:cubicBezTo>
                    <a:pt x="165952" y="140978"/>
                    <a:pt x="187770" y="175515"/>
                    <a:pt x="174625" y="149225"/>
                  </a:cubicBezTo>
                  <a:cubicBezTo>
                    <a:pt x="172918" y="145812"/>
                    <a:pt x="170392" y="142875"/>
                    <a:pt x="168275" y="139700"/>
                  </a:cubicBezTo>
                  <a:cubicBezTo>
                    <a:pt x="168869" y="126039"/>
                    <a:pt x="168200" y="73324"/>
                    <a:pt x="174625" y="47625"/>
                  </a:cubicBezTo>
                  <a:cubicBezTo>
                    <a:pt x="176248" y="41131"/>
                    <a:pt x="177262" y="34144"/>
                    <a:pt x="180975" y="28575"/>
                  </a:cubicBezTo>
                  <a:cubicBezTo>
                    <a:pt x="185208" y="22225"/>
                    <a:pt x="186435" y="11938"/>
                    <a:pt x="193675" y="9525"/>
                  </a:cubicBezTo>
                  <a:lnTo>
                    <a:pt x="212725" y="3175"/>
                  </a:lnTo>
                  <a:cubicBezTo>
                    <a:pt x="229658" y="4233"/>
                    <a:pt x="246963" y="2669"/>
                    <a:pt x="263525" y="6350"/>
                  </a:cubicBezTo>
                  <a:cubicBezTo>
                    <a:pt x="267770" y="7293"/>
                    <a:pt x="272143" y="22224"/>
                    <a:pt x="273050" y="25400"/>
                  </a:cubicBezTo>
                  <a:cubicBezTo>
                    <a:pt x="274249" y="29596"/>
                    <a:pt x="275077" y="33890"/>
                    <a:pt x="276225" y="38100"/>
                  </a:cubicBezTo>
                  <a:cubicBezTo>
                    <a:pt x="278252" y="45533"/>
                    <a:pt x="280843" y="52818"/>
                    <a:pt x="282575" y="60325"/>
                  </a:cubicBezTo>
                  <a:cubicBezTo>
                    <a:pt x="290957" y="96646"/>
                    <a:pt x="281293" y="66005"/>
                    <a:pt x="288925" y="88900"/>
                  </a:cubicBezTo>
                  <a:cubicBezTo>
                    <a:pt x="294332" y="132153"/>
                    <a:pt x="292100" y="105767"/>
                    <a:pt x="292100" y="168275"/>
                  </a:cubicBezTo>
                </a:path>
              </a:pathLst>
            </a:cu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23" name="Rounded Rectangle 522">
            <a:extLst>
              <a:ext uri="{FF2B5EF4-FFF2-40B4-BE49-F238E27FC236}">
                <a16:creationId xmlns:a16="http://schemas.microsoft.com/office/drawing/2014/main" id="{CF533C13-E7DB-51D2-B484-46D2EA60DDE7}"/>
              </a:ext>
            </a:extLst>
          </p:cNvPr>
          <p:cNvSpPr/>
          <p:nvPr/>
        </p:nvSpPr>
        <p:spPr>
          <a:xfrm>
            <a:off x="26696167" y="32752752"/>
            <a:ext cx="2864007" cy="110819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200" b="1" dirty="0">
                <a:solidFill>
                  <a:schemeClr val="accent4">
                    <a:lumMod val="75000"/>
                  </a:schemeClr>
                </a:solidFill>
              </a:rPr>
              <a:t>Individual neuron</a:t>
            </a:r>
            <a:endParaRPr lang="en-US" sz="2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en-US" sz="2200" b="1" dirty="0">
                <a:solidFill>
                  <a:schemeClr val="accent4">
                    <a:lumMod val="75000"/>
                  </a:schemeClr>
                </a:solidFill>
              </a:rPr>
              <a:t>(Hodgkin-Huxley)</a:t>
            </a:r>
            <a:endParaRPr lang="en-BR" sz="22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24" name="Rounded Rectangle 523">
            <a:extLst>
              <a:ext uri="{FF2B5EF4-FFF2-40B4-BE49-F238E27FC236}">
                <a16:creationId xmlns:a16="http://schemas.microsoft.com/office/drawing/2014/main" id="{8B8D3A3D-349F-9F3C-4201-2177DFDEE0C0}"/>
              </a:ext>
            </a:extLst>
          </p:cNvPr>
          <p:cNvSpPr/>
          <p:nvPr/>
        </p:nvSpPr>
        <p:spPr>
          <a:xfrm>
            <a:off x="26972663" y="36506362"/>
            <a:ext cx="2775640" cy="911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200" b="1" dirty="0">
                <a:solidFill>
                  <a:schemeClr val="accent4">
                    <a:lumMod val="75000"/>
                  </a:schemeClr>
                </a:solidFill>
              </a:rPr>
              <a:t>Spiking Neural Network</a:t>
            </a:r>
          </a:p>
        </p:txBody>
      </p:sp>
      <p:sp>
        <p:nvSpPr>
          <p:cNvPr id="525" name="Rounded Rectangle 524">
            <a:extLst>
              <a:ext uri="{FF2B5EF4-FFF2-40B4-BE49-F238E27FC236}">
                <a16:creationId xmlns:a16="http://schemas.microsoft.com/office/drawing/2014/main" id="{532BA0B1-AE9E-B60C-C265-E0EA2F73FFC6}"/>
              </a:ext>
            </a:extLst>
          </p:cNvPr>
          <p:cNvSpPr/>
          <p:nvPr/>
        </p:nvSpPr>
        <p:spPr>
          <a:xfrm>
            <a:off x="22893374" y="28440776"/>
            <a:ext cx="2408112" cy="789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accent4">
                    <a:lumMod val="75000"/>
                  </a:schemeClr>
                </a:solidFill>
              </a:rPr>
              <a:t>Compartmental neuron models</a:t>
            </a:r>
            <a:endParaRPr lang="en-BR" sz="22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43A9017E-1E7B-0957-7383-33E1EE9F6F99}"/>
              </a:ext>
            </a:extLst>
          </p:cNvPr>
          <p:cNvSpPr txBox="1"/>
          <p:nvPr/>
        </p:nvSpPr>
        <p:spPr>
          <a:xfrm>
            <a:off x="27085461" y="37524955"/>
            <a:ext cx="2678986" cy="78483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500" dirty="0" err="1">
                <a:solidFill>
                  <a:schemeClr val="bg1"/>
                </a:solidFill>
                <a:latin typeface="Arial Narrow" panose="020B0606020202030204" pitchFamily="34" charset="0"/>
              </a:rPr>
              <a:t>Kopsick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</a:rPr>
              <a:t> et al. 2023 </a:t>
            </a:r>
            <a:r>
              <a:rPr lang="en-US" sz="1500" dirty="0">
                <a:solidFill>
                  <a:schemeClr val="bg1"/>
                </a:solidFill>
                <a:latin typeface="Arial Narrow" panose="020B0606020202030204" pitchFamily="34" charset="0"/>
              </a:rPr>
              <a:t>PMID37663748</a:t>
            </a:r>
          </a:p>
          <a:p>
            <a:pPr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</a:rPr>
              <a:t>Sutton et al. 2024 PMID38892248</a:t>
            </a:r>
          </a:p>
          <a:p>
            <a:pPr lvl="0">
              <a:defRPr/>
            </a:pPr>
            <a:r>
              <a:rPr lang="en-US" sz="1500" dirty="0">
                <a:solidFill>
                  <a:schemeClr val="bg1"/>
                </a:solidFill>
                <a:latin typeface="Arial Narrow" panose="020B0606020202030204" pitchFamily="34" charset="0"/>
              </a:rPr>
              <a:t>Kopsick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</a:rPr>
              <a:t> et al. </a:t>
            </a:r>
            <a:r>
              <a:rPr lang="en-US" sz="1500" dirty="0">
                <a:solidFill>
                  <a:schemeClr val="bg1"/>
                </a:solidFill>
                <a:latin typeface="Arial Narrow" panose="020B0606020202030204" pitchFamily="34" charset="0"/>
              </a:rPr>
              <a:t>2024 PMID39285088</a:t>
            </a:r>
          </a:p>
        </p:txBody>
      </p:sp>
      <p:sp>
        <p:nvSpPr>
          <p:cNvPr id="542" name="Rectangle 75">
            <a:extLst>
              <a:ext uri="{FF2B5EF4-FFF2-40B4-BE49-F238E27FC236}">
                <a16:creationId xmlns:a16="http://schemas.microsoft.com/office/drawing/2014/main" id="{A4F2677E-7A7A-F14F-CC23-4A1DA68EA2CD}"/>
              </a:ext>
            </a:extLst>
          </p:cNvPr>
          <p:cNvSpPr/>
          <p:nvPr/>
        </p:nvSpPr>
        <p:spPr>
          <a:xfrm>
            <a:off x="20409826" y="35195290"/>
            <a:ext cx="3463436" cy="59103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 algn="ctr" defTabSz="915040"/>
            <a:r>
              <a:rPr lang="en-US" sz="3200" b="1" spc="-1" dirty="0">
                <a:solidFill>
                  <a:srgbClr val="EEC300"/>
                </a:solidFill>
                <a:latin typeface="Calibri"/>
              </a:rPr>
              <a:t>Neural Mass</a:t>
            </a:r>
            <a:endParaRPr lang="pt-BR" sz="3200" spc="-1" dirty="0">
              <a:solidFill>
                <a:srgbClr val="EEC300"/>
              </a:solidFill>
              <a:latin typeface="Arial"/>
            </a:endParaRPr>
          </a:p>
        </p:txBody>
      </p:sp>
      <p:sp>
        <p:nvSpPr>
          <p:cNvPr id="543" name="Rectangle 75">
            <a:extLst>
              <a:ext uri="{FF2B5EF4-FFF2-40B4-BE49-F238E27FC236}">
                <a16:creationId xmlns:a16="http://schemas.microsoft.com/office/drawing/2014/main" id="{C7BF8093-46F1-0BA9-07AD-417F2EE16002}"/>
              </a:ext>
            </a:extLst>
          </p:cNvPr>
          <p:cNvSpPr/>
          <p:nvPr/>
        </p:nvSpPr>
        <p:spPr>
          <a:xfrm rot="18165294">
            <a:off x="19345280" y="33241159"/>
            <a:ext cx="3667832" cy="594158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 algn="ctr" defTabSz="915040"/>
            <a:r>
              <a:rPr lang="en-US" sz="3200" b="1" spc="-1" dirty="0">
                <a:solidFill>
                  <a:srgbClr val="EEC300"/>
                </a:solidFill>
                <a:latin typeface="Calibri"/>
              </a:rPr>
              <a:t>Quantitative Graph</a:t>
            </a:r>
            <a:endParaRPr lang="pt-BR" sz="3200" spc="-1" dirty="0">
              <a:solidFill>
                <a:srgbClr val="EEC300"/>
              </a:solidFill>
              <a:latin typeface="Arial"/>
            </a:endParaRPr>
          </a:p>
        </p:txBody>
      </p:sp>
      <p:sp>
        <p:nvSpPr>
          <p:cNvPr id="544" name="Rectangle 75">
            <a:extLst>
              <a:ext uri="{FF2B5EF4-FFF2-40B4-BE49-F238E27FC236}">
                <a16:creationId xmlns:a16="http://schemas.microsoft.com/office/drawing/2014/main" id="{E95F094E-DBC3-6ED5-9EA1-8507175FE53C}"/>
              </a:ext>
            </a:extLst>
          </p:cNvPr>
          <p:cNvSpPr/>
          <p:nvPr/>
        </p:nvSpPr>
        <p:spPr>
          <a:xfrm>
            <a:off x="18292978" y="37812318"/>
            <a:ext cx="6676404" cy="5584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 algn="ctr" defTabSz="915040"/>
            <a:r>
              <a:rPr lang="en-US" sz="3200" b="1" spc="-1" dirty="0">
                <a:solidFill>
                  <a:srgbClr val="EEC300"/>
                </a:solidFill>
                <a:latin typeface="Calibri"/>
              </a:rPr>
              <a:t>Real-time population activity estimate</a:t>
            </a:r>
            <a:endParaRPr lang="pt-BR" sz="3200" spc="-1" dirty="0">
              <a:solidFill>
                <a:srgbClr val="EEC300"/>
              </a:solidFill>
              <a:latin typeface="Arial"/>
            </a:endParaRPr>
          </a:p>
        </p:txBody>
      </p:sp>
      <p:sp>
        <p:nvSpPr>
          <p:cNvPr id="545" name="Rectangle 75">
            <a:extLst>
              <a:ext uri="{FF2B5EF4-FFF2-40B4-BE49-F238E27FC236}">
                <a16:creationId xmlns:a16="http://schemas.microsoft.com/office/drawing/2014/main" id="{8F30FE0D-BA83-28E0-D1A3-59A517E4542D}"/>
              </a:ext>
            </a:extLst>
          </p:cNvPr>
          <p:cNvSpPr/>
          <p:nvPr/>
        </p:nvSpPr>
        <p:spPr>
          <a:xfrm rot="3781275">
            <a:off x="23513304" y="33127347"/>
            <a:ext cx="2326031" cy="528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 algn="ctr" defTabSz="915040"/>
            <a:r>
              <a:rPr lang="en-US" sz="3200" b="1" spc="-1" dirty="0">
                <a:solidFill>
                  <a:srgbClr val="EEC300"/>
                </a:solidFill>
                <a:latin typeface="Calibri"/>
              </a:rPr>
              <a:t>Integrated     information</a:t>
            </a:r>
            <a:endParaRPr lang="pt-BR" sz="3200" spc="-1" dirty="0">
              <a:solidFill>
                <a:srgbClr val="EEC300"/>
              </a:solidFill>
              <a:latin typeface="Arial"/>
            </a:endParaRPr>
          </a:p>
        </p:txBody>
      </p:sp>
      <p:sp>
        <p:nvSpPr>
          <p:cNvPr id="546" name="Oval 545">
            <a:extLst>
              <a:ext uri="{FF2B5EF4-FFF2-40B4-BE49-F238E27FC236}">
                <a16:creationId xmlns:a16="http://schemas.microsoft.com/office/drawing/2014/main" id="{6DC27785-0398-E0D6-1603-4A679F8E3A65}"/>
              </a:ext>
            </a:extLst>
          </p:cNvPr>
          <p:cNvSpPr/>
          <p:nvPr/>
        </p:nvSpPr>
        <p:spPr>
          <a:xfrm>
            <a:off x="25917422" y="28668996"/>
            <a:ext cx="4105690" cy="401603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pic>
        <p:nvPicPr>
          <p:cNvPr id="547" name="Picture 546" descr="A screen shot of a graph&#10;&#10;AI-generated content may be incorrect.">
            <a:extLst>
              <a:ext uri="{FF2B5EF4-FFF2-40B4-BE49-F238E27FC236}">
                <a16:creationId xmlns:a16="http://schemas.microsoft.com/office/drawing/2014/main" id="{46824D04-5A11-1621-BBB9-AF92CC1640F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8324"/>
                    </a14:imgEffect>
                    <a14:imgEffect>
                      <a14:saturation sat="170000"/>
                    </a14:imgEffect>
                    <a14:imgEffect>
                      <a14:brightnessContrast bright="-22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0858" y="33875261"/>
            <a:ext cx="4913732" cy="2562538"/>
          </a:xfrm>
          <a:prstGeom prst="rect">
            <a:avLst/>
          </a:prstGeom>
        </p:spPr>
      </p:pic>
      <p:pic>
        <p:nvPicPr>
          <p:cNvPr id="548" name="Picture 547" descr="A close-up of a network&#10;&#10;AI-generated content may be incorrect.">
            <a:extLst>
              <a:ext uri="{FF2B5EF4-FFF2-40B4-BE49-F238E27FC236}">
                <a16:creationId xmlns:a16="http://schemas.microsoft.com/office/drawing/2014/main" id="{6ED5B21D-4895-877A-7FD8-25957DC86AC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8402" y="29602611"/>
            <a:ext cx="2777925" cy="2726641"/>
          </a:xfrm>
          <a:prstGeom prst="rect">
            <a:avLst/>
          </a:prstGeom>
        </p:spPr>
      </p:pic>
      <p:pic>
        <p:nvPicPr>
          <p:cNvPr id="550" name="Picture 549" descr="A green brain with a key&#10;&#10;AI-generated content may be incorrect.">
            <a:extLst>
              <a:ext uri="{FF2B5EF4-FFF2-40B4-BE49-F238E27FC236}">
                <a16:creationId xmlns:a16="http://schemas.microsoft.com/office/drawing/2014/main" id="{24E12E68-DE83-68A3-A2C1-8673E6D392EC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721822">
            <a:off x="21907562" y="33924879"/>
            <a:ext cx="914400" cy="914400"/>
          </a:xfrm>
          <a:prstGeom prst="rect">
            <a:avLst/>
          </a:prstGeom>
        </p:spPr>
      </p:pic>
      <p:sp>
        <p:nvSpPr>
          <p:cNvPr id="551" name="Rectangle 75">
            <a:extLst>
              <a:ext uri="{FF2B5EF4-FFF2-40B4-BE49-F238E27FC236}">
                <a16:creationId xmlns:a16="http://schemas.microsoft.com/office/drawing/2014/main" id="{68B8CE6A-5020-8B75-8B3D-862B51D39D07}"/>
              </a:ext>
            </a:extLst>
          </p:cNvPr>
          <p:cNvSpPr/>
          <p:nvPr/>
        </p:nvSpPr>
        <p:spPr>
          <a:xfrm rot="3859000">
            <a:off x="21671079" y="33278490"/>
            <a:ext cx="3414763" cy="553175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 algn="ctr" defTabSz="915040"/>
            <a:r>
              <a:rPr lang="en-US" sz="3200" b="1" spc="-1" dirty="0">
                <a:solidFill>
                  <a:srgbClr val="EEC300"/>
                </a:solidFill>
                <a:latin typeface="Calibri"/>
              </a:rPr>
              <a:t>Multi Scale Model</a:t>
            </a:r>
            <a:endParaRPr lang="pt-BR" sz="3200" spc="-1" dirty="0">
              <a:solidFill>
                <a:srgbClr val="EEC300"/>
              </a:solidFill>
              <a:latin typeface="Arial"/>
            </a:endParaRPr>
          </a:p>
        </p:txBody>
      </p:sp>
      <p:pic>
        <p:nvPicPr>
          <p:cNvPr id="552" name="Picture 551" descr="A close-up of a graph&#10;&#10;AI-generated content may be incorrect.">
            <a:extLst>
              <a:ext uri="{FF2B5EF4-FFF2-40B4-BE49-F238E27FC236}">
                <a16:creationId xmlns:a16="http://schemas.microsoft.com/office/drawing/2014/main" id="{86FA452D-17D2-D85B-A85D-5FD6A404312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76" r="56101" b="65756"/>
          <a:stretch>
            <a:fillRect/>
          </a:stretch>
        </p:blipFill>
        <p:spPr>
          <a:xfrm>
            <a:off x="21344840" y="35786320"/>
            <a:ext cx="1384852" cy="2059798"/>
          </a:xfrm>
          <a:prstGeom prst="rect">
            <a:avLst/>
          </a:prstGeom>
        </p:spPr>
      </p:pic>
      <p:sp>
        <p:nvSpPr>
          <p:cNvPr id="553" name="Rounded Rectangle 552">
            <a:extLst>
              <a:ext uri="{FF2B5EF4-FFF2-40B4-BE49-F238E27FC236}">
                <a16:creationId xmlns:a16="http://schemas.microsoft.com/office/drawing/2014/main" id="{E34DCC70-C817-F6A6-612A-EB0AF9404860}"/>
              </a:ext>
            </a:extLst>
          </p:cNvPr>
          <p:cNvSpPr/>
          <p:nvPr/>
        </p:nvSpPr>
        <p:spPr>
          <a:xfrm>
            <a:off x="21076787" y="35776404"/>
            <a:ext cx="323384" cy="21380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i="1" spc="-2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BR" sz="1300" b="1" i="1" spc="-200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554" name="Rounded Rectangle 553">
            <a:extLst>
              <a:ext uri="{FF2B5EF4-FFF2-40B4-BE49-F238E27FC236}">
                <a16:creationId xmlns:a16="http://schemas.microsoft.com/office/drawing/2014/main" id="{AB4156D0-C498-26E1-86EE-8A12A5E6BD71}"/>
              </a:ext>
            </a:extLst>
          </p:cNvPr>
          <p:cNvSpPr/>
          <p:nvPr/>
        </p:nvSpPr>
        <p:spPr>
          <a:xfrm>
            <a:off x="21069353" y="35927677"/>
            <a:ext cx="323384" cy="21380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i="1" spc="-2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BR" sz="1300" b="1" i="1" spc="-200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</p:txBody>
      </p:sp>
      <p:sp>
        <p:nvSpPr>
          <p:cNvPr id="555" name="Rounded Rectangle 554">
            <a:extLst>
              <a:ext uri="{FF2B5EF4-FFF2-40B4-BE49-F238E27FC236}">
                <a16:creationId xmlns:a16="http://schemas.microsoft.com/office/drawing/2014/main" id="{DD969E19-DE98-ED93-9E5C-C13C4F5495AE}"/>
              </a:ext>
            </a:extLst>
          </p:cNvPr>
          <p:cNvSpPr/>
          <p:nvPr/>
        </p:nvSpPr>
        <p:spPr>
          <a:xfrm>
            <a:off x="21073070" y="36075917"/>
            <a:ext cx="323384" cy="21380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i="1" spc="-2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BR" sz="1300" b="1" i="1" spc="-200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556" name="Rounded Rectangle 555">
            <a:extLst>
              <a:ext uri="{FF2B5EF4-FFF2-40B4-BE49-F238E27FC236}">
                <a16:creationId xmlns:a16="http://schemas.microsoft.com/office/drawing/2014/main" id="{89C7929A-5500-EE09-AABC-6AE760A9AA33}"/>
              </a:ext>
            </a:extLst>
          </p:cNvPr>
          <p:cNvSpPr/>
          <p:nvPr/>
        </p:nvSpPr>
        <p:spPr>
          <a:xfrm>
            <a:off x="21069025" y="36207033"/>
            <a:ext cx="323384" cy="21380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i="1" spc="-2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BR" sz="1300" b="1" i="1" spc="-200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</a:p>
        </p:txBody>
      </p:sp>
      <p:sp>
        <p:nvSpPr>
          <p:cNvPr id="557" name="Rounded Rectangle 556">
            <a:extLst>
              <a:ext uri="{FF2B5EF4-FFF2-40B4-BE49-F238E27FC236}">
                <a16:creationId xmlns:a16="http://schemas.microsoft.com/office/drawing/2014/main" id="{6BFE2814-E514-749E-6667-C200C6459F9F}"/>
              </a:ext>
            </a:extLst>
          </p:cNvPr>
          <p:cNvSpPr/>
          <p:nvPr/>
        </p:nvSpPr>
        <p:spPr>
          <a:xfrm>
            <a:off x="21072573" y="36334488"/>
            <a:ext cx="323384" cy="21380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i="1" spc="-2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BR" sz="1300" b="1" i="1" spc="-200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</a:p>
        </p:txBody>
      </p:sp>
      <p:sp>
        <p:nvSpPr>
          <p:cNvPr id="558" name="Rounded Rectangle 557">
            <a:extLst>
              <a:ext uri="{FF2B5EF4-FFF2-40B4-BE49-F238E27FC236}">
                <a16:creationId xmlns:a16="http://schemas.microsoft.com/office/drawing/2014/main" id="{63BF78DD-DAA3-817D-D201-51BD061D44F6}"/>
              </a:ext>
            </a:extLst>
          </p:cNvPr>
          <p:cNvSpPr/>
          <p:nvPr/>
        </p:nvSpPr>
        <p:spPr>
          <a:xfrm>
            <a:off x="21076787" y="36489772"/>
            <a:ext cx="323384" cy="21380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i="1" spc="-2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BR" sz="1300" b="1" i="1" spc="-200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6</a:t>
            </a:r>
          </a:p>
        </p:txBody>
      </p:sp>
      <p:sp>
        <p:nvSpPr>
          <p:cNvPr id="559" name="Rounded Rectangle 558">
            <a:extLst>
              <a:ext uri="{FF2B5EF4-FFF2-40B4-BE49-F238E27FC236}">
                <a16:creationId xmlns:a16="http://schemas.microsoft.com/office/drawing/2014/main" id="{62B490A0-247E-2210-5639-9517DED1D224}"/>
              </a:ext>
            </a:extLst>
          </p:cNvPr>
          <p:cNvSpPr/>
          <p:nvPr/>
        </p:nvSpPr>
        <p:spPr>
          <a:xfrm>
            <a:off x="21078019" y="36668536"/>
            <a:ext cx="308517" cy="1486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i="1" spc="-2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BR" sz="1300" b="1" i="1" spc="-200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</a:p>
        </p:txBody>
      </p:sp>
      <p:sp>
        <p:nvSpPr>
          <p:cNvPr id="560" name="Rounded Rectangle 559">
            <a:extLst>
              <a:ext uri="{FF2B5EF4-FFF2-40B4-BE49-F238E27FC236}">
                <a16:creationId xmlns:a16="http://schemas.microsoft.com/office/drawing/2014/main" id="{94CEB8D3-95C2-0DFC-047E-477C757B05A1}"/>
              </a:ext>
            </a:extLst>
          </p:cNvPr>
          <p:cNvSpPr/>
          <p:nvPr/>
        </p:nvSpPr>
        <p:spPr>
          <a:xfrm>
            <a:off x="21091654" y="36837264"/>
            <a:ext cx="308517" cy="1486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i="1" spc="-2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BR" sz="1300" b="1" i="1" spc="-200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8</a:t>
            </a:r>
          </a:p>
        </p:txBody>
      </p:sp>
      <p:sp>
        <p:nvSpPr>
          <p:cNvPr id="561" name="Rounded Rectangle 560">
            <a:extLst>
              <a:ext uri="{FF2B5EF4-FFF2-40B4-BE49-F238E27FC236}">
                <a16:creationId xmlns:a16="http://schemas.microsoft.com/office/drawing/2014/main" id="{C3515BB8-BE43-15BD-9625-F7D730DECF81}"/>
              </a:ext>
            </a:extLst>
          </p:cNvPr>
          <p:cNvSpPr/>
          <p:nvPr/>
        </p:nvSpPr>
        <p:spPr>
          <a:xfrm>
            <a:off x="21080768" y="37026965"/>
            <a:ext cx="308517" cy="1486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i="1" spc="-2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BR" sz="1300" b="1" i="1" spc="-200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9</a:t>
            </a:r>
          </a:p>
        </p:txBody>
      </p:sp>
      <p:sp>
        <p:nvSpPr>
          <p:cNvPr id="562" name="Rounded Rectangle 561">
            <a:extLst>
              <a:ext uri="{FF2B5EF4-FFF2-40B4-BE49-F238E27FC236}">
                <a16:creationId xmlns:a16="http://schemas.microsoft.com/office/drawing/2014/main" id="{0CEC699D-DBD9-5585-48D5-1B87E92185A9}"/>
              </a:ext>
            </a:extLst>
          </p:cNvPr>
          <p:cNvSpPr/>
          <p:nvPr/>
        </p:nvSpPr>
        <p:spPr>
          <a:xfrm>
            <a:off x="21042667" y="37233793"/>
            <a:ext cx="369755" cy="1486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i="1" spc="-2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BR" sz="1300" b="1" i="1" spc="-200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10</a:t>
            </a:r>
          </a:p>
        </p:txBody>
      </p:sp>
      <p:sp>
        <p:nvSpPr>
          <p:cNvPr id="563" name="Rounded Rectangle 562">
            <a:extLst>
              <a:ext uri="{FF2B5EF4-FFF2-40B4-BE49-F238E27FC236}">
                <a16:creationId xmlns:a16="http://schemas.microsoft.com/office/drawing/2014/main" id="{EEA67AC6-5B26-076E-F0DC-14BE8D753736}"/>
              </a:ext>
            </a:extLst>
          </p:cNvPr>
          <p:cNvSpPr/>
          <p:nvPr/>
        </p:nvSpPr>
        <p:spPr>
          <a:xfrm>
            <a:off x="21040943" y="37424293"/>
            <a:ext cx="397328" cy="1486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i="1" spc="-2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BR" sz="1300" b="1" i="1" spc="-200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11</a:t>
            </a:r>
          </a:p>
        </p:txBody>
      </p:sp>
      <p:sp>
        <p:nvSpPr>
          <p:cNvPr id="564" name="Rounded Rectangle 563">
            <a:extLst>
              <a:ext uri="{FF2B5EF4-FFF2-40B4-BE49-F238E27FC236}">
                <a16:creationId xmlns:a16="http://schemas.microsoft.com/office/drawing/2014/main" id="{64A0E6EF-D88E-4C65-7772-F5CBB9855A2B}"/>
              </a:ext>
            </a:extLst>
          </p:cNvPr>
          <p:cNvSpPr/>
          <p:nvPr/>
        </p:nvSpPr>
        <p:spPr>
          <a:xfrm>
            <a:off x="21047753" y="37615789"/>
            <a:ext cx="368748" cy="1486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i="1" spc="-2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BR" sz="1300" b="1" i="1" spc="-200" baseline="-25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12</a:t>
            </a:r>
          </a:p>
        </p:txBody>
      </p:sp>
      <p:sp>
        <p:nvSpPr>
          <p:cNvPr id="565" name="Rounded Rectangle 564">
            <a:extLst>
              <a:ext uri="{FF2B5EF4-FFF2-40B4-BE49-F238E27FC236}">
                <a16:creationId xmlns:a16="http://schemas.microsoft.com/office/drawing/2014/main" id="{E025D398-81FA-98EC-A16E-5BE53D7BD93B}"/>
              </a:ext>
            </a:extLst>
          </p:cNvPr>
          <p:cNvSpPr/>
          <p:nvPr/>
        </p:nvSpPr>
        <p:spPr>
          <a:xfrm rot="16200000">
            <a:off x="20039110" y="36740681"/>
            <a:ext cx="1939834" cy="189031"/>
          </a:xfrm>
          <a:prstGeom prst="roundRect">
            <a:avLst/>
          </a:prstGeom>
          <a:solidFill>
            <a:srgbClr val="FBFB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1400" dirty="0">
                <a:solidFill>
                  <a:srgbClr val="EEC300"/>
                </a:solidFill>
              </a:rPr>
              <a:t>Neuron types channel</a:t>
            </a:r>
          </a:p>
        </p:txBody>
      </p:sp>
      <p:grpSp>
        <p:nvGrpSpPr>
          <p:cNvPr id="584" name="Group 583">
            <a:extLst>
              <a:ext uri="{FF2B5EF4-FFF2-40B4-BE49-F238E27FC236}">
                <a16:creationId xmlns:a16="http://schemas.microsoft.com/office/drawing/2014/main" id="{83B0D920-2104-9090-A98F-C2C88BCD8B05}"/>
              </a:ext>
            </a:extLst>
          </p:cNvPr>
          <p:cNvGrpSpPr/>
          <p:nvPr/>
        </p:nvGrpSpPr>
        <p:grpSpPr>
          <a:xfrm>
            <a:off x="17147274" y="30737320"/>
            <a:ext cx="5561602" cy="3011119"/>
            <a:chOff x="30716094" y="16228407"/>
            <a:chExt cx="5561602" cy="3011119"/>
          </a:xfrm>
        </p:grpSpPr>
        <p:pic>
          <p:nvPicPr>
            <p:cNvPr id="585" name="Picture 584" descr="A network of lines and dots&#10;&#10;AI-generated content may be incorrect.">
              <a:extLst>
                <a:ext uri="{FF2B5EF4-FFF2-40B4-BE49-F238E27FC236}">
                  <a16:creationId xmlns:a16="http://schemas.microsoft.com/office/drawing/2014/main" id="{A559D2E2-8BE2-D53B-77F4-AB11BFF8F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16094" y="16389205"/>
              <a:ext cx="5561602" cy="2850321"/>
            </a:xfrm>
            <a:prstGeom prst="rect">
              <a:avLst/>
            </a:prstGeom>
          </p:spPr>
        </p:pic>
        <p:sp>
          <p:nvSpPr>
            <p:cNvPr id="586" name="Rectangle 585">
              <a:extLst>
                <a:ext uri="{FF2B5EF4-FFF2-40B4-BE49-F238E27FC236}">
                  <a16:creationId xmlns:a16="http://schemas.microsoft.com/office/drawing/2014/main" id="{B2F2C37B-BC27-478D-3C48-AFF599B55526}"/>
                </a:ext>
              </a:extLst>
            </p:cNvPr>
            <p:cNvSpPr/>
            <p:nvPr/>
          </p:nvSpPr>
          <p:spPr>
            <a:xfrm>
              <a:off x="30955347" y="16228407"/>
              <a:ext cx="1306531" cy="386593"/>
            </a:xfrm>
            <a:prstGeom prst="rect">
              <a:avLst/>
            </a:prstGeom>
            <a:solidFill>
              <a:srgbClr val="FBFB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</p:grp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0E3F92BA-2126-D002-D0B8-4D372571A880}"/>
              </a:ext>
            </a:extLst>
          </p:cNvPr>
          <p:cNvCxnSpPr>
            <a:cxnSpLocks/>
            <a:stCxn id="598" idx="0"/>
          </p:cNvCxnSpPr>
          <p:nvPr/>
        </p:nvCxnSpPr>
        <p:spPr>
          <a:xfrm flipV="1">
            <a:off x="24503120" y="28833535"/>
            <a:ext cx="2721858" cy="727511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Straight Connector 596">
            <a:extLst>
              <a:ext uri="{FF2B5EF4-FFF2-40B4-BE49-F238E27FC236}">
                <a16:creationId xmlns:a16="http://schemas.microsoft.com/office/drawing/2014/main" id="{9B6C88ED-223A-C56F-FC42-43463ED00BA8}"/>
              </a:ext>
            </a:extLst>
          </p:cNvPr>
          <p:cNvCxnSpPr>
            <a:cxnSpLocks/>
          </p:cNvCxnSpPr>
          <p:nvPr/>
        </p:nvCxnSpPr>
        <p:spPr>
          <a:xfrm>
            <a:off x="24326864" y="30354430"/>
            <a:ext cx="2545734" cy="2014724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8" name="Oval 597">
            <a:extLst>
              <a:ext uri="{FF2B5EF4-FFF2-40B4-BE49-F238E27FC236}">
                <a16:creationId xmlns:a16="http://schemas.microsoft.com/office/drawing/2014/main" id="{8054717B-7BF2-E11B-176A-F3F976CFA655}"/>
              </a:ext>
            </a:extLst>
          </p:cNvPr>
          <p:cNvSpPr/>
          <p:nvPr/>
        </p:nvSpPr>
        <p:spPr>
          <a:xfrm>
            <a:off x="24130329" y="29561046"/>
            <a:ext cx="745581" cy="80265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6C7A8A1-0321-8F0D-F2C3-32B2F529BDC0}"/>
              </a:ext>
            </a:extLst>
          </p:cNvPr>
          <p:cNvSpPr/>
          <p:nvPr/>
        </p:nvSpPr>
        <p:spPr>
          <a:xfrm>
            <a:off x="130044" y="27832771"/>
            <a:ext cx="15676013" cy="14819250"/>
          </a:xfrm>
          <a:prstGeom prst="roundRect">
            <a:avLst>
              <a:gd name="adj" fmla="val 2799"/>
            </a:avLst>
          </a:prstGeom>
          <a:solidFill>
            <a:schemeClr val="bg1">
              <a:lumMod val="95000"/>
            </a:schemeClr>
          </a:solidFill>
          <a:ln w="762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1801" dirty="0"/>
          </a:p>
        </p:txBody>
      </p:sp>
      <p:sp>
        <p:nvSpPr>
          <p:cNvPr id="25" name="Rectangle 75">
            <a:extLst>
              <a:ext uri="{FF2B5EF4-FFF2-40B4-BE49-F238E27FC236}">
                <a16:creationId xmlns:a16="http://schemas.microsoft.com/office/drawing/2014/main" id="{FA06F0F7-2D60-41CB-9025-2A298144DFC9}"/>
              </a:ext>
            </a:extLst>
          </p:cNvPr>
          <p:cNvSpPr/>
          <p:nvPr/>
        </p:nvSpPr>
        <p:spPr>
          <a:xfrm>
            <a:off x="7352681" y="28694472"/>
            <a:ext cx="7497761" cy="1131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 algn="ctr" defTabSz="915040"/>
            <a:r>
              <a:rPr lang="en-US" sz="5404" b="1" spc="-1" dirty="0">
                <a:solidFill>
                  <a:srgbClr val="800080"/>
                </a:solidFill>
                <a:latin typeface="Calibri"/>
              </a:rPr>
              <a:t>Transfer Function</a:t>
            </a:r>
            <a:endParaRPr lang="pt-BR" sz="5404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Right Arrow 56">
            <a:extLst>
              <a:ext uri="{FF2B5EF4-FFF2-40B4-BE49-F238E27FC236}">
                <a16:creationId xmlns:a16="http://schemas.microsoft.com/office/drawing/2014/main" id="{98022F45-AC12-858F-5B1B-AFA13F7CC70B}"/>
              </a:ext>
            </a:extLst>
          </p:cNvPr>
          <p:cNvSpPr/>
          <p:nvPr/>
        </p:nvSpPr>
        <p:spPr>
          <a:xfrm>
            <a:off x="5206455" y="33955208"/>
            <a:ext cx="2509443" cy="463177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11A268EC-3A73-8994-9E30-109256D11924}"/>
              </a:ext>
            </a:extLst>
          </p:cNvPr>
          <p:cNvSpPr/>
          <p:nvPr/>
        </p:nvSpPr>
        <p:spPr>
          <a:xfrm>
            <a:off x="7945624" y="30332663"/>
            <a:ext cx="2321801" cy="10452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700" b="1" dirty="0">
                <a:solidFill>
                  <a:srgbClr val="C00000"/>
                </a:solidFill>
              </a:rPr>
              <a:t>𝜏</a:t>
            </a:r>
            <a:r>
              <a:rPr lang="en-BR" sz="2700" b="1" baseline="-25000" dirty="0">
                <a:solidFill>
                  <a:srgbClr val="C00000"/>
                </a:solidFill>
              </a:rPr>
              <a:t>m</a:t>
            </a:r>
            <a:r>
              <a:rPr lang="en-BR" sz="2500" dirty="0"/>
              <a:t> </a:t>
            </a:r>
            <a:r>
              <a:rPr lang="en-BR" dirty="0"/>
              <a:t>Membrane</a:t>
            </a:r>
          </a:p>
          <a:p>
            <a:pPr algn="ctr"/>
            <a:r>
              <a:rPr lang="en-BR" dirty="0"/>
              <a:t>Eletrophysiology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A3EA3DF-E789-E05E-4BAB-BA56470AE527}"/>
              </a:ext>
            </a:extLst>
          </p:cNvPr>
          <p:cNvSpPr txBox="1"/>
          <p:nvPr/>
        </p:nvSpPr>
        <p:spPr>
          <a:xfrm>
            <a:off x="373462" y="32288505"/>
            <a:ext cx="3558509" cy="38490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dirty="0">
                <a:solidFill>
                  <a:schemeClr val="bg1"/>
                </a:solidFill>
                <a:latin typeface="Arial Narrow" panose="020B0606020202030204" pitchFamily="34" charset="0"/>
              </a:rPr>
              <a:t>V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enkadesh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et al. 2019 PMID31658260</a:t>
            </a:r>
          </a:p>
        </p:txBody>
      </p:sp>
      <p:sp>
        <p:nvSpPr>
          <p:cNvPr id="480" name="Rounded Rectangle 479">
            <a:extLst>
              <a:ext uri="{FF2B5EF4-FFF2-40B4-BE49-F238E27FC236}">
                <a16:creationId xmlns:a16="http://schemas.microsoft.com/office/drawing/2014/main" id="{FC844C5C-1761-0041-9842-E43E3EA8FCA4}"/>
              </a:ext>
            </a:extLst>
          </p:cNvPr>
          <p:cNvSpPr/>
          <p:nvPr/>
        </p:nvSpPr>
        <p:spPr>
          <a:xfrm>
            <a:off x="5420608" y="38952186"/>
            <a:ext cx="2785647" cy="7301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Linear approximation</a:t>
            </a:r>
            <a:endParaRPr lang="en-BR" dirty="0">
              <a:solidFill>
                <a:schemeClr val="bg1"/>
              </a:solidFill>
            </a:endParaRPr>
          </a:p>
        </p:txBody>
      </p:sp>
      <p:sp>
        <p:nvSpPr>
          <p:cNvPr id="481" name="Right Arrow 480">
            <a:extLst>
              <a:ext uri="{FF2B5EF4-FFF2-40B4-BE49-F238E27FC236}">
                <a16:creationId xmlns:a16="http://schemas.microsoft.com/office/drawing/2014/main" id="{DDC9B3C0-43F1-7AFB-1282-8AA54E77AF60}"/>
              </a:ext>
            </a:extLst>
          </p:cNvPr>
          <p:cNvSpPr/>
          <p:nvPr/>
        </p:nvSpPr>
        <p:spPr>
          <a:xfrm rot="5400000">
            <a:off x="9959198" y="32126467"/>
            <a:ext cx="1806653" cy="448083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482" name="Rounded Rectangle 481">
            <a:extLst>
              <a:ext uri="{FF2B5EF4-FFF2-40B4-BE49-F238E27FC236}">
                <a16:creationId xmlns:a16="http://schemas.microsoft.com/office/drawing/2014/main" id="{3C1F5F46-F8BC-4AD8-1AAC-334C9B449BD0}"/>
              </a:ext>
            </a:extLst>
          </p:cNvPr>
          <p:cNvSpPr/>
          <p:nvPr/>
        </p:nvSpPr>
        <p:spPr>
          <a:xfrm>
            <a:off x="10439515" y="30357504"/>
            <a:ext cx="4234441" cy="10452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b="1" dirty="0">
                <a:solidFill>
                  <a:srgbClr val="C00000"/>
                </a:solidFill>
              </a:rPr>
              <a:t>Max FR </a:t>
            </a:r>
            <a:r>
              <a:rPr lang="en-BR" dirty="0"/>
              <a:t>Membrane</a:t>
            </a:r>
          </a:p>
          <a:p>
            <a:pPr algn="ctr"/>
            <a:r>
              <a:rPr lang="en-BR" dirty="0"/>
              <a:t>Eletrophysiology</a:t>
            </a:r>
          </a:p>
        </p:txBody>
      </p:sp>
      <p:sp>
        <p:nvSpPr>
          <p:cNvPr id="483" name="Rounded Rectangle 482">
            <a:extLst>
              <a:ext uri="{FF2B5EF4-FFF2-40B4-BE49-F238E27FC236}">
                <a16:creationId xmlns:a16="http://schemas.microsoft.com/office/drawing/2014/main" id="{1872303D-6533-F844-EE27-84A4FBBF6CC7}"/>
              </a:ext>
            </a:extLst>
          </p:cNvPr>
          <p:cNvSpPr/>
          <p:nvPr/>
        </p:nvSpPr>
        <p:spPr>
          <a:xfrm rot="16200000">
            <a:off x="7714446" y="31816054"/>
            <a:ext cx="1850904" cy="1137709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1500" dirty="0"/>
              <a:t>Window (spikes count) definition</a:t>
            </a:r>
          </a:p>
        </p:txBody>
      </p:sp>
      <p:sp>
        <p:nvSpPr>
          <p:cNvPr id="484" name="Rounded Rectangle 483">
            <a:extLst>
              <a:ext uri="{FF2B5EF4-FFF2-40B4-BE49-F238E27FC236}">
                <a16:creationId xmlns:a16="http://schemas.microsoft.com/office/drawing/2014/main" id="{531A1B01-0FC1-02E0-FF2F-9A07320B8C32}"/>
              </a:ext>
            </a:extLst>
          </p:cNvPr>
          <p:cNvSpPr/>
          <p:nvPr/>
        </p:nvSpPr>
        <p:spPr>
          <a:xfrm rot="16200000">
            <a:off x="13420929" y="31988161"/>
            <a:ext cx="1806654" cy="699398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1500" dirty="0"/>
              <a:t>Linear region</a:t>
            </a:r>
          </a:p>
        </p:txBody>
      </p:sp>
      <p:sp>
        <p:nvSpPr>
          <p:cNvPr id="485" name="Rounded Rectangle 484">
            <a:extLst>
              <a:ext uri="{FF2B5EF4-FFF2-40B4-BE49-F238E27FC236}">
                <a16:creationId xmlns:a16="http://schemas.microsoft.com/office/drawing/2014/main" id="{33B8C6BC-DB91-133A-C250-433355733C51}"/>
              </a:ext>
            </a:extLst>
          </p:cNvPr>
          <p:cNvSpPr/>
          <p:nvPr/>
        </p:nvSpPr>
        <p:spPr>
          <a:xfrm rot="16200000">
            <a:off x="5058547" y="33701879"/>
            <a:ext cx="2391298" cy="1014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b="1" dirty="0">
                <a:solidFill>
                  <a:schemeClr val="bg1"/>
                </a:solidFill>
              </a:rPr>
              <a:t>Izhikevich model</a:t>
            </a:r>
            <a:endParaRPr lang="en-BR" dirty="0">
              <a:solidFill>
                <a:schemeClr val="bg1"/>
              </a:solidFill>
            </a:endParaRPr>
          </a:p>
        </p:txBody>
      </p:sp>
      <p:sp>
        <p:nvSpPr>
          <p:cNvPr id="486" name="Rounded Rectangle 485">
            <a:extLst>
              <a:ext uri="{FF2B5EF4-FFF2-40B4-BE49-F238E27FC236}">
                <a16:creationId xmlns:a16="http://schemas.microsoft.com/office/drawing/2014/main" id="{32B8B39E-A159-1F50-6EF5-42AC50040BA4}"/>
              </a:ext>
            </a:extLst>
          </p:cNvPr>
          <p:cNvSpPr/>
          <p:nvPr/>
        </p:nvSpPr>
        <p:spPr>
          <a:xfrm rot="16200000">
            <a:off x="6246126" y="35362727"/>
            <a:ext cx="2240146" cy="699398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1500" dirty="0"/>
              <a:t>Spike simulation</a:t>
            </a:r>
          </a:p>
        </p:txBody>
      </p:sp>
      <p:sp>
        <p:nvSpPr>
          <p:cNvPr id="487" name="Right Arrow 486">
            <a:extLst>
              <a:ext uri="{FF2B5EF4-FFF2-40B4-BE49-F238E27FC236}">
                <a16:creationId xmlns:a16="http://schemas.microsoft.com/office/drawing/2014/main" id="{AEFD2DF6-7515-6E7B-535E-163AB0512BD7}"/>
              </a:ext>
            </a:extLst>
          </p:cNvPr>
          <p:cNvSpPr/>
          <p:nvPr/>
        </p:nvSpPr>
        <p:spPr>
          <a:xfrm rot="5400000">
            <a:off x="8565351" y="32112179"/>
            <a:ext cx="1850906" cy="448083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498" name="Rectangle 82">
            <a:extLst>
              <a:ext uri="{FF2B5EF4-FFF2-40B4-BE49-F238E27FC236}">
                <a16:creationId xmlns:a16="http://schemas.microsoft.com/office/drawing/2014/main" id="{FAA24312-7DE9-2A4F-9280-F294FB4B14E6}"/>
              </a:ext>
            </a:extLst>
          </p:cNvPr>
          <p:cNvSpPr/>
          <p:nvPr/>
        </p:nvSpPr>
        <p:spPr>
          <a:xfrm>
            <a:off x="325993" y="40396886"/>
            <a:ext cx="15349436" cy="19019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 defTabSz="915040"/>
            <a:r>
              <a:rPr lang="en-US" sz="2500" spc="-1" dirty="0">
                <a:solidFill>
                  <a:srgbClr val="000000"/>
                </a:solidFill>
                <a:latin typeface="Arial"/>
                <a:ea typeface="DejaVu Sans"/>
              </a:rPr>
              <a:t>Hippocampome.org utilizes a dynamic system framework to quantify the neuron type-level input-output function. Modeling the neuron type behavior captures the essence of its computational role within the spiking neural network while reducing the overall complexity to a simpler transfer function. This can be further simplified into a linear Markov model for graph-theoretic network analyses or substituted with a more realistic compartmental Hodgkin-Huxley representation for </a:t>
            </a:r>
            <a:r>
              <a:rPr lang="en-US" sz="2500" spc="-1">
                <a:solidFill>
                  <a:srgbClr val="000000"/>
                </a:solidFill>
                <a:latin typeface="Arial"/>
                <a:ea typeface="DejaVu Sans"/>
              </a:rPr>
              <a:t>multi-scale modeling</a:t>
            </a:r>
            <a:endParaRPr lang="pt-BR" sz="25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Heptagon 197">
            <a:extLst>
              <a:ext uri="{FF2B5EF4-FFF2-40B4-BE49-F238E27FC236}">
                <a16:creationId xmlns:a16="http://schemas.microsoft.com/office/drawing/2014/main" id="{ADB6C9AE-98C0-1C01-6F69-240F01787B55}"/>
              </a:ext>
            </a:extLst>
          </p:cNvPr>
          <p:cNvSpPr/>
          <p:nvPr/>
        </p:nvSpPr>
        <p:spPr>
          <a:xfrm>
            <a:off x="6814324" y="28691552"/>
            <a:ext cx="1206152" cy="1287485"/>
          </a:xfrm>
          <a:prstGeom prst="heptagon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b="1" dirty="0">
                <a:solidFill>
                  <a:srgbClr val="FFFF00"/>
                </a:solidFill>
              </a:rPr>
              <a:t>5</a:t>
            </a:r>
            <a:endParaRPr lang="en-BR" sz="4000" b="1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pic>
        <p:nvPicPr>
          <p:cNvPr id="211" name="Picture 210">
            <a:extLst>
              <a:ext uri="{FF2B5EF4-FFF2-40B4-BE49-F238E27FC236}">
                <a16:creationId xmlns:a16="http://schemas.microsoft.com/office/drawing/2014/main" id="{28DB6AD6-C6A1-BE1B-6D2A-C65D18D292B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2824" t="39323" r="2267" b="51715"/>
          <a:stretch>
            <a:fillRect/>
          </a:stretch>
        </p:blipFill>
        <p:spPr>
          <a:xfrm>
            <a:off x="14193870" y="28707847"/>
            <a:ext cx="807656" cy="1133932"/>
          </a:xfrm>
          <a:prstGeom prst="rect">
            <a:avLst/>
          </a:prstGeom>
        </p:spPr>
      </p:pic>
      <p:sp>
        <p:nvSpPr>
          <p:cNvPr id="212" name="Rounded Rectangle 211">
            <a:extLst>
              <a:ext uri="{FF2B5EF4-FFF2-40B4-BE49-F238E27FC236}">
                <a16:creationId xmlns:a16="http://schemas.microsoft.com/office/drawing/2014/main" id="{4D32E672-FE59-290C-84BD-2DED78A059BF}"/>
              </a:ext>
            </a:extLst>
          </p:cNvPr>
          <p:cNvSpPr/>
          <p:nvPr/>
        </p:nvSpPr>
        <p:spPr>
          <a:xfrm rot="5400000">
            <a:off x="13600220" y="35241797"/>
            <a:ext cx="2913690" cy="1014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b="1" dirty="0">
                <a:solidFill>
                  <a:schemeClr val="bg1"/>
                </a:solidFill>
              </a:rPr>
              <a:t>Number of spikes in </a:t>
            </a:r>
            <a:r>
              <a:rPr lang="en-BR" sz="2700" b="1" dirty="0">
                <a:solidFill>
                  <a:srgbClr val="C00000"/>
                </a:solidFill>
              </a:rPr>
              <a:t>𝜏</a:t>
            </a:r>
            <a:r>
              <a:rPr lang="en-BR" sz="2700" b="1" baseline="-25000" dirty="0">
                <a:solidFill>
                  <a:srgbClr val="C00000"/>
                </a:solidFill>
              </a:rPr>
              <a:t>m</a:t>
            </a:r>
            <a:r>
              <a:rPr lang="en-BR" sz="2500" b="1" dirty="0">
                <a:solidFill>
                  <a:schemeClr val="bg1"/>
                </a:solidFill>
              </a:rPr>
              <a:t> </a:t>
            </a:r>
            <a:r>
              <a:rPr lang="en-BR" b="1" dirty="0">
                <a:solidFill>
                  <a:schemeClr val="bg1"/>
                </a:solidFill>
              </a:rPr>
              <a:t>time </a:t>
            </a:r>
            <a:endParaRPr lang="en-BR" dirty="0">
              <a:solidFill>
                <a:schemeClr val="bg1"/>
              </a:solidFill>
            </a:endParaRPr>
          </a:p>
        </p:txBody>
      </p:sp>
      <p:sp>
        <p:nvSpPr>
          <p:cNvPr id="213" name="Rectangle 75">
            <a:extLst>
              <a:ext uri="{FF2B5EF4-FFF2-40B4-BE49-F238E27FC236}">
                <a16:creationId xmlns:a16="http://schemas.microsoft.com/office/drawing/2014/main" id="{037A4ED1-560E-361C-4962-8253F31F1381}"/>
              </a:ext>
            </a:extLst>
          </p:cNvPr>
          <p:cNvSpPr/>
          <p:nvPr/>
        </p:nvSpPr>
        <p:spPr>
          <a:xfrm>
            <a:off x="384745" y="28413232"/>
            <a:ext cx="5249585" cy="1131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 algn="ctr" defTabSz="915040"/>
            <a:r>
              <a:rPr lang="en-US" sz="4700" b="1" spc="-1" dirty="0" err="1">
                <a:solidFill>
                  <a:srgbClr val="800080"/>
                </a:solidFill>
                <a:latin typeface="Calibri"/>
              </a:rPr>
              <a:t>Izhikevich</a:t>
            </a:r>
            <a:r>
              <a:rPr lang="en-US" sz="4700" b="1" spc="-1" dirty="0">
                <a:solidFill>
                  <a:srgbClr val="800080"/>
                </a:solidFill>
                <a:latin typeface="Calibri"/>
              </a:rPr>
              <a:t> Model</a:t>
            </a:r>
            <a:endParaRPr lang="pt-BR" sz="47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Rounded Rectangle 511">
            <a:extLst>
              <a:ext uri="{FF2B5EF4-FFF2-40B4-BE49-F238E27FC236}">
                <a16:creationId xmlns:a16="http://schemas.microsoft.com/office/drawing/2014/main" id="{C0B65AB6-A148-96D9-B980-59EDE26999B3}"/>
              </a:ext>
            </a:extLst>
          </p:cNvPr>
          <p:cNvSpPr/>
          <p:nvPr/>
        </p:nvSpPr>
        <p:spPr>
          <a:xfrm>
            <a:off x="994335" y="36717396"/>
            <a:ext cx="3968564" cy="853036"/>
          </a:xfrm>
          <a:prstGeom prst="roundRect">
            <a:avLst>
              <a:gd name="adj" fmla="val 11077"/>
            </a:avLst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rgbClr val="EEC300"/>
                </a:solidFill>
              </a:rPr>
              <a:t>k</a:t>
            </a:r>
            <a:r>
              <a:rPr lang="en-US" sz="1300" dirty="0"/>
              <a:t>=0.92   </a:t>
            </a:r>
            <a:r>
              <a:rPr lang="en-US" sz="1300" dirty="0">
                <a:solidFill>
                  <a:srgbClr val="EEC300"/>
                </a:solidFill>
              </a:rPr>
              <a:t>a</a:t>
            </a:r>
            <a:r>
              <a:rPr lang="en-US" sz="1300" dirty="0"/>
              <a:t>= 0.001   </a:t>
            </a:r>
            <a:r>
              <a:rPr lang="en-US" sz="1300" dirty="0">
                <a:solidFill>
                  <a:srgbClr val="EEC300"/>
                </a:solidFill>
              </a:rPr>
              <a:t>b</a:t>
            </a:r>
            <a:r>
              <a:rPr lang="en-US" sz="1300" dirty="0"/>
              <a:t>= -3.12</a:t>
            </a:r>
          </a:p>
          <a:p>
            <a:pPr algn="ctr"/>
            <a:r>
              <a:rPr lang="en-US" sz="1300" dirty="0">
                <a:solidFill>
                  <a:srgbClr val="EEC300"/>
                </a:solidFill>
              </a:rPr>
              <a:t>d</a:t>
            </a:r>
            <a:r>
              <a:rPr lang="en-US" sz="1300" dirty="0"/>
              <a:t>= 8    </a:t>
            </a:r>
            <a:r>
              <a:rPr lang="en-US" sz="1300" dirty="0">
                <a:solidFill>
                  <a:srgbClr val="EEC300"/>
                </a:solidFill>
              </a:rPr>
              <a:t>C</a:t>
            </a:r>
            <a:r>
              <a:rPr lang="en-US" sz="1300" dirty="0"/>
              <a:t>= 236     </a:t>
            </a:r>
            <a:r>
              <a:rPr lang="en-US" sz="1300" dirty="0" err="1">
                <a:solidFill>
                  <a:srgbClr val="EEC300"/>
                </a:solidFill>
              </a:rPr>
              <a:t>Vr</a:t>
            </a:r>
            <a:r>
              <a:rPr lang="en-US" sz="1300" dirty="0"/>
              <a:t>= -54.91   </a:t>
            </a:r>
          </a:p>
          <a:p>
            <a:pPr algn="ctr"/>
            <a:r>
              <a:rPr lang="en-US" sz="1300" dirty="0">
                <a:solidFill>
                  <a:srgbClr val="EEC300"/>
                </a:solidFill>
              </a:rPr>
              <a:t>Vt</a:t>
            </a:r>
            <a:r>
              <a:rPr lang="en-US" sz="1300" dirty="0"/>
              <a:t>= -41.69  </a:t>
            </a:r>
            <a:r>
              <a:rPr lang="en-US" sz="1300" dirty="0" err="1">
                <a:solidFill>
                  <a:srgbClr val="EEC300"/>
                </a:solidFill>
              </a:rPr>
              <a:t>Vpeak</a:t>
            </a:r>
            <a:r>
              <a:rPr lang="en-US" sz="1300" dirty="0"/>
              <a:t>= -11.61  </a:t>
            </a:r>
            <a:r>
              <a:rPr lang="en-US" sz="1300" dirty="0" err="1">
                <a:solidFill>
                  <a:srgbClr val="EEC300"/>
                </a:solidFill>
              </a:rPr>
              <a:t>Vmin</a:t>
            </a:r>
            <a:r>
              <a:rPr lang="en-US" sz="1300" dirty="0"/>
              <a:t>= -48.73</a:t>
            </a:r>
            <a:endParaRPr lang="en-BR" sz="1300" dirty="0"/>
          </a:p>
        </p:txBody>
      </p:sp>
      <p:sp>
        <p:nvSpPr>
          <p:cNvPr id="513" name="Rounded Rectangle 512">
            <a:extLst>
              <a:ext uri="{FF2B5EF4-FFF2-40B4-BE49-F238E27FC236}">
                <a16:creationId xmlns:a16="http://schemas.microsoft.com/office/drawing/2014/main" id="{487BEEA2-0FE7-8294-7B66-4588DEBAEB92}"/>
              </a:ext>
            </a:extLst>
          </p:cNvPr>
          <p:cNvSpPr/>
          <p:nvPr/>
        </p:nvSpPr>
        <p:spPr>
          <a:xfrm>
            <a:off x="1293917" y="29628705"/>
            <a:ext cx="2112143" cy="2416025"/>
          </a:xfrm>
          <a:prstGeom prst="roundRect">
            <a:avLst>
              <a:gd name="adj" fmla="val 4104"/>
            </a:avLst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80"/>
              </a:lnSpc>
            </a:pPr>
            <a:r>
              <a:rPr lang="en-US" sz="1200" dirty="0">
                <a:solidFill>
                  <a:schemeClr val="tx2"/>
                </a:solidFill>
              </a:rPr>
              <a:t>Delay (D)</a:t>
            </a:r>
          </a:p>
          <a:p>
            <a:pPr>
              <a:lnSpc>
                <a:spcPts val="1480"/>
              </a:lnSpc>
            </a:pPr>
            <a:r>
              <a:rPr lang="en-US" sz="1200" dirty="0">
                <a:solidFill>
                  <a:schemeClr val="tx2"/>
                </a:solidFill>
              </a:rPr>
              <a:t>Adapting Spiking (ASP)</a:t>
            </a:r>
          </a:p>
          <a:p>
            <a:pPr>
              <a:lnSpc>
                <a:spcPts val="1480"/>
              </a:lnSpc>
            </a:pPr>
            <a:r>
              <a:rPr lang="en-US" sz="1200" dirty="0">
                <a:solidFill>
                  <a:schemeClr val="tx2"/>
                </a:solidFill>
              </a:rPr>
              <a:t>Rapidly Adapting Spiking (RASP)</a:t>
            </a:r>
          </a:p>
          <a:p>
            <a:pPr>
              <a:lnSpc>
                <a:spcPts val="1480"/>
              </a:lnSpc>
            </a:pPr>
            <a:r>
              <a:rPr lang="en-US" sz="1200" dirty="0">
                <a:solidFill>
                  <a:schemeClr val="tx2"/>
                </a:solidFill>
              </a:rPr>
              <a:t>Non-Adapting Spiking (NASP)</a:t>
            </a:r>
          </a:p>
          <a:p>
            <a:pPr>
              <a:lnSpc>
                <a:spcPts val="1480"/>
              </a:lnSpc>
            </a:pPr>
            <a:r>
              <a:rPr lang="en-US" sz="1200" dirty="0">
                <a:solidFill>
                  <a:schemeClr val="tx2"/>
                </a:solidFill>
              </a:rPr>
              <a:t>Persistent Stuttering (PSTUT)</a:t>
            </a:r>
          </a:p>
          <a:p>
            <a:pPr>
              <a:lnSpc>
                <a:spcPts val="1480"/>
              </a:lnSpc>
            </a:pPr>
            <a:r>
              <a:rPr lang="en-US" sz="1200" dirty="0">
                <a:solidFill>
                  <a:schemeClr val="tx2"/>
                </a:solidFill>
              </a:rPr>
              <a:t>Persistent Slow-Wave Bursting (PSWB)</a:t>
            </a:r>
          </a:p>
        </p:txBody>
      </p:sp>
      <p:sp>
        <p:nvSpPr>
          <p:cNvPr id="514" name="Rounded Rectangle 513">
            <a:extLst>
              <a:ext uri="{FF2B5EF4-FFF2-40B4-BE49-F238E27FC236}">
                <a16:creationId xmlns:a16="http://schemas.microsoft.com/office/drawing/2014/main" id="{836D0362-3106-9745-70E6-23AB2FA285E8}"/>
              </a:ext>
            </a:extLst>
          </p:cNvPr>
          <p:cNvSpPr/>
          <p:nvPr/>
        </p:nvSpPr>
        <p:spPr>
          <a:xfrm>
            <a:off x="3979792" y="29433083"/>
            <a:ext cx="1466546" cy="748140"/>
          </a:xfrm>
          <a:prstGeom prst="roundRect">
            <a:avLst>
              <a:gd name="adj" fmla="val 4104"/>
            </a:avLst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80"/>
              </a:lnSpc>
            </a:pPr>
            <a:r>
              <a:rPr lang="en-US" sz="1200" dirty="0">
                <a:solidFill>
                  <a:schemeClr val="tx2"/>
                </a:solidFill>
              </a:rPr>
              <a:t>Spike pattern phenotypes</a:t>
            </a:r>
          </a:p>
        </p:txBody>
      </p:sp>
      <p:sp>
        <p:nvSpPr>
          <p:cNvPr id="515" name="Rounded Rectangle 514">
            <a:extLst>
              <a:ext uri="{FF2B5EF4-FFF2-40B4-BE49-F238E27FC236}">
                <a16:creationId xmlns:a16="http://schemas.microsoft.com/office/drawing/2014/main" id="{AE09BF7C-A50B-3C2B-1EBA-DBFD748BF852}"/>
              </a:ext>
            </a:extLst>
          </p:cNvPr>
          <p:cNvSpPr/>
          <p:nvPr/>
        </p:nvSpPr>
        <p:spPr>
          <a:xfrm>
            <a:off x="4000256" y="30408526"/>
            <a:ext cx="1466546" cy="748140"/>
          </a:xfrm>
          <a:prstGeom prst="roundRect">
            <a:avLst>
              <a:gd name="adj" fmla="val 4104"/>
            </a:avLst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80"/>
              </a:lnSpc>
            </a:pPr>
            <a:r>
              <a:rPr lang="en-US" sz="1200" dirty="0">
                <a:solidFill>
                  <a:schemeClr val="tx2"/>
                </a:solidFill>
              </a:rPr>
              <a:t>Evolutionary algorithm</a:t>
            </a:r>
          </a:p>
        </p:txBody>
      </p:sp>
      <p:sp>
        <p:nvSpPr>
          <p:cNvPr id="516" name="Rounded Rectangle 515">
            <a:extLst>
              <a:ext uri="{FF2B5EF4-FFF2-40B4-BE49-F238E27FC236}">
                <a16:creationId xmlns:a16="http://schemas.microsoft.com/office/drawing/2014/main" id="{706376A9-0AC4-ECCE-032C-5194E661DD11}"/>
              </a:ext>
            </a:extLst>
          </p:cNvPr>
          <p:cNvSpPr/>
          <p:nvPr/>
        </p:nvSpPr>
        <p:spPr>
          <a:xfrm>
            <a:off x="3644084" y="31429444"/>
            <a:ext cx="2269320" cy="748140"/>
          </a:xfrm>
          <a:prstGeom prst="roundRect">
            <a:avLst>
              <a:gd name="adj" fmla="val 4104"/>
            </a:avLst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80"/>
              </a:lnSpc>
            </a:pPr>
            <a:r>
              <a:rPr lang="en-US" sz="1200" dirty="0">
                <a:solidFill>
                  <a:schemeClr val="tx2"/>
                </a:solidFill>
              </a:rPr>
              <a:t>Point-neuron model </a:t>
            </a:r>
          </a:p>
          <a:p>
            <a:pPr algn="ctr">
              <a:lnSpc>
                <a:spcPts val="1480"/>
              </a:lnSpc>
            </a:pPr>
            <a:r>
              <a:rPr lang="en-US" sz="1200" dirty="0">
                <a:solidFill>
                  <a:schemeClr val="tx2"/>
                </a:solidFill>
              </a:rPr>
              <a:t>Multi-compartment model</a:t>
            </a:r>
          </a:p>
        </p:txBody>
      </p:sp>
      <p:sp>
        <p:nvSpPr>
          <p:cNvPr id="517" name="Rounded Rectangle 516">
            <a:extLst>
              <a:ext uri="{FF2B5EF4-FFF2-40B4-BE49-F238E27FC236}">
                <a16:creationId xmlns:a16="http://schemas.microsoft.com/office/drawing/2014/main" id="{A31E524C-71C1-B290-BCC4-C90EC2BD7DB0}"/>
              </a:ext>
            </a:extLst>
          </p:cNvPr>
          <p:cNvSpPr/>
          <p:nvPr/>
        </p:nvSpPr>
        <p:spPr>
          <a:xfrm rot="16200000">
            <a:off x="-513029" y="30430237"/>
            <a:ext cx="2642802" cy="726397"/>
          </a:xfrm>
          <a:prstGeom prst="roundRect">
            <a:avLst>
              <a:gd name="adj" fmla="val 4104"/>
            </a:avLst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80"/>
              </a:lnSpc>
            </a:pPr>
            <a:r>
              <a:rPr lang="en-US" sz="1200" dirty="0">
                <a:solidFill>
                  <a:schemeClr val="tx2"/>
                </a:solidFill>
              </a:rPr>
              <a:t>Transient and/or steady-state present in the PATTERN</a:t>
            </a:r>
          </a:p>
        </p:txBody>
      </p:sp>
      <p:sp>
        <p:nvSpPr>
          <p:cNvPr id="518" name="Right Arrow 517">
            <a:extLst>
              <a:ext uri="{FF2B5EF4-FFF2-40B4-BE49-F238E27FC236}">
                <a16:creationId xmlns:a16="http://schemas.microsoft.com/office/drawing/2014/main" id="{F8540E65-0D11-85D2-AF25-5C8A292B84AF}"/>
              </a:ext>
            </a:extLst>
          </p:cNvPr>
          <p:cNvSpPr/>
          <p:nvPr/>
        </p:nvSpPr>
        <p:spPr>
          <a:xfrm>
            <a:off x="3434775" y="29577626"/>
            <a:ext cx="497195" cy="421564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19" name="Right Arrow 518">
            <a:extLst>
              <a:ext uri="{FF2B5EF4-FFF2-40B4-BE49-F238E27FC236}">
                <a16:creationId xmlns:a16="http://schemas.microsoft.com/office/drawing/2014/main" id="{6DE06AB6-346E-A29F-C76C-11DC3EE67CD8}"/>
              </a:ext>
            </a:extLst>
          </p:cNvPr>
          <p:cNvSpPr/>
          <p:nvPr/>
        </p:nvSpPr>
        <p:spPr>
          <a:xfrm rot="5400000">
            <a:off x="4599145" y="30101092"/>
            <a:ext cx="217713" cy="409312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20" name="Right Arrow 519">
            <a:extLst>
              <a:ext uri="{FF2B5EF4-FFF2-40B4-BE49-F238E27FC236}">
                <a16:creationId xmlns:a16="http://schemas.microsoft.com/office/drawing/2014/main" id="{6B531FC4-ACD4-125F-2FA8-8AB358450648}"/>
              </a:ext>
            </a:extLst>
          </p:cNvPr>
          <p:cNvSpPr/>
          <p:nvPr/>
        </p:nvSpPr>
        <p:spPr>
          <a:xfrm rot="5400000">
            <a:off x="4536941" y="31079246"/>
            <a:ext cx="288145" cy="409312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21" name="Rounded Rectangle 520">
            <a:extLst>
              <a:ext uri="{FF2B5EF4-FFF2-40B4-BE49-F238E27FC236}">
                <a16:creationId xmlns:a16="http://schemas.microsoft.com/office/drawing/2014/main" id="{C8A09176-22B2-B253-3658-44A0505C9DB1}"/>
              </a:ext>
            </a:extLst>
          </p:cNvPr>
          <p:cNvSpPr/>
          <p:nvPr/>
        </p:nvSpPr>
        <p:spPr>
          <a:xfrm rot="16200000">
            <a:off x="-210056" y="35980336"/>
            <a:ext cx="1735047" cy="398593"/>
          </a:xfrm>
          <a:prstGeom prst="roundRect">
            <a:avLst>
              <a:gd name="adj" fmla="val 4104"/>
            </a:avLst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80"/>
              </a:lnSpc>
            </a:pP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9 parameters</a:t>
            </a:r>
          </a:p>
        </p:txBody>
      </p:sp>
      <p:pic>
        <p:nvPicPr>
          <p:cNvPr id="566" name="Picture 565" descr="A graph with a line&#10;&#10;AI-generated content may be incorrect.">
            <a:extLst>
              <a:ext uri="{FF2B5EF4-FFF2-40B4-BE49-F238E27FC236}">
                <a16:creationId xmlns:a16="http://schemas.microsoft.com/office/drawing/2014/main" id="{1953EEA2-98EC-C55D-4F73-2C63E5B179C1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8193" y="31512324"/>
            <a:ext cx="2671809" cy="1651071"/>
          </a:xfrm>
          <a:prstGeom prst="rect">
            <a:avLst/>
          </a:prstGeom>
        </p:spPr>
      </p:pic>
      <p:pic>
        <p:nvPicPr>
          <p:cNvPr id="572" name="Picture 571" descr="A diagram of different layers of a graph&#10;&#10;AI-generated content may be incorrect.">
            <a:extLst>
              <a:ext uri="{FF2B5EF4-FFF2-40B4-BE49-F238E27FC236}">
                <a16:creationId xmlns:a16="http://schemas.microsoft.com/office/drawing/2014/main" id="{E08177F9-D17F-F7DA-3942-4C1D0DE795A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86" y="37778833"/>
            <a:ext cx="4752872" cy="2240148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573" name="Picture 572" descr="A diagram of a normal heart&#10;&#10;AI-generated content may be incorrect.">
            <a:extLst>
              <a:ext uri="{FF2B5EF4-FFF2-40B4-BE49-F238E27FC236}">
                <a16:creationId xmlns:a16="http://schemas.microsoft.com/office/drawing/2014/main" id="{006EB68E-CE63-A104-74E4-5F02E46FC33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3"/>
          <a:stretch>
            <a:fillRect/>
          </a:stretch>
        </p:blipFill>
        <p:spPr>
          <a:xfrm>
            <a:off x="351563" y="32853279"/>
            <a:ext cx="4695023" cy="2344768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574" name="Rounded Rectangle 573">
            <a:extLst>
              <a:ext uri="{FF2B5EF4-FFF2-40B4-BE49-F238E27FC236}">
                <a16:creationId xmlns:a16="http://schemas.microsoft.com/office/drawing/2014/main" id="{DF42B95E-6AEE-B78E-9C9D-FB42880FC2FB}"/>
              </a:ext>
            </a:extLst>
          </p:cNvPr>
          <p:cNvSpPr/>
          <p:nvPr/>
        </p:nvSpPr>
        <p:spPr>
          <a:xfrm>
            <a:off x="954304" y="35372114"/>
            <a:ext cx="3968564" cy="853036"/>
          </a:xfrm>
          <a:prstGeom prst="roundRect">
            <a:avLst>
              <a:gd name="adj" fmla="val 11077"/>
            </a:avLst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rgbClr val="EEC300"/>
                </a:solidFill>
              </a:rPr>
              <a:t>k</a:t>
            </a:r>
            <a:r>
              <a:rPr lang="en-US" sz="1300" dirty="0"/>
              <a:t>=2.9   </a:t>
            </a:r>
            <a:r>
              <a:rPr lang="en-US" sz="1300" dirty="0">
                <a:solidFill>
                  <a:srgbClr val="EEC300"/>
                </a:solidFill>
              </a:rPr>
              <a:t>a</a:t>
            </a:r>
            <a:r>
              <a:rPr lang="en-US" sz="1300" dirty="0"/>
              <a:t>= 0.006   </a:t>
            </a:r>
            <a:r>
              <a:rPr lang="en-US" sz="1300" dirty="0">
                <a:solidFill>
                  <a:srgbClr val="EEC300"/>
                </a:solidFill>
              </a:rPr>
              <a:t>b</a:t>
            </a:r>
            <a:r>
              <a:rPr lang="en-US" sz="1300" dirty="0"/>
              <a:t>= 6.17</a:t>
            </a:r>
          </a:p>
          <a:p>
            <a:pPr algn="ctr"/>
            <a:r>
              <a:rPr lang="en-US" sz="1300" dirty="0">
                <a:solidFill>
                  <a:srgbClr val="EEC300"/>
                </a:solidFill>
              </a:rPr>
              <a:t>d</a:t>
            </a:r>
            <a:r>
              <a:rPr lang="en-US" sz="1300" dirty="0"/>
              <a:t>= 186    </a:t>
            </a:r>
            <a:r>
              <a:rPr lang="en-US" sz="1300" dirty="0">
                <a:solidFill>
                  <a:srgbClr val="EEC300"/>
                </a:solidFill>
              </a:rPr>
              <a:t>C</a:t>
            </a:r>
            <a:r>
              <a:rPr lang="en-US" sz="1300" dirty="0"/>
              <a:t>= 483     </a:t>
            </a:r>
            <a:r>
              <a:rPr lang="en-US" sz="1300" dirty="0" err="1">
                <a:solidFill>
                  <a:srgbClr val="EEC300"/>
                </a:solidFill>
              </a:rPr>
              <a:t>Vr</a:t>
            </a:r>
            <a:r>
              <a:rPr lang="en-US" sz="1300" dirty="0"/>
              <a:t>= -70.37</a:t>
            </a:r>
          </a:p>
          <a:p>
            <a:pPr algn="ctr"/>
            <a:r>
              <a:rPr lang="en-US" sz="1300" dirty="0">
                <a:solidFill>
                  <a:srgbClr val="EEC300"/>
                </a:solidFill>
              </a:rPr>
              <a:t>Vt</a:t>
            </a:r>
            <a:r>
              <a:rPr lang="en-US" sz="1300" dirty="0"/>
              <a:t>= -55.22  </a:t>
            </a:r>
            <a:r>
              <a:rPr lang="en-US" sz="1300" dirty="0" err="1">
                <a:solidFill>
                  <a:srgbClr val="EEC300"/>
                </a:solidFill>
              </a:rPr>
              <a:t>Vpeak</a:t>
            </a:r>
            <a:r>
              <a:rPr lang="en-US" sz="1300" dirty="0"/>
              <a:t>= -37.82  </a:t>
            </a:r>
            <a:r>
              <a:rPr lang="en-US" sz="1300" dirty="0" err="1">
                <a:solidFill>
                  <a:srgbClr val="EEC300"/>
                </a:solidFill>
              </a:rPr>
              <a:t>Vmin</a:t>
            </a:r>
            <a:r>
              <a:rPr lang="en-US" sz="1300" dirty="0"/>
              <a:t>= -62.23</a:t>
            </a:r>
            <a:endParaRPr lang="en-BR" sz="1300" dirty="0"/>
          </a:p>
        </p:txBody>
      </p:sp>
      <p:sp>
        <p:nvSpPr>
          <p:cNvPr id="575" name="Rounded Rectangle 574">
            <a:extLst>
              <a:ext uri="{FF2B5EF4-FFF2-40B4-BE49-F238E27FC236}">
                <a16:creationId xmlns:a16="http://schemas.microsoft.com/office/drawing/2014/main" id="{59E50805-E6E8-B175-D2BB-F5EA3984B6B2}"/>
              </a:ext>
            </a:extLst>
          </p:cNvPr>
          <p:cNvSpPr/>
          <p:nvPr/>
        </p:nvSpPr>
        <p:spPr>
          <a:xfrm>
            <a:off x="2110346" y="34496456"/>
            <a:ext cx="763541" cy="421566"/>
          </a:xfrm>
          <a:prstGeom prst="roundRect">
            <a:avLst>
              <a:gd name="adj" fmla="val 4104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80"/>
              </a:lnSpc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</a:rPr>
              <a:t>Real</a:t>
            </a:r>
          </a:p>
        </p:txBody>
      </p:sp>
      <p:sp>
        <p:nvSpPr>
          <p:cNvPr id="576" name="Rounded Rectangle 575">
            <a:extLst>
              <a:ext uri="{FF2B5EF4-FFF2-40B4-BE49-F238E27FC236}">
                <a16:creationId xmlns:a16="http://schemas.microsoft.com/office/drawing/2014/main" id="{D69124EA-E15A-AC87-D46F-BBE26F6D511B}"/>
              </a:ext>
            </a:extLst>
          </p:cNvPr>
          <p:cNvSpPr/>
          <p:nvPr/>
        </p:nvSpPr>
        <p:spPr>
          <a:xfrm>
            <a:off x="3558327" y="39645074"/>
            <a:ext cx="1222475" cy="421566"/>
          </a:xfrm>
          <a:prstGeom prst="roundRect">
            <a:avLst>
              <a:gd name="adj" fmla="val 4104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80"/>
              </a:lnSpc>
            </a:pPr>
            <a:r>
              <a:rPr lang="en-US" sz="1400" b="1" dirty="0">
                <a:solidFill>
                  <a:schemeClr val="accent2"/>
                </a:solidFill>
              </a:rPr>
              <a:t>Simulated</a:t>
            </a:r>
          </a:p>
        </p:txBody>
      </p:sp>
      <p:pic>
        <p:nvPicPr>
          <p:cNvPr id="577" name="Picture 576" descr="A diagram of a graph&#10;&#10;AI-generated content may be incorrect.">
            <a:extLst>
              <a:ext uri="{FF2B5EF4-FFF2-40B4-BE49-F238E27FC236}">
                <a16:creationId xmlns:a16="http://schemas.microsoft.com/office/drawing/2014/main" id="{89F17510-09C1-3155-ED7F-4586BCFF734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559" y="33258655"/>
            <a:ext cx="6813772" cy="5271416"/>
          </a:xfrm>
          <a:prstGeom prst="rect">
            <a:avLst/>
          </a:prstGeom>
        </p:spPr>
      </p:pic>
      <p:sp>
        <p:nvSpPr>
          <p:cNvPr id="578" name="Right Arrow 577">
            <a:extLst>
              <a:ext uri="{FF2B5EF4-FFF2-40B4-BE49-F238E27FC236}">
                <a16:creationId xmlns:a16="http://schemas.microsoft.com/office/drawing/2014/main" id="{D8022191-8665-6CC8-8CD6-2FE76DE14710}"/>
              </a:ext>
            </a:extLst>
          </p:cNvPr>
          <p:cNvSpPr/>
          <p:nvPr/>
        </p:nvSpPr>
        <p:spPr>
          <a:xfrm rot="20200140">
            <a:off x="6861431" y="38254068"/>
            <a:ext cx="1487748" cy="461495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79" name="Rounded Rectangle 578">
            <a:extLst>
              <a:ext uri="{FF2B5EF4-FFF2-40B4-BE49-F238E27FC236}">
                <a16:creationId xmlns:a16="http://schemas.microsoft.com/office/drawing/2014/main" id="{1506D2F2-0378-75D5-EC75-005FBB3720AC}"/>
              </a:ext>
            </a:extLst>
          </p:cNvPr>
          <p:cNvSpPr/>
          <p:nvPr/>
        </p:nvSpPr>
        <p:spPr>
          <a:xfrm>
            <a:off x="11136331" y="37416289"/>
            <a:ext cx="997904" cy="500283"/>
          </a:xfrm>
          <a:prstGeom prst="round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80" name="Rounded Rectangle 579">
            <a:extLst>
              <a:ext uri="{FF2B5EF4-FFF2-40B4-BE49-F238E27FC236}">
                <a16:creationId xmlns:a16="http://schemas.microsoft.com/office/drawing/2014/main" id="{5FD30DF4-0F7B-856A-DA89-865EFF0F827B}"/>
              </a:ext>
            </a:extLst>
          </p:cNvPr>
          <p:cNvSpPr/>
          <p:nvPr/>
        </p:nvSpPr>
        <p:spPr>
          <a:xfrm>
            <a:off x="11510882" y="38941675"/>
            <a:ext cx="3390404" cy="854602"/>
          </a:xfrm>
          <a:prstGeom prst="roundRect">
            <a:avLst/>
          </a:prstGeom>
          <a:solidFill>
            <a:srgbClr val="EEC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Linear </a:t>
            </a:r>
            <a:r>
              <a:rPr lang="en-BR" b="1" dirty="0">
                <a:solidFill>
                  <a:schemeClr val="accent4"/>
                </a:solidFill>
              </a:rPr>
              <a:t>transfer </a:t>
            </a:r>
            <a:r>
              <a:rPr lang="en-US" b="1" dirty="0">
                <a:solidFill>
                  <a:schemeClr val="accent4"/>
                </a:solidFill>
              </a:rPr>
              <a:t>f</a:t>
            </a:r>
            <a:r>
              <a:rPr lang="en-BR" b="1" dirty="0">
                <a:solidFill>
                  <a:schemeClr val="accent4"/>
                </a:solidFill>
              </a:rPr>
              <a:t>unction</a:t>
            </a:r>
            <a:endParaRPr lang="en-BR" dirty="0">
              <a:solidFill>
                <a:schemeClr val="accent4"/>
              </a:solidFill>
            </a:endParaRPr>
          </a:p>
        </p:txBody>
      </p:sp>
      <p:sp>
        <p:nvSpPr>
          <p:cNvPr id="581" name="Right Arrow 580">
            <a:extLst>
              <a:ext uri="{FF2B5EF4-FFF2-40B4-BE49-F238E27FC236}">
                <a16:creationId xmlns:a16="http://schemas.microsoft.com/office/drawing/2014/main" id="{7415391A-D0AF-EB0B-1618-550DE1CBA44A}"/>
              </a:ext>
            </a:extLst>
          </p:cNvPr>
          <p:cNvSpPr/>
          <p:nvPr/>
        </p:nvSpPr>
        <p:spPr>
          <a:xfrm rot="3140878">
            <a:off x="11867017" y="38172953"/>
            <a:ext cx="1262465" cy="495757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99" name="Rounded Rectangle 1078">
            <a:extLst>
              <a:ext uri="{FF2B5EF4-FFF2-40B4-BE49-F238E27FC236}">
                <a16:creationId xmlns:a16="http://schemas.microsoft.com/office/drawing/2014/main" id="{57D05E36-8195-1F5E-8A0A-4ADB11FCAF01}"/>
              </a:ext>
            </a:extLst>
          </p:cNvPr>
          <p:cNvSpPr/>
          <p:nvPr/>
        </p:nvSpPr>
        <p:spPr>
          <a:xfrm>
            <a:off x="3709830" y="34496456"/>
            <a:ext cx="1222475" cy="421566"/>
          </a:xfrm>
          <a:prstGeom prst="roundRect">
            <a:avLst>
              <a:gd name="adj" fmla="val 4104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80"/>
              </a:lnSpc>
            </a:pPr>
            <a:r>
              <a:rPr lang="en-US" sz="1400" b="1" dirty="0">
                <a:solidFill>
                  <a:schemeClr val="accent2"/>
                </a:solidFill>
              </a:rPr>
              <a:t>Simulated</a:t>
            </a:r>
          </a:p>
        </p:txBody>
      </p:sp>
      <p:sp>
        <p:nvSpPr>
          <p:cNvPr id="600" name="Rounded Rectangle 1074">
            <a:extLst>
              <a:ext uri="{FF2B5EF4-FFF2-40B4-BE49-F238E27FC236}">
                <a16:creationId xmlns:a16="http://schemas.microsoft.com/office/drawing/2014/main" id="{159A5277-6BEF-C613-343D-DF2D1D611A2E}"/>
              </a:ext>
            </a:extLst>
          </p:cNvPr>
          <p:cNvSpPr/>
          <p:nvPr/>
        </p:nvSpPr>
        <p:spPr>
          <a:xfrm>
            <a:off x="1710699" y="39624534"/>
            <a:ext cx="763541" cy="421566"/>
          </a:xfrm>
          <a:prstGeom prst="roundRect">
            <a:avLst>
              <a:gd name="adj" fmla="val 4104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80"/>
              </a:lnSpc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</a:rPr>
              <a:t>Real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541C834-69CF-D4E1-F725-4EC3C0612FB8}"/>
              </a:ext>
            </a:extLst>
          </p:cNvPr>
          <p:cNvSpPr/>
          <p:nvPr/>
        </p:nvSpPr>
        <p:spPr>
          <a:xfrm>
            <a:off x="15344708" y="5002474"/>
            <a:ext cx="14750842" cy="12196503"/>
          </a:xfrm>
          <a:prstGeom prst="roundRect">
            <a:avLst>
              <a:gd name="adj" fmla="val 5013"/>
            </a:avLst>
          </a:prstGeom>
          <a:solidFill>
            <a:schemeClr val="bg1">
              <a:lumMod val="95000"/>
            </a:schemeClr>
          </a:solidFill>
          <a:ln w="762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48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5" name="Rectangle 75">
            <a:extLst>
              <a:ext uri="{FF2B5EF4-FFF2-40B4-BE49-F238E27FC236}">
                <a16:creationId xmlns:a16="http://schemas.microsoft.com/office/drawing/2014/main" id="{62500F5E-D200-4F9C-DAD9-50CCE64D41AF}"/>
              </a:ext>
            </a:extLst>
          </p:cNvPr>
          <p:cNvSpPr/>
          <p:nvPr/>
        </p:nvSpPr>
        <p:spPr>
          <a:xfrm>
            <a:off x="16482457" y="5286269"/>
            <a:ext cx="12727915" cy="8651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 algn="ctr" defTabSz="915040"/>
            <a:r>
              <a:rPr lang="en-US" sz="5000" b="1" spc="-1" dirty="0">
                <a:solidFill>
                  <a:srgbClr val="800080"/>
                </a:solidFill>
                <a:latin typeface="Calibri"/>
              </a:rPr>
              <a:t>Hippocampus Neuron Type Classification</a:t>
            </a:r>
            <a:endParaRPr lang="pt-BR" sz="500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Picture 2">
            <a:extLst>
              <a:ext uri="{FF2B5EF4-FFF2-40B4-BE49-F238E27FC236}">
                <a16:creationId xmlns:a16="http://schemas.microsoft.com/office/drawing/2014/main" id="{9CB4ABA7-0591-CCB6-FE27-FBFEC658AC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31" t="34340"/>
          <a:stretch>
            <a:fillRect/>
          </a:stretch>
        </p:blipFill>
        <p:spPr bwMode="auto">
          <a:xfrm>
            <a:off x="18003273" y="9392568"/>
            <a:ext cx="8351897" cy="7239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4EF3899F-DBFF-8675-37C7-B1BD59B6385F}"/>
              </a:ext>
            </a:extLst>
          </p:cNvPr>
          <p:cNvSpPr txBox="1"/>
          <p:nvPr/>
        </p:nvSpPr>
        <p:spPr>
          <a:xfrm>
            <a:off x="19482313" y="14895875"/>
            <a:ext cx="2992294" cy="36740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15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</a:rPr>
              <a:t>Rees et al.</a:t>
            </a:r>
            <a:r>
              <a:rPr kumimoji="0" lang="en-US" sz="150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</a:rPr>
              <a:t> </a:t>
            </a:r>
            <a:r>
              <a:rPr kumimoji="0" lang="en-US" sz="15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</a:rPr>
              <a:t>2016 </a:t>
            </a:r>
            <a:r>
              <a:rPr lang="en-US" sz="1500" dirty="0">
                <a:solidFill>
                  <a:schemeClr val="bg1"/>
                </a:solidFill>
                <a:latin typeface="Arial Narrow" panose="020B0606020202030204" pitchFamily="34" charset="0"/>
              </a:rPr>
              <a:t>PMID27896314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</a:endParaRPr>
          </a:p>
        </p:txBody>
      </p:sp>
      <p:sp>
        <p:nvSpPr>
          <p:cNvPr id="63" name="Rectangle 82">
            <a:extLst>
              <a:ext uri="{FF2B5EF4-FFF2-40B4-BE49-F238E27FC236}">
                <a16:creationId xmlns:a16="http://schemas.microsoft.com/office/drawing/2014/main" id="{B28B25ED-E4FE-7A75-25FA-3DF4729AAC62}"/>
              </a:ext>
            </a:extLst>
          </p:cNvPr>
          <p:cNvSpPr/>
          <p:nvPr/>
        </p:nvSpPr>
        <p:spPr>
          <a:xfrm>
            <a:off x="26233324" y="6401137"/>
            <a:ext cx="3862226" cy="28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 defTabSz="915040"/>
            <a:r>
              <a:rPr lang="en-US" sz="2500" spc="-1" dirty="0">
                <a:solidFill>
                  <a:srgbClr val="000000"/>
                </a:solidFill>
                <a:latin typeface="Arial"/>
                <a:ea typeface="DejaVu Sans"/>
              </a:rPr>
              <a:t>Hippocampome.org </a:t>
            </a:r>
            <a:r>
              <a:rPr lang="en-US" sz="2500" dirty="0"/>
              <a:t>maps all known neuron types in the rodent hippocampal formation. V</a:t>
            </a:r>
            <a:r>
              <a:rPr lang="en-US" sz="2500" spc="-1" dirty="0">
                <a:solidFill>
                  <a:srgbClr val="000000"/>
                </a:solidFill>
                <a:latin typeface="Arial"/>
                <a:ea typeface="DejaVu Sans"/>
              </a:rPr>
              <a:t>1.0 (2015) identified 122 neuron types with axons and dendrites distributed across 26 anatomical parcels</a:t>
            </a:r>
          </a:p>
        </p:txBody>
      </p:sp>
      <p:pic>
        <p:nvPicPr>
          <p:cNvPr id="478" name="Picture 2">
            <a:extLst>
              <a:ext uri="{FF2B5EF4-FFF2-40B4-BE49-F238E27FC236}">
                <a16:creationId xmlns:a16="http://schemas.microsoft.com/office/drawing/2014/main" id="{F8E28A28-9624-7DF4-AF09-95864C93D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61878" b="50435"/>
          <a:stretch>
            <a:fillRect/>
          </a:stretch>
        </p:blipFill>
        <p:spPr bwMode="auto">
          <a:xfrm>
            <a:off x="15754356" y="6364644"/>
            <a:ext cx="4731297" cy="6729682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79" name="Picture 2">
            <a:extLst>
              <a:ext uri="{FF2B5EF4-FFF2-40B4-BE49-F238E27FC236}">
                <a16:creationId xmlns:a16="http://schemas.microsoft.com/office/drawing/2014/main" id="{1C91FD7C-4A12-F9F4-132D-F34A7464F3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32" b="64982"/>
          <a:stretch>
            <a:fillRect/>
          </a:stretch>
        </p:blipFill>
        <p:spPr bwMode="auto">
          <a:xfrm>
            <a:off x="20596436" y="6434174"/>
            <a:ext cx="5338962" cy="3445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" name="Rounded Rectangle 234">
            <a:extLst>
              <a:ext uri="{FF2B5EF4-FFF2-40B4-BE49-F238E27FC236}">
                <a16:creationId xmlns:a16="http://schemas.microsoft.com/office/drawing/2014/main" id="{0A54602B-5C28-29FE-E3CC-F679A7DC4492}"/>
              </a:ext>
            </a:extLst>
          </p:cNvPr>
          <p:cNvSpPr/>
          <p:nvPr/>
        </p:nvSpPr>
        <p:spPr>
          <a:xfrm>
            <a:off x="24312076" y="9303143"/>
            <a:ext cx="1491244" cy="4824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dirty="0"/>
              <a:t> </a:t>
            </a:r>
            <a:r>
              <a:rPr lang="en-BR" sz="2200" dirty="0"/>
              <a:t>Granule</a:t>
            </a:r>
          </a:p>
        </p:txBody>
      </p:sp>
      <p:sp>
        <p:nvSpPr>
          <p:cNvPr id="236" name="Rounded Rectangle 235">
            <a:extLst>
              <a:ext uri="{FF2B5EF4-FFF2-40B4-BE49-F238E27FC236}">
                <a16:creationId xmlns:a16="http://schemas.microsoft.com/office/drawing/2014/main" id="{DC73A1D8-07BD-EB2F-49D0-37101E70F0A8}"/>
              </a:ext>
            </a:extLst>
          </p:cNvPr>
          <p:cNvSpPr/>
          <p:nvPr/>
        </p:nvSpPr>
        <p:spPr>
          <a:xfrm>
            <a:off x="20705986" y="6513225"/>
            <a:ext cx="1763114" cy="3589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200" dirty="0"/>
              <a:t>MFA ORDEN</a:t>
            </a:r>
          </a:p>
        </p:txBody>
      </p:sp>
      <p:sp>
        <p:nvSpPr>
          <p:cNvPr id="237" name="Curved Right Arrow 236">
            <a:extLst>
              <a:ext uri="{FF2B5EF4-FFF2-40B4-BE49-F238E27FC236}">
                <a16:creationId xmlns:a16="http://schemas.microsoft.com/office/drawing/2014/main" id="{638F6CB4-D9E3-0120-17C7-64F53D880394}"/>
              </a:ext>
            </a:extLst>
          </p:cNvPr>
          <p:cNvSpPr/>
          <p:nvPr/>
        </p:nvSpPr>
        <p:spPr>
          <a:xfrm rot="19259836">
            <a:off x="17250302" y="12089968"/>
            <a:ext cx="784900" cy="1989524"/>
          </a:xfrm>
          <a:prstGeom prst="curvedRightArrow">
            <a:avLst>
              <a:gd name="adj1" fmla="val 17792"/>
              <a:gd name="adj2" fmla="val 48910"/>
              <a:gd name="adj3" fmla="val 403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solidFill>
                <a:schemeClr val="tx1"/>
              </a:solidFill>
            </a:endParaRPr>
          </a:p>
        </p:txBody>
      </p:sp>
      <p:sp>
        <p:nvSpPr>
          <p:cNvPr id="238" name="Rectangle 82">
            <a:extLst>
              <a:ext uri="{FF2B5EF4-FFF2-40B4-BE49-F238E27FC236}">
                <a16:creationId xmlns:a16="http://schemas.microsoft.com/office/drawing/2014/main" id="{69E08AA6-2310-5845-88B8-D352F6F1FEF2}"/>
              </a:ext>
            </a:extLst>
          </p:cNvPr>
          <p:cNvSpPr/>
          <p:nvPr/>
        </p:nvSpPr>
        <p:spPr>
          <a:xfrm>
            <a:off x="26437636" y="10861703"/>
            <a:ext cx="3657914" cy="68440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 defTabSz="915040"/>
            <a:r>
              <a:rPr lang="en-US" sz="2500" dirty="0"/>
              <a:t>The resultant circuit consists of 38 excitatory and 84 inhibitory </a:t>
            </a:r>
            <a:r>
              <a:rPr lang="en-US" sz="2500" b="1" dirty="0">
                <a:highlight>
                  <a:srgbClr val="EEC300"/>
                </a:highlight>
              </a:rPr>
              <a:t>neuron types </a:t>
            </a:r>
            <a:r>
              <a:rPr lang="en-US" sz="2500" dirty="0"/>
              <a:t>(nodes) interlinked by 3236 directional edges. </a:t>
            </a:r>
          </a:p>
          <a:p>
            <a:pPr defTabSz="915040"/>
            <a:endParaRPr lang="en-US" sz="2500" dirty="0"/>
          </a:p>
          <a:p>
            <a:pPr defTabSz="915040"/>
            <a:r>
              <a:rPr lang="en-US" sz="2500" dirty="0"/>
              <a:t>This comprehensive connectivity profile of the hippocampus and entorhinal cortex  fosters insights on the functional operations at the computationally crucial level of </a:t>
            </a:r>
            <a:r>
              <a:rPr lang="en-US" sz="2500" b="1" dirty="0">
                <a:highlight>
                  <a:srgbClr val="EEC300"/>
                </a:highlight>
              </a:rPr>
              <a:t>neuron types</a:t>
            </a:r>
            <a:endParaRPr lang="en-US" sz="2500" b="1" spc="-1" dirty="0">
              <a:solidFill>
                <a:srgbClr val="000000"/>
              </a:solidFill>
              <a:highlight>
                <a:srgbClr val="EEC300"/>
              </a:highlight>
              <a:latin typeface="Arial"/>
              <a:ea typeface="DejaVu Sans"/>
            </a:endParaRPr>
          </a:p>
        </p:txBody>
      </p:sp>
      <p:sp>
        <p:nvSpPr>
          <p:cNvPr id="239" name="Curved Right Arrow 238">
            <a:extLst>
              <a:ext uri="{FF2B5EF4-FFF2-40B4-BE49-F238E27FC236}">
                <a16:creationId xmlns:a16="http://schemas.microsoft.com/office/drawing/2014/main" id="{A805C9F8-2C06-F57D-0C2D-F1566494B20F}"/>
              </a:ext>
            </a:extLst>
          </p:cNvPr>
          <p:cNvSpPr/>
          <p:nvPr/>
        </p:nvSpPr>
        <p:spPr>
          <a:xfrm rot="848406" flipV="1">
            <a:off x="21357572" y="7567181"/>
            <a:ext cx="850661" cy="6037045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solidFill>
                <a:schemeClr val="tx1"/>
              </a:solidFill>
            </a:endParaRP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9BC377A2-DCC6-9A81-28B7-6AAB6E7DE675}"/>
              </a:ext>
            </a:extLst>
          </p:cNvPr>
          <p:cNvSpPr txBox="1"/>
          <p:nvPr/>
        </p:nvSpPr>
        <p:spPr>
          <a:xfrm>
            <a:off x="26559669" y="10040643"/>
            <a:ext cx="3221413" cy="32316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</a:rPr>
              <a:t>Wheeler et al.</a:t>
            </a:r>
            <a:r>
              <a:rPr kumimoji="0" lang="en-US" sz="15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</a:rPr>
              <a:t> </a:t>
            </a:r>
            <a:r>
              <a:rPr kumimoji="0" lang="en-US" sz="1500" b="1" i="0" u="none" strike="noStrike" kern="120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</a:rPr>
              <a:t>eLife</a:t>
            </a:r>
            <a:r>
              <a:rPr kumimoji="0" lang="en-US" sz="15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</a:rPr>
              <a:t>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</a:rPr>
              <a:t>2015 </a:t>
            </a:r>
            <a:r>
              <a:rPr lang="en-US" sz="1500" b="1" dirty="0">
                <a:solidFill>
                  <a:schemeClr val="bg1"/>
                </a:solidFill>
                <a:latin typeface="Arial Narrow" panose="020B0606020202030204" pitchFamily="34" charset="0"/>
              </a:rPr>
              <a:t>PMID26402459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</a:endParaRPr>
          </a:p>
        </p:txBody>
      </p:sp>
      <p:grpSp>
        <p:nvGrpSpPr>
          <p:cNvPr id="608" name="Group 607">
            <a:extLst>
              <a:ext uri="{FF2B5EF4-FFF2-40B4-BE49-F238E27FC236}">
                <a16:creationId xmlns:a16="http://schemas.microsoft.com/office/drawing/2014/main" id="{736DE169-AFFF-8C44-E129-891815DB067E}"/>
              </a:ext>
            </a:extLst>
          </p:cNvPr>
          <p:cNvGrpSpPr/>
          <p:nvPr/>
        </p:nvGrpSpPr>
        <p:grpSpPr>
          <a:xfrm>
            <a:off x="130044" y="17437449"/>
            <a:ext cx="10246627" cy="10303023"/>
            <a:chOff x="16005657" y="8594675"/>
            <a:chExt cx="10246627" cy="10303023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80C3E812-62EB-558D-4B2F-8A363504A5DB}"/>
                </a:ext>
              </a:extLst>
            </p:cNvPr>
            <p:cNvSpPr/>
            <p:nvPr/>
          </p:nvSpPr>
          <p:spPr>
            <a:xfrm>
              <a:off x="16005657" y="8594675"/>
              <a:ext cx="10246627" cy="10303023"/>
            </a:xfrm>
            <a:prstGeom prst="roundRect">
              <a:avLst>
                <a:gd name="adj" fmla="val 4057"/>
              </a:avLst>
            </a:prstGeom>
            <a:solidFill>
              <a:schemeClr val="bg1">
                <a:lumMod val="95000"/>
              </a:schemeClr>
            </a:solidFill>
            <a:ln w="7620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 sz="1801" dirty="0"/>
            </a:p>
          </p:txBody>
        </p:sp>
        <p:sp>
          <p:nvSpPr>
            <p:cNvPr id="21" name="Rectangle 75">
              <a:extLst>
                <a:ext uri="{FF2B5EF4-FFF2-40B4-BE49-F238E27FC236}">
                  <a16:creationId xmlns:a16="http://schemas.microsoft.com/office/drawing/2014/main" id="{8E734633-7951-E58E-296B-5B5FDB3BEF6D}"/>
                </a:ext>
              </a:extLst>
            </p:cNvPr>
            <p:cNvSpPr/>
            <p:nvPr/>
          </p:nvSpPr>
          <p:spPr>
            <a:xfrm>
              <a:off x="19281935" y="8658893"/>
              <a:ext cx="3202630" cy="94993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59" tIns="45029" rIns="90059" bIns="45029" anchor="t">
              <a:noAutofit/>
            </a:bodyPr>
            <a:lstStyle/>
            <a:p>
              <a:pPr algn="ctr" defTabSz="915040"/>
              <a:r>
                <a:rPr lang="en-US" sz="5404" b="1" spc="-1" dirty="0">
                  <a:solidFill>
                    <a:srgbClr val="800080"/>
                  </a:solidFill>
                  <a:latin typeface="Calibri"/>
                  <a:ea typeface="DejaVu Sans"/>
                </a:rPr>
                <a:t>Census</a:t>
              </a:r>
              <a:endParaRPr lang="pt-BR" sz="5404" spc="-1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6418F82B-74A7-3EED-32E5-EB71EB150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02" b="73583"/>
            <a:stretch>
              <a:fillRect/>
            </a:stretch>
          </p:blipFill>
          <p:spPr>
            <a:xfrm>
              <a:off x="16068586" y="14140152"/>
              <a:ext cx="5948574" cy="1386776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9A06B5D-824D-53CC-16B4-20FEACEF2658}"/>
                </a:ext>
              </a:extLst>
            </p:cNvPr>
            <p:cNvSpPr txBox="1"/>
            <p:nvPr/>
          </p:nvSpPr>
          <p:spPr>
            <a:xfrm rot="16200000">
              <a:off x="20084793" y="11607795"/>
              <a:ext cx="2671834" cy="3231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Attili et al. 2019 PMID31444616</a:t>
              </a:r>
            </a:p>
          </p:txBody>
        </p:sp>
        <p:sp>
          <p:nvSpPr>
            <p:cNvPr id="51" name="Flowchart: Multidocument 1">
              <a:extLst>
                <a:ext uri="{FF2B5EF4-FFF2-40B4-BE49-F238E27FC236}">
                  <a16:creationId xmlns:a16="http://schemas.microsoft.com/office/drawing/2014/main" id="{49F6A733-4105-7DBF-8080-EFBBDFB3239A}"/>
                </a:ext>
              </a:extLst>
            </p:cNvPr>
            <p:cNvSpPr/>
            <p:nvPr/>
          </p:nvSpPr>
          <p:spPr>
            <a:xfrm>
              <a:off x="16304737" y="17044815"/>
              <a:ext cx="1545771" cy="1338943"/>
            </a:xfrm>
            <a:prstGeom prst="flowChartMultidocumen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Lit &amp; DB mining</a:t>
              </a:r>
            </a:p>
          </p:txBody>
        </p:sp>
        <p:sp>
          <p:nvSpPr>
            <p:cNvPr id="52" name="Arrow: Pentagon 3">
              <a:extLst>
                <a:ext uri="{FF2B5EF4-FFF2-40B4-BE49-F238E27FC236}">
                  <a16:creationId xmlns:a16="http://schemas.microsoft.com/office/drawing/2014/main" id="{890152BB-B087-F09D-DD23-3500C950DC2D}"/>
                </a:ext>
              </a:extLst>
            </p:cNvPr>
            <p:cNvSpPr/>
            <p:nvPr/>
          </p:nvSpPr>
          <p:spPr>
            <a:xfrm>
              <a:off x="18500507" y="17051685"/>
              <a:ext cx="2128156" cy="925286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Neuron mapping &amp; quantification</a:t>
              </a:r>
            </a:p>
          </p:txBody>
        </p:sp>
        <p:sp>
          <p:nvSpPr>
            <p:cNvPr id="53" name="Decagon 52">
              <a:extLst>
                <a:ext uri="{FF2B5EF4-FFF2-40B4-BE49-F238E27FC236}">
                  <a16:creationId xmlns:a16="http://schemas.microsoft.com/office/drawing/2014/main" id="{3BEBD825-1DA4-D266-12C4-F2A9AF0982CC}"/>
                </a:ext>
              </a:extLst>
            </p:cNvPr>
            <p:cNvSpPr/>
            <p:nvPr/>
          </p:nvSpPr>
          <p:spPr>
            <a:xfrm>
              <a:off x="21307757" y="16982646"/>
              <a:ext cx="1752600" cy="1153886"/>
            </a:xfrm>
            <a:prstGeom prst="dec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System of equations</a:t>
              </a:r>
            </a:p>
          </p:txBody>
        </p:sp>
        <p:sp>
          <p:nvSpPr>
            <p:cNvPr id="54" name="Rectangle: Beveled 5">
              <a:extLst>
                <a:ext uri="{FF2B5EF4-FFF2-40B4-BE49-F238E27FC236}">
                  <a16:creationId xmlns:a16="http://schemas.microsoft.com/office/drawing/2014/main" id="{D98D2F06-363B-14F5-919B-04B968B458B2}"/>
                </a:ext>
              </a:extLst>
            </p:cNvPr>
            <p:cNvSpPr/>
            <p:nvPr/>
          </p:nvSpPr>
          <p:spPr>
            <a:xfrm>
              <a:off x="23785794" y="17017133"/>
              <a:ext cx="1905000" cy="1262743"/>
            </a:xfrm>
            <a:prstGeom prst="beve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Numerical optimization</a:t>
              </a:r>
            </a:p>
          </p:txBody>
        </p:sp>
        <p:sp>
          <p:nvSpPr>
            <p:cNvPr id="55" name="Right Arrow 54">
              <a:extLst>
                <a:ext uri="{FF2B5EF4-FFF2-40B4-BE49-F238E27FC236}">
                  <a16:creationId xmlns:a16="http://schemas.microsoft.com/office/drawing/2014/main" id="{2F3A7980-625A-9FCC-2402-468FC5F14497}"/>
                </a:ext>
              </a:extLst>
            </p:cNvPr>
            <p:cNvSpPr/>
            <p:nvPr/>
          </p:nvSpPr>
          <p:spPr>
            <a:xfrm flipV="1">
              <a:off x="17876775" y="17350043"/>
              <a:ext cx="583964" cy="389434"/>
            </a:xfrm>
            <a:prstGeom prst="right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56" name="Right Arrow 55">
              <a:extLst>
                <a:ext uri="{FF2B5EF4-FFF2-40B4-BE49-F238E27FC236}">
                  <a16:creationId xmlns:a16="http://schemas.microsoft.com/office/drawing/2014/main" id="{0892A0D5-4F2E-D845-38A8-D60FAA7F7FE0}"/>
                </a:ext>
              </a:extLst>
            </p:cNvPr>
            <p:cNvSpPr/>
            <p:nvPr/>
          </p:nvSpPr>
          <p:spPr>
            <a:xfrm>
              <a:off x="23087562" y="17349585"/>
              <a:ext cx="651342" cy="437727"/>
            </a:xfrm>
            <a:prstGeom prst="right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492" name="Rectangle 82">
              <a:extLst>
                <a:ext uri="{FF2B5EF4-FFF2-40B4-BE49-F238E27FC236}">
                  <a16:creationId xmlns:a16="http://schemas.microsoft.com/office/drawing/2014/main" id="{E65DD2AC-5759-EF39-EF04-7DFA19BE08C5}"/>
                </a:ext>
              </a:extLst>
            </p:cNvPr>
            <p:cNvSpPr/>
            <p:nvPr/>
          </p:nvSpPr>
          <p:spPr>
            <a:xfrm>
              <a:off x="16041378" y="16035060"/>
              <a:ext cx="10175185" cy="78669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59" tIns="45029" rIns="90059" bIns="45029" anchor="t">
              <a:noAutofit/>
            </a:bodyPr>
            <a:lstStyle/>
            <a:p>
              <a:pPr defTabSz="915040"/>
              <a:r>
                <a:rPr lang="en-US" sz="2702" spc="-1" dirty="0">
                  <a:solidFill>
                    <a:srgbClr val="000000"/>
                  </a:solidFill>
                  <a:latin typeface="Arial"/>
                  <a:ea typeface="DejaVu Sans"/>
                </a:rPr>
                <a:t>Image acquisition, correction, &amp; analysis </a:t>
              </a:r>
              <a:r>
                <a:rPr lang="en-US" sz="2702" spc="-1" dirty="0">
                  <a:solidFill>
                    <a:srgbClr val="000000"/>
                  </a:solidFill>
                </a:rPr>
                <a:t>of neuron </a:t>
              </a:r>
              <a:r>
                <a:rPr lang="en-US" sz="2702" spc="-1" dirty="0">
                  <a:solidFill>
                    <a:srgbClr val="000000"/>
                  </a:solidFill>
                  <a:latin typeface="Arial"/>
                  <a:ea typeface="DejaVu Sans"/>
                </a:rPr>
                <a:t>distributions</a:t>
              </a:r>
              <a:endParaRPr lang="en-US" sz="2702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" name="Heptagon 193">
              <a:extLst>
                <a:ext uri="{FF2B5EF4-FFF2-40B4-BE49-F238E27FC236}">
                  <a16:creationId xmlns:a16="http://schemas.microsoft.com/office/drawing/2014/main" id="{449CDD48-F3BF-2397-9763-FB96FD47E861}"/>
                </a:ext>
              </a:extLst>
            </p:cNvPr>
            <p:cNvSpPr/>
            <p:nvPr/>
          </p:nvSpPr>
          <p:spPr>
            <a:xfrm>
              <a:off x="18359458" y="8687889"/>
              <a:ext cx="1042989" cy="1080964"/>
            </a:xfrm>
            <a:prstGeom prst="heptagon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4000" b="1" dirty="0">
                  <a:solidFill>
                    <a:srgbClr val="FFFF00"/>
                  </a:solidFill>
                </a:rPr>
                <a:t>1</a:t>
              </a:r>
              <a:endParaRPr lang="en-BR" sz="4000" b="1" dirty="0">
                <a:solidFill>
                  <a:srgbClr val="FFFF0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207" name="Right Arrow 206">
              <a:extLst>
                <a:ext uri="{FF2B5EF4-FFF2-40B4-BE49-F238E27FC236}">
                  <a16:creationId xmlns:a16="http://schemas.microsoft.com/office/drawing/2014/main" id="{8365204E-04F4-26E3-8293-F39D570DF93E}"/>
                </a:ext>
              </a:extLst>
            </p:cNvPr>
            <p:cNvSpPr/>
            <p:nvPr/>
          </p:nvSpPr>
          <p:spPr>
            <a:xfrm>
              <a:off x="20653705" y="17327217"/>
              <a:ext cx="651342" cy="437727"/>
            </a:xfrm>
            <a:prstGeom prst="right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pic>
          <p:nvPicPr>
            <p:cNvPr id="215" name="Picture 214">
              <a:extLst>
                <a:ext uri="{FF2B5EF4-FFF2-40B4-BE49-F238E27FC236}">
                  <a16:creationId xmlns:a16="http://schemas.microsoft.com/office/drawing/2014/main" id="{46063479-B5CF-BA94-037E-072E8A768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rcRect l="37671" t="38689" r="56680" b="51157"/>
            <a:stretch>
              <a:fillRect/>
            </a:stretch>
          </p:blipFill>
          <p:spPr>
            <a:xfrm>
              <a:off x="21959033" y="8712339"/>
              <a:ext cx="670252" cy="899748"/>
            </a:xfrm>
            <a:prstGeom prst="rect">
              <a:avLst/>
            </a:prstGeom>
          </p:spPr>
        </p:pic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237179D9-1515-3142-FE17-871B4CAB0FFD}"/>
                </a:ext>
              </a:extLst>
            </p:cNvPr>
            <p:cNvGrpSpPr/>
            <p:nvPr/>
          </p:nvGrpSpPr>
          <p:grpSpPr>
            <a:xfrm>
              <a:off x="16069696" y="9831298"/>
              <a:ext cx="5193520" cy="3802704"/>
              <a:chOff x="12398188" y="4437288"/>
              <a:chExt cx="4437530" cy="3275101"/>
            </a:xfrm>
          </p:grpSpPr>
          <p:pic>
            <p:nvPicPr>
              <p:cNvPr id="220" name="Picture 219">
                <a:extLst>
                  <a:ext uri="{FF2B5EF4-FFF2-40B4-BE49-F238E27FC236}">
                    <a16:creationId xmlns:a16="http://schemas.microsoft.com/office/drawing/2014/main" id="{01D166E8-4DBF-BEFC-7B51-2AD5410E3B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/>
              <a:srcRect l="2350" t="2310" r="45415"/>
              <a:stretch>
                <a:fillRect/>
              </a:stretch>
            </p:blipFill>
            <p:spPr>
              <a:xfrm>
                <a:off x="12398188" y="4437288"/>
                <a:ext cx="4437530" cy="3275101"/>
              </a:xfrm>
              <a:prstGeom prst="rect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</p:pic>
          <p:sp>
            <p:nvSpPr>
              <p:cNvPr id="221" name="Rounded Rectangle 220">
                <a:extLst>
                  <a:ext uri="{FF2B5EF4-FFF2-40B4-BE49-F238E27FC236}">
                    <a16:creationId xmlns:a16="http://schemas.microsoft.com/office/drawing/2014/main" id="{62EB815F-CD37-8DC9-2F24-3CFF6403522E}"/>
                  </a:ext>
                </a:extLst>
              </p:cNvPr>
              <p:cNvSpPr/>
              <p:nvPr/>
            </p:nvSpPr>
            <p:spPr>
              <a:xfrm rot="16200000">
                <a:off x="16299937" y="7184647"/>
                <a:ext cx="505817" cy="52296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 sz="2500" dirty="0"/>
              </a:p>
            </p:txBody>
          </p:sp>
        </p:grp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CC1BC2A1-DE72-E5E6-4069-41364F532053}"/>
                </a:ext>
              </a:extLst>
            </p:cNvPr>
            <p:cNvSpPr txBox="1"/>
            <p:nvPr/>
          </p:nvSpPr>
          <p:spPr>
            <a:xfrm rot="16200000">
              <a:off x="24752304" y="14066233"/>
              <a:ext cx="2109550" cy="58477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Hamilton et al. 2017 </a:t>
              </a:r>
              <a:r>
                <a: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10.1016/j.jpba.2017.03.062</a:t>
              </a: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46082CD7-32D4-BAF1-31BC-0F2D21803290}"/>
                </a:ext>
              </a:extLst>
            </p:cNvPr>
            <p:cNvSpPr txBox="1"/>
            <p:nvPr/>
          </p:nvSpPr>
          <p:spPr>
            <a:xfrm>
              <a:off x="19111703" y="15616640"/>
              <a:ext cx="2650386" cy="3231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White et al. 2020, PMID31596053</a:t>
              </a:r>
            </a:p>
          </p:txBody>
        </p:sp>
        <p:pic>
          <p:nvPicPr>
            <p:cNvPr id="538" name="Picture 537" descr="Chart&#10;&#10;Description automatically generated with low confidence">
              <a:extLst>
                <a:ext uri="{FF2B5EF4-FFF2-40B4-BE49-F238E27FC236}">
                  <a16:creationId xmlns:a16="http://schemas.microsoft.com/office/drawing/2014/main" id="{C65F8667-C5EA-2ACD-63F1-A504DB7A7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238" b="38099"/>
            <a:stretch>
              <a:fillRect/>
            </a:stretch>
          </p:blipFill>
          <p:spPr>
            <a:xfrm>
              <a:off x="21907557" y="9825775"/>
              <a:ext cx="4291067" cy="5885561"/>
            </a:xfrm>
            <a:prstGeom prst="rect">
              <a:avLst/>
            </a:prstGeom>
          </p:spPr>
        </p:pic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BF18D611-90FE-AC31-BC19-B5C04B91867B}"/>
                </a:ext>
              </a:extLst>
            </p:cNvPr>
            <p:cNvSpPr txBox="1"/>
            <p:nvPr/>
          </p:nvSpPr>
          <p:spPr>
            <a:xfrm>
              <a:off x="16180938" y="15617630"/>
              <a:ext cx="2831343" cy="32217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Hamilton et al. 2017, PMID27747821</a:t>
              </a:r>
            </a:p>
          </p:txBody>
        </p:sp>
        <p:sp>
          <p:nvSpPr>
            <p:cNvPr id="595" name="TextBox 594">
              <a:extLst>
                <a:ext uri="{FF2B5EF4-FFF2-40B4-BE49-F238E27FC236}">
                  <a16:creationId xmlns:a16="http://schemas.microsoft.com/office/drawing/2014/main" id="{726D4B17-5D0D-F1FE-F589-CAF575891659}"/>
                </a:ext>
              </a:extLst>
            </p:cNvPr>
            <p:cNvSpPr txBox="1"/>
            <p:nvPr/>
          </p:nvSpPr>
          <p:spPr>
            <a:xfrm rot="16200000">
              <a:off x="20394589" y="11610788"/>
              <a:ext cx="2671834" cy="3231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Attili et al. 2020 PMID33343053</a:t>
              </a:r>
            </a:p>
          </p:txBody>
        </p:sp>
        <p:sp>
          <p:nvSpPr>
            <p:cNvPr id="602" name="Rectangle 75">
              <a:extLst>
                <a:ext uri="{FF2B5EF4-FFF2-40B4-BE49-F238E27FC236}">
                  <a16:creationId xmlns:a16="http://schemas.microsoft.com/office/drawing/2014/main" id="{684862A0-2066-CA3E-7584-6CC759B98A03}"/>
                </a:ext>
              </a:extLst>
            </p:cNvPr>
            <p:cNvSpPr/>
            <p:nvPr/>
          </p:nvSpPr>
          <p:spPr>
            <a:xfrm>
              <a:off x="16717608" y="13559276"/>
              <a:ext cx="4958177" cy="94993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59" tIns="45029" rIns="90059" bIns="45029" anchor="t">
              <a:noAutofit/>
            </a:bodyPr>
            <a:lstStyle/>
            <a:p>
              <a:pPr algn="ctr" defTabSz="915040"/>
              <a:r>
                <a:rPr lang="en-US" sz="3700" b="1" spc="-1" dirty="0">
                  <a:solidFill>
                    <a:srgbClr val="800080"/>
                  </a:solidFill>
                  <a:latin typeface="Calibri"/>
                </a:rPr>
                <a:t>Transcriptomic profiling</a:t>
              </a:r>
              <a:endParaRPr lang="pt-BR" sz="3700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48" name="Rounded Rectangle 447">
            <a:extLst>
              <a:ext uri="{FF2B5EF4-FFF2-40B4-BE49-F238E27FC236}">
                <a16:creationId xmlns:a16="http://schemas.microsoft.com/office/drawing/2014/main" id="{9ED62302-A061-D551-FC2B-B02CA27282B6}"/>
              </a:ext>
            </a:extLst>
          </p:cNvPr>
          <p:cNvSpPr/>
          <p:nvPr/>
        </p:nvSpPr>
        <p:spPr>
          <a:xfrm>
            <a:off x="15909907" y="38481306"/>
            <a:ext cx="14334683" cy="4170713"/>
          </a:xfrm>
          <a:prstGeom prst="roundRect">
            <a:avLst>
              <a:gd name="adj" fmla="val 3537"/>
            </a:avLst>
          </a:prstGeom>
          <a:solidFill>
            <a:srgbClr val="FBFBFB"/>
          </a:solidFill>
          <a:ln w="762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1801" dirty="0"/>
          </a:p>
        </p:txBody>
      </p:sp>
      <p:sp>
        <p:nvSpPr>
          <p:cNvPr id="449" name="Rounded Rectangle 6">
            <a:extLst>
              <a:ext uri="{FF2B5EF4-FFF2-40B4-BE49-F238E27FC236}">
                <a16:creationId xmlns:a16="http://schemas.microsoft.com/office/drawing/2014/main" id="{1E0EF11A-2542-174F-D8E0-90C240FAAA8E}"/>
              </a:ext>
            </a:extLst>
          </p:cNvPr>
          <p:cNvSpPr/>
          <p:nvPr/>
        </p:nvSpPr>
        <p:spPr>
          <a:xfrm>
            <a:off x="20693970" y="38894432"/>
            <a:ext cx="4398808" cy="3757588"/>
          </a:xfrm>
          <a:prstGeom prst="roundRect">
            <a:avLst>
              <a:gd name="adj" fmla="val 16667"/>
            </a:avLst>
          </a:prstGeom>
          <a:noFill/>
          <a:ln w="63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 marL="0" lvl="1" defTabSz="915040">
              <a:buClr>
                <a:srgbClr val="000000"/>
              </a:buClr>
            </a:pPr>
            <a:endParaRPr lang="en-US" dirty="0"/>
          </a:p>
          <a:p>
            <a:pPr marL="0" lvl="1" defTabSz="915040">
              <a:buClr>
                <a:srgbClr val="000000"/>
              </a:buClr>
            </a:pPr>
            <a:endParaRPr lang="en-US" dirty="0"/>
          </a:p>
          <a:p>
            <a:pPr marL="0" lvl="1" algn="ctr" defTabSz="915040">
              <a:buClr>
                <a:srgbClr val="000000"/>
              </a:buClr>
            </a:pPr>
            <a:r>
              <a:rPr lang="en-US" sz="2500" dirty="0"/>
              <a:t>The focus on neuron type circuit </a:t>
            </a:r>
            <a:r>
              <a:rPr lang="en-US" sz="2500" dirty="0">
                <a:solidFill>
                  <a:schemeClr val="accent3">
                    <a:lumMod val="50000"/>
                  </a:schemeClr>
                </a:solidFill>
              </a:rPr>
              <a:t>balances</a:t>
            </a:r>
            <a:r>
              <a:rPr lang="en-US" sz="2500" dirty="0"/>
              <a:t> computational efficiency with </a:t>
            </a:r>
            <a:r>
              <a:rPr lang="en-US" sz="2500" b="1" dirty="0">
                <a:solidFill>
                  <a:schemeClr val="accent3">
                    <a:lumMod val="50000"/>
                  </a:schemeClr>
                </a:solidFill>
              </a:rPr>
              <a:t>biological realism</a:t>
            </a:r>
            <a:r>
              <a:rPr lang="en-US" sz="2500" dirty="0"/>
              <a:t>, thereby offering new insights into mammalian functional </a:t>
            </a:r>
            <a:r>
              <a:rPr lang="en-US" sz="2500" b="1" dirty="0" err="1"/>
              <a:t>connectomics</a:t>
            </a:r>
            <a:endParaRPr lang="pt-BR" sz="2500" spc="-1" dirty="0">
              <a:solidFill>
                <a:srgbClr val="000000"/>
              </a:solidFill>
            </a:endParaRPr>
          </a:p>
        </p:txBody>
      </p:sp>
      <p:sp>
        <p:nvSpPr>
          <p:cNvPr id="451" name="Rectangle 75">
            <a:extLst>
              <a:ext uri="{FF2B5EF4-FFF2-40B4-BE49-F238E27FC236}">
                <a16:creationId xmlns:a16="http://schemas.microsoft.com/office/drawing/2014/main" id="{78E47215-DFDD-B670-2F4F-4AA6E69C58C6}"/>
              </a:ext>
            </a:extLst>
          </p:cNvPr>
          <p:cNvSpPr/>
          <p:nvPr/>
        </p:nvSpPr>
        <p:spPr>
          <a:xfrm>
            <a:off x="21115284" y="38949051"/>
            <a:ext cx="3936147" cy="6514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59" tIns="45029" rIns="90059" bIns="45029" anchor="t">
            <a:noAutofit/>
          </a:bodyPr>
          <a:lstStyle/>
          <a:p>
            <a:pPr algn="ctr" defTabSz="915040"/>
            <a:r>
              <a:rPr lang="en-US" sz="3700" b="1" spc="-1" dirty="0">
                <a:solidFill>
                  <a:schemeClr val="accent5"/>
                </a:solidFill>
                <a:latin typeface="Calibri"/>
              </a:rPr>
              <a:t>Core innovation</a:t>
            </a:r>
            <a:endParaRPr lang="pt-BR" sz="3700" spc="-1" dirty="0">
              <a:solidFill>
                <a:schemeClr val="accent5"/>
              </a:solidFill>
              <a:latin typeface="Arial"/>
            </a:endParaRPr>
          </a:p>
        </p:txBody>
      </p:sp>
      <p:sp>
        <p:nvSpPr>
          <p:cNvPr id="458" name="Rounded Rectangle 457">
            <a:extLst>
              <a:ext uri="{FF2B5EF4-FFF2-40B4-BE49-F238E27FC236}">
                <a16:creationId xmlns:a16="http://schemas.microsoft.com/office/drawing/2014/main" id="{C7F6CD60-14D5-EA32-9004-F6F5D2D05A87}"/>
              </a:ext>
            </a:extLst>
          </p:cNvPr>
          <p:cNvSpPr/>
          <p:nvPr/>
        </p:nvSpPr>
        <p:spPr>
          <a:xfrm>
            <a:off x="16075155" y="38713406"/>
            <a:ext cx="3765306" cy="4785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200" dirty="0"/>
              <a:t>Individual neuron scale</a:t>
            </a:r>
          </a:p>
        </p:txBody>
      </p:sp>
      <p:sp>
        <p:nvSpPr>
          <p:cNvPr id="459" name="Rounded Rectangle 458">
            <a:extLst>
              <a:ext uri="{FF2B5EF4-FFF2-40B4-BE49-F238E27FC236}">
                <a16:creationId xmlns:a16="http://schemas.microsoft.com/office/drawing/2014/main" id="{7C8F8A84-0743-113B-8BD9-BC1DAE105822}"/>
              </a:ext>
            </a:extLst>
          </p:cNvPr>
          <p:cNvSpPr/>
          <p:nvPr/>
        </p:nvSpPr>
        <p:spPr>
          <a:xfrm>
            <a:off x="15981856" y="40372797"/>
            <a:ext cx="4006388" cy="4323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200" dirty="0"/>
              <a:t>Neuron type scale</a:t>
            </a:r>
          </a:p>
        </p:txBody>
      </p:sp>
      <p:sp>
        <p:nvSpPr>
          <p:cNvPr id="460" name="Rounded Rectangle 459">
            <a:extLst>
              <a:ext uri="{FF2B5EF4-FFF2-40B4-BE49-F238E27FC236}">
                <a16:creationId xmlns:a16="http://schemas.microsoft.com/office/drawing/2014/main" id="{A96AF873-BA09-2E8F-115B-453C2E2EA40F}"/>
              </a:ext>
            </a:extLst>
          </p:cNvPr>
          <p:cNvSpPr/>
          <p:nvPr/>
        </p:nvSpPr>
        <p:spPr>
          <a:xfrm>
            <a:off x="16460772" y="42137325"/>
            <a:ext cx="2834257" cy="413006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200" dirty="0"/>
              <a:t>5 key parameter</a:t>
            </a:r>
            <a:r>
              <a:rPr lang="en-US" sz="2200" dirty="0"/>
              <a:t> sets</a:t>
            </a:r>
            <a:endParaRPr lang="en-BR" sz="2200" dirty="0"/>
          </a:p>
        </p:txBody>
      </p:sp>
      <p:pic>
        <p:nvPicPr>
          <p:cNvPr id="461" name="Image10">
            <a:extLst>
              <a:ext uri="{FF2B5EF4-FFF2-40B4-BE49-F238E27FC236}">
                <a16:creationId xmlns:a16="http://schemas.microsoft.com/office/drawing/2014/main" id="{85261013-B7FD-5A00-353F-3ADE42ECF4CA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BEBA8EAE-BF5A-486C-A8C5-ECC9F3942E4B}">
                <a14:imgProps xmlns:a14="http://schemas.microsoft.com/office/drawing/2010/main">
                  <a14:imgLayer r:embed="rId36">
                    <a14:imgEffect>
                      <a14:sharpenSoften amount="24000"/>
                    </a14:imgEffect>
                    <a14:imgEffect>
                      <a14:colorTemperature colorTemp="2383"/>
                    </a14:imgEffect>
                    <a14:imgEffect>
                      <a14:saturation sat="183000"/>
                    </a14:imgEffect>
                    <a14:imgEffect>
                      <a14:brightnessContrast bright="-5000" contrast="25000"/>
                    </a14:imgEffect>
                  </a14:imgLayer>
                </a14:imgProps>
              </a:ext>
            </a:extLst>
          </a:blip>
          <a:srcRect l="6831" t="8958" r="7633" b="18486"/>
          <a:stretch>
            <a:fillRect/>
          </a:stretch>
        </p:blipFill>
        <p:spPr bwMode="auto">
          <a:xfrm>
            <a:off x="25037622" y="38861999"/>
            <a:ext cx="5174603" cy="3601989"/>
          </a:xfrm>
          <a:prstGeom prst="rect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</p:pic>
      <p:sp>
        <p:nvSpPr>
          <p:cNvPr id="463" name="Rounded Rectangle 462">
            <a:extLst>
              <a:ext uri="{FF2B5EF4-FFF2-40B4-BE49-F238E27FC236}">
                <a16:creationId xmlns:a16="http://schemas.microsoft.com/office/drawing/2014/main" id="{DBE10576-844A-BBA2-15F6-6FCC029A56BA}"/>
              </a:ext>
            </a:extLst>
          </p:cNvPr>
          <p:cNvSpPr/>
          <p:nvPr/>
        </p:nvSpPr>
        <p:spPr>
          <a:xfrm>
            <a:off x="16324606" y="41009152"/>
            <a:ext cx="3007278" cy="107102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3200" b="1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≈ 100 nodes</a:t>
            </a:r>
          </a:p>
          <a:p>
            <a:pPr algn="ctr"/>
            <a:r>
              <a:rPr lang="en-BR" sz="3200" b="1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≈ 2000 edges</a:t>
            </a:r>
            <a:endParaRPr lang="en-BR" sz="3200" b="1" baseline="-25000" dirty="0">
              <a:solidFill>
                <a:schemeClr val="accent1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66" name="Rounded Rectangle 465">
            <a:extLst>
              <a:ext uri="{FF2B5EF4-FFF2-40B4-BE49-F238E27FC236}">
                <a16:creationId xmlns:a16="http://schemas.microsoft.com/office/drawing/2014/main" id="{6D51AC1B-3DE9-CC29-EE32-6FD57FA7DC28}"/>
              </a:ext>
            </a:extLst>
          </p:cNvPr>
          <p:cNvSpPr/>
          <p:nvPr/>
        </p:nvSpPr>
        <p:spPr>
          <a:xfrm>
            <a:off x="16440287" y="39268920"/>
            <a:ext cx="2691457" cy="9961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3200" b="1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≈ 10</a:t>
            </a:r>
            <a:r>
              <a:rPr lang="en-BR" sz="3200" b="1" baseline="300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9</a:t>
            </a:r>
            <a:r>
              <a:rPr lang="en-BR" sz="3200" b="1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nodes</a:t>
            </a:r>
          </a:p>
          <a:p>
            <a:pPr algn="ctr"/>
            <a:r>
              <a:rPr lang="en-BR" sz="3200" b="1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≈ 10</a:t>
            </a:r>
            <a:r>
              <a:rPr lang="en-BR" sz="3200" b="1" baseline="300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12 </a:t>
            </a:r>
            <a:r>
              <a:rPr lang="en-BR" sz="3200" b="1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edges</a:t>
            </a:r>
          </a:p>
        </p:txBody>
      </p:sp>
      <p:sp>
        <p:nvSpPr>
          <p:cNvPr id="470" name="Rounded Rectangle 469">
            <a:extLst>
              <a:ext uri="{FF2B5EF4-FFF2-40B4-BE49-F238E27FC236}">
                <a16:creationId xmlns:a16="http://schemas.microsoft.com/office/drawing/2014/main" id="{AECD99F2-22DD-E741-3154-94A808D0AE03}"/>
              </a:ext>
            </a:extLst>
          </p:cNvPr>
          <p:cNvSpPr/>
          <p:nvPr/>
        </p:nvSpPr>
        <p:spPr>
          <a:xfrm rot="5400000">
            <a:off x="19171844" y="40501821"/>
            <a:ext cx="2691192" cy="465513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2500" dirty="0"/>
              <a:t>Markov model</a:t>
            </a:r>
          </a:p>
        </p:txBody>
      </p:sp>
      <p:sp>
        <p:nvSpPr>
          <p:cNvPr id="471" name="Rounded Rectangle 470">
            <a:extLst>
              <a:ext uri="{FF2B5EF4-FFF2-40B4-BE49-F238E27FC236}">
                <a16:creationId xmlns:a16="http://schemas.microsoft.com/office/drawing/2014/main" id="{7A820E89-16C2-1AA1-4ECE-FE3EFE54AFA9}"/>
              </a:ext>
            </a:extLst>
          </p:cNvPr>
          <p:cNvSpPr/>
          <p:nvPr/>
        </p:nvSpPr>
        <p:spPr>
          <a:xfrm>
            <a:off x="20819969" y="38610593"/>
            <a:ext cx="4149413" cy="3918058"/>
          </a:xfrm>
          <a:prstGeom prst="roundRect">
            <a:avLst>
              <a:gd name="adj" fmla="val 8944"/>
            </a:avLst>
          </a:prstGeom>
          <a:noFill/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48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72" name="Curved Down Arrow 471">
            <a:extLst>
              <a:ext uri="{FF2B5EF4-FFF2-40B4-BE49-F238E27FC236}">
                <a16:creationId xmlns:a16="http://schemas.microsoft.com/office/drawing/2014/main" id="{FF9054D9-1078-D9EA-C49C-5D9A871E76E5}"/>
              </a:ext>
            </a:extLst>
          </p:cNvPr>
          <p:cNvSpPr/>
          <p:nvPr/>
        </p:nvSpPr>
        <p:spPr>
          <a:xfrm rot="5400000">
            <a:off x="18308809" y="40647183"/>
            <a:ext cx="2925531" cy="871420"/>
          </a:xfrm>
          <a:prstGeom prst="curvedDown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solidFill>
                <a:schemeClr val="tx1"/>
              </a:solidFill>
            </a:endParaRP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7F4CA52F-05A9-FFDC-4296-E61AD6DA54F5}"/>
              </a:ext>
            </a:extLst>
          </p:cNvPr>
          <p:cNvSpPr/>
          <p:nvPr/>
        </p:nvSpPr>
        <p:spPr>
          <a:xfrm>
            <a:off x="20582026" y="6480528"/>
            <a:ext cx="5335396" cy="3398795"/>
          </a:xfrm>
          <a:prstGeom prst="roundRect">
            <a:avLst>
              <a:gd name="adj" fmla="val 4947"/>
            </a:avLst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FEF365D5-8523-B396-D188-4B292584052C}"/>
              </a:ext>
            </a:extLst>
          </p:cNvPr>
          <p:cNvSpPr/>
          <p:nvPr/>
        </p:nvSpPr>
        <p:spPr>
          <a:xfrm>
            <a:off x="15858269" y="6387971"/>
            <a:ext cx="441180" cy="473641"/>
          </a:xfrm>
          <a:prstGeom prst="rect">
            <a:avLst/>
          </a:prstGeom>
          <a:solidFill>
            <a:srgbClr val="FBFB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92543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667</TotalTime>
  <Words>832</Words>
  <Application>Microsoft Office PowerPoint</Application>
  <PresentationFormat>Custom</PresentationFormat>
  <Paragraphs>173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Arial Narrow</vt:lpstr>
      <vt:lpstr>Avenir Book</vt:lpstr>
      <vt:lpstr>Calibri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 Mimar Santa Cruz Yabarrena</dc:creator>
  <cp:lastModifiedBy>Giorgio Ascoli</cp:lastModifiedBy>
  <cp:revision>14</cp:revision>
  <dcterms:created xsi:type="dcterms:W3CDTF">2025-06-29T01:23:30Z</dcterms:created>
  <dcterms:modified xsi:type="dcterms:W3CDTF">2025-06-29T15:37:58Z</dcterms:modified>
</cp:coreProperties>
</file>