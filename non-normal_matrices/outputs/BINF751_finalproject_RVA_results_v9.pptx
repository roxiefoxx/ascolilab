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notesMasters/notesMaster1.xml" ContentType="application/vnd.openxmlformats-officedocument.presentationml.notesMaster+xml"/>
  <Override PartName="/ppt/notesMasters/theme/theme5.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graphics/data1.xml" ContentType="application/vnd.openxmlformats-officedocument.drawingml.diagramData+xml"/>
  <Override PartName="/ppt/graphics/layout1.xml" ContentType="application/vnd.openxmlformats-officedocument.drawingml.diagramLayout+xml"/>
  <Override PartName="/ppt/graphics/data2.xml" ContentType="application/vnd.openxmlformats-officedocument.drawingml.diagramData+xml"/>
  <Override PartName="/ppt/graphics/layout2.xml" ContentType="application/vnd.openxmlformats-officedocument.drawingml.diagramLayou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graphics/data3.xml" ContentType="application/vnd.openxmlformats-officedocument.drawingml.diagramData+xml"/>
  <Override PartName="/ppt/graphics/layout3.xml" ContentType="application/vnd.openxmlformats-officedocument.drawingml.diagramLayout+xml"/>
  <Override PartName="/ppt/notesSlides/notesSlide7.xml" ContentType="application/vnd.openxmlformats-officedocument.presentationml.notesSlide+xml"/>
  <Override PartName="/ppt/slides/slide8.xml" ContentType="application/vnd.openxmlformats-officedocument.presentationml.slide+xml"/>
  <Override PartName="/ppt/graphics/data4.xml" ContentType="application/vnd.openxmlformats-officedocument.drawingml.diagramData+xml"/>
  <Override PartName="/ppt/graphics/layout4.xml" ContentType="application/vnd.openxmlformats-officedocument.drawingml.diagramLayout+xml"/>
  <Override PartName="/ppt/graphics/data5.xml" ContentType="application/vnd.openxmlformats-officedocument.drawingml.diagramData+xml"/>
  <Override PartName="/ppt/graphics/layout5.xml" ContentType="application/vnd.openxmlformats-officedocument.drawingml.diagramLayou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4.xml" ContentType="application/vnd.openxmlformats-officedocument.drawingml.chart+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4726a6e21514f26" /><Relationship Type="http://schemas.openxmlformats.org/officeDocument/2006/relationships/extended-properties" Target="/docProps/app.xml" Id="R49112e7e9fca41b0" /><Relationship Type="http://schemas.openxmlformats.org/officeDocument/2006/relationships/officeDocument" Target="/ppt/presentation.xml" Id="R73cec7a8502b478b" /></Relationships>
</file>

<file path=ppt/presentation.xml><?xml version="1.0" encoding="utf-8"?>
<p:presentation xmlns:p="http://schemas.openxmlformats.org/presentationml/2006/main">
  <p:sldMasterIdLst>
    <p:sldMasterId xmlns:r="http://schemas.openxmlformats.org/officeDocument/2006/relationships" id="2147483648" r:id="R35fdd351d5144414"/>
    <p:sldMasterId xmlns:r="http://schemas.openxmlformats.org/officeDocument/2006/relationships" id="2147483653" r:id="R9cac4a2e9c914858"/>
    <p:sldMasterId xmlns:r="http://schemas.openxmlformats.org/officeDocument/2006/relationships" id="2147483665" r:id="R8c809d334fc147f3"/>
  </p:sldMasterIdLst>
  <p:notesMasterIdLst>
    <p:notesMasterId xmlns:r="http://schemas.openxmlformats.org/officeDocument/2006/relationships" r:id="Ra8126d87c8224a2e"/>
  </p:notesMasterIdLst>
  <p:sldIdLst>
    <p:sldId xmlns:r="http://schemas.openxmlformats.org/officeDocument/2006/relationships" id="256" r:id="R19e41d0e8c8a416e"/>
    <p:sldId xmlns:r="http://schemas.openxmlformats.org/officeDocument/2006/relationships" id="257" r:id="R86b252b49a5d40b5"/>
    <p:sldId xmlns:r="http://schemas.openxmlformats.org/officeDocument/2006/relationships" id="258" r:id="R68dd4eaee59b4214"/>
    <p:sldId xmlns:r="http://schemas.openxmlformats.org/officeDocument/2006/relationships" id="259" r:id="R980d04f0854542c9"/>
    <p:sldId xmlns:r="http://schemas.openxmlformats.org/officeDocument/2006/relationships" id="260" r:id="R612928ed0dfa4bad"/>
    <p:sldId xmlns:r="http://schemas.openxmlformats.org/officeDocument/2006/relationships" id="261" r:id="R1d7d7710a42e4035"/>
    <p:sldId xmlns:r="http://schemas.openxmlformats.org/officeDocument/2006/relationships" id="262" r:id="R99022a851cb14d1d"/>
    <p:sldId xmlns:r="http://schemas.openxmlformats.org/officeDocument/2006/relationships" id="263" r:id="R34c4872ccd8f497c"/>
    <p:sldId xmlns:r="http://schemas.openxmlformats.org/officeDocument/2006/relationships" id="264" r:id="Ra1ff8c07a2b54906"/>
    <p:sldId xmlns:r="http://schemas.openxmlformats.org/officeDocument/2006/relationships" id="265" r:id="R0a22c05e8ba24543"/>
    <p:sldId xmlns:r="http://schemas.openxmlformats.org/officeDocument/2006/relationships" id="266" r:id="R6cfda0f106cf4ce9"/>
    <p:sldId xmlns:r="http://schemas.openxmlformats.org/officeDocument/2006/relationships" id="267" r:id="Rdd9c7810aee94d2c"/>
    <p:sldId xmlns:r="http://schemas.openxmlformats.org/officeDocument/2006/relationships" id="268" r:id="R733abdf550034a0c"/>
    <p:sldId xmlns:r="http://schemas.openxmlformats.org/officeDocument/2006/relationships" id="269" r:id="Ra3f4df8cac284d07"/>
    <p:sldId xmlns:r="http://schemas.openxmlformats.org/officeDocument/2006/relationships" id="270" r:id="Rca50fb1951a448cc"/>
    <p:sldId xmlns:r="http://schemas.openxmlformats.org/officeDocument/2006/relationships" id="271" r:id="R5f7418c87ef0429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ec1402809c94e87" /><Relationship Type="http://schemas.openxmlformats.org/officeDocument/2006/relationships/slideMaster" Target="/ppt/slideMasters/slideMaster1.xml" Id="R35fdd351d5144414" /><Relationship Type="http://schemas.openxmlformats.org/officeDocument/2006/relationships/slideMaster" Target="/ppt/slideMasters/slideMaster2.xml" Id="R9cac4a2e9c914858" /><Relationship Type="http://schemas.openxmlformats.org/officeDocument/2006/relationships/slideMaster" Target="/ppt/slideMasters/slideMaster3.xml" Id="R8c809d334fc147f3" /><Relationship Type="http://schemas.openxmlformats.org/officeDocument/2006/relationships/notesMaster" Target="/ppt/notesMasters/notesMaster1.xml" Id="Ra8126d87c8224a2e" /><Relationship Type="http://schemas.openxmlformats.org/officeDocument/2006/relationships/presProps" Target="/ppt/presProps.xml" Id="Ra28b08b647d344cc" /><Relationship Type="http://schemas.openxmlformats.org/officeDocument/2006/relationships/viewProps" Target="/ppt/viewProps.xml" Id="Rd1dd09a08b0e4ebb" /><Relationship Type="http://schemas.openxmlformats.org/officeDocument/2006/relationships/tableStyles" Target="/ppt/tableStyles.xml" Id="R8c88419bfc0f4591" /><Relationship Type="http://schemas.openxmlformats.org/officeDocument/2006/relationships/slide" Target="/ppt/slides/slide1.xml" Id="R19e41d0e8c8a416e" /><Relationship Type="http://schemas.openxmlformats.org/officeDocument/2006/relationships/slide" Target="/ppt/slides/slide2.xml" Id="R86b252b49a5d40b5" /><Relationship Type="http://schemas.openxmlformats.org/officeDocument/2006/relationships/slide" Target="/ppt/slides/slide3.xml" Id="R68dd4eaee59b4214" /><Relationship Type="http://schemas.openxmlformats.org/officeDocument/2006/relationships/slide" Target="/ppt/slides/slide4.xml" Id="R980d04f0854542c9" /><Relationship Type="http://schemas.openxmlformats.org/officeDocument/2006/relationships/slide" Target="/ppt/slides/slide5.xml" Id="R612928ed0dfa4bad" /><Relationship Type="http://schemas.openxmlformats.org/officeDocument/2006/relationships/slide" Target="/ppt/slides/slide6.xml" Id="R1d7d7710a42e4035" /><Relationship Type="http://schemas.openxmlformats.org/officeDocument/2006/relationships/slide" Target="/ppt/slides/slide7.xml" Id="R99022a851cb14d1d" /><Relationship Type="http://schemas.openxmlformats.org/officeDocument/2006/relationships/slide" Target="/ppt/slides/slide8.xml" Id="R34c4872ccd8f497c" /><Relationship Type="http://schemas.openxmlformats.org/officeDocument/2006/relationships/slide" Target="/ppt/slides/slide9.xml" Id="Ra1ff8c07a2b54906" /><Relationship Type="http://schemas.openxmlformats.org/officeDocument/2006/relationships/slide" Target="/ppt/slides/slide10.xml" Id="R0a22c05e8ba24543" /><Relationship Type="http://schemas.openxmlformats.org/officeDocument/2006/relationships/slide" Target="/ppt/slides/slide11.xml" Id="R6cfda0f106cf4ce9" /><Relationship Type="http://schemas.openxmlformats.org/officeDocument/2006/relationships/slide" Target="/ppt/slides/slide12.xml" Id="Rdd9c7810aee94d2c" /><Relationship Type="http://schemas.openxmlformats.org/officeDocument/2006/relationships/slide" Target="/ppt/slides/slide13.xml" Id="R733abdf550034a0c" /><Relationship Type="http://schemas.openxmlformats.org/officeDocument/2006/relationships/slide" Target="/ppt/slides/slide14.xml" Id="Ra3f4df8cac284d07" /><Relationship Type="http://schemas.openxmlformats.org/officeDocument/2006/relationships/slide" Target="/ppt/slides/slide15.xml" Id="Rca50fb1951a448cc" /><Relationship Type="http://schemas.openxmlformats.org/officeDocument/2006/relationships/slide" Target="/ppt/slides/slide16.xml" Id="R5f7418c87ef04291" /></Relationships>
</file>

<file path=ppt/graphics/data1.xml><?xml version="1.0" encoding="utf-8"?>
<dgm:dataModel xmlns:dgm="http://schemas.openxmlformats.org/drawingml/2006/diagram">
  <dgm:ptLst>
    <dgm:pt modelId="{E9DE3847-0EDF-4015-A026-87BA7855E4DF}" type="doc">
      <dgm:t>
        <a:bodyPr xmlns:a="http://schemas.openxmlformats.org/drawingml/2006/main"/>
        <a:lstStyle xmlns:a="http://schemas.openxmlformats.org/drawingml/2006/main"/>
        <a:p xmlns:a="http://schemas.openxmlformats.org/drawingml/2006/main">
          <a:endParaRPr/>
        </a:p>
      </dgm:t>
    </dgm:pt>
    <dgm:pt modelId="{9A3BD9B8-DCBF-4BD7-8D9C-DFB2C5EECAD8}">
      <dgm:t>
        <a:bodyPr xmlns:a="http://schemas.openxmlformats.org/drawingml/2006/main"/>
        <a:lstStyle xmlns:a="http://schemas.openxmlformats.org/drawingml/2006/main"/>
        <a:p xmlns:a="http://schemas.openxmlformats.org/drawingml/2006/main">
          <a:r>
            <a:rPr/>
            <a:t>Chain</a:t>
          </a:r>
        </a:p>
      </dgm:t>
    </dgm:pt>
    <dgm:pt modelId="{3CD962FB-C512-4E79-887E-28DB337651A9}" type="parTrans" cxnId="{6F93A285-3EEF-482A-BADA-366A2827F537}">
      <dgm:t>
        <a:bodyPr xmlns:a="http://schemas.openxmlformats.org/drawingml/2006/main"/>
        <a:lstStyle xmlns:a="http://schemas.openxmlformats.org/drawingml/2006/main"/>
        <a:p xmlns:a="http://schemas.openxmlformats.org/drawingml/2006/main">
          <a:endParaRPr/>
        </a:p>
      </dgm:t>
    </dgm:pt>
    <dgm:pt modelId="{B046E707-1A43-4E13-BF9A-B1D37A902643}" type="sibTrans" cxnId="{6F93A285-3EEF-482A-BADA-366A2827F537}">
      <dgm:t>
        <a:bodyPr xmlns:a="http://schemas.openxmlformats.org/drawingml/2006/main"/>
        <a:lstStyle xmlns:a="http://schemas.openxmlformats.org/drawingml/2006/main"/>
        <a:p xmlns:a="http://schemas.openxmlformats.org/drawingml/2006/main">
          <a:endParaRPr/>
        </a:p>
      </dgm:t>
    </dgm:pt>
    <dgm:pt modelId="{428DC1B4-37E6-4D12-BC12-9DBD4A9FC198}">
      <dgm:t>
        <a:bodyPr xmlns:a="http://schemas.openxmlformats.org/drawingml/2006/main"/>
        <a:lstStyle xmlns:a="http://schemas.openxmlformats.org/drawingml/2006/main"/>
        <a:p xmlns:a="http://schemas.openxmlformats.org/drawingml/2006/main">
          <a:pPr>
            <a:buNone/>
            <a:defRPr/>
          </a:pPr>
          <a:r>
            <a:rPr sz="2400"/>
            <a:t>i</a:t>
          </a:r>
          <a:r>
            <a:rPr sz="2400"/>
            <a:t> →</a:t>
          </a:r>
          <a:r>
            <a:rPr sz="2400"/>
            <a:t>j→k</a:t>
          </a:r>
          <a:endParaRPr sz="2400"/>
        </a:p>
      </dgm:t>
    </dgm:pt>
    <dgm:pt modelId="{6DC36B7F-6A79-48C6-A5E3-6146027E73FB}" type="parTrans" cxnId="{3D5413AA-C465-4D4B-AA6F-35A1EE84D9C9}">
      <dgm:t>
        <a:bodyPr xmlns:a="http://schemas.openxmlformats.org/drawingml/2006/main"/>
        <a:lstStyle xmlns:a="http://schemas.openxmlformats.org/drawingml/2006/main"/>
        <a:p xmlns:a="http://schemas.openxmlformats.org/drawingml/2006/main">
          <a:endParaRPr/>
        </a:p>
      </dgm:t>
    </dgm:pt>
    <dgm:pt modelId="{3677E5A9-5D3D-4EF9-9006-3707D9D876CB}" type="sibTrans" cxnId="{3D5413AA-C465-4D4B-AA6F-35A1EE84D9C9}">
      <dgm:t>
        <a:bodyPr xmlns:a="http://schemas.openxmlformats.org/drawingml/2006/main"/>
        <a:lstStyle xmlns:a="http://schemas.openxmlformats.org/drawingml/2006/main"/>
        <a:p xmlns:a="http://schemas.openxmlformats.org/drawingml/2006/main">
          <a:endParaRPr/>
        </a:p>
      </dgm:t>
    </dgm:pt>
    <dgm:pt modelId="{AA1F67B7-6E90-48D5-9306-E206714D9008}">
      <dgm:t>
        <a:bodyPr xmlns:a="http://schemas.openxmlformats.org/drawingml/2006/main"/>
        <a:lstStyle xmlns:a="http://schemas.openxmlformats.org/drawingml/2006/main"/>
        <a:p xmlns:a="http://schemas.openxmlformats.org/drawingml/2006/main">
          <a:r>
            <a:rPr/>
            <a:t>Reciprocal</a:t>
          </a:r>
        </a:p>
      </dgm:t>
    </dgm:pt>
    <dgm:pt modelId="{C86F938C-4BC5-4359-B46F-CC573AA26373}" type="parTrans" cxnId="{DD91F528-19BA-4DC2-9937-B4FFE36493F3}">
      <dgm:t>
        <a:bodyPr xmlns:a="http://schemas.openxmlformats.org/drawingml/2006/main"/>
        <a:lstStyle xmlns:a="http://schemas.openxmlformats.org/drawingml/2006/main"/>
        <a:p xmlns:a="http://schemas.openxmlformats.org/drawingml/2006/main">
          <a:endParaRPr/>
        </a:p>
      </dgm:t>
    </dgm:pt>
    <dgm:pt modelId="{11FD2E5D-DEFA-4B4D-9E79-F9D0E07FD15B}" type="sibTrans" cxnId="{DD91F528-19BA-4DC2-9937-B4FFE36493F3}">
      <dgm:t>
        <a:bodyPr xmlns:a="http://schemas.openxmlformats.org/drawingml/2006/main"/>
        <a:lstStyle xmlns:a="http://schemas.openxmlformats.org/drawingml/2006/main"/>
        <a:p xmlns:a="http://schemas.openxmlformats.org/drawingml/2006/main">
          <a:endParaRPr/>
        </a:p>
      </dgm:t>
    </dgm:pt>
    <dgm:pt modelId="{6E9A7A59-50BA-46FD-BBA9-5E27F99B12EB}">
      <dgm:t>
        <a:bodyPr xmlns:a="http://schemas.openxmlformats.org/drawingml/2006/main"/>
        <a:lstStyle xmlns:a="http://schemas.openxmlformats.org/drawingml/2006/main"/>
        <a:p xmlns:a="http://schemas.openxmlformats.org/drawingml/2006/main">
          <a:pPr>
            <a:spcAft>
              <a:spcPct val="15000"/>
            </a:spcAft>
            <a:buNone/>
            <a:defRPr/>
          </a:pPr>
          <a:r>
            <a:rPr sz="2400"/>
            <a:t>i</a:t>
          </a:r>
          <a:r>
            <a:rPr sz="2400"/>
            <a:t> ↔ j</a:t>
          </a:r>
        </a:p>
      </dgm:t>
    </dgm:pt>
    <dgm:pt modelId="{01255094-BA06-472E-BC6D-CD07ADBC01C0}" type="parTrans" cxnId="{F325F62E-594C-4DCA-9B32-FF675717B07B}">
      <dgm:t>
        <a:bodyPr xmlns:a="http://schemas.openxmlformats.org/drawingml/2006/main"/>
        <a:lstStyle xmlns:a="http://schemas.openxmlformats.org/drawingml/2006/main"/>
        <a:p xmlns:a="http://schemas.openxmlformats.org/drawingml/2006/main">
          <a:endParaRPr/>
        </a:p>
      </dgm:t>
    </dgm:pt>
    <dgm:pt modelId="{B09C44D4-A2FA-4C4D-A916-4F1F28E883BF}" type="sibTrans" cxnId="{F325F62E-594C-4DCA-9B32-FF675717B07B}">
      <dgm:t>
        <a:bodyPr xmlns:a="http://schemas.openxmlformats.org/drawingml/2006/main"/>
        <a:lstStyle xmlns:a="http://schemas.openxmlformats.org/drawingml/2006/main"/>
        <a:p xmlns:a="http://schemas.openxmlformats.org/drawingml/2006/main">
          <a:endParaRPr/>
        </a:p>
      </dgm:t>
    </dgm:pt>
    <dgm:pt modelId="{242505FF-9B46-454E-A31B-D288D04FC04B}">
      <dgm:t>
        <a:bodyPr xmlns:a="http://schemas.openxmlformats.org/drawingml/2006/main"/>
        <a:lstStyle xmlns:a="http://schemas.openxmlformats.org/drawingml/2006/main"/>
        <a:p xmlns:a="http://schemas.openxmlformats.org/drawingml/2006/main">
          <a:pPr>
            <a:spcAft>
              <a:spcPts val="600"/>
            </a:spcAft>
            <a:buNone/>
            <a:defRPr/>
          </a:pPr>
          <a:r>
            <a:rPr sz="2000"/>
            <a:t>i</a:t>
          </a:r>
          <a:r>
            <a:rPr sz="2000"/>
            <a:t> and j talk back to each other</a:t>
          </a:r>
        </a:p>
      </dgm:t>
    </dgm:pt>
    <dgm:pt modelId="{EE309DCE-CEE8-4F0A-A6CC-B93D95BD3D4D}" type="parTrans" cxnId="{8A4EEA64-E100-4F74-98EF-835A4C30C7E3}">
      <dgm:t>
        <a:bodyPr xmlns:a="http://schemas.openxmlformats.org/drawingml/2006/main"/>
        <a:lstStyle xmlns:a="http://schemas.openxmlformats.org/drawingml/2006/main"/>
        <a:p xmlns:a="http://schemas.openxmlformats.org/drawingml/2006/main">
          <a:endParaRPr/>
        </a:p>
      </dgm:t>
    </dgm:pt>
    <dgm:pt modelId="{66B52BA2-89FD-4563-88A8-2F4B3BBC0CB1}" type="sibTrans" cxnId="{8A4EEA64-E100-4F74-98EF-835A4C30C7E3}">
      <dgm:t>
        <a:bodyPr xmlns:a="http://schemas.openxmlformats.org/drawingml/2006/main"/>
        <a:lstStyle xmlns:a="http://schemas.openxmlformats.org/drawingml/2006/main"/>
        <a:p xmlns:a="http://schemas.openxmlformats.org/drawingml/2006/main">
          <a:endParaRPr/>
        </a:p>
      </dgm:t>
    </dgm:pt>
    <dgm:pt modelId="{4F019DE9-1F40-4E30-A52D-51932A71D693}">
      <dgm:t>
        <a:bodyPr xmlns:a="http://schemas.openxmlformats.org/drawingml/2006/main"/>
        <a:lstStyle xmlns:a="http://schemas.openxmlformats.org/drawingml/2006/main"/>
        <a:p xmlns:a="http://schemas.openxmlformats.org/drawingml/2006/main">
          <a:pPr>
            <a:buNone/>
            <a:defRPr/>
          </a:pPr>
          <a:r>
            <a:rPr sz="2000"/>
            <a:t>i</a:t>
          </a:r>
          <a:r>
            <a:rPr sz="2000"/>
            <a:t> talks to j, j talks to k</a:t>
          </a:r>
        </a:p>
      </dgm:t>
    </dgm:pt>
    <dgm:pt modelId="{74C74A0B-68F3-47B2-B453-3F75F0EE28EA}" type="parTrans" cxnId="{0EEFA1E3-B34C-4245-A2EC-2626171E9A2E}">
      <dgm:t>
        <a:bodyPr xmlns:a="http://schemas.openxmlformats.org/drawingml/2006/main"/>
        <a:lstStyle xmlns:a="http://schemas.openxmlformats.org/drawingml/2006/main"/>
        <a:p xmlns:a="http://schemas.openxmlformats.org/drawingml/2006/main">
          <a:endParaRPr/>
        </a:p>
      </dgm:t>
    </dgm:pt>
    <dgm:pt modelId="{201C7AAF-0B7B-4BD6-8712-B579EF9D71BC}" type="sibTrans" cxnId="{0EEFA1E3-B34C-4245-A2EC-2626171E9A2E}">
      <dgm:t>
        <a:bodyPr xmlns:a="http://schemas.openxmlformats.org/drawingml/2006/main"/>
        <a:lstStyle xmlns:a="http://schemas.openxmlformats.org/drawingml/2006/main"/>
        <a:p xmlns:a="http://schemas.openxmlformats.org/drawingml/2006/main">
          <a:endParaRPr/>
        </a:p>
      </dgm:t>
    </dgm:pt>
    <dgm:pt modelId="{F475B88C-93CC-44C0-91BA-F5F629A786EE}">
      <dgm:t>
        <a:bodyPr xmlns:a="http://schemas.openxmlformats.org/drawingml/2006/main"/>
        <a:lstStyle xmlns:a="http://schemas.openxmlformats.org/drawingml/2006/main"/>
        <a:p xmlns:a="http://schemas.openxmlformats.org/drawingml/2006/main">
          <a:pPr>
            <a:buNone/>
            <a:defRPr/>
          </a:pPr>
          <a:endParaRPr sz="2000"/>
        </a:p>
      </dgm:t>
    </dgm:pt>
    <dgm:pt modelId="{26284519-1A82-470B-8B72-153CF54C188A}" type="parTrans" cxnId="{B500A29F-E2CB-40F6-8505-D061F69F3CFB}">
      <dgm:t>
        <a:bodyPr xmlns:a="http://schemas.openxmlformats.org/drawingml/2006/main"/>
        <a:lstStyle xmlns:a="http://schemas.openxmlformats.org/drawingml/2006/main"/>
        <a:p xmlns:a="http://schemas.openxmlformats.org/drawingml/2006/main">
          <a:endParaRPr/>
        </a:p>
      </dgm:t>
    </dgm:pt>
    <dgm:pt modelId="{6C373999-E58C-4912-BF1F-89FACE705204}" type="sibTrans" cxnId="{B500A29F-E2CB-40F6-8505-D061F69F3CFB}">
      <dgm:t>
        <a:bodyPr xmlns:a="http://schemas.openxmlformats.org/drawingml/2006/main"/>
        <a:lstStyle xmlns:a="http://schemas.openxmlformats.org/drawingml/2006/main"/>
        <a:p xmlns:a="http://schemas.openxmlformats.org/drawingml/2006/main">
          <a:endParaRPr/>
        </a:p>
      </dgm:t>
    </dgm:pt>
    <dgm:pt modelId="{35DA834E-E90A-4660-A4C5-8ABD3769AC9A}">
      <dgm:t>
        <a:bodyPr xmlns:a="http://schemas.openxmlformats.org/drawingml/2006/main"/>
        <a:lstStyle xmlns:a="http://schemas.openxmlformats.org/drawingml/2006/main"/>
        <a:p xmlns:a="http://schemas.openxmlformats.org/drawingml/2006/main">
          <a:pPr>
            <a:buNone/>
            <a:defRPr/>
          </a:pPr>
          <a:r>
            <a:rPr sz="2000"/>
            <a:t>“The Telephone”</a:t>
          </a:r>
        </a:p>
      </dgm:t>
    </dgm:pt>
    <dgm:pt modelId="{27AA360B-A1B0-4475-ADDD-71950918FE1A}" type="parTrans" cxnId="{3A49C7F5-292D-452E-B9A7-25F48751671E}">
      <dgm:t>
        <a:bodyPr xmlns:a="http://schemas.openxmlformats.org/drawingml/2006/main"/>
        <a:lstStyle xmlns:a="http://schemas.openxmlformats.org/drawingml/2006/main"/>
        <a:p xmlns:a="http://schemas.openxmlformats.org/drawingml/2006/main">
          <a:endParaRPr/>
        </a:p>
      </dgm:t>
    </dgm:pt>
    <dgm:pt modelId="{CA550958-1A26-49D9-AF30-58FD11BB75C2}" type="sibTrans" cxnId="{3A49C7F5-292D-452E-B9A7-25F48751671E}">
      <dgm:t>
        <a:bodyPr xmlns:a="http://schemas.openxmlformats.org/drawingml/2006/main"/>
        <a:lstStyle xmlns:a="http://schemas.openxmlformats.org/drawingml/2006/main"/>
        <a:p xmlns:a="http://schemas.openxmlformats.org/drawingml/2006/main">
          <a:endParaRPr/>
        </a:p>
      </dgm:t>
    </dgm:pt>
    <dgm:pt modelId="{82B4E469-4AF4-4DE1-93F5-148E95F87440}">
      <dgm:t>
        <a:bodyPr xmlns:a="http://schemas.openxmlformats.org/drawingml/2006/main"/>
        <a:lstStyle xmlns:a="http://schemas.openxmlformats.org/drawingml/2006/main"/>
        <a:p xmlns:a="http://schemas.openxmlformats.org/drawingml/2006/main">
          <a:pPr>
            <a:spcAft>
              <a:spcPct val="15000"/>
            </a:spcAft>
            <a:buNone/>
            <a:defRPr/>
          </a:pPr>
          <a:r>
            <a:rPr sz="2000"/>
            <a:t>“The Gossip Group”</a:t>
          </a:r>
        </a:p>
      </dgm:t>
    </dgm:pt>
    <dgm:pt modelId="{60CD9002-1794-411C-B1C6-5D586C50720A}" type="parTrans" cxnId="{8B291EC0-0B85-430B-B28B-AB69AD177961}">
      <dgm:t>
        <a:bodyPr xmlns:a="http://schemas.openxmlformats.org/drawingml/2006/main"/>
        <a:lstStyle xmlns:a="http://schemas.openxmlformats.org/drawingml/2006/main"/>
        <a:p xmlns:a="http://schemas.openxmlformats.org/drawingml/2006/main">
          <a:endParaRPr/>
        </a:p>
      </dgm:t>
    </dgm:pt>
    <dgm:pt modelId="{BD152055-56FA-4273-BA75-6742DF49E1DA}" type="sibTrans" cxnId="{8B291EC0-0B85-430B-B28B-AB69AD177961}">
      <dgm:t>
        <a:bodyPr xmlns:a="http://schemas.openxmlformats.org/drawingml/2006/main"/>
        <a:lstStyle xmlns:a="http://schemas.openxmlformats.org/drawingml/2006/main"/>
        <a:p xmlns:a="http://schemas.openxmlformats.org/drawingml/2006/main">
          <a:endParaRPr/>
        </a:p>
      </dgm:t>
    </dgm:pt>
    <dgm:pt modelId="{6A9AA235-AD12-43AC-9245-D98A9448F58D}" type="pres"/>
    <dgm:pt modelId="{0768BAC5-8121-4ACD-8865-DC36CBE1DD45}" type="pres"/>
    <dgm:pt modelId="{E39D4987-F5F6-4018-97CA-5EDAE940F4A4}" type="pres"/>
    <dgm:pt modelId="{EB8F0F67-0AA3-48E9-BC9C-07BABF70DA2F}" type="pres"/>
    <dgm:pt modelId="{6C05C064-C020-404A-8677-404D2F10BE21}" type="pres"/>
    <dgm:pt modelId="{326A017A-6C24-4F03-9C80-EB94BFA81157}" type="pres"/>
    <dgm:pt modelId="{C6977417-7063-4048-8517-B21DC8124553}" type="pres"/>
    <dgm:pt modelId="{8AAE7A51-0D8B-4B39-BC14-7A98A8294FDF}" type="pres"/>
  </dgm:ptLst>
  <dgm:cxnLst>
    <dgm:cxn modelId="{1BFD2800-D537-4D4E-8EE6-8C60D9A425A3}" type="presOf" srcId="{9A3BD9B8-DCBF-4BD7-8D9C-DFB2C5EECAD8}" destId="{E39D4987-F5F6-4018-97CA-5EDAE940F4A4}" srcOrd="0" destOrd="0" presId="urn:microsoft.com/office/officeart/2005/8/layout/hList1"/>
    <dgm:cxn modelId="{EEF4850C-9F9A-44EA-87D9-AB9D2E552209}" type="presOf" srcId="{242505FF-9B46-454E-A31B-D288D04FC04B}" destId="{8AAE7A51-0D8B-4B39-BC14-7A98A8294FDF}" srcOrd="0" destOrd="1" presId="urn:microsoft.com/office/officeart/2005/8/layout/hList1"/>
    <dgm:cxn modelId="{DF062813-CA7C-4C3D-B58C-A76D99859ECD}" type="presOf" srcId="{AA1F67B7-6E90-48D5-9306-E206714D9008}" destId="{C6977417-7063-4048-8517-B21DC8124553}" srcOrd="0" destOrd="0" presId="urn:microsoft.com/office/officeart/2005/8/layout/hList1"/>
    <dgm:cxn modelId="{DD91F528-19BA-4DC2-9937-B4FFE36493F3}" srcId="{E9DE3847-0EDF-4015-A026-87BA7855E4DF}" destId="{AA1F67B7-6E90-48D5-9306-E206714D9008}" srcOrd="1" destOrd="0" parTransId="{C86F938C-4BC5-4359-B46F-CC573AA26373}" sibTransId="{11FD2E5D-DEFA-4B4D-9E79-F9D0E07FD15B}"/>
    <dgm:cxn modelId="{F325F62E-594C-4DCA-9B32-FF675717B07B}" srcId="{AA1F67B7-6E90-48D5-9306-E206714D9008}" destId="{6E9A7A59-50BA-46FD-BBA9-5E27F99B12EB}" srcOrd="0" destOrd="0" parTransId="{01255094-BA06-472E-BC6D-CD07ADBC01C0}" sibTransId="{B09C44D4-A2FA-4C4D-A916-4F1F28E883BF}"/>
    <dgm:cxn modelId="{8A4EEA64-E100-4F74-98EF-835A4C30C7E3}" srcId="{AA1F67B7-6E90-48D5-9306-E206714D9008}" destId="{242505FF-9B46-454E-A31B-D288D04FC04B}" srcOrd="1" destOrd="0" parTransId="{EE309DCE-CEE8-4F0A-A6CC-B93D95BD3D4D}" sibTransId="{66B52BA2-89FD-4563-88A8-2F4B3BBC0CB1}"/>
    <dgm:cxn modelId="{E7B8EF44-09C9-44AA-8279-4C9552DF92C2}" type="presOf" srcId="{6E9A7A59-50BA-46FD-BBA9-5E27F99B12EB}" destId="{8AAE7A51-0D8B-4B39-BC14-7A98A8294FDF}" srcOrd="0" destOrd="0" presId="urn:microsoft.com/office/officeart/2005/8/layout/hList1"/>
    <dgm:cxn modelId="{AB751B68-2C41-4632-81B7-A8F4CF65B43B}" type="presOf" srcId="{F475B88C-93CC-44C0-91BA-F5F629A786EE}" destId="{EB8F0F67-0AA3-48E9-BC9C-07BABF70DA2F}" srcOrd="0" destOrd="2" presId="urn:microsoft.com/office/officeart/2005/8/layout/hList1"/>
    <dgm:cxn modelId="{74EE2249-DB80-44C5-9B7D-0805A22D44AB}" type="presOf" srcId="{35DA834E-E90A-4660-A4C5-8ABD3769AC9A}" destId="{EB8F0F67-0AA3-48E9-BC9C-07BABF70DA2F}" srcOrd="0" destOrd="3" presId="urn:microsoft.com/office/officeart/2005/8/layout/hList1"/>
    <dgm:cxn modelId="{153A5D4B-D8DF-48F4-A4AF-84987F8335E4}" type="presOf" srcId="{E9DE3847-0EDF-4015-A026-87BA7855E4DF}" destId="{6A9AA235-AD12-43AC-9245-D98A9448F58D}" srcOrd="0" destOrd="0" presId="urn:microsoft.com/office/officeart/2005/8/layout/hList1"/>
    <dgm:cxn modelId="{6F93A285-3EEF-482A-BADA-366A2827F537}" srcId="{E9DE3847-0EDF-4015-A026-87BA7855E4DF}" destId="{9A3BD9B8-DCBF-4BD7-8D9C-DFB2C5EECAD8}" srcOrd="0" destOrd="0" parTransId="{3CD962FB-C512-4E79-887E-28DB337651A9}" sibTransId="{B046E707-1A43-4E13-BF9A-B1D37A902643}"/>
    <dgm:cxn modelId="{CED10A86-F922-47F5-9F9B-68E7DA5BA6DB}" type="presOf" srcId="{4F019DE9-1F40-4E30-A52D-51932A71D693}" destId="{EB8F0F67-0AA3-48E9-BC9C-07BABF70DA2F}" srcOrd="0" destOrd="1" presId="urn:microsoft.com/office/officeart/2005/8/layout/hList1"/>
    <dgm:cxn modelId="{B500A29F-E2CB-40F6-8505-D061F69F3CFB}" srcId="{9A3BD9B8-DCBF-4BD7-8D9C-DFB2C5EECAD8}" destId="{F475B88C-93CC-44C0-91BA-F5F629A786EE}" srcOrd="2" destOrd="0" parTransId="{26284519-1A82-470B-8B72-153CF54C188A}" sibTransId="{6C373999-E58C-4912-BF1F-89FACE705204}"/>
    <dgm:cxn modelId="{3D5413AA-C465-4D4B-AA6F-35A1EE84D9C9}" srcId="{9A3BD9B8-DCBF-4BD7-8D9C-DFB2C5EECAD8}" destId="{428DC1B4-37E6-4D12-BC12-9DBD4A9FC198}" srcOrd="0" destOrd="0" parTransId="{6DC36B7F-6A79-48C6-A5E3-6146027E73FB}" sibTransId="{3677E5A9-5D3D-4EF9-9006-3707D9D876CB}"/>
    <dgm:cxn modelId="{8B291EC0-0B85-430B-B28B-AB69AD177961}" srcId="{AA1F67B7-6E90-48D5-9306-E206714D9008}" destId="{82B4E469-4AF4-4DE1-93F5-148E95F87440}" srcOrd="2" destOrd="0" parTransId="{60CD9002-1794-411C-B1C6-5D586C50720A}" sibTransId="{BD152055-56FA-4273-BA75-6742DF49E1DA}"/>
    <dgm:cxn modelId="{081F5BCC-C132-4765-A330-94608AEBF900}" type="presOf" srcId="{82B4E469-4AF4-4DE1-93F5-148E95F87440}" destId="{8AAE7A51-0D8B-4B39-BC14-7A98A8294FDF}" srcOrd="0" destOrd="2" presId="urn:microsoft.com/office/officeart/2005/8/layout/hList1"/>
    <dgm:cxn modelId="{03DB34DC-EBA3-4E46-B7F5-FBB2648E0944}" type="presOf" srcId="{428DC1B4-37E6-4D12-BC12-9DBD4A9FC198}" destId="{EB8F0F67-0AA3-48E9-BC9C-07BABF70DA2F}" srcOrd="0" destOrd="0" presId="urn:microsoft.com/office/officeart/2005/8/layout/hList1"/>
    <dgm:cxn modelId="{0EEFA1E3-B34C-4245-A2EC-2626171E9A2E}" srcId="{9A3BD9B8-DCBF-4BD7-8D9C-DFB2C5EECAD8}" destId="{4F019DE9-1F40-4E30-A52D-51932A71D693}" srcOrd="1" destOrd="0" parTransId="{74C74A0B-68F3-47B2-B453-3F75F0EE28EA}" sibTransId="{201C7AAF-0B7B-4BD6-8712-B579EF9D71BC}"/>
    <dgm:cxn modelId="{3A49C7F5-292D-452E-B9A7-25F48751671E}" srcId="{9A3BD9B8-DCBF-4BD7-8D9C-DFB2C5EECAD8}" destId="{35DA834E-E90A-4660-A4C5-8ABD3769AC9A}" srcOrd="3" destOrd="0" parTransId="{27AA360B-A1B0-4475-ADDD-71950918FE1A}" sibTransId="{CA550958-1A26-49D9-AF30-58FD11BB75C2}"/>
    <dgm:cxn modelId="{542A011C-6632-45E2-8615-666FE03EE924}" type="presParOf" srcId="{6A9AA235-AD12-43AC-9245-D98A9448F58D}" destId="{0768BAC5-8121-4ACD-8865-DC36CBE1DD45}" srcOrd="0" destOrd="0" presId="urn:microsoft.com/office/officeart/2005/8/layout/hList1"/>
    <dgm:cxn modelId="{65B93EC6-EFC6-4108-ABFD-67EB78F3039C}" type="presParOf" srcId="{0768BAC5-8121-4ACD-8865-DC36CBE1DD45}" destId="{E39D4987-F5F6-4018-97CA-5EDAE940F4A4}" srcOrd="0" destOrd="0" presId="urn:microsoft.com/office/officeart/2005/8/layout/hList1"/>
    <dgm:cxn modelId="{450C6718-D9A2-4E52-9B1F-2F1342A85DB5}" type="presParOf" srcId="{0768BAC5-8121-4ACD-8865-DC36CBE1DD45}" destId="{EB8F0F67-0AA3-48E9-BC9C-07BABF70DA2F}" srcOrd="1" destOrd="0" presId="urn:microsoft.com/office/officeart/2005/8/layout/hList1"/>
    <dgm:cxn modelId="{AE9A18AC-F596-4048-9295-3C5DF1C26AB3}" type="presParOf" srcId="{6A9AA235-AD12-43AC-9245-D98A9448F58D}" destId="{6C05C064-C020-404A-8677-404D2F10BE21}" srcOrd="1" destOrd="0" presId="urn:microsoft.com/office/officeart/2005/8/layout/hList1"/>
    <dgm:cxn modelId="{CC0FE2FB-B9DC-45A6-87D3-CEE4088998FD}" type="presParOf" srcId="{6A9AA235-AD12-43AC-9245-D98A9448F58D}" destId="{326A017A-6C24-4F03-9C80-EB94BFA81157}" srcOrd="2" destOrd="0" presId="urn:microsoft.com/office/officeart/2005/8/layout/hList1"/>
    <dgm:cxn modelId="{F6A27654-B7A0-4420-8A41-055C8A563C5F}" type="presParOf" srcId="{326A017A-6C24-4F03-9C80-EB94BFA81157}" destId="{C6977417-7063-4048-8517-B21DC8124553}" srcOrd="0" destOrd="0" presId="urn:microsoft.com/office/officeart/2005/8/layout/hList1"/>
    <dgm:cxn modelId="{C44E5E89-28AD-40EF-A31C-50818453E725}" type="presParOf" srcId="{326A017A-6C24-4F03-9C80-EB94BFA81157}" destId="{8AAE7A51-0D8B-4B39-BC14-7A98A8294FDF}" srcOrd="1" destOrd="0" presId="urn:microsoft.com/office/officeart/2005/8/layout/hList1"/>
  </dgm:cxnLst>
</dgm:dataModel>
</file>

<file path=ppt/graphics/data2.xml><?xml version="1.0" encoding="utf-8"?>
<dgm:dataModel xmlns:dgm="http://schemas.openxmlformats.org/drawingml/2006/diagram">
  <dgm:ptLst>
    <dgm:pt modelId="{3B351D6C-92E6-4EA7-92D6-5A8DA4125210}" type="doc">
      <dgm:t>
        <a:bodyPr xmlns:a="http://schemas.openxmlformats.org/drawingml/2006/main"/>
        <a:lstStyle xmlns:a="http://schemas.openxmlformats.org/drawingml/2006/main"/>
        <a:p xmlns:a="http://schemas.openxmlformats.org/drawingml/2006/main">
          <a:endParaRPr/>
        </a:p>
      </dgm:t>
    </dgm:pt>
    <dgm:pt modelId="{7932B4F5-CB04-4D45-A805-CA65F1336688}">
      <dgm:t>
        <a:bodyPr xmlns:a="http://schemas.openxmlformats.org/drawingml/2006/main"/>
        <a:lstStyle xmlns:a="http://schemas.openxmlformats.org/drawingml/2006/main"/>
        <a:p xmlns:a="http://schemas.openxmlformats.org/drawingml/2006/main">
          <a:r>
            <a:rPr sz="2400"/>
            <a:t>Divergent</a:t>
          </a:r>
        </a:p>
      </dgm:t>
    </dgm:pt>
    <dgm:pt modelId="{41044B2B-0F14-4065-878A-0FB36884EBC3}" type="parTrans" cxnId="{5F6F5144-A4D4-40E6-ADEE-B81655E72481}">
      <dgm:t>
        <a:bodyPr xmlns:a="http://schemas.openxmlformats.org/drawingml/2006/main"/>
        <a:lstStyle xmlns:a="http://schemas.openxmlformats.org/drawingml/2006/main"/>
        <a:p xmlns:a="http://schemas.openxmlformats.org/drawingml/2006/main">
          <a:endParaRPr/>
        </a:p>
      </dgm:t>
    </dgm:pt>
    <dgm:pt modelId="{A06587DB-7500-4220-998B-549815C42A63}" type="sibTrans" cxnId="{5F6F5144-A4D4-40E6-ADEE-B81655E72481}">
      <dgm:t>
        <a:bodyPr xmlns:a="http://schemas.openxmlformats.org/drawingml/2006/main"/>
        <a:lstStyle xmlns:a="http://schemas.openxmlformats.org/drawingml/2006/main"/>
        <a:p xmlns:a="http://schemas.openxmlformats.org/drawingml/2006/main">
          <a:endParaRPr/>
        </a:p>
      </dgm:t>
    </dgm:pt>
    <dgm:pt modelId="{E8329687-AD36-48DF-9D50-340CBB8AA196}">
      <dgm:t>
        <a:bodyPr xmlns:a="http://schemas.openxmlformats.org/drawingml/2006/main"/>
        <a:lstStyle xmlns:a="http://schemas.openxmlformats.org/drawingml/2006/main"/>
        <a:p xmlns:a="http://schemas.openxmlformats.org/drawingml/2006/main">
          <a:pPr>
            <a:buNone/>
            <a:defRPr/>
          </a:pPr>
          <a:r>
            <a:rPr sz="1600"/>
            <a:t>i</a:t>
          </a:r>
          <a:r>
            <a:rPr sz="1600">
              <a:latin typeface="Times New Roman"/>
              <a:ea typeface="Times New Roman"/>
              <a:cs typeface="Times New Roman"/>
            </a:rPr>
            <a:t>← </a:t>
          </a:r>
          <a:r>
            <a:rPr sz="1600"/>
            <a:t>j </a:t>
          </a:r>
          <a:r>
            <a:rPr sz="1600">
              <a:latin typeface="Times New Roman"/>
              <a:ea typeface="Times New Roman"/>
              <a:cs typeface="Times New Roman"/>
            </a:rPr>
            <a:t>→</a:t>
          </a:r>
          <a:r>
            <a:rPr sz="1600"/>
            <a:t>k</a:t>
          </a:r>
        </a:p>
      </dgm:t>
    </dgm:pt>
    <dgm:pt modelId="{2554787A-F935-4028-B0A1-87AE83FDDBDA}" type="parTrans" cxnId="{CE9A632D-5399-41F4-A265-2B8782770B5C}">
      <dgm:t>
        <a:bodyPr xmlns:a="http://schemas.openxmlformats.org/drawingml/2006/main"/>
        <a:lstStyle xmlns:a="http://schemas.openxmlformats.org/drawingml/2006/main"/>
        <a:p xmlns:a="http://schemas.openxmlformats.org/drawingml/2006/main">
          <a:endParaRPr/>
        </a:p>
      </dgm:t>
    </dgm:pt>
    <dgm:pt modelId="{D5AE5AA8-A119-4276-8D28-5DA1572E39A4}" type="sibTrans" cxnId="{CE9A632D-5399-41F4-A265-2B8782770B5C}">
      <dgm:t>
        <a:bodyPr xmlns:a="http://schemas.openxmlformats.org/drawingml/2006/main"/>
        <a:lstStyle xmlns:a="http://schemas.openxmlformats.org/drawingml/2006/main"/>
        <a:p xmlns:a="http://schemas.openxmlformats.org/drawingml/2006/main">
          <a:endParaRPr/>
        </a:p>
      </dgm:t>
    </dgm:pt>
    <dgm:pt modelId="{CE83B08D-3F2A-4EB5-83D6-C0BB6AE270A6}">
      <dgm:t>
        <a:bodyPr xmlns:a="http://schemas.openxmlformats.org/drawingml/2006/main"/>
        <a:lstStyle xmlns:a="http://schemas.openxmlformats.org/drawingml/2006/main"/>
        <a:p xmlns:a="http://schemas.openxmlformats.org/drawingml/2006/main">
          <a:r>
            <a:rPr sz="2400"/>
            <a:t>Convergent</a:t>
          </a:r>
          <a:endParaRPr sz="2600"/>
        </a:p>
      </dgm:t>
    </dgm:pt>
    <dgm:pt modelId="{A4564526-EAEB-4E1E-B828-4CF781FA0818}" type="parTrans" cxnId="{53541670-4148-4575-A6E2-83F740F5A7D1}">
      <dgm:t>
        <a:bodyPr xmlns:a="http://schemas.openxmlformats.org/drawingml/2006/main"/>
        <a:lstStyle xmlns:a="http://schemas.openxmlformats.org/drawingml/2006/main"/>
        <a:p xmlns:a="http://schemas.openxmlformats.org/drawingml/2006/main">
          <a:endParaRPr/>
        </a:p>
      </dgm:t>
    </dgm:pt>
    <dgm:pt modelId="{C0AF556A-9019-4679-A293-FDAD36AA5717}" type="sibTrans" cxnId="{53541670-4148-4575-A6E2-83F740F5A7D1}">
      <dgm:t>
        <a:bodyPr xmlns:a="http://schemas.openxmlformats.org/drawingml/2006/main"/>
        <a:lstStyle xmlns:a="http://schemas.openxmlformats.org/drawingml/2006/main"/>
        <a:p xmlns:a="http://schemas.openxmlformats.org/drawingml/2006/main">
          <a:endParaRPr/>
        </a:p>
      </dgm:t>
    </dgm:pt>
    <dgm:pt modelId="{B1055FE8-AC32-4250-8764-8C678D158E6E}">
      <dgm:t>
        <a:bodyPr xmlns:a="http://schemas.openxmlformats.org/drawingml/2006/main"/>
        <a:lstStyle xmlns:a="http://schemas.openxmlformats.org/drawingml/2006/main"/>
        <a:p xmlns:a="http://schemas.openxmlformats.org/drawingml/2006/main">
          <a:pPr>
            <a:buNone/>
            <a:defRPr/>
          </a:pPr>
          <a:r>
            <a:rPr sz="1600"/>
            <a:t>i</a:t>
          </a:r>
          <a:r>
            <a:rPr sz="1600">
              <a:latin typeface="Times New Roman"/>
              <a:ea typeface="Times New Roman"/>
              <a:cs typeface="Times New Roman"/>
            </a:rPr>
            <a:t>→</a:t>
          </a:r>
          <a:r>
            <a:rPr sz="1600"/>
            <a:t> j </a:t>
          </a:r>
          <a:r>
            <a:rPr sz="1600">
              <a:latin typeface="Times New Roman"/>
              <a:ea typeface="Times New Roman"/>
              <a:cs typeface="Times New Roman"/>
            </a:rPr>
            <a:t>←</a:t>
          </a:r>
          <a:r>
            <a:rPr sz="1600"/>
            <a:t>k</a:t>
          </a:r>
        </a:p>
      </dgm:t>
    </dgm:pt>
    <dgm:pt modelId="{E0E0925E-112E-45D3-8352-2FC6BEDA7818}" type="parTrans" cxnId="{A76755DE-DB11-4C5B-B18C-B86D4193F348}">
      <dgm:t>
        <a:bodyPr xmlns:a="http://schemas.openxmlformats.org/drawingml/2006/main"/>
        <a:lstStyle xmlns:a="http://schemas.openxmlformats.org/drawingml/2006/main"/>
        <a:p xmlns:a="http://schemas.openxmlformats.org/drawingml/2006/main">
          <a:endParaRPr/>
        </a:p>
      </dgm:t>
    </dgm:pt>
    <dgm:pt modelId="{164D9BC2-769C-4633-8FE6-8D22D1658565}" type="sibTrans" cxnId="{A76755DE-DB11-4C5B-B18C-B86D4193F348}">
      <dgm:t>
        <a:bodyPr xmlns:a="http://schemas.openxmlformats.org/drawingml/2006/main"/>
        <a:lstStyle xmlns:a="http://schemas.openxmlformats.org/drawingml/2006/main"/>
        <a:p xmlns:a="http://schemas.openxmlformats.org/drawingml/2006/main">
          <a:endParaRPr/>
        </a:p>
      </dgm:t>
    </dgm:pt>
    <dgm:pt modelId="{529E6D71-0CBC-435E-B5E3-D4E0E01397C9}">
      <dgm:t>
        <a:bodyPr xmlns:a="http://schemas.openxmlformats.org/drawingml/2006/main"/>
        <a:lstStyle xmlns:a="http://schemas.openxmlformats.org/drawingml/2006/main"/>
        <a:p xmlns:a="http://schemas.openxmlformats.org/drawingml/2006/main">
          <a:pPr>
            <a:buNone/>
            <a:defRPr/>
          </a:pPr>
          <a:r>
            <a:rPr sz="1600"/>
            <a:t>j talks to both </a:t>
          </a:r>
          <a:r>
            <a:rPr sz="1600"/>
            <a:t>i</a:t>
          </a:r>
          <a:r>
            <a:rPr sz="1600"/>
            <a:t> + k</a:t>
          </a:r>
        </a:p>
      </dgm:t>
    </dgm:pt>
    <dgm:pt modelId="{024DE19F-D0C5-4B17-A368-E1C07E08702B}" type="parTrans" cxnId="{6BEAC00F-0A30-4E3F-A46C-2BAC2E8DCF41}">
      <dgm:t>
        <a:bodyPr xmlns:a="http://schemas.openxmlformats.org/drawingml/2006/main"/>
        <a:lstStyle xmlns:a="http://schemas.openxmlformats.org/drawingml/2006/main"/>
        <a:p xmlns:a="http://schemas.openxmlformats.org/drawingml/2006/main">
          <a:endParaRPr/>
        </a:p>
      </dgm:t>
    </dgm:pt>
    <dgm:pt modelId="{F9654BD4-5AE6-4061-B588-3710B61EDC6C}" type="sibTrans" cxnId="{6BEAC00F-0A30-4E3F-A46C-2BAC2E8DCF41}">
      <dgm:t>
        <a:bodyPr xmlns:a="http://schemas.openxmlformats.org/drawingml/2006/main"/>
        <a:lstStyle xmlns:a="http://schemas.openxmlformats.org/drawingml/2006/main"/>
        <a:p xmlns:a="http://schemas.openxmlformats.org/drawingml/2006/main">
          <a:endParaRPr/>
        </a:p>
      </dgm:t>
    </dgm:pt>
    <dgm:pt modelId="{8691E0D5-D46D-4FBC-9AC0-FBF363C24F57}">
      <dgm:t>
        <a:bodyPr xmlns:a="http://schemas.openxmlformats.org/drawingml/2006/main"/>
        <a:lstStyle xmlns:a="http://schemas.openxmlformats.org/drawingml/2006/main"/>
        <a:p xmlns:a="http://schemas.openxmlformats.org/drawingml/2006/main">
          <a:pPr>
            <a:buNone/>
            <a:defRPr/>
          </a:pPr>
          <a:r>
            <a:rPr sz="1600"/>
            <a:t>Both </a:t>
          </a:r>
          <a:r>
            <a:rPr sz="1600"/>
            <a:t>i</a:t>
          </a:r>
          <a:r>
            <a:rPr sz="1600"/>
            <a:t> + k talk to j</a:t>
          </a:r>
        </a:p>
      </dgm:t>
    </dgm:pt>
    <dgm:pt modelId="{E0844373-0FA7-4C73-9601-31E1896E2823}" type="parTrans" cxnId="{C82FB537-8B9E-4EF5-898A-2DF5D9B7F0F2}">
      <dgm:t>
        <a:bodyPr xmlns:a="http://schemas.openxmlformats.org/drawingml/2006/main"/>
        <a:lstStyle xmlns:a="http://schemas.openxmlformats.org/drawingml/2006/main"/>
        <a:p xmlns:a="http://schemas.openxmlformats.org/drawingml/2006/main">
          <a:endParaRPr/>
        </a:p>
      </dgm:t>
    </dgm:pt>
    <dgm:pt modelId="{E0225DCB-3B61-467F-B6A9-A0E2544E90B4}" type="sibTrans" cxnId="{C82FB537-8B9E-4EF5-898A-2DF5D9B7F0F2}">
      <dgm:t>
        <a:bodyPr xmlns:a="http://schemas.openxmlformats.org/drawingml/2006/main"/>
        <a:lstStyle xmlns:a="http://schemas.openxmlformats.org/drawingml/2006/main"/>
        <a:p xmlns:a="http://schemas.openxmlformats.org/drawingml/2006/main">
          <a:endParaRPr/>
        </a:p>
      </dgm:t>
    </dgm:pt>
    <dgm:pt modelId="{A2B1485C-E40C-44BE-88F6-38A46CF24BC1}" type="pres"/>
    <dgm:pt modelId="{C541EE26-660E-44DE-AA2E-941EC2555306}" type="pres"/>
    <dgm:pt modelId="{635EE115-AA35-42DD-B27B-DF2C9EB53F91}" type="pres"/>
    <dgm:pt modelId="{C301DAEE-109D-4658-9E26-B00225D06FF2}" type="pres"/>
    <dgm:pt modelId="{A4D825FD-C9FC-4C52-BB44-D1C9AE813B5B}" type="pres"/>
    <dgm:pt modelId="{A7766276-B177-4ECB-9F82-87DE318A673E}" type="pres"/>
    <dgm:pt modelId="{56EB81BD-0374-4A3E-A0C8-ABCADE605DE4}" type="pres"/>
    <dgm:pt modelId="{4AFB30DD-808D-463B-8784-30220A5A52B6}" type="pres"/>
  </dgm:ptLst>
  <dgm:cxnLst>
    <dgm:cxn modelId="{6BEAC00F-0A30-4E3F-A46C-2BAC2E8DCF41}" srcId="{7932B4F5-CB04-4D45-A805-CA65F1336688}" destId="{529E6D71-0CBC-435E-B5E3-D4E0E01397C9}" srcOrd="1" destOrd="0" parTransId="{024DE19F-D0C5-4B17-A368-E1C07E08702B}" sibTransId="{F9654BD4-5AE6-4061-B588-3710B61EDC6C}"/>
    <dgm:cxn modelId="{CE9A632D-5399-41F4-A265-2B8782770B5C}" srcId="{7932B4F5-CB04-4D45-A805-CA65F1336688}" destId="{E8329687-AD36-48DF-9D50-340CBB8AA196}" srcOrd="0" destOrd="0" parTransId="{2554787A-F935-4028-B0A1-87AE83FDDBDA}" sibTransId="{D5AE5AA8-A119-4276-8D28-5DA1572E39A4}"/>
    <dgm:cxn modelId="{C82FB537-8B9E-4EF5-898A-2DF5D9B7F0F2}" srcId="{CE83B08D-3F2A-4EB5-83D6-C0BB6AE270A6}" destId="{8691E0D5-D46D-4FBC-9AC0-FBF363C24F57}" srcOrd="1" destOrd="0" parTransId="{E0844373-0FA7-4C73-9601-31E1896E2823}" sibTransId="{E0225DCB-3B61-467F-B6A9-A0E2544E90B4}"/>
    <dgm:cxn modelId="{29826F3A-03F0-4ADA-9B7F-4B2C34A76899}" type="presOf" srcId="{7932B4F5-CB04-4D45-A805-CA65F1336688}" destId="{635EE115-AA35-42DD-B27B-DF2C9EB53F91}" srcOrd="0" destOrd="0" presId="urn:microsoft.com/office/officeart/2005/8/layout/hList1"/>
    <dgm:cxn modelId="{75EF9440-8CBF-4DA1-A4C8-E056C1ECEA47}" type="presOf" srcId="{E8329687-AD36-48DF-9D50-340CBB8AA196}" destId="{C301DAEE-109D-4658-9E26-B00225D06FF2}" srcOrd="0" destOrd="0" presId="urn:microsoft.com/office/officeart/2005/8/layout/hList1"/>
    <dgm:cxn modelId="{5F6F5144-A4D4-40E6-ADEE-B81655E72481}" srcId="{3B351D6C-92E6-4EA7-92D6-5A8DA4125210}" destId="{7932B4F5-CB04-4D45-A805-CA65F1336688}" srcOrd="0" destOrd="0" parTransId="{41044B2B-0F14-4065-878A-0FB36884EBC3}" sibTransId="{A06587DB-7500-4220-998B-549815C42A63}"/>
    <dgm:cxn modelId="{53541670-4148-4575-A6E2-83F740F5A7D1}" srcId="{3B351D6C-92E6-4EA7-92D6-5A8DA4125210}" destId="{CE83B08D-3F2A-4EB5-83D6-C0BB6AE270A6}" srcOrd="1" destOrd="0" parTransId="{A4564526-EAEB-4E1E-B828-4CF781FA0818}" sibTransId="{C0AF556A-9019-4679-A293-FDAD36AA5717}"/>
    <dgm:cxn modelId="{D13C4B50-02BE-4CF5-8E1D-1AA3F68A992A}" type="presOf" srcId="{B1055FE8-AC32-4250-8764-8C678D158E6E}" destId="{4AFB30DD-808D-463B-8784-30220A5A52B6}" srcOrd="0" destOrd="0" presId="urn:microsoft.com/office/officeart/2005/8/layout/hList1"/>
    <dgm:cxn modelId="{F3CDF254-5D22-4E8D-8F6F-A517DD664BE5}" type="presOf" srcId="{CE83B08D-3F2A-4EB5-83D6-C0BB6AE270A6}" destId="{56EB81BD-0374-4A3E-A0C8-ABCADE605DE4}" srcOrd="0" destOrd="0" presId="urn:microsoft.com/office/officeart/2005/8/layout/hList1"/>
    <dgm:cxn modelId="{89011879-D340-4869-B3DD-C08DB8DE509C}" type="presOf" srcId="{529E6D71-0CBC-435E-B5E3-D4E0E01397C9}" destId="{C301DAEE-109D-4658-9E26-B00225D06FF2}" srcOrd="0" destOrd="1" presId="urn:microsoft.com/office/officeart/2005/8/layout/hList1"/>
    <dgm:cxn modelId="{A36EFC9A-28AE-4840-986E-71901B5E2A25}" type="presOf" srcId="{3B351D6C-92E6-4EA7-92D6-5A8DA4125210}" destId="{A2B1485C-E40C-44BE-88F6-38A46CF24BC1}" srcOrd="0" destOrd="0" presId="urn:microsoft.com/office/officeart/2005/8/layout/hList1"/>
    <dgm:cxn modelId="{E828A3A3-3E81-437A-9B0B-70C06CA3CD3F}" type="presOf" srcId="{8691E0D5-D46D-4FBC-9AC0-FBF363C24F57}" destId="{4AFB30DD-808D-463B-8784-30220A5A52B6}" srcOrd="0" destOrd="1" presId="urn:microsoft.com/office/officeart/2005/8/layout/hList1"/>
    <dgm:cxn modelId="{A76755DE-DB11-4C5B-B18C-B86D4193F348}" srcId="{CE83B08D-3F2A-4EB5-83D6-C0BB6AE270A6}" destId="{B1055FE8-AC32-4250-8764-8C678D158E6E}" srcOrd="0" destOrd="0" parTransId="{E0E0925E-112E-45D3-8352-2FC6BEDA7818}" sibTransId="{164D9BC2-769C-4633-8FE6-8D22D1658565}"/>
    <dgm:cxn modelId="{4735700D-5B41-4A42-9E0E-6731B0974394}" type="presParOf" srcId="{A2B1485C-E40C-44BE-88F6-38A46CF24BC1}" destId="{C541EE26-660E-44DE-AA2E-941EC2555306}" srcOrd="0" destOrd="0" presId="urn:microsoft.com/office/officeart/2005/8/layout/hList1"/>
    <dgm:cxn modelId="{7EE5CE06-2271-4B72-A5CF-27E4C17FF957}" type="presParOf" srcId="{C541EE26-660E-44DE-AA2E-941EC2555306}" destId="{635EE115-AA35-42DD-B27B-DF2C9EB53F91}" srcOrd="0" destOrd="0" presId="urn:microsoft.com/office/officeart/2005/8/layout/hList1"/>
    <dgm:cxn modelId="{DF3C046C-CE21-4550-9939-857F7D6E5962}" type="presParOf" srcId="{C541EE26-660E-44DE-AA2E-941EC2555306}" destId="{C301DAEE-109D-4658-9E26-B00225D06FF2}" srcOrd="1" destOrd="0" presId="urn:microsoft.com/office/officeart/2005/8/layout/hList1"/>
    <dgm:cxn modelId="{460D11ED-ED34-4819-BC0B-1A0BD777CAA5}" type="presParOf" srcId="{A2B1485C-E40C-44BE-88F6-38A46CF24BC1}" destId="{A4D825FD-C9FC-4C52-BB44-D1C9AE813B5B}" srcOrd="1" destOrd="0" presId="urn:microsoft.com/office/officeart/2005/8/layout/hList1"/>
    <dgm:cxn modelId="{A824FDA8-7AB8-4192-BF29-B3EAEB8D4109}" type="presParOf" srcId="{A2B1485C-E40C-44BE-88F6-38A46CF24BC1}" destId="{A7766276-B177-4ECB-9F82-87DE318A673E}" srcOrd="2" destOrd="0" presId="urn:microsoft.com/office/officeart/2005/8/layout/hList1"/>
    <dgm:cxn modelId="{A0B5EC11-90E1-49AC-9974-5F7AF4E78B3F}" type="presParOf" srcId="{A7766276-B177-4ECB-9F82-87DE318A673E}" destId="{56EB81BD-0374-4A3E-A0C8-ABCADE605DE4}" srcOrd="0" destOrd="0" presId="urn:microsoft.com/office/officeart/2005/8/layout/hList1"/>
    <dgm:cxn modelId="{045C37FA-0503-49C6-BFE5-130BBFEC3D6E}" type="presParOf" srcId="{A7766276-B177-4ECB-9F82-87DE318A673E}" destId="{4AFB30DD-808D-463B-8784-30220A5A52B6}" srcOrd="1" destOrd="0" presId="urn:microsoft.com/office/officeart/2005/8/layout/hList1"/>
  </dgm:cxnLst>
</dgm:dataModel>
</file>

<file path=ppt/graphics/data3.xml><?xml version="1.0" encoding="utf-8"?>
<dgm:dataModel xmlns:dgm="http://schemas.openxmlformats.org/drawingml/2006/diagram">
  <dgm:ptLst>
    <dgm:pt modelId="{B87C2339-C1C1-436A-9CA9-D7718785CD05}" type="doc">
      <dgm:t>
        <a:bodyPr xmlns:a="http://schemas.openxmlformats.org/drawingml/2006/main"/>
        <a:lstStyle xmlns:a="http://schemas.openxmlformats.org/drawingml/2006/main"/>
        <a:p xmlns:a="http://schemas.openxmlformats.org/drawingml/2006/main">
          <a:endParaRPr/>
        </a:p>
      </dgm:t>
    </dgm:pt>
    <dgm:pt modelId="{8FE7A8EC-DFFB-4E7A-AF6D-71D122D5D017}">
      <dgm:t>
        <a:bodyPr xmlns:a="http://schemas.openxmlformats.org/drawingml/2006/main"/>
        <a:lstStyle xmlns:a="http://schemas.openxmlformats.org/drawingml/2006/main"/>
        <a:p xmlns:a="http://schemas.openxmlformats.org/drawingml/2006/main">
          <a:pPr>
            <a:buNone/>
            <a:defRPr/>
          </a:pPr>
          <a:r>
            <a:rPr b="1"/>
            <a:t>Start with J</a:t>
          </a:r>
        </a:p>
      </dgm:t>
    </dgm:pt>
    <dgm:pt modelId="{E1511B5B-CB94-4421-98E8-21030229F420}" type="parTrans" cxnId="{4008AC11-228F-4D5A-B8B4-C94D739FA229}">
      <dgm:t>
        <a:bodyPr xmlns:a="http://schemas.openxmlformats.org/drawingml/2006/main"/>
        <a:lstStyle xmlns:a="http://schemas.openxmlformats.org/drawingml/2006/main"/>
        <a:p xmlns:a="http://schemas.openxmlformats.org/drawingml/2006/main">
          <a:endParaRPr/>
        </a:p>
      </dgm:t>
    </dgm:pt>
    <dgm:pt modelId="{35C850ED-5A64-4CC9-B3BA-F1851AC7797C}" type="sibTrans" cxnId="{4008AC11-228F-4D5A-B8B4-C94D739FA229}">
      <dgm:t>
        <a:bodyPr xmlns:a="http://schemas.openxmlformats.org/drawingml/2006/main"/>
        <a:lstStyle xmlns:a="http://schemas.openxmlformats.org/drawingml/2006/main"/>
        <a:p xmlns:a="http://schemas.openxmlformats.org/drawingml/2006/main">
          <a:endParaRPr/>
        </a:p>
      </dgm:t>
    </dgm:pt>
    <dgm:pt modelId="{CFD8A47D-F443-4DCD-A6F3-01B710CF4E13}">
      <dgm:t>
        <a:bodyPr xmlns:a="http://schemas.openxmlformats.org/drawingml/2006/main"/>
        <a:lstStyle xmlns:a="http://schemas.openxmlformats.org/drawingml/2006/main"/>
        <a:p xmlns:a="http://schemas.openxmlformats.org/drawingml/2006/main">
          <a:pPr>
            <a:buNone/>
            <a:defRPr/>
          </a:pPr>
          <a:r>
            <a:rPr b="1"/>
            <a:t>J = J</a:t>
          </a:r>
          <a:r>
            <a:rPr b="1" baseline="30000"/>
            <a:t>0</a:t>
          </a:r>
          <a:r>
            <a:rPr b="1"/>
            <a:t> + Z</a:t>
          </a:r>
        </a:p>
      </dgm:t>
    </dgm:pt>
    <dgm:pt modelId="{A7C155E0-0CB2-425E-858E-FE063DE8DD77}" type="parTrans" cxnId="{7BD02246-A588-4C8D-9E46-EE1AB38C37DA}">
      <dgm:t>
        <a:bodyPr xmlns:a="http://schemas.openxmlformats.org/drawingml/2006/main"/>
        <a:lstStyle xmlns:a="http://schemas.openxmlformats.org/drawingml/2006/main"/>
        <a:p xmlns:a="http://schemas.openxmlformats.org/drawingml/2006/main">
          <a:endParaRPr/>
        </a:p>
      </dgm:t>
    </dgm:pt>
    <dgm:pt modelId="{3FC10B3F-4689-4B0F-81C2-C895ABFCAAA3}" type="sibTrans" cxnId="{7BD02246-A588-4C8D-9E46-EE1AB38C37DA}">
      <dgm:t>
        <a:bodyPr xmlns:a="http://schemas.openxmlformats.org/drawingml/2006/main"/>
        <a:lstStyle xmlns:a="http://schemas.openxmlformats.org/drawingml/2006/main"/>
        <a:p xmlns:a="http://schemas.openxmlformats.org/drawingml/2006/main">
          <a:endParaRPr/>
        </a:p>
      </dgm:t>
    </dgm:pt>
    <dgm:pt modelId="{BD891410-481F-41D1-8E39-E5D242F1310C}">
      <dgm:t>
        <a:bodyPr xmlns:a="http://schemas.openxmlformats.org/drawingml/2006/main"/>
        <a:lstStyle xmlns:a="http://schemas.openxmlformats.org/drawingml/2006/main"/>
        <a:p xmlns:a="http://schemas.openxmlformats.org/drawingml/2006/main">
          <a:pPr>
            <a:buNone/>
            <a:defRPr/>
          </a:pPr>
          <a:r>
            <a:rPr b="1"/>
            <a:t>Add ⟨Z²⟩ correction</a:t>
          </a:r>
        </a:p>
      </dgm:t>
    </dgm:pt>
    <dgm:pt modelId="{794B2207-BF2A-43D9-822A-012AE5261530}" type="parTrans" cxnId="{738D4E7C-26DB-43E7-B0EF-C03B322A97E5}">
      <dgm:t>
        <a:bodyPr xmlns:a="http://schemas.openxmlformats.org/drawingml/2006/main"/>
        <a:lstStyle xmlns:a="http://schemas.openxmlformats.org/drawingml/2006/main"/>
        <a:p xmlns:a="http://schemas.openxmlformats.org/drawingml/2006/main">
          <a:endParaRPr/>
        </a:p>
      </dgm:t>
    </dgm:pt>
    <dgm:pt modelId="{9F8DBCB8-08C6-4909-8516-07976E6B1AE5}" type="sibTrans" cxnId="{738D4E7C-26DB-43E7-B0EF-C03B322A97E5}">
      <dgm:t>
        <a:bodyPr xmlns:a="http://schemas.openxmlformats.org/drawingml/2006/main"/>
        <a:lstStyle xmlns:a="http://schemas.openxmlformats.org/drawingml/2006/main"/>
        <a:p xmlns:a="http://schemas.openxmlformats.org/drawingml/2006/main">
          <a:endParaRPr/>
        </a:p>
      </dgm:t>
    </dgm:pt>
    <dgm:pt modelId="{4AC30FED-3259-46C1-84FD-C72B52D04F1A}">
      <dgm:t>
        <a:bodyPr xmlns:a="http://schemas.openxmlformats.org/drawingml/2006/main"/>
        <a:lstStyle xmlns:a="http://schemas.openxmlformats.org/drawingml/2006/main"/>
        <a:p xmlns:a="http://schemas.openxmlformats.org/drawingml/2006/main">
          <a:pPr>
            <a:buNone/>
            <a:defRPr/>
          </a:pPr>
          <a:r>
            <a:rPr/>
            <a:t>Full connectivity matrix</a:t>
          </a:r>
        </a:p>
      </dgm:t>
    </dgm:pt>
    <dgm:pt modelId="{3A3ABB65-8DB9-48AF-A9A6-9DB689209600}" type="parTrans" cxnId="{E55E6DC1-46E4-49F0-8D84-CDEA8471EB43}">
      <dgm:t>
        <a:bodyPr xmlns:a="http://schemas.openxmlformats.org/drawingml/2006/main"/>
        <a:lstStyle xmlns:a="http://schemas.openxmlformats.org/drawingml/2006/main"/>
        <a:p xmlns:a="http://schemas.openxmlformats.org/drawingml/2006/main">
          <a:endParaRPr/>
        </a:p>
      </dgm:t>
    </dgm:pt>
    <dgm:pt modelId="{6ED6ADC8-50F3-4D4C-966E-3B435BF92099}" type="sibTrans" cxnId="{E55E6DC1-46E4-49F0-8D84-CDEA8471EB43}">
      <dgm:t>
        <a:bodyPr xmlns:a="http://schemas.openxmlformats.org/drawingml/2006/main"/>
        <a:lstStyle xmlns:a="http://schemas.openxmlformats.org/drawingml/2006/main"/>
        <a:p xmlns:a="http://schemas.openxmlformats.org/drawingml/2006/main">
          <a:endParaRPr/>
        </a:p>
      </dgm:t>
    </dgm:pt>
    <dgm:pt modelId="{319D7966-A372-45C9-A10E-856A257E8FB0}">
      <dgm:t>
        <a:bodyPr xmlns:a="http://schemas.openxmlformats.org/drawingml/2006/main"/>
        <a:lstStyle xmlns:a="http://schemas.openxmlformats.org/drawingml/2006/main"/>
        <a:p xmlns:a="http://schemas.openxmlformats.org/drawingml/2006/main">
          <a:pPr>
            <a:buNone/>
            <a:defRPr/>
          </a:pPr>
          <a:r>
            <a:rPr b="0"/>
            <a:t>Mean structure + noise</a:t>
          </a:r>
        </a:p>
      </dgm:t>
    </dgm:pt>
    <dgm:pt modelId="{3EC5ADD7-2599-4E87-A205-3745E065FE57}" type="parTrans" cxnId="{EDFA4CC2-4ECB-4BAA-8FD5-1BDCAF0541D4}">
      <dgm:t>
        <a:bodyPr xmlns:a="http://schemas.openxmlformats.org/drawingml/2006/main"/>
        <a:lstStyle xmlns:a="http://schemas.openxmlformats.org/drawingml/2006/main"/>
        <a:p xmlns:a="http://schemas.openxmlformats.org/drawingml/2006/main">
          <a:endParaRPr/>
        </a:p>
      </dgm:t>
    </dgm:pt>
    <dgm:pt modelId="{6B238453-47D9-4FD5-B225-F57E1A49C9F3}" type="sibTrans" cxnId="{EDFA4CC2-4ECB-4BAA-8FD5-1BDCAF0541D4}">
      <dgm:t>
        <a:bodyPr xmlns:a="http://schemas.openxmlformats.org/drawingml/2006/main"/>
        <a:lstStyle xmlns:a="http://schemas.openxmlformats.org/drawingml/2006/main"/>
        <a:p xmlns:a="http://schemas.openxmlformats.org/drawingml/2006/main">
          <a:endParaRPr/>
        </a:p>
      </dgm:t>
    </dgm:pt>
    <dgm:pt modelId="{7B9CFF29-9DAF-432A-BCAC-B15CD56EAA07}">
      <dgm:t>
        <a:bodyPr xmlns:a="http://schemas.openxmlformats.org/drawingml/2006/main"/>
        <a:lstStyle xmlns:a="http://schemas.openxmlformats.org/drawingml/2006/main"/>
        <a:p xmlns:a="http://schemas.openxmlformats.org/drawingml/2006/main">
          <a:pPr>
            <a:buNone/>
            <a:defRPr/>
          </a:pPr>
          <a:r>
            <a:rPr/>
            <a:t>Motif structure emerges</a:t>
          </a:r>
        </a:p>
      </dgm:t>
    </dgm:pt>
    <dgm:pt modelId="{398E54AD-02AA-427F-97CE-C379FB73F2B6}" type="parTrans" cxnId="{998AEF55-F4F2-4CF0-A4C7-06DE1FCE40F4}">
      <dgm:t>
        <a:bodyPr xmlns:a="http://schemas.openxmlformats.org/drawingml/2006/main"/>
        <a:lstStyle xmlns:a="http://schemas.openxmlformats.org/drawingml/2006/main"/>
        <a:p xmlns:a="http://schemas.openxmlformats.org/drawingml/2006/main">
          <a:endParaRPr/>
        </a:p>
      </dgm:t>
    </dgm:pt>
    <dgm:pt modelId="{B68F8C79-C52A-40C1-8EAC-09C76024FCCF}" type="sibTrans" cxnId="{998AEF55-F4F2-4CF0-A4C7-06DE1FCE40F4}">
      <dgm:t>
        <a:bodyPr xmlns:a="http://schemas.openxmlformats.org/drawingml/2006/main"/>
        <a:lstStyle xmlns:a="http://schemas.openxmlformats.org/drawingml/2006/main"/>
        <a:p xmlns:a="http://schemas.openxmlformats.org/drawingml/2006/main">
          <a:endParaRPr/>
        </a:p>
      </dgm:t>
    </dgm:pt>
    <dgm:pt modelId="{6C1C6F87-6E14-472C-8E70-FE973EC89764}">
      <dgm:t>
        <a:bodyPr xmlns:a="http://schemas.openxmlformats.org/drawingml/2006/main"/>
        <a:lstStyle xmlns:a="http://schemas.openxmlformats.org/drawingml/2006/main"/>
        <a:p xmlns:a="http://schemas.openxmlformats.org/drawingml/2006/main">
          <a:pPr>
            <a:buNone/>
            <a:defRPr/>
          </a:pPr>
          <a:r>
            <a:rPr b="1"/>
            <a:t>J</a:t>
          </a:r>
          <a:r>
            <a:rPr b="1" baseline="30000"/>
            <a:t>eff</a:t>
          </a:r>
          <a:r>
            <a:rPr b="1"/>
            <a:t> = J</a:t>
          </a:r>
          <a:r>
            <a:rPr b="1" baseline="30000"/>
            <a:t>0</a:t>
          </a:r>
          <a:r>
            <a:rPr b="1"/>
            <a:t> + ⟨Z²⟩</a:t>
          </a:r>
        </a:p>
      </dgm:t>
    </dgm:pt>
    <dgm:pt modelId="{28C33D0E-28D8-46C6-A0D0-4E5110E2BE09}" type="parTrans" cxnId="{C9FE37F3-B3C7-4B3E-AE7E-60FD1973B483}">
      <dgm:t>
        <a:bodyPr xmlns:a="http://schemas.openxmlformats.org/drawingml/2006/main"/>
        <a:lstStyle xmlns:a="http://schemas.openxmlformats.org/drawingml/2006/main"/>
        <a:p xmlns:a="http://schemas.openxmlformats.org/drawingml/2006/main">
          <a:endParaRPr/>
        </a:p>
      </dgm:t>
    </dgm:pt>
    <dgm:pt modelId="{60C4F991-DC0D-49FA-8E77-AB23B39C18EE}" type="sibTrans" cxnId="{C9FE37F3-B3C7-4B3E-AE7E-60FD1973B483}">
      <dgm:t>
        <a:bodyPr xmlns:a="http://schemas.openxmlformats.org/drawingml/2006/main"/>
        <a:lstStyle xmlns:a="http://schemas.openxmlformats.org/drawingml/2006/main"/>
        <a:p xmlns:a="http://schemas.openxmlformats.org/drawingml/2006/main">
          <a:endParaRPr/>
        </a:p>
      </dgm:t>
    </dgm:pt>
    <dgm:pt modelId="{5C47874F-489A-4C36-90D1-CD0A64AB7267}">
      <dgm:t>
        <a:bodyPr xmlns:a="http://schemas.openxmlformats.org/drawingml/2006/main"/>
        <a:lstStyle xmlns:a="http://schemas.openxmlformats.org/drawingml/2006/main"/>
        <a:p xmlns:a="http://schemas.openxmlformats.org/drawingml/2006/main">
          <a:pPr>
            <a:buNone/>
            <a:defRPr/>
          </a:pPr>
          <a:r>
            <a:rPr/>
            <a:t>Effective connectivity matrix</a:t>
          </a:r>
        </a:p>
      </dgm:t>
    </dgm:pt>
    <dgm:pt modelId="{A0E35DBE-88F2-405A-B544-19A86BA970B1}" type="parTrans" cxnId="{53A2400A-A9E2-4030-96B0-547724DC1463}">
      <dgm:t>
        <a:bodyPr xmlns:a="http://schemas.openxmlformats.org/drawingml/2006/main"/>
        <a:lstStyle xmlns:a="http://schemas.openxmlformats.org/drawingml/2006/main"/>
        <a:p xmlns:a="http://schemas.openxmlformats.org/drawingml/2006/main">
          <a:endParaRPr/>
        </a:p>
      </dgm:t>
    </dgm:pt>
    <dgm:pt modelId="{A0573013-9DDF-4897-B930-C6E346D5F799}" type="sibTrans" cxnId="{53A2400A-A9E2-4030-96B0-547724DC1463}">
      <dgm:t>
        <a:bodyPr xmlns:a="http://schemas.openxmlformats.org/drawingml/2006/main"/>
        <a:lstStyle xmlns:a="http://schemas.openxmlformats.org/drawingml/2006/main"/>
        <a:p xmlns:a="http://schemas.openxmlformats.org/drawingml/2006/main">
          <a:endParaRPr/>
        </a:p>
      </dgm:t>
    </dgm:pt>
    <dgm:pt modelId="{4112F8F6-BB95-4E82-A209-7740307634D1}">
      <dgm:t>
        <a:bodyPr xmlns:a="http://schemas.openxmlformats.org/drawingml/2006/main"/>
        <a:lstStyle xmlns:a="http://schemas.openxmlformats.org/drawingml/2006/main"/>
        <a:p xmlns:a="http://schemas.openxmlformats.org/drawingml/2006/main">
          <a:pPr>
            <a:buNone/>
            <a:defRPr/>
          </a:pPr>
          <a:r>
            <a:rPr/>
            <a:t>Deterministic | Predictive | Tractable</a:t>
          </a:r>
        </a:p>
      </dgm:t>
    </dgm:pt>
    <dgm:pt modelId="{7E281C66-291B-4D3D-8282-18D0D26F05FD}" type="parTrans" cxnId="{C9AED7E7-E4AA-4153-B21F-2C7D1F85B31A}">
      <dgm:t>
        <a:bodyPr xmlns:a="http://schemas.openxmlformats.org/drawingml/2006/main"/>
        <a:lstStyle xmlns:a="http://schemas.openxmlformats.org/drawingml/2006/main"/>
        <a:p xmlns:a="http://schemas.openxmlformats.org/drawingml/2006/main">
          <a:endParaRPr/>
        </a:p>
      </dgm:t>
    </dgm:pt>
    <dgm:pt modelId="{216443EE-025D-452F-9D2D-8E92B3095952}" type="sibTrans" cxnId="{C9AED7E7-E4AA-4153-B21F-2C7D1F85B31A}">
      <dgm:t>
        <a:bodyPr xmlns:a="http://schemas.openxmlformats.org/drawingml/2006/main"/>
        <a:lstStyle xmlns:a="http://schemas.openxmlformats.org/drawingml/2006/main"/>
        <a:p xmlns:a="http://schemas.openxmlformats.org/drawingml/2006/main">
          <a:endParaRPr/>
        </a:p>
      </dgm:t>
    </dgm:pt>
    <dgm:pt modelId="{039B28E6-5513-43FA-990E-04D20E5BC414}" type="pres"/>
    <dgm:pt modelId="{93F7AD20-0778-4166-9733-BB802097EF27}" type="pres"/>
    <dgm:pt modelId="{321AAA48-3C56-4999-838B-247AF2EC93C4}" type="pres"/>
    <dgm:pt modelId="{5186779E-8908-4F10-BB42-194151CFE09B}" type="pres"/>
    <dgm:pt modelId="{B7A315EC-D863-4ADF-A46F-A14518EA1592}" type="pres"/>
    <dgm:pt modelId="{59FCB7C3-7F3B-48AE-9459-4E72864D2145}" type="pres"/>
    <dgm:pt modelId="{9BA2D4AE-8EC0-45C7-B768-74F549282151}" type="pres"/>
    <dgm:pt modelId="{F82BF874-DCE8-44CD-A068-189D071B63A8}" type="pres"/>
    <dgm:pt modelId="{569ADBD1-B765-4C32-9442-118AC14CA29F}" type="pres"/>
    <dgm:pt modelId="{254FE299-7A21-409F-815D-CD919513600F}" type="pres"/>
    <dgm:pt modelId="{76BE8036-5828-4B02-8AA1-25064CAAA963}" type="pres"/>
  </dgm:ptLst>
  <dgm:cxnLst>
    <dgm:cxn modelId="{98280B02-E2BA-4E26-91DA-F0E73EDB91FB}" type="presOf" srcId="{3FC10B3F-4689-4B0F-81C2-C895ABFCAAA3}" destId="{59FCB7C3-7F3B-48AE-9459-4E72864D2145}" srcOrd="0" destOrd="0" presId="urn:microsoft.com/office/officeart/2005/8/layout/process2"/>
    <dgm:cxn modelId="{53A2400A-A9E2-4030-96B0-547724DC1463}" srcId="{6C1C6F87-6E14-472C-8E70-FE973EC89764}" destId="{5C47874F-489A-4C36-90D1-CD0A64AB7267}" srcOrd="0" destOrd="0" parTransId="{A0E35DBE-88F2-405A-B544-19A86BA970B1}" sibTransId="{A0573013-9DDF-4897-B930-C6E346D5F799}"/>
    <dgm:cxn modelId="{4008AC11-228F-4D5A-B8B4-C94D739FA229}" srcId="{B87C2339-C1C1-436A-9CA9-D7718785CD05}" destId="{8FE7A8EC-DFFB-4E7A-AF6D-71D122D5D017}" srcOrd="0" destOrd="0" parTransId="{E1511B5B-CB94-4421-98E8-21030229F420}" sibTransId="{35C850ED-5A64-4CC9-B3BA-F1851AC7797C}"/>
    <dgm:cxn modelId="{9A66B314-8C33-47AC-8512-CBF10D5C262F}" type="presOf" srcId="{6C1C6F87-6E14-472C-8E70-FE973EC89764}" destId="{76BE8036-5828-4B02-8AA1-25064CAAA963}" srcOrd="0" destOrd="0" presId="urn:microsoft.com/office/officeart/2005/8/layout/process2"/>
    <dgm:cxn modelId="{78D21030-1E1C-4173-BA43-3C602CD7C303}" type="presOf" srcId="{8FE7A8EC-DFFB-4E7A-AF6D-71D122D5D017}" destId="{93F7AD20-0778-4166-9733-BB802097EF27}" srcOrd="0" destOrd="0" presId="urn:microsoft.com/office/officeart/2005/8/layout/process2"/>
    <dgm:cxn modelId="{7FFE833A-AC91-4B31-9293-61F9CCDC935F}" type="presOf" srcId="{BD891410-481F-41D1-8E39-E5D242F1310C}" destId="{F82BF874-DCE8-44CD-A068-189D071B63A8}" srcOrd="0" destOrd="0" presId="urn:microsoft.com/office/officeart/2005/8/layout/process2"/>
    <dgm:cxn modelId="{3FEACE62-8A4F-43B2-B686-DBB62B4CC7AB}" type="presOf" srcId="{35C850ED-5A64-4CC9-B3BA-F1851AC7797C}" destId="{321AAA48-3C56-4999-838B-247AF2EC93C4}" srcOrd="0" destOrd="0" presId="urn:microsoft.com/office/officeart/2005/8/layout/process2"/>
    <dgm:cxn modelId="{7BD02246-A588-4C8D-9E46-EE1AB38C37DA}" srcId="{B87C2339-C1C1-436A-9CA9-D7718785CD05}" destId="{CFD8A47D-F443-4DCD-A6F3-01B710CF4E13}" srcOrd="1" destOrd="0" parTransId="{A7C155E0-0CB2-425E-858E-FE063DE8DD77}" sibTransId="{3FC10B3F-4689-4B0F-81C2-C895ABFCAAA3}"/>
    <dgm:cxn modelId="{EC2CF969-8EE6-461B-AF38-D61A232DCBC1}" type="presOf" srcId="{CFD8A47D-F443-4DCD-A6F3-01B710CF4E13}" destId="{B7A315EC-D863-4ADF-A46F-A14518EA1592}" srcOrd="0" destOrd="0" presId="urn:microsoft.com/office/officeart/2005/8/layout/process2"/>
    <dgm:cxn modelId="{46C2426B-FFF0-414D-8F63-50731543D21A}" type="presOf" srcId="{4AC30FED-3259-46C1-84FD-C72B52D04F1A}" destId="{93F7AD20-0778-4166-9733-BB802097EF27}" srcOrd="0" destOrd="1" presId="urn:microsoft.com/office/officeart/2005/8/layout/process2"/>
    <dgm:cxn modelId="{998AEF55-F4F2-4CF0-A4C7-06DE1FCE40F4}" srcId="{BD891410-481F-41D1-8E39-E5D242F1310C}" destId="{7B9CFF29-9DAF-432A-BCAC-B15CD56EAA07}" srcOrd="0" destOrd="0" parTransId="{398E54AD-02AA-427F-97CE-C379FB73F2B6}" sibTransId="{B68F8C79-C52A-40C1-8EAC-09C76024FCCF}"/>
    <dgm:cxn modelId="{738D4E7C-26DB-43E7-B0EF-C03B322A97E5}" srcId="{B87C2339-C1C1-436A-9CA9-D7718785CD05}" destId="{BD891410-481F-41D1-8E39-E5D242F1310C}" srcOrd="2" destOrd="0" parTransId="{794B2207-BF2A-43D9-822A-012AE5261530}" sibTransId="{9F8DBCB8-08C6-4909-8516-07976E6B1AE5}"/>
    <dgm:cxn modelId="{466A2F81-419A-4176-A559-B711B470B532}" type="presOf" srcId="{9F8DBCB8-08C6-4909-8516-07976E6B1AE5}" destId="{254FE299-7A21-409F-815D-CD919513600F}" srcOrd="1" destOrd="0" presId="urn:microsoft.com/office/officeart/2005/8/layout/process2"/>
    <dgm:cxn modelId="{AC99EF85-78D8-466C-A1AD-00A166D92072}" type="presOf" srcId="{4112F8F6-BB95-4E82-A209-7740307634D1}" destId="{76BE8036-5828-4B02-8AA1-25064CAAA963}" srcOrd="0" destOrd="2" presId="urn:microsoft.com/office/officeart/2005/8/layout/process2"/>
    <dgm:cxn modelId="{C31D1EA4-B559-4C7F-B8AD-99F3B2D8D199}" type="presOf" srcId="{7B9CFF29-9DAF-432A-BCAC-B15CD56EAA07}" destId="{F82BF874-DCE8-44CD-A068-189D071B63A8}" srcOrd="0" destOrd="1" presId="urn:microsoft.com/office/officeart/2005/8/layout/process2"/>
    <dgm:cxn modelId="{E55E6DC1-46E4-49F0-8D84-CDEA8471EB43}" srcId="{8FE7A8EC-DFFB-4E7A-AF6D-71D122D5D017}" destId="{4AC30FED-3259-46C1-84FD-C72B52D04F1A}" srcOrd="0" destOrd="0" parTransId="{3A3ABB65-8DB9-48AF-A9A6-9DB689209600}" sibTransId="{6ED6ADC8-50F3-4D4C-966E-3B435BF92099}"/>
    <dgm:cxn modelId="{EDFA4CC2-4ECB-4BAA-8FD5-1BDCAF0541D4}" srcId="{CFD8A47D-F443-4DCD-A6F3-01B710CF4E13}" destId="{319D7966-A372-45C9-A10E-856A257E8FB0}" srcOrd="0" destOrd="0" parTransId="{3EC5ADD7-2599-4E87-A205-3745E065FE57}" sibTransId="{6B238453-47D9-4FD5-B225-F57E1A49C9F3}"/>
    <dgm:cxn modelId="{73045DC4-1FAC-46FB-BAD9-67E9F52587B7}" type="presOf" srcId="{5C47874F-489A-4C36-90D1-CD0A64AB7267}" destId="{76BE8036-5828-4B02-8AA1-25064CAAA963}" srcOrd="0" destOrd="1" presId="urn:microsoft.com/office/officeart/2005/8/layout/process2"/>
    <dgm:cxn modelId="{B70222CD-6309-4042-ABF1-4B4A99422EA6}" type="presOf" srcId="{3FC10B3F-4689-4B0F-81C2-C895ABFCAAA3}" destId="{9BA2D4AE-8EC0-45C7-B768-74F549282151}" srcOrd="1" destOrd="0" presId="urn:microsoft.com/office/officeart/2005/8/layout/process2"/>
    <dgm:cxn modelId="{0ECA82D1-3F47-49B5-8CF1-F6FBB6D45CF8}" type="presOf" srcId="{B87C2339-C1C1-436A-9CA9-D7718785CD05}" destId="{039B28E6-5513-43FA-990E-04D20E5BC414}" srcOrd="0" destOrd="0" presId="urn:microsoft.com/office/officeart/2005/8/layout/process2"/>
    <dgm:cxn modelId="{26C888D1-EA04-44CC-BBAE-ED7293AF65CD}" type="presOf" srcId="{9F8DBCB8-08C6-4909-8516-07976E6B1AE5}" destId="{569ADBD1-B765-4C32-9442-118AC14CA29F}" srcOrd="0" destOrd="0" presId="urn:microsoft.com/office/officeart/2005/8/layout/process2"/>
    <dgm:cxn modelId="{C9AED7E7-E4AA-4153-B21F-2C7D1F85B31A}" srcId="{6C1C6F87-6E14-472C-8E70-FE973EC89764}" destId="{4112F8F6-BB95-4E82-A209-7740307634D1}" srcOrd="1" destOrd="0" parTransId="{7E281C66-291B-4D3D-8282-18D0D26F05FD}" sibTransId="{216443EE-025D-452F-9D2D-8E92B3095952}"/>
    <dgm:cxn modelId="{2DBD64F0-F5C0-41BF-8C77-B877B852ADB7}" type="presOf" srcId="{35C850ED-5A64-4CC9-B3BA-F1851AC7797C}" destId="{5186779E-8908-4F10-BB42-194151CFE09B}" srcOrd="1" destOrd="0" presId="urn:microsoft.com/office/officeart/2005/8/layout/process2"/>
    <dgm:cxn modelId="{C9FE37F3-B3C7-4B3E-AE7E-60FD1973B483}" srcId="{B87C2339-C1C1-436A-9CA9-D7718785CD05}" destId="{6C1C6F87-6E14-472C-8E70-FE973EC89764}" srcOrd="3" destOrd="0" parTransId="{28C33D0E-28D8-46C6-A0D0-4E5110E2BE09}" sibTransId="{60C4F991-DC0D-49FA-8E77-AB23B39C18EE}"/>
    <dgm:cxn modelId="{494FFDFB-0E50-4AC8-8918-8F8D533EFBDE}" type="presOf" srcId="{319D7966-A372-45C9-A10E-856A257E8FB0}" destId="{B7A315EC-D863-4ADF-A46F-A14518EA1592}" srcOrd="0" destOrd="1" presId="urn:microsoft.com/office/officeart/2005/8/layout/process2"/>
    <dgm:cxn modelId="{7EF04B8B-FE5A-440B-AE9A-50643B762243}" type="presParOf" srcId="{039B28E6-5513-43FA-990E-04D20E5BC414}" destId="{93F7AD20-0778-4166-9733-BB802097EF27}" srcOrd="0" destOrd="0" presId="urn:microsoft.com/office/officeart/2005/8/layout/process2"/>
    <dgm:cxn modelId="{A5FAF69E-7559-49BF-AD18-381C73343C91}" type="presParOf" srcId="{039B28E6-5513-43FA-990E-04D20E5BC414}" destId="{321AAA48-3C56-4999-838B-247AF2EC93C4}" srcOrd="1" destOrd="0" presId="urn:microsoft.com/office/officeart/2005/8/layout/process2"/>
    <dgm:cxn modelId="{A4A9B1F6-492D-4213-A5A9-FAA1863A3A29}" type="presParOf" srcId="{321AAA48-3C56-4999-838B-247AF2EC93C4}" destId="{5186779E-8908-4F10-BB42-194151CFE09B}" srcOrd="0" destOrd="0" presId="urn:microsoft.com/office/officeart/2005/8/layout/process2"/>
    <dgm:cxn modelId="{A467C205-5226-40F6-8468-058C142EBDB1}" type="presParOf" srcId="{039B28E6-5513-43FA-990E-04D20E5BC414}" destId="{B7A315EC-D863-4ADF-A46F-A14518EA1592}" srcOrd="2" destOrd="0" presId="urn:microsoft.com/office/officeart/2005/8/layout/process2"/>
    <dgm:cxn modelId="{12C2F87E-3295-4161-8D64-4362BB270284}" type="presParOf" srcId="{039B28E6-5513-43FA-990E-04D20E5BC414}" destId="{59FCB7C3-7F3B-48AE-9459-4E72864D2145}" srcOrd="3" destOrd="0" presId="urn:microsoft.com/office/officeart/2005/8/layout/process2"/>
    <dgm:cxn modelId="{FC4470B2-BF80-48D5-8E02-760EE9B548BF}" type="presParOf" srcId="{59FCB7C3-7F3B-48AE-9459-4E72864D2145}" destId="{9BA2D4AE-8EC0-45C7-B768-74F549282151}" srcOrd="0" destOrd="0" presId="urn:microsoft.com/office/officeart/2005/8/layout/process2"/>
    <dgm:cxn modelId="{E70A99B9-4C4A-4E50-9347-C096C54F80A3}" type="presParOf" srcId="{039B28E6-5513-43FA-990E-04D20E5BC414}" destId="{F82BF874-DCE8-44CD-A068-189D071B63A8}" srcOrd="4" destOrd="0" presId="urn:microsoft.com/office/officeart/2005/8/layout/process2"/>
    <dgm:cxn modelId="{2349396B-8948-44BB-ACCC-672E48099A56}" type="presParOf" srcId="{039B28E6-5513-43FA-990E-04D20E5BC414}" destId="{569ADBD1-B765-4C32-9442-118AC14CA29F}" srcOrd="5" destOrd="0" presId="urn:microsoft.com/office/officeart/2005/8/layout/process2"/>
    <dgm:cxn modelId="{A6BF449A-239C-4D74-9927-CE6D00E5210E}" type="presParOf" srcId="{569ADBD1-B765-4C32-9442-118AC14CA29F}" destId="{254FE299-7A21-409F-815D-CD919513600F}" srcOrd="0" destOrd="0" presId="urn:microsoft.com/office/officeart/2005/8/layout/process2"/>
    <dgm:cxn modelId="{90762B2E-896A-4B2D-8073-06B538EE4E93}" type="presParOf" srcId="{039B28E6-5513-43FA-990E-04D20E5BC414}" destId="{76BE8036-5828-4B02-8AA1-25064CAAA963}" srcOrd="6" destOrd="0" presId="urn:microsoft.com/office/officeart/2005/8/layout/process2"/>
  </dgm:cxnLst>
</dgm:dataModel>
</file>

<file path=ppt/graphics/data4.xml><?xml version="1.0" encoding="utf-8"?>
<dgm:dataModel xmlns:dgm="http://schemas.openxmlformats.org/drawingml/2006/diagram">
  <dgm:ptLst>
    <dgm:pt modelId="{E068ED7D-99C4-4CE5-86DF-3B248844AC0F}" type="doc">
      <dgm:t>
        <a:bodyPr xmlns:a="http://schemas.openxmlformats.org/drawingml/2006/main"/>
        <a:lstStyle xmlns:a="http://schemas.openxmlformats.org/drawingml/2006/main"/>
        <a:p xmlns:a="http://schemas.openxmlformats.org/drawingml/2006/main">
          <a:endParaRPr/>
        </a:p>
      </dgm:t>
    </dgm:pt>
    <dgm:pt modelId="{54FEA886-2BE1-4B4F-BD12-A4066D952EC0}">
      <dgm:t>
        <a:bodyPr xmlns:a="http://schemas.openxmlformats.org/drawingml/2006/main"/>
        <a:lstStyle xmlns:a="http://schemas.openxmlformats.org/drawingml/2006/main"/>
        <a:p xmlns:a="http://schemas.openxmlformats.org/drawingml/2006/main">
          <a:pPr>
            <a:buNone/>
            <a:defRPr/>
          </a:pPr>
          <a:r>
            <a:rPr sz="2000" b="1"/>
            <a:t>Average of Z-squared ⟨Z²⟩ </a:t>
          </a:r>
          <a:endParaRPr sz="2000"/>
        </a:p>
      </dgm:t>
    </dgm:pt>
    <dgm:pt modelId="{2D33D72E-17CA-4BB8-BA96-1BB8E8CA026C}" type="parTrans" cxnId="{C9CADF24-61B8-4611-A71F-D7DA7A5338ED}">
      <dgm:t>
        <a:bodyPr xmlns:a="http://schemas.openxmlformats.org/drawingml/2006/main"/>
        <a:lstStyle xmlns:a="http://schemas.openxmlformats.org/drawingml/2006/main"/>
        <a:p xmlns:a="http://schemas.openxmlformats.org/drawingml/2006/main">
          <a:endParaRPr/>
        </a:p>
      </dgm:t>
    </dgm:pt>
    <dgm:pt modelId="{9FBD73DC-4A5F-4C50-B409-DC5997D1FDDE}" type="sibTrans" cxnId="{C9CADF24-61B8-4611-A71F-D7DA7A5338ED}">
      <dgm:t>
        <a:bodyPr xmlns:a="http://schemas.openxmlformats.org/drawingml/2006/main"/>
        <a:lstStyle xmlns:a="http://schemas.openxmlformats.org/drawingml/2006/main"/>
        <a:p xmlns:a="http://schemas.openxmlformats.org/drawingml/2006/main">
          <a:endParaRPr/>
        </a:p>
      </dgm:t>
    </dgm:pt>
    <dgm:pt modelId="{9C3B1961-EFEF-4528-918B-F7B83CBF7223}">
      <dgm:t>
        <a:bodyPr xmlns:a="http://schemas.openxmlformats.org/drawingml/2006/main"/>
        <a:lstStyle xmlns:a="http://schemas.openxmlformats.org/drawingml/2006/main"/>
        <a:p xmlns:a="http://schemas.openxmlformats.org/drawingml/2006/main">
          <a:r>
            <a:rPr sz="2000" b="1"/>
            <a:t>Diagonals of ⟨Z²⟩</a:t>
          </a:r>
        </a:p>
      </dgm:t>
    </dgm:pt>
    <dgm:pt modelId="{7A1B5FE8-01C3-4C83-879A-AAE0BF203BF9}" type="parTrans" cxnId="{66DAE3F8-811A-4FEB-86A4-E2E4FA369B9D}">
      <dgm:t>
        <a:bodyPr xmlns:a="http://schemas.openxmlformats.org/drawingml/2006/main"/>
        <a:lstStyle xmlns:a="http://schemas.openxmlformats.org/drawingml/2006/main"/>
        <a:p xmlns:a="http://schemas.openxmlformats.org/drawingml/2006/main">
          <a:endParaRPr/>
        </a:p>
      </dgm:t>
    </dgm:pt>
    <dgm:pt modelId="{C0C260B1-E759-40FD-A8C1-2229F2EFF184}" type="sibTrans" cxnId="{66DAE3F8-811A-4FEB-86A4-E2E4FA369B9D}">
      <dgm:t>
        <a:bodyPr xmlns:a="http://schemas.openxmlformats.org/drawingml/2006/main"/>
        <a:lstStyle xmlns:a="http://schemas.openxmlformats.org/drawingml/2006/main"/>
        <a:p xmlns:a="http://schemas.openxmlformats.org/drawingml/2006/main">
          <a:endParaRPr/>
        </a:p>
      </dgm:t>
    </dgm:pt>
    <dgm:pt modelId="{0550E3BB-450A-4358-810B-73E57B22EBC0}">
      <dgm:t>
        <a:bodyPr xmlns:a="http://schemas.openxmlformats.org/drawingml/2006/main"/>
        <a:lstStyle xmlns:a="http://schemas.openxmlformats.org/drawingml/2006/main"/>
        <a:p xmlns:a="http://schemas.openxmlformats.org/drawingml/2006/main">
          <a:pPr>
            <a:buFont typeface="Arial"/>
            <a:buChar char="•"/>
            <a:defRPr/>
          </a:pPr>
          <a:r>
            <a:rPr sz="1800"/>
            <a:t>Chains encode here</a:t>
          </a:r>
        </a:p>
      </dgm:t>
    </dgm:pt>
    <dgm:pt modelId="{EF142130-BB93-4B3B-8BEC-C7075AB73313}" type="parTrans" cxnId="{81C7B9F2-8DAF-414B-A3E4-6F544FC1D40F}">
      <dgm:t>
        <a:bodyPr xmlns:a="http://schemas.openxmlformats.org/drawingml/2006/main"/>
        <a:lstStyle xmlns:a="http://schemas.openxmlformats.org/drawingml/2006/main"/>
        <a:p xmlns:a="http://schemas.openxmlformats.org/drawingml/2006/main">
          <a:endParaRPr/>
        </a:p>
      </dgm:t>
    </dgm:pt>
    <dgm:pt modelId="{5D0952FA-38BE-4A09-897E-56AD1AB487A2}" type="sibTrans" cxnId="{81C7B9F2-8DAF-414B-A3E4-6F544FC1D40F}">
      <dgm:t>
        <a:bodyPr xmlns:a="http://schemas.openxmlformats.org/drawingml/2006/main"/>
        <a:lstStyle xmlns:a="http://schemas.openxmlformats.org/drawingml/2006/main"/>
        <a:p xmlns:a="http://schemas.openxmlformats.org/drawingml/2006/main">
          <a:endParaRPr/>
        </a:p>
      </dgm:t>
    </dgm:pt>
    <dgm:pt modelId="{EEB4C6AF-DB8F-46DA-8886-81A2EAB069C5}">
      <dgm:t>
        <a:bodyPr xmlns:a="http://schemas.openxmlformats.org/drawingml/2006/main"/>
        <a:lstStyle xmlns:a="http://schemas.openxmlformats.org/drawingml/2006/main"/>
        <a:p xmlns:a="http://schemas.openxmlformats.org/drawingml/2006/main">
          <a:pPr>
            <a:buFont typeface="Arial"/>
            <a:buChar char="•"/>
            <a:defRPr/>
          </a:pPr>
          <a:r>
            <a:rPr sz="1800"/>
            <a:t>new outlier </a:t>
          </a:r>
          <a:r>
            <a:rPr sz="1800"/>
            <a:t>λ₂</a:t>
          </a:r>
          <a:endParaRPr sz="1800"/>
        </a:p>
      </dgm:t>
    </dgm:pt>
    <dgm:pt modelId="{E6F98948-DC75-4F81-9BCF-FFA762E3B7C1}" type="parTrans" cxnId="{1E56C41F-B542-4504-96E0-111E3555E94B}">
      <dgm:t>
        <a:bodyPr xmlns:a="http://schemas.openxmlformats.org/drawingml/2006/main"/>
        <a:lstStyle xmlns:a="http://schemas.openxmlformats.org/drawingml/2006/main"/>
        <a:p xmlns:a="http://schemas.openxmlformats.org/drawingml/2006/main">
          <a:endParaRPr/>
        </a:p>
      </dgm:t>
    </dgm:pt>
    <dgm:pt modelId="{E74BB737-903A-41CD-9790-18BD95821109}" type="sibTrans" cxnId="{1E56C41F-B542-4504-96E0-111E3555E94B}">
      <dgm:t>
        <a:bodyPr xmlns:a="http://schemas.openxmlformats.org/drawingml/2006/main"/>
        <a:lstStyle xmlns:a="http://schemas.openxmlformats.org/drawingml/2006/main"/>
        <a:p xmlns:a="http://schemas.openxmlformats.org/drawingml/2006/main">
          <a:endParaRPr/>
        </a:p>
      </dgm:t>
    </dgm:pt>
    <dgm:pt modelId="{05EA9A88-E657-4F6E-9186-71F9978AC0F6}">
      <dgm:t>
        <a:bodyPr xmlns:a="http://schemas.openxmlformats.org/drawingml/2006/main"/>
        <a:lstStyle xmlns:a="http://schemas.openxmlformats.org/drawingml/2006/main"/>
        <a:p xmlns:a="http://schemas.openxmlformats.org/drawingml/2006/main">
          <a:r>
            <a:rPr sz="1800"/>
            <a:t>Reciprocals encode here</a:t>
          </a:r>
        </a:p>
      </dgm:t>
    </dgm:pt>
    <dgm:pt modelId="{7CE0017E-2536-4EAC-BEE8-28322F5F82D3}" type="parTrans" cxnId="{0A00B079-77A5-49F1-9A04-2B6EEEA37248}">
      <dgm:t>
        <a:bodyPr xmlns:a="http://schemas.openxmlformats.org/drawingml/2006/main"/>
        <a:lstStyle xmlns:a="http://schemas.openxmlformats.org/drawingml/2006/main"/>
        <a:p xmlns:a="http://schemas.openxmlformats.org/drawingml/2006/main">
          <a:endParaRPr/>
        </a:p>
      </dgm:t>
    </dgm:pt>
    <dgm:pt modelId="{06B547BD-8B11-4430-ADF2-40292570A692}" type="sibTrans" cxnId="{0A00B079-77A5-49F1-9A04-2B6EEEA37248}">
      <dgm:t>
        <a:bodyPr xmlns:a="http://schemas.openxmlformats.org/drawingml/2006/main"/>
        <a:lstStyle xmlns:a="http://schemas.openxmlformats.org/drawingml/2006/main"/>
        <a:p xmlns:a="http://schemas.openxmlformats.org/drawingml/2006/main">
          <a:endParaRPr/>
        </a:p>
      </dgm:t>
    </dgm:pt>
    <dgm:pt modelId="{3FCDC366-9152-491D-A568-2D7D88030E7C}">
      <dgm:t>
        <a:bodyPr xmlns:a="http://schemas.openxmlformats.org/drawingml/2006/main"/>
        <a:lstStyle xmlns:a="http://schemas.openxmlformats.org/drawingml/2006/main"/>
        <a:p xmlns:a="http://schemas.openxmlformats.org/drawingml/2006/main">
          <a:r>
            <a:rPr sz="1800"/>
            <a:t>self-interaction terms · fixed · nudges λ₀</a:t>
          </a:r>
        </a:p>
      </dgm:t>
    </dgm:pt>
    <dgm:pt modelId="{33BA0F3D-62ED-4DE3-977F-BA01BEB6FA77}" type="parTrans" cxnId="{292CD57B-47A0-4D39-92CB-F9CD1D1177E3}">
      <dgm:t>
        <a:bodyPr xmlns:a="http://schemas.openxmlformats.org/drawingml/2006/main"/>
        <a:lstStyle xmlns:a="http://schemas.openxmlformats.org/drawingml/2006/main"/>
        <a:p xmlns:a="http://schemas.openxmlformats.org/drawingml/2006/main">
          <a:endParaRPr/>
        </a:p>
      </dgm:t>
    </dgm:pt>
    <dgm:pt modelId="{D3A1178F-9791-499C-8F70-2640822DEA62}" type="sibTrans" cxnId="{292CD57B-47A0-4D39-92CB-F9CD1D1177E3}">
      <dgm:t>
        <a:bodyPr xmlns:a="http://schemas.openxmlformats.org/drawingml/2006/main"/>
        <a:lstStyle xmlns:a="http://schemas.openxmlformats.org/drawingml/2006/main"/>
        <a:p xmlns:a="http://schemas.openxmlformats.org/drawingml/2006/main">
          <a:endParaRPr/>
        </a:p>
      </dgm:t>
    </dgm:pt>
    <dgm:pt modelId="{AC532C7F-9B58-486E-BBCC-1A1784559E85}">
      <dgm:t>
        <a:bodyPr xmlns:a="http://schemas.openxmlformats.org/drawingml/2006/main"/>
        <a:lstStyle xmlns:a="http://schemas.openxmlformats.org/drawingml/2006/main"/>
        <a:p xmlns:a="http://schemas.openxmlformats.org/drawingml/2006/main">
          <a:r>
            <a:rPr sz="1800"/>
            <a:t>Independent of N</a:t>
          </a:r>
        </a:p>
      </dgm:t>
    </dgm:pt>
    <dgm:pt modelId="{6F1F6002-E860-4C5D-9AA7-A37A7281C5F2}" type="parTrans" cxnId="{D2F685DC-8BA9-48D0-B744-3FED560A7587}">
      <dgm:t>
        <a:bodyPr xmlns:a="http://schemas.openxmlformats.org/drawingml/2006/main"/>
        <a:lstStyle xmlns:a="http://schemas.openxmlformats.org/drawingml/2006/main"/>
        <a:p xmlns:a="http://schemas.openxmlformats.org/drawingml/2006/main">
          <a:endParaRPr/>
        </a:p>
      </dgm:t>
    </dgm:pt>
    <dgm:pt modelId="{D005BCA2-BF0C-4A1A-96B3-8F06DC0D3CE2}" type="sibTrans" cxnId="{D2F685DC-8BA9-48D0-B744-3FED560A7587}">
      <dgm:t>
        <a:bodyPr xmlns:a="http://schemas.openxmlformats.org/drawingml/2006/main"/>
        <a:lstStyle xmlns:a="http://schemas.openxmlformats.org/drawingml/2006/main"/>
        <a:p xmlns:a="http://schemas.openxmlformats.org/drawingml/2006/main">
          <a:endParaRPr/>
        </a:p>
      </dgm:t>
    </dgm:pt>
    <dgm:pt modelId="{735FD6AE-3E07-4EA0-9A81-6EE65C68EE66}">
      <dgm:t>
        <a:bodyPr xmlns:a="http://schemas.openxmlformats.org/drawingml/2006/main"/>
        <a:lstStyle xmlns:a="http://schemas.openxmlformats.org/drawingml/2006/main"/>
        <a:p xmlns:a="http://schemas.openxmlformats.org/drawingml/2006/main">
          <a:pPr>
            <a:buFont typeface="Arial"/>
            <a:buChar char="•"/>
            <a:defRPr/>
          </a:pPr>
          <a:r>
            <a:rPr sz="1800"/>
            <a:t>Scales with N</a:t>
          </a:r>
        </a:p>
      </dgm:t>
    </dgm:pt>
    <dgm:pt modelId="{7DB96ABE-61D0-4695-9071-59CC373BC403}" type="parTrans" cxnId="{5085D703-269F-475B-A466-9128E59DF4DB}">
      <dgm:t>
        <a:bodyPr xmlns:a="http://schemas.openxmlformats.org/drawingml/2006/main"/>
        <a:lstStyle xmlns:a="http://schemas.openxmlformats.org/drawingml/2006/main"/>
        <a:p xmlns:a="http://schemas.openxmlformats.org/drawingml/2006/main">
          <a:endParaRPr/>
        </a:p>
      </dgm:t>
    </dgm:pt>
    <dgm:pt modelId="{E1AC71FA-D9AA-45C4-B0C8-C8CAFEA3F9BC}" type="sibTrans" cxnId="{5085D703-269F-475B-A466-9128E59DF4DB}">
      <dgm:t>
        <a:bodyPr xmlns:a="http://schemas.openxmlformats.org/drawingml/2006/main"/>
        <a:lstStyle xmlns:a="http://schemas.openxmlformats.org/drawingml/2006/main"/>
        <a:p xmlns:a="http://schemas.openxmlformats.org/drawingml/2006/main">
          <a:endParaRPr/>
        </a:p>
      </dgm:t>
    </dgm:pt>
    <dgm:pt modelId="{ECD2F61E-7B70-491A-86DE-04FB3702AC1A}">
      <dgm:t>
        <a:bodyPr xmlns:a="http://schemas.openxmlformats.org/drawingml/2006/main"/>
        <a:lstStyle xmlns:a="http://schemas.openxmlformats.org/drawingml/2006/main"/>
        <a:p xmlns:a="http://schemas.openxmlformats.org/drawingml/2006/main">
          <a:pPr>
            <a:buNone/>
            <a:defRPr/>
          </a:pPr>
          <a:r>
            <a:rPr sz="2000" b="1"/>
            <a:t>Off-diagonals of ⟨Z²⟩ </a:t>
          </a:r>
          <a:endParaRPr sz="2000"/>
        </a:p>
      </dgm:t>
    </dgm:pt>
    <dgm:pt modelId="{5BF118ED-DA5A-4CBB-A9DD-D46BC3F42150}" type="parTrans" cxnId="{345F8826-AA81-41B4-A6EE-8B6DE4579C82}">
      <dgm:t>
        <a:bodyPr xmlns:a="http://schemas.openxmlformats.org/drawingml/2006/main"/>
        <a:lstStyle xmlns:a="http://schemas.openxmlformats.org/drawingml/2006/main"/>
        <a:p xmlns:a="http://schemas.openxmlformats.org/drawingml/2006/main">
          <a:endParaRPr/>
        </a:p>
      </dgm:t>
    </dgm:pt>
    <dgm:pt modelId="{6F7BA8C3-CAA7-47F0-B5E7-39568BC32A11}" type="sibTrans" cxnId="{345F8826-AA81-41B4-A6EE-8B6DE4579C82}">
      <dgm:t>
        <a:bodyPr xmlns:a="http://schemas.openxmlformats.org/drawingml/2006/main"/>
        <a:lstStyle xmlns:a="http://schemas.openxmlformats.org/drawingml/2006/main"/>
        <a:p xmlns:a="http://schemas.openxmlformats.org/drawingml/2006/main">
          <a:endParaRPr/>
        </a:p>
      </dgm:t>
    </dgm:pt>
    <dgm:pt modelId="{5D8F544E-F7D5-4CAB-8686-3AC4F00E2F10}" type="pres"/>
    <dgm:pt modelId="{D0933CA5-4D32-4F5B-AFD9-D901AB5F20A1}" type="pres"/>
    <dgm:pt modelId="{88F46E9D-4A6C-4C13-A6B0-E5AB1BF4A304}" type="pres"/>
    <dgm:pt modelId="{DEB91CD6-AB8C-4D56-ACBC-233F7D3EFC06}" type="pres"/>
    <dgm:pt modelId="{9DE1EC9A-C6D3-4267-AF3D-5C9CCFDCB8A6}" type="pres"/>
    <dgm:pt modelId="{959EF260-40BF-47DB-9AEC-194DB3326BC8}" type="pres"/>
    <dgm:pt modelId="{9E4A246D-2EF9-4ABC-8A1A-57E885F121E7}" type="pres"/>
    <dgm:pt modelId="{9D4FF5DB-038B-4A83-931D-79C0BF43525F}" type="pres"/>
    <dgm:pt modelId="{2BDDB84F-36ED-4121-BDCA-8256D4258E39}" type="pres"/>
    <dgm:pt modelId="{8B651696-5ADE-4225-976D-E0787D20350A}" type="pres"/>
  </dgm:ptLst>
  <dgm:cxnLst>
    <dgm:cxn modelId="{5085D703-269F-475B-A466-9128E59DF4DB}" srcId="{ECD2F61E-7B70-491A-86DE-04FB3702AC1A}" destId="{735FD6AE-3E07-4EA0-9A81-6EE65C68EE66}" srcOrd="2" destOrd="0" parTransId="{7DB96ABE-61D0-4695-9071-59CC373BC403}" sibTransId="{E1AC71FA-D9AA-45C4-B0C8-C8CAFEA3F9BC}"/>
    <dgm:cxn modelId="{1E56C41F-B542-4504-96E0-111E3555E94B}" srcId="{ECD2F61E-7B70-491A-86DE-04FB3702AC1A}" destId="{EEB4C6AF-DB8F-46DA-8886-81A2EAB069C5}" srcOrd="1" destOrd="0" parTransId="{E6F98948-DC75-4F81-9BCF-FFA762E3B7C1}" sibTransId="{E74BB737-903A-41CD-9790-18BD95821109}"/>
    <dgm:cxn modelId="{C9CADF24-61B8-4611-A71F-D7DA7A5338ED}" srcId="{E068ED7D-99C4-4CE5-86DF-3B248844AC0F}" destId="{54FEA886-2BE1-4B4F-BD12-A4066D952EC0}" srcOrd="0" destOrd="0" parTransId="{2D33D72E-17CA-4BB8-BA96-1BB8E8CA026C}" sibTransId="{9FBD73DC-4A5F-4C50-B409-DC5997D1FDDE}"/>
    <dgm:cxn modelId="{345F8826-AA81-41B4-A6EE-8B6DE4579C82}" srcId="{54FEA886-2BE1-4B4F-BD12-A4066D952EC0}" destId="{ECD2F61E-7B70-491A-86DE-04FB3702AC1A}" srcOrd="0" destOrd="0" parTransId="{5BF118ED-DA5A-4CBB-A9DD-D46BC3F42150}" sibTransId="{6F7BA8C3-CAA7-47F0-B5E7-39568BC32A11}"/>
    <dgm:cxn modelId="{3D65DA28-8CF2-4632-B644-2E06DAC26C06}" type="presOf" srcId="{54FEA886-2BE1-4B4F-BD12-A4066D952EC0}" destId="{9DE1EC9A-C6D3-4267-AF3D-5C9CCFDCB8A6}" srcOrd="1" destOrd="0" presId="urn:microsoft.com/office/officeart/2005/8/layout/hierarchy3"/>
    <dgm:cxn modelId="{2A70C84A-B7EF-41DB-85E9-70F58980A7F3}" type="presOf" srcId="{54FEA886-2BE1-4B4F-BD12-A4066D952EC0}" destId="{DEB91CD6-AB8C-4D56-ACBC-233F7D3EFC06}" srcOrd="0" destOrd="0" presId="urn:microsoft.com/office/officeart/2005/8/layout/hierarchy3"/>
    <dgm:cxn modelId="{0A98D450-8FF7-482D-8463-38DBA059DDCA}" type="presOf" srcId="{5BF118ED-DA5A-4CBB-A9DD-D46BC3F42150}" destId="{9E4A246D-2EF9-4ABC-8A1A-57E885F121E7}" srcOrd="0" destOrd="0" presId="urn:microsoft.com/office/officeart/2005/8/layout/hierarchy3"/>
    <dgm:cxn modelId="{0A00B079-77A5-49F1-9A04-2B6EEEA37248}" srcId="{9C3B1961-EFEF-4528-918B-F7B83CBF7223}" destId="{05EA9A88-E657-4F6E-9186-71F9978AC0F6}" srcOrd="0" destOrd="0" parTransId="{7CE0017E-2536-4EAC-BEE8-28322F5F82D3}" sibTransId="{06B547BD-8B11-4430-ADF2-40292570A692}"/>
    <dgm:cxn modelId="{292CD57B-47A0-4D39-92CB-F9CD1D1177E3}" srcId="{9C3B1961-EFEF-4528-918B-F7B83CBF7223}" destId="{3FCDC366-9152-491D-A568-2D7D88030E7C}" srcOrd="1" destOrd="0" parTransId="{33BA0F3D-62ED-4DE3-977F-BA01BEB6FA77}" sibTransId="{D3A1178F-9791-499C-8F70-2640822DEA62}"/>
    <dgm:cxn modelId="{58AFC78F-7134-40B2-8725-077FC33EEE3B}" type="presOf" srcId="{05EA9A88-E657-4F6E-9186-71F9978AC0F6}" destId="{8B651696-5ADE-4225-976D-E0787D20350A}" srcOrd="0" destOrd="1" presId="urn:microsoft.com/office/officeart/2005/8/layout/hierarchy3"/>
    <dgm:cxn modelId="{23BBAD9A-2C0F-488B-9E14-1B1D7E28A2FA}" type="presOf" srcId="{0550E3BB-450A-4358-810B-73E57B22EBC0}" destId="{9D4FF5DB-038B-4A83-931D-79C0BF43525F}" srcOrd="0" destOrd="1" presId="urn:microsoft.com/office/officeart/2005/8/layout/hierarchy3"/>
    <dgm:cxn modelId="{69933CA8-9620-4867-AC2C-F8A76012CF5D}" type="presOf" srcId="{ECD2F61E-7B70-491A-86DE-04FB3702AC1A}" destId="{9D4FF5DB-038B-4A83-931D-79C0BF43525F}" srcOrd="0" destOrd="0" presId="urn:microsoft.com/office/officeart/2005/8/layout/hierarchy3"/>
    <dgm:cxn modelId="{8FF161A8-CA99-4525-AA41-1724B8299F13}" type="presOf" srcId="{AC532C7F-9B58-486E-BBCC-1A1784559E85}" destId="{8B651696-5ADE-4225-976D-E0787D20350A}" srcOrd="0" destOrd="3" presId="urn:microsoft.com/office/officeart/2005/8/layout/hierarchy3"/>
    <dgm:cxn modelId="{F89B96AC-49E4-4D2B-9945-762FC7EE6BD3}" type="presOf" srcId="{735FD6AE-3E07-4EA0-9A81-6EE65C68EE66}" destId="{9D4FF5DB-038B-4A83-931D-79C0BF43525F}" srcOrd="0" destOrd="3" presId="urn:microsoft.com/office/officeart/2005/8/layout/hierarchy3"/>
    <dgm:cxn modelId="{7BD4EFAF-BB81-47B2-860C-0F372A4653EA}" type="presOf" srcId="{7A1B5FE8-01C3-4C83-879A-AAE0BF203BF9}" destId="{2BDDB84F-36ED-4121-BDCA-8256D4258E39}" srcOrd="0" destOrd="0" presId="urn:microsoft.com/office/officeart/2005/8/layout/hierarchy3"/>
    <dgm:cxn modelId="{4F27A5CB-BBD0-4190-A6A7-AA2A3EE0C52A}" type="presOf" srcId="{E068ED7D-99C4-4CE5-86DF-3B248844AC0F}" destId="{5D8F544E-F7D5-4CAB-8686-3AC4F00E2F10}" srcOrd="0" destOrd="0" presId="urn:microsoft.com/office/officeart/2005/8/layout/hierarchy3"/>
    <dgm:cxn modelId="{0FA02FD8-4790-493A-9A75-2D3F430B5BAF}" type="presOf" srcId="{9C3B1961-EFEF-4528-918B-F7B83CBF7223}" destId="{8B651696-5ADE-4225-976D-E0787D20350A}" srcOrd="0" destOrd="0" presId="urn:microsoft.com/office/officeart/2005/8/layout/hierarchy3"/>
    <dgm:cxn modelId="{D2F685DC-8BA9-48D0-B744-3FED560A7587}" srcId="{9C3B1961-EFEF-4528-918B-F7B83CBF7223}" destId="{AC532C7F-9B58-486E-BBCC-1A1784559E85}" srcOrd="2" destOrd="0" parTransId="{6F1F6002-E860-4C5D-9AA7-A37A7281C5F2}" sibTransId="{D005BCA2-BF0C-4A1A-96B3-8F06DC0D3CE2}"/>
    <dgm:cxn modelId="{696A23E3-0760-4504-BCED-B84ECD371E6C}" type="presOf" srcId="{3FCDC366-9152-491D-A568-2D7D88030E7C}" destId="{8B651696-5ADE-4225-976D-E0787D20350A}" srcOrd="0" destOrd="2" presId="urn:microsoft.com/office/officeart/2005/8/layout/hierarchy3"/>
    <dgm:cxn modelId="{81C7B9F2-8DAF-414B-A3E4-6F544FC1D40F}" srcId="{ECD2F61E-7B70-491A-86DE-04FB3702AC1A}" destId="{0550E3BB-450A-4358-810B-73E57B22EBC0}" srcOrd="0" destOrd="0" parTransId="{EF142130-BB93-4B3B-8BEC-C7075AB73313}" sibTransId="{5D0952FA-38BE-4A09-897E-56AD1AB487A2}"/>
    <dgm:cxn modelId="{BF9C5DF7-7028-4C4C-8A4E-A9328740E7BE}" type="presOf" srcId="{EEB4C6AF-DB8F-46DA-8886-81A2EAB069C5}" destId="{9D4FF5DB-038B-4A83-931D-79C0BF43525F}" srcOrd="0" destOrd="2" presId="urn:microsoft.com/office/officeart/2005/8/layout/hierarchy3"/>
    <dgm:cxn modelId="{66DAE3F8-811A-4FEB-86A4-E2E4FA369B9D}" srcId="{54FEA886-2BE1-4B4F-BD12-A4066D952EC0}" destId="{9C3B1961-EFEF-4528-918B-F7B83CBF7223}" srcOrd="1" destOrd="0" parTransId="{7A1B5FE8-01C3-4C83-879A-AAE0BF203BF9}" sibTransId="{C0C260B1-E759-40FD-A8C1-2229F2EFF184}"/>
    <dgm:cxn modelId="{A4A2213F-9B48-4222-B1F1-911FD428177C}" type="presParOf" srcId="{5D8F544E-F7D5-4CAB-8686-3AC4F00E2F10}" destId="{D0933CA5-4D32-4F5B-AFD9-D901AB5F20A1}" srcOrd="0" destOrd="0" presId="urn:microsoft.com/office/officeart/2005/8/layout/hierarchy3"/>
    <dgm:cxn modelId="{C9268277-C768-48F9-AB64-478D63E88180}" type="presParOf" srcId="{D0933CA5-4D32-4F5B-AFD9-D901AB5F20A1}" destId="{88F46E9D-4A6C-4C13-A6B0-E5AB1BF4A304}" srcOrd="0" destOrd="0" presId="urn:microsoft.com/office/officeart/2005/8/layout/hierarchy3"/>
    <dgm:cxn modelId="{229C9E05-26C0-4DE2-949D-D8F1A9F0DA48}" type="presParOf" srcId="{88F46E9D-4A6C-4C13-A6B0-E5AB1BF4A304}" destId="{DEB91CD6-AB8C-4D56-ACBC-233F7D3EFC06}" srcOrd="0" destOrd="0" presId="urn:microsoft.com/office/officeart/2005/8/layout/hierarchy3"/>
    <dgm:cxn modelId="{10C85D9A-92AB-4010-9AF8-AAC24EF90188}" type="presParOf" srcId="{88F46E9D-4A6C-4C13-A6B0-E5AB1BF4A304}" destId="{9DE1EC9A-C6D3-4267-AF3D-5C9CCFDCB8A6}" srcOrd="1" destOrd="0" presId="urn:microsoft.com/office/officeart/2005/8/layout/hierarchy3"/>
    <dgm:cxn modelId="{BAAA6345-F3EE-4CF6-898E-8E22BA78CC95}" type="presParOf" srcId="{D0933CA5-4D32-4F5B-AFD9-D901AB5F20A1}" destId="{959EF260-40BF-47DB-9AEC-194DB3326BC8}" srcOrd="1" destOrd="0" presId="urn:microsoft.com/office/officeart/2005/8/layout/hierarchy3"/>
    <dgm:cxn modelId="{3AA8DA6B-4B3F-4D34-9EB1-6A1AB378718E}" type="presParOf" srcId="{959EF260-40BF-47DB-9AEC-194DB3326BC8}" destId="{9E4A246D-2EF9-4ABC-8A1A-57E885F121E7}" srcOrd="0" destOrd="0" presId="urn:microsoft.com/office/officeart/2005/8/layout/hierarchy3"/>
    <dgm:cxn modelId="{B040C795-7724-4230-BEC6-A460D124C740}" type="presParOf" srcId="{959EF260-40BF-47DB-9AEC-194DB3326BC8}" destId="{9D4FF5DB-038B-4A83-931D-79C0BF43525F}" srcOrd="1" destOrd="0" presId="urn:microsoft.com/office/officeart/2005/8/layout/hierarchy3"/>
    <dgm:cxn modelId="{73B15653-4BC6-40A5-A404-20E67078A5BB}" type="presParOf" srcId="{959EF260-40BF-47DB-9AEC-194DB3326BC8}" destId="{2BDDB84F-36ED-4121-BDCA-8256D4258E39}" srcOrd="2" destOrd="0" presId="urn:microsoft.com/office/officeart/2005/8/layout/hierarchy3"/>
    <dgm:cxn modelId="{A786AB4E-CC74-40E2-9DDC-B5625D2E7BFA}" type="presParOf" srcId="{959EF260-40BF-47DB-9AEC-194DB3326BC8}" destId="{8B651696-5ADE-4225-976D-E0787D20350A}" srcOrd="3" destOrd="0" presId="urn:microsoft.com/office/officeart/2005/8/layout/hierarchy3"/>
  </dgm:cxnLst>
</dgm:dataModel>
</file>

<file path=ppt/graphics/data5.xml><?xml version="1.0" encoding="utf-8"?>
<dgm:dataModel xmlns:dgm="http://schemas.openxmlformats.org/drawingml/2006/diagram">
  <dgm:ptLst>
    <dgm:pt modelId="{517D8EAE-97E4-483F-8ECD-82565CE0F655}" type="doc">
      <dgm:t>
        <a:bodyPr xmlns:a="http://schemas.openxmlformats.org/drawingml/2006/main"/>
        <a:lstStyle xmlns:a="http://schemas.openxmlformats.org/drawingml/2006/main"/>
        <a:p xmlns:a="http://schemas.openxmlformats.org/drawingml/2006/main">
          <a:endParaRPr/>
        </a:p>
      </dgm:t>
    </dgm:pt>
    <dgm:pt modelId="{569DCCEC-811E-420A-919E-66B1222074B9}">
      <dgm:t>
        <a:bodyPr xmlns:a="http://schemas.openxmlformats.org/drawingml/2006/main"/>
        <a:lstStyle xmlns:a="http://schemas.openxmlformats.org/drawingml/2006/main"/>
        <a:p xmlns:a="http://schemas.openxmlformats.org/drawingml/2006/main">
          <a:r>
            <a:rPr sz="2000" b="1">
              <a:solidFill>
                <a:schemeClr val="tx1"/>
              </a:solidFill>
            </a:rPr>
            <a:t>Motifs are outside the standard patterns of J</a:t>
          </a:r>
          <a:r>
            <a:rPr sz="2000" b="1" baseline="30000">
              <a:solidFill>
                <a:schemeClr val="tx1"/>
              </a:solidFill>
            </a:rPr>
            <a:t>0</a:t>
          </a:r>
          <a:r>
            <a:rPr/>
            <a:t>
</a:t>
          </a:r>
          <a:r>
            <a:rPr sz="2000" baseline="30000">
              <a:solidFill>
                <a:schemeClr val="tx1"/>
              </a:solidFill>
            </a:rPr>
            <a:t>Deviations from the mean</a:t>
          </a:r>
          <a:endParaRPr sz="2000">
            <a:solidFill>
              <a:schemeClr val="tx1"/>
            </a:solidFill>
          </a:endParaRPr>
        </a:p>
      </dgm:t>
    </dgm:pt>
    <dgm:pt modelId="{25BBD195-3C9B-4BD9-8D3B-61EA4E6626CD}" type="parTrans" cxnId="{6ADE82FB-0101-42B8-80D8-8B5A4E5FAE19}">
      <dgm:t>
        <a:bodyPr xmlns:a="http://schemas.openxmlformats.org/drawingml/2006/main"/>
        <a:lstStyle xmlns:a="http://schemas.openxmlformats.org/drawingml/2006/main"/>
        <a:p xmlns:a="http://schemas.openxmlformats.org/drawingml/2006/main">
          <a:endParaRPr/>
        </a:p>
      </dgm:t>
    </dgm:pt>
    <dgm:pt modelId="{1FEDB50B-4ED6-4365-AFBF-892D8090F0E8}" type="sibTrans" cxnId="{6ADE82FB-0101-42B8-80D8-8B5A4E5FAE19}">
      <dgm:t>
        <a:bodyPr xmlns:a="http://schemas.openxmlformats.org/drawingml/2006/main"/>
        <a:lstStyle xmlns:a="http://schemas.openxmlformats.org/drawingml/2006/main"/>
        <a:p xmlns:a="http://schemas.openxmlformats.org/drawingml/2006/main">
          <a:endParaRPr/>
        </a:p>
      </dgm:t>
    </dgm:pt>
    <dgm:pt modelId="{CD5835FA-809D-45DB-88A6-E18B82CD2319}">
      <dgm:t>
        <a:bodyPr xmlns:a="http://schemas.openxmlformats.org/drawingml/2006/main"/>
        <a:lstStyle xmlns:a="http://schemas.openxmlformats.org/drawingml/2006/main"/>
        <a:p xmlns:a="http://schemas.openxmlformats.org/drawingml/2006/main">
          <a:r>
            <a:rPr sz="2000" b="1"/>
            <a:t>Chain motifs</a:t>
          </a:r>
          <a:r>
            <a:rPr/>
            <a:t>
</a:t>
          </a:r>
          <a:r>
            <a:rPr sz="1800" i="1"/>
            <a:t>Global controllers</a:t>
          </a:r>
          <a:endParaRPr sz="1800"/>
        </a:p>
      </dgm:t>
    </dgm:pt>
    <dgm:pt modelId="{8F764DF0-76D1-4E28-9DF3-C0A635B90C28}" type="parTrans" cxnId="{DD2F1688-BDE7-4DA4-B5CA-503673DF2CB2}">
      <dgm:t>
        <a:bodyPr xmlns:a="http://schemas.openxmlformats.org/drawingml/2006/main"/>
        <a:lstStyle xmlns:a="http://schemas.openxmlformats.org/drawingml/2006/main"/>
        <a:p xmlns:a="http://schemas.openxmlformats.org/drawingml/2006/main">
          <a:endParaRPr/>
        </a:p>
      </dgm:t>
    </dgm:pt>
    <dgm:pt modelId="{CF917162-6EEA-471D-9CC4-62DABB73BF6B}" type="sibTrans" cxnId="{DD2F1688-BDE7-4DA4-B5CA-503673DF2CB2}">
      <dgm:t>
        <a:bodyPr xmlns:a="http://schemas.openxmlformats.org/drawingml/2006/main"/>
        <a:lstStyle xmlns:a="http://schemas.openxmlformats.org/drawingml/2006/main"/>
        <a:p xmlns:a="http://schemas.openxmlformats.org/drawingml/2006/main">
          <a:endParaRPr/>
        </a:p>
      </dgm:t>
    </dgm:pt>
    <dgm:pt modelId="{FD08BF94-FE65-4375-B5AC-779AF63A00EA}">
      <dgm:t>
        <a:bodyPr xmlns:a="http://schemas.openxmlformats.org/drawingml/2006/main"/>
        <a:lstStyle xmlns:a="http://schemas.openxmlformats.org/drawingml/2006/main"/>
        <a:p xmlns:a="http://schemas.openxmlformats.org/drawingml/2006/main">
          <a:r>
            <a:rPr sz="2000" b="1"/>
            <a:t>Reciprocal motifs</a:t>
          </a:r>
          <a:r>
            <a:rPr/>
            <a:t>
</a:t>
          </a:r>
          <a:r>
            <a:rPr sz="1800" i="1"/>
            <a:t>Trapped in the bulk</a:t>
          </a:r>
          <a:endParaRPr sz="2000"/>
        </a:p>
      </dgm:t>
    </dgm:pt>
    <dgm:pt modelId="{687A25F5-F836-4EE4-87A2-14C1B3C841EE}" type="parTrans" cxnId="{5FDF96D6-41A9-4102-95A9-3FE8FE63F43B}">
      <dgm:t>
        <a:bodyPr xmlns:a="http://schemas.openxmlformats.org/drawingml/2006/main"/>
        <a:lstStyle xmlns:a="http://schemas.openxmlformats.org/drawingml/2006/main"/>
        <a:p xmlns:a="http://schemas.openxmlformats.org/drawingml/2006/main">
          <a:endParaRPr/>
        </a:p>
      </dgm:t>
    </dgm:pt>
    <dgm:pt modelId="{4DFF097B-C2AF-4C67-AE86-F65AB87592B8}" type="sibTrans" cxnId="{5FDF96D6-41A9-4102-95A9-3FE8FE63F43B}">
      <dgm:t>
        <a:bodyPr xmlns:a="http://schemas.openxmlformats.org/drawingml/2006/main"/>
        <a:lstStyle xmlns:a="http://schemas.openxmlformats.org/drawingml/2006/main"/>
        <a:p xmlns:a="http://schemas.openxmlformats.org/drawingml/2006/main">
          <a:endParaRPr/>
        </a:p>
      </dgm:t>
    </dgm:pt>
    <dgm:pt modelId="{1E5F3290-5B85-418D-AD06-28E908CA0357}" type="pres"/>
    <dgm:pt modelId="{137F769C-07A0-4178-9CE4-D85EE4067D21}" type="pres"/>
    <dgm:pt modelId="{DD9E1543-FB1F-4075-9776-DD8E25AD0468}" type="pres"/>
    <dgm:pt modelId="{AADDB599-7864-4DE0-A0DB-CE33EB89F4C2}" type="pres"/>
    <dgm:pt modelId="{4A530EDB-DBBB-46CF-9DFA-378EF806C272}" type="pres"/>
    <dgm:pt modelId="{8E92DBA2-8EC1-4156-8653-B56B74854114}" type="pres"/>
    <dgm:pt modelId="{381B8B48-7897-428D-AEAC-6CB4C2393094}" type="pres"/>
    <dgm:pt modelId="{5B17FEC9-3ED8-4282-B84F-B8D4225D8262}" type="pres"/>
    <dgm:pt modelId="{13D4952E-F530-49EE-95AB-B3A63C529A9E}" type="pres"/>
    <dgm:pt modelId="{26109978-6798-4DB8-B895-2278722307B9}" type="pres"/>
  </dgm:ptLst>
  <dgm:cxnLst>
    <dgm:cxn modelId="{14DA9534-1FA8-441C-9813-29CAF8277777}" type="presOf" srcId="{8F764DF0-76D1-4E28-9DF3-C0A635B90C28}" destId="{381B8B48-7897-428D-AEAC-6CB4C2393094}" srcOrd="0" destOrd="0" presId="urn:microsoft.com/office/officeart/2005/8/layout/hierarchy3"/>
    <dgm:cxn modelId="{8D61254E-BBFB-4B45-BCE9-1C6A0DB0508A}" type="presOf" srcId="{CD5835FA-809D-45DB-88A6-E18B82CD2319}" destId="{5B17FEC9-3ED8-4282-B84F-B8D4225D8262}" srcOrd="0" destOrd="0" presId="urn:microsoft.com/office/officeart/2005/8/layout/hierarchy3"/>
    <dgm:cxn modelId="{DD2F1688-BDE7-4DA4-B5CA-503673DF2CB2}" srcId="{569DCCEC-811E-420A-919E-66B1222074B9}" destId="{CD5835FA-809D-45DB-88A6-E18B82CD2319}" srcOrd="0" destOrd="0" parTransId="{8F764DF0-76D1-4E28-9DF3-C0A635B90C28}" sibTransId="{CF917162-6EEA-471D-9CC4-62DABB73BF6B}"/>
    <dgm:cxn modelId="{C23CF18C-28C5-4B57-A028-F33EB195913B}" type="presOf" srcId="{687A25F5-F836-4EE4-87A2-14C1B3C841EE}" destId="{13D4952E-F530-49EE-95AB-B3A63C529A9E}" srcOrd="0" destOrd="0" presId="urn:microsoft.com/office/officeart/2005/8/layout/hierarchy3"/>
    <dgm:cxn modelId="{7D09A197-045A-4BCB-8A8C-5FCD5F04EA35}" type="presOf" srcId="{569DCCEC-811E-420A-919E-66B1222074B9}" destId="{AADDB599-7864-4DE0-A0DB-CE33EB89F4C2}" srcOrd="0" destOrd="0" presId="urn:microsoft.com/office/officeart/2005/8/layout/hierarchy3"/>
    <dgm:cxn modelId="{52B262C9-745B-44C4-9D05-6493079D36DD}" type="presOf" srcId="{FD08BF94-FE65-4375-B5AC-779AF63A00EA}" destId="{26109978-6798-4DB8-B895-2278722307B9}" srcOrd="0" destOrd="0" presId="urn:microsoft.com/office/officeart/2005/8/layout/hierarchy3"/>
    <dgm:cxn modelId="{5FDF96D6-41A9-4102-95A9-3FE8FE63F43B}" srcId="{569DCCEC-811E-420A-919E-66B1222074B9}" destId="{FD08BF94-FE65-4375-B5AC-779AF63A00EA}" srcOrd="1" destOrd="0" parTransId="{687A25F5-F836-4EE4-87A2-14C1B3C841EE}" sibTransId="{4DFF097B-C2AF-4C67-AE86-F65AB87592B8}"/>
    <dgm:cxn modelId="{F56F72E3-C7F7-4FC7-A358-531BA6C1A3D1}" type="presOf" srcId="{569DCCEC-811E-420A-919E-66B1222074B9}" destId="{4A530EDB-DBBB-46CF-9DFA-378EF806C272}" srcOrd="1" destOrd="0" presId="urn:microsoft.com/office/officeart/2005/8/layout/hierarchy3"/>
    <dgm:cxn modelId="{75F27AEB-B794-4F4E-A612-EE2E272FA4B1}" type="presOf" srcId="{517D8EAE-97E4-483F-8ECD-82565CE0F655}" destId="{1E5F3290-5B85-418D-AD06-28E908CA0357}" srcOrd="0" destOrd="0" presId="urn:microsoft.com/office/officeart/2005/8/layout/hierarchy3"/>
    <dgm:cxn modelId="{6ADE82FB-0101-42B8-80D8-8B5A4E5FAE19}" srcId="{517D8EAE-97E4-483F-8ECD-82565CE0F655}" destId="{569DCCEC-811E-420A-919E-66B1222074B9}" srcOrd="0" destOrd="0" parTransId="{25BBD195-3C9B-4BD9-8D3B-61EA4E6626CD}" sibTransId="{1FEDB50B-4ED6-4365-AFBF-892D8090F0E8}"/>
    <dgm:cxn modelId="{9ABB4DB3-55C3-4C03-9539-96790C960BBE}" type="presParOf" srcId="{1E5F3290-5B85-418D-AD06-28E908CA0357}" destId="{137F769C-07A0-4178-9CE4-D85EE4067D21}" srcOrd="0" destOrd="0" presId="urn:microsoft.com/office/officeart/2005/8/layout/hierarchy3"/>
    <dgm:cxn modelId="{FC0410B1-C976-4C99-AB2C-67A119EF76FC}" type="presParOf" srcId="{137F769C-07A0-4178-9CE4-D85EE4067D21}" destId="{DD9E1543-FB1F-4075-9776-DD8E25AD0468}" srcOrd="0" destOrd="0" presId="urn:microsoft.com/office/officeart/2005/8/layout/hierarchy3"/>
    <dgm:cxn modelId="{D88697F6-DAF0-455B-8B06-35582651AF47}" type="presParOf" srcId="{DD9E1543-FB1F-4075-9776-DD8E25AD0468}" destId="{AADDB599-7864-4DE0-A0DB-CE33EB89F4C2}" srcOrd="0" destOrd="0" presId="urn:microsoft.com/office/officeart/2005/8/layout/hierarchy3"/>
    <dgm:cxn modelId="{76C8FAF6-07E6-4ECA-81F6-EE34DD5302F9}" type="presParOf" srcId="{DD9E1543-FB1F-4075-9776-DD8E25AD0468}" destId="{4A530EDB-DBBB-46CF-9DFA-378EF806C272}" srcOrd="1" destOrd="0" presId="urn:microsoft.com/office/officeart/2005/8/layout/hierarchy3"/>
    <dgm:cxn modelId="{19A5FCE3-7BE4-4F72-B130-DA912FE1DC00}" type="presParOf" srcId="{137F769C-07A0-4178-9CE4-D85EE4067D21}" destId="{8E92DBA2-8EC1-4156-8653-B56B74854114}" srcOrd="1" destOrd="0" presId="urn:microsoft.com/office/officeart/2005/8/layout/hierarchy3"/>
    <dgm:cxn modelId="{5A260E43-6195-4947-B4C5-F1C2E2573623}" type="presParOf" srcId="{8E92DBA2-8EC1-4156-8653-B56B74854114}" destId="{381B8B48-7897-428D-AEAC-6CB4C2393094}" srcOrd="0" destOrd="0" presId="urn:microsoft.com/office/officeart/2005/8/layout/hierarchy3"/>
    <dgm:cxn modelId="{0462707E-8E32-40AB-8A31-C50FF4D480F2}" type="presParOf" srcId="{8E92DBA2-8EC1-4156-8653-B56B74854114}" destId="{5B17FEC9-3ED8-4282-B84F-B8D4225D8262}" srcOrd="1" destOrd="0" presId="urn:microsoft.com/office/officeart/2005/8/layout/hierarchy3"/>
    <dgm:cxn modelId="{0DED858A-D8CA-487D-B3B1-9B9555B7553E}" type="presParOf" srcId="{8E92DBA2-8EC1-4156-8653-B56B74854114}" destId="{13D4952E-F530-49EE-95AB-B3A63C529A9E}" srcOrd="2" destOrd="0" presId="urn:microsoft.com/office/officeart/2005/8/layout/hierarchy3"/>
    <dgm:cxn modelId="{7782B25A-C7BD-45A7-8D57-B539F5AA8E95}" type="presParOf" srcId="{8E92DBA2-8EC1-4156-8653-B56B74854114}" destId="{26109978-6798-4DB8-B895-2278722307B9}" srcOrd="3" destOrd="0" presId="urn:microsoft.com/office/officeart/2005/8/layout/hierarchy3"/>
  </dgm:cxnLst>
</dgm:dataModel>
</file>

<file path=ppt/graphics/layout1.xml><?xml version="1.0" encoding="utf-8"?>
<dgm:layoutDef xmlns:dgm="http://schemas.openxmlformats.org/drawingml/2006/diagram">
  <dgm:layoutNode name="Name0">
    <dgm:choose>
      <dgm:if func="var" arg="dir" op="equ" val="norm">
        <dgm:alg type="lin"/>
      </dgm:if>
      <dgm:else>
        <dgm:alg type="lin">
          <dgm:param type="linDir" val="fromR"/>
        </dgm:alg>
      </dgm:else>
    </dgm:choose>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axis="ch" ptType="node">
      <dgm:layoutNode name="composite">
        <dgm:alg type="composite"/>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alg type="tx"/>
          <dgm:shape type="rect"/>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alg type="tx">
            <dgm:param type="stBulletLvl" val="1"/>
          </dgm:alg>
          <dgm:shape type="rect"/>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axis="followSib" ptType="sibTrans" cnt="1">
        <dgm:layoutNode name="space">
          <dgm:alg type="sp"/>
          <dgm:shape/>
          <dgm:presOf/>
          <dgm:constrLst/>
          <dgm:ruleLst/>
        </dgm:layoutNode>
      </dgm:forEach>
    </dgm:forEach>
  </dgm:layoutNode>
</dgm:layoutDef>
</file>

<file path=ppt/graphics/layout2.xml><?xml version="1.0" encoding="utf-8"?>
<dgm:layoutDef xmlns:dgm="http://schemas.openxmlformats.org/drawingml/2006/diagram">
  <dgm:layoutNode name="Name0">
    <dgm:choose>
      <dgm:if func="var" arg="dir" op="equ" val="norm">
        <dgm:alg type="lin"/>
      </dgm:if>
      <dgm:else>
        <dgm:alg type="lin">
          <dgm:param type="linDir" val="fromR"/>
        </dgm:alg>
      </dgm:else>
    </dgm:choose>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axis="ch" ptType="node">
      <dgm:layoutNode name="composite">
        <dgm:alg type="composite"/>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alg type="tx"/>
          <dgm:shape type="rect"/>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alg type="tx">
            <dgm:param type="stBulletLvl" val="1"/>
          </dgm:alg>
          <dgm:shape type="rect"/>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axis="followSib" ptType="sibTrans" cnt="1">
        <dgm:layoutNode name="space">
          <dgm:alg type="sp"/>
          <dgm:shape/>
          <dgm:presOf/>
          <dgm:constrLst/>
          <dgm:ruleLst/>
        </dgm:layoutNode>
      </dgm:forEach>
    </dgm:forEach>
  </dgm:layoutNode>
</dgm:layoutDef>
</file>

<file path=ppt/graphics/layout3.xml><?xml version="1.0" encoding="utf-8"?>
<dgm:layoutDef xmlns:dgm="http://schemas.openxmlformats.org/drawingml/2006/diagram">
  <dgm:layoutNode name="linearFlow">
    <dgm:alg type="lin">
      <dgm:param type="linDir" val="fromT"/>
    </dgm:alg>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axis="ch" ptType="node">
      <dgm:layoutNode name="node">
        <dgm:choose>
          <dgm:if axis="root des" ptType="all node" func="maxDepth" op="gt" val="1">
            <dgm:alg type="tx">
              <dgm:param type="parTxLTRAlign" val="l"/>
              <dgm:param type="parTxRTLAlign" val="r"/>
              <dgm:param type="txAnchorVertCh" val="mid"/>
            </dgm:alg>
          </dgm:if>
          <dgm:else>
            <dgm:alg type="tx"/>
          </dgm:else>
        </dgm:choose>
        <dgm:shape type="roundRect"/>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axis="followSib" ptType="sibTrans" cnt="1">
        <dgm:layoutNode name="sibTrans">
          <dgm:alg type="conn">
            <dgm:param type="begPts" val="auto"/>
            <dgm:param type="endPts" val="auto"/>
          </dgm:alg>
          <dgm:shape type="conn"/>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type="conn"/>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graphics/layout4.xml><?xml version="1.0" encoding="utf-8"?>
<dgm:layoutDef xmlns:dgm="http://schemas.openxmlformats.org/drawingml/2006/diagram">
  <dgm:layoutNode name="diagram">
    <dgm:choose>
      <dgm:if func="var" arg="dir" op="equ" val="norm">
        <dgm:alg type="hierChild">
          <dgm:param type="linDir" val="fromL"/>
        </dgm:alg>
      </dgm:if>
      <dgm:else>
        <dgm:alg type="hierChild">
          <dgm:param type="linDir" val="fromR"/>
        </dgm:alg>
      </dgm:else>
    </dgm:choose>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axis="ch">
      <dgm:forEach axis="self" ptType="node" cnt="1">
        <dgm:layoutNode name="root">
          <dgm:choose>
            <dgm:if func="var" arg="dir" op="equ" val="norm">
              <dgm:alg type="hierRoot">
                <dgm:param type="hierAlign" val="tL"/>
              </dgm:alg>
            </dgm:if>
            <dgm:else>
              <dgm:alg type="hierRoot">
                <dgm:param type="hierAlign" val="tR"/>
              </dgm:alg>
            </dgm:else>
          </dgm:choose>
          <dgm:shape/>
          <dgm:presOf/>
          <dgm:constrLst>
            <dgm:constr type="alignOff" val="0.2"/>
          </dgm:constrLst>
          <dgm:ruleLst/>
          <dgm:layoutNode name="rootComposite">
            <dgm:alg type="composite"/>
            <dgm:shape/>
            <dgm:presOf axis="self" ptType="node" cnt="1"/>
            <dgm:choose>
              <dgm:if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type="roundRect"/>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dgm:alg type="sp"/>
              <dgm:shape type="roundRect"/>
              <dgm:presOf axis="self" ptType="node" cnt="1"/>
              <dgm:constrLst/>
              <dgm:ruleLst/>
            </dgm:layoutNode>
          </dgm:layoutNode>
          <dgm:layoutNode name="childShape">
            <dgm:alg type="hierChild">
              <dgm:param type="chAlign" val="l"/>
              <dgm:param type="linDir" val="fromT"/>
            </dgm:alg>
            <dgm:shape/>
            <dgm:presOf/>
            <dgm:constrLst/>
            <dgm:ruleLst/>
            <dgm:forEach axis="ch">
              <dgm:forEach axis="self" ptType="parTrans" cnt="1">
                <dgm:layoutNode name="Name13">
                  <dgm:choose>
                    <dgm:if func="var" arg="dir" op="equ" val="norm">
                      <dgm:alg type="conn">
                        <dgm:param type="dim" val="1D"/>
                        <dgm:param type="endSty" val="noArr"/>
                        <dgm:param type="connRout" val="bend"/>
                        <dgm:param type="srcNode" val="rootConnector"/>
                        <dgm:param type="begPts" val="bCtr"/>
                        <dgm:param type="endPts" val="midL"/>
                      </dgm:alg>
                    </dgm:if>
                    <dgm:else>
                      <dgm:alg type="conn">
                        <dgm:param type="dim" val="1D"/>
                        <dgm:param type="endSty" val="noArr"/>
                        <dgm:param type="connRout" val="bend"/>
                        <dgm:param type="srcNode" val="rootConnector"/>
                        <dgm:param type="begPts" val="bCtr"/>
                        <dgm:param type="endPts" val="midR"/>
                      </dgm:alg>
                    </dgm:else>
                  </dgm:choose>
                  <dgm:shape type="conn"/>
                  <dgm:presOf axis="self"/>
                  <dgm:constrLst>
                    <dgm:constr type="begPad"/>
                    <dgm:constr type="endPad"/>
                  </dgm:constrLst>
                  <dgm:ruleLst/>
                </dgm:layoutNode>
              </dgm:forEach>
              <dgm:forEach axis="self" ptType="node">
                <dgm:layoutNode name="childText" styleLbl="bgAcc1">
                  <dgm:alg type="tx"/>
                  <dgm:shape type="roundRect"/>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graphics/layout5.xml><?xml version="1.0" encoding="utf-8"?>
<dgm:layoutDef xmlns:dgm="http://schemas.openxmlformats.org/drawingml/2006/diagram">
  <dgm:layoutNode name="diagram">
    <dgm:choose>
      <dgm:if func="var" arg="dir" op="equ" val="norm">
        <dgm:alg type="hierChild">
          <dgm:param type="linDir" val="fromL"/>
        </dgm:alg>
      </dgm:if>
      <dgm:else>
        <dgm:alg type="hierChild">
          <dgm:param type="linDir" val="fromR"/>
        </dgm:alg>
      </dgm:else>
    </dgm:choose>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axis="ch">
      <dgm:forEach axis="self" ptType="node" cnt="1">
        <dgm:layoutNode name="root">
          <dgm:choose>
            <dgm:if func="var" arg="dir" op="equ" val="norm">
              <dgm:alg type="hierRoot">
                <dgm:param type="hierAlign" val="tL"/>
              </dgm:alg>
            </dgm:if>
            <dgm:else>
              <dgm:alg type="hierRoot">
                <dgm:param type="hierAlign" val="tR"/>
              </dgm:alg>
            </dgm:else>
          </dgm:choose>
          <dgm:shape/>
          <dgm:presOf/>
          <dgm:constrLst>
            <dgm:constr type="alignOff" val="0.2"/>
          </dgm:constrLst>
          <dgm:ruleLst/>
          <dgm:layoutNode name="rootComposite">
            <dgm:alg type="composite"/>
            <dgm:shape/>
            <dgm:presOf axis="self" ptType="node" cnt="1"/>
            <dgm:choose>
              <dgm:if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type="roundRect"/>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dgm:alg type="sp"/>
              <dgm:shape type="roundRect"/>
              <dgm:presOf axis="self" ptType="node" cnt="1"/>
              <dgm:constrLst/>
              <dgm:ruleLst/>
            </dgm:layoutNode>
          </dgm:layoutNode>
          <dgm:layoutNode name="childShape">
            <dgm:alg type="hierChild">
              <dgm:param type="chAlign" val="l"/>
              <dgm:param type="linDir" val="fromT"/>
            </dgm:alg>
            <dgm:shape/>
            <dgm:presOf/>
            <dgm:constrLst/>
            <dgm:ruleLst/>
            <dgm:forEach axis="ch">
              <dgm:forEach axis="self" ptType="parTrans" cnt="1">
                <dgm:layoutNode name="Name13">
                  <dgm:choose>
                    <dgm:if func="var" arg="dir" op="equ" val="norm">
                      <dgm:alg type="conn">
                        <dgm:param type="dim" val="1D"/>
                        <dgm:param type="endSty" val="noArr"/>
                        <dgm:param type="connRout" val="bend"/>
                        <dgm:param type="srcNode" val="rootConnector"/>
                        <dgm:param type="begPts" val="bCtr"/>
                        <dgm:param type="endPts" val="midL"/>
                      </dgm:alg>
                    </dgm:if>
                    <dgm:else>
                      <dgm:alg type="conn">
                        <dgm:param type="dim" val="1D"/>
                        <dgm:param type="endSty" val="noArr"/>
                        <dgm:param type="connRout" val="bend"/>
                        <dgm:param type="srcNode" val="rootConnector"/>
                        <dgm:param type="begPts" val="bCtr"/>
                        <dgm:param type="endPts" val="midR"/>
                      </dgm:alg>
                    </dgm:else>
                  </dgm:choose>
                  <dgm:shape type="conn"/>
                  <dgm:presOf axis="self"/>
                  <dgm:constrLst>
                    <dgm:constr type="begPad"/>
                    <dgm:constr type="endPad"/>
                  </dgm:constrLst>
                  <dgm:ruleLst/>
                </dgm:layoutNode>
              </dgm:forEach>
              <dgm:forEach axis="self" ptType="node">
                <dgm:layoutNode name="childText" styleLbl="bgAcc1">
                  <dgm:alg type="tx"/>
                  <dgm:shape type="roundRect"/>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notesMasters/_rels/notesMaster1.xml.rels>&#65279;<?xml version="1.0" encoding="utf-8"?><Relationships xmlns="http://schemas.openxmlformats.org/package/2006/relationships"><Relationship Type="http://schemas.openxmlformats.org/officeDocument/2006/relationships/theme" Target="/ppt/notesMasters/theme/theme5.xml" Id="R932cedfea6ff43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5.xml><?xml version="1.0" encoding="utf-8"?>
<a:theme xmlns:a="http://schemas.openxmlformats.org/drawingml/2006/main" name="Office Theme">
  <a:themeElements>
    <a:clrScheme name="Custom 17">
      <a:dk1>
        <a:srgbClr val="000000"/>
      </a:dk1>
      <a:lt1>
        <a:srgbClr val="FFFFFF"/>
      </a:lt1>
      <a:dk2>
        <a:srgbClr val="005138"/>
      </a:dk2>
      <a:lt2>
        <a:srgbClr val="E7E6E6"/>
      </a:lt2>
      <a:accent1>
        <a:srgbClr val="FFC733"/>
      </a:accent1>
      <a:accent2>
        <a:srgbClr val="333333"/>
      </a:accent2>
      <a:accent3>
        <a:srgbClr val="A5A5A5"/>
      </a:accent3>
      <a:accent4>
        <a:srgbClr val="FFC000"/>
      </a:accent4>
      <a:accent5>
        <a:srgbClr val="5B9BD5"/>
      </a:accent5>
      <a:accent6>
        <a:srgbClr val="70AD47"/>
      </a:accent6>
      <a:hlink>
        <a:srgbClr val="0563C1"/>
      </a:hlink>
      <a:folHlink>
        <a:srgbClr val="954F72"/>
      </a:folHlink>
    </a:clrScheme>
    <a:fontScheme name="Franklin Gothic">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ustom 17">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89bbc4358340ab" /><Relationship Type="http://schemas.openxmlformats.org/officeDocument/2006/relationships/notesMaster" Target="/ppt/notesMasters/notesMaster1.xml" Id="Rec302345976e4a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b3001da03b4c2f" /><Relationship Type="http://schemas.openxmlformats.org/officeDocument/2006/relationships/notesMaster" Target="/ppt/notesMasters/notesMaster1.xml" Id="Reb9b66d3665047d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72c222ad444580" /><Relationship Type="http://schemas.openxmlformats.org/officeDocument/2006/relationships/notesMaster" Target="/ppt/notesMasters/notesMaster1.xml" Id="R2c4b70ef3a83444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a550f7452c04f13" /><Relationship Type="http://schemas.openxmlformats.org/officeDocument/2006/relationships/notesMaster" Target="/ppt/notesMasters/notesMaster1.xml" Id="R717fba10645a4072"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0f72249f7249dd" /><Relationship Type="http://schemas.openxmlformats.org/officeDocument/2006/relationships/notesMaster" Target="/ppt/notesMasters/notesMaster1.xml" Id="R11acb09b8f534d1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ecfae917aaf4538" /><Relationship Type="http://schemas.openxmlformats.org/officeDocument/2006/relationships/notesMaster" Target="/ppt/notesMasters/notesMaster1.xml" Id="R1e55c3455cdc4044" /></Relationships>
</file>

<file path=ppt/notesSlides/_rels/notesSlide7.xml.rels>&#65279;<?xml version="1.0" encoding="utf-8"?><Relationships xmlns="http://schemas.openxmlformats.org/package/2006/relationships"><Relationship Type="http://schemas.openxmlformats.org/officeDocument/2006/relationships/slide" Target="/ppt/slides/slide7.xml" Id="R655579f8329a40e6" /><Relationship Type="http://schemas.openxmlformats.org/officeDocument/2006/relationships/notesMaster" Target="/ppt/notesMasters/notesMaster1.xml" Id="R50141ec19d854844"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bc771a4dcf4955" /><Relationship Type="http://schemas.openxmlformats.org/officeDocument/2006/relationships/notesMaster" Target="/ppt/notesMasters/notesMaster1.xml" Id="R8d778a15eb294954" /></Relationships>
</file>

<file path=ppt/notesSlides/_rels/notesSlide9.xml.rels>&#65279;<?xml version="1.0" encoding="utf-8"?><Relationships xmlns="http://schemas.openxmlformats.org/package/2006/relationships"><Relationship Type="http://schemas.openxmlformats.org/officeDocument/2006/relationships/slide" Target="/ppt/slides/slide9.xml" Id="R52393a64dcb44123" /><Relationship Type="http://schemas.openxmlformats.org/officeDocument/2006/relationships/notesMaster" Target="/ppt/notesMasters/notesMaster1.xml" Id="Rb5d0d3d2bb5e4c0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7c1a20cd34c4127" /><Relationship Type="http://schemas.openxmlformats.org/officeDocument/2006/relationships/notesMaster" Target="/ppt/notesMasters/notesMaster1.xml" Id="Re6528bfb29c14f6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8dc3f032d5d43d2" /><Relationship Type="http://schemas.openxmlformats.org/officeDocument/2006/relationships/notesMaster" Target="/ppt/notesMasters/notesMaster1.xml" Id="R1c72c93c365e4e5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d6d9d2169734b66" /><Relationship Type="http://schemas.openxmlformats.org/officeDocument/2006/relationships/notesMaster" Target="/ppt/notesMasters/notesMaster1.xml" Id="R8568da8e3f70469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216a9972469404e" /><Relationship Type="http://schemas.openxmlformats.org/officeDocument/2006/relationships/notesMaster" Target="/ppt/notesMasters/notesMaster1.xml" Id="Rc922c8d66aea4d6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e0a6ea8c6864c70" /><Relationship Type="http://schemas.openxmlformats.org/officeDocument/2006/relationships/notesMaster" Target="/ppt/notesMasters/notesMaster1.xml" Id="Reae763425e9647f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10501a72e024630" /><Relationship Type="http://schemas.openxmlformats.org/officeDocument/2006/relationships/notesMaster" Target="/ppt/notesMasters/notesMaster1.xml" Id="Rd4401b8c45f0497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347ef2cd6ab4c56" /><Relationship Type="http://schemas.openxmlformats.org/officeDocument/2006/relationships/notesMaster" Target="/ppt/notesMasters/notesMaster1.xml" Id="R49b03b47692149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defTabSz="937900">
              <a:buNone/>
            </a:pPr>
            <a:r>
              <a:rPr sz="1200">
                <a:solidFill>
                  <a:schemeClr val="tx1"/>
                </a:solidFill>
                <a:latin typeface="+mn-lt"/>
                <a:ea typeface="+mn-lt"/>
                <a:cs typeface="+mn-lt"/>
              </a:rPr>
              <a:t>Hi, my name is Roxanne Aniceto a second year PhD student in the Bioinformatics &amp; Computational Biology program. Today I'll talk about a 2025 paper by Shao et al titled “Impact of Local Connectivity Patterns on Excitatory-Inhibitory Network Dynamics that asks a pretty simple question: does it actually matter how neurons are wired together — not just how many connections there are, but the specific patterns?"</a:t>
            </a:r>
            <a:r>
              <a:rPr sz="1200" b="1">
                <a:solidFill>
                  <a:schemeClr val="tx1"/>
                </a:solidFill>
                <a:latin typeface="+mn-lt"/>
                <a:ea typeface="+mn-lt"/>
                <a:cs typeface="+mn-lt"/>
              </a:rPr>
              <a:t>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lvl="0">
              <a:buNone/>
            </a:pPr>
            <a:r>
              <a:rPr sz="1200" i="1">
                <a:solidFill>
                  <a:schemeClr val="tx1"/>
                </a:solidFill>
                <a:latin typeface="+mn-lt"/>
                <a:ea typeface="+mn-lt"/>
                <a:cs typeface="+mn-lt"/>
              </a:rPr>
              <a:t>"Classic models just assumed connections were random — like a crowd of strangers, any neuron could talk to any other with equal probability. But when you actually look at real brain data, that's not what you see. Neurons have preferred partners. They form these small repeating patterns — cliques, feedback loops — and the paper calls these motifs. So the question is: do these patterns change how the network behaves? And if so, how?"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i="1">
                <a:solidFill>
                  <a:schemeClr val="tx1"/>
                </a:solidFill>
                <a:latin typeface="+mn-lt"/>
                <a:ea typeface="+mn-lt"/>
                <a:cs typeface="+mn-lt"/>
              </a:rPr>
              <a:t>"To answer that we need a model. The brain has two flavors of neurons — excitatory ones that fire each other up, and inhibitory ones that calm things down. Think of E neurons as the hype guests at a party and I neurons as whoever's trying to keep things from getting out of hand.</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The connectivity is captured in J — one matrix that encodes all of those E and I interactions. We split it into J-naught, the mean structure, plus Z, the random deviations. This other equation is r-star — the steady-state. 's where the system naturally wants to live given its wiring and its inputs, and remains when everything is settled. Within it, we have The response matrix (I minus J) inverse that connects the external input through the internal connectivity to produce r-star.</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a:t>
            </a:r>
            <a:endParaRPr i="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i="1">
                <a:solidFill>
                  <a:schemeClr val="tx1"/>
                </a:solidFill>
                <a:latin typeface="+mn-lt"/>
                <a:ea typeface="+mn-lt"/>
                <a:cs typeface="+mn-lt"/>
              </a:rPr>
              <a:t>"So we have E neurons that amplify and I neurons that suppress. The question is: what happens when those interactions aren't random — when specific pairs and triplets of neurons connect in repeating patterns?</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The paper focuses on two motif types. Chains — </a:t>
            </a:r>
            <a:r>
              <a:rPr sz="1200" i="1">
                <a:solidFill>
                  <a:schemeClr val="tx1"/>
                </a:solidFill>
                <a:latin typeface="+mn-lt"/>
                <a:ea typeface="+mn-lt"/>
                <a:cs typeface="+mn-lt"/>
              </a:rPr>
              <a:t>i</a:t>
            </a:r>
            <a:r>
              <a:rPr sz="1200" i="1">
                <a:solidFill>
                  <a:schemeClr val="tx1"/>
                </a:solidFill>
                <a:latin typeface="+mn-lt"/>
                <a:ea typeface="+mn-lt"/>
                <a:cs typeface="+mn-lt"/>
              </a:rPr>
              <a:t> talks to j, j talks to k, a one-way relay. In an E-I network, a chain could be an E neuron exciting another E neuron which then drives an I neuron — or purely E-to-E, where excitation keeps passing forward and amplifying as it goes. That self-propagating quality is what makes chains powerful at the network level.</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Reciprocals — </a:t>
            </a:r>
            <a:r>
              <a:rPr sz="1200" i="1">
                <a:solidFill>
                  <a:schemeClr val="tx1"/>
                </a:solidFill>
                <a:latin typeface="+mn-lt"/>
                <a:ea typeface="+mn-lt"/>
                <a:cs typeface="+mn-lt"/>
              </a:rPr>
              <a:t>i</a:t>
            </a:r>
            <a:r>
              <a:rPr sz="1200" i="1">
                <a:solidFill>
                  <a:schemeClr val="tx1"/>
                </a:solidFill>
                <a:latin typeface="+mn-lt"/>
                <a:ea typeface="+mn-lt"/>
                <a:cs typeface="+mn-lt"/>
              </a:rPr>
              <a:t> and j talk back to each other. In E-I terms this could be an E neuron exciting an I neuron which feeds back to suppress it — a classic feedback loop. Or two E neurons sustaining each other locally. The key is that the loop is closed between just those two neurons — the excitation doesn't travel anywhere new.</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And here's something worth noting: in both cases, inhibitory neurons don't have an independent on-switch. They only activate when excitatory neurons drive them. Keep that in mind — it becomes important later.</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The critical difference between chains and reciprocals comes down to how their influence scales with network size — but we'll come back to that once we see what they do to the </a:t>
            </a:r>
            <a:r>
              <a:rPr sz="1200" i="1">
                <a:solidFill>
                  <a:schemeClr val="tx1"/>
                </a:solidFill>
                <a:latin typeface="+mn-lt"/>
                <a:ea typeface="+mn-lt"/>
                <a:cs typeface="+mn-lt"/>
              </a:rPr>
              <a:t>eigenspectrum</a:t>
            </a:r>
            <a:r>
              <a:rPr sz="1200" i="1">
                <a:solidFill>
                  <a:schemeClr val="tx1"/>
                </a:solidFill>
                <a:latin typeface="+mn-lt"/>
                <a:ea typeface="+mn-lt"/>
                <a:cs typeface="+mn-lt"/>
              </a:rPr>
              <a:t>. For now: chains propagate, reciprocals contain. That distinction is the whole story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i="1">
                <a:solidFill>
                  <a:schemeClr val="tx1"/>
                </a:solidFill>
                <a:latin typeface="+mn-lt"/>
                <a:ea typeface="+mn-lt"/>
                <a:cs typeface="+mn-lt"/>
              </a:rPr>
              <a:t>"The full matrix looks like noise — dense and impossible to read directly. But when you split it into J-naught and Z, a clean picture emerges.</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J-naught is the mean structure — just the dominant patterns, approximated from the full matrix by keeping the most important directions and throwing away the rest. In the E-I case that gives you four blocks: E-E, E-I, I-E, I-I.</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Z is everything left over. Every deviation from the mean. </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The authors modeled Z as Gaussian with mean zero — which is biologically reasonable and mathematically convenient for what comes next.</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J-naught alone captures most of the network's behavior. But Z still matters — in a specific and tractable way we're about to see."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i="1">
                <a:solidFill>
                  <a:schemeClr val="tx1"/>
                </a:solidFill>
                <a:latin typeface="+mn-lt"/>
                <a:ea typeface="+mn-lt"/>
                <a:cs typeface="+mn-lt"/>
              </a:rPr>
              <a:t>"Okay so what you're looking at is the </a:t>
            </a:r>
            <a:r>
              <a:rPr sz="1200" i="1">
                <a:solidFill>
                  <a:schemeClr val="tx1"/>
                </a:solidFill>
                <a:latin typeface="+mn-lt"/>
                <a:ea typeface="+mn-lt"/>
                <a:cs typeface="+mn-lt"/>
              </a:rPr>
              <a:t>eigenspectrum</a:t>
            </a:r>
            <a:r>
              <a:rPr sz="1200" i="1">
                <a:solidFill>
                  <a:schemeClr val="tx1"/>
                </a:solidFill>
                <a:latin typeface="+mn-lt"/>
                <a:ea typeface="+mn-lt"/>
                <a:cs typeface="+mn-lt"/>
              </a:rPr>
              <a:t> of J, plotted in the complex plane. Every dot is an eigenvalue — a collective pattern of activity across the whole network. The horizontal axis tells you stability: negative real part means that pattern decays, positive means it grows. The vertical axis tells you whether and how fast it oscillates.</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The big gray cloud is the bulk — dominated by Z, the random part. Because Z is Gaussian, we get a circular disk of eigenvalues. Its radius is set by how variable the random weights are.</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The lone red dot to the left is λ₀ — the outlier driven by J-naught. It's sitting on the negative side because the network is inhibition-dominated — it's a stabilizing mode, pulling activity back toward rest.</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The dashed line on the right at Re(λ) = 1 is the instability boundary. It comes directly from the response matrix — when J has an eigenvalue equal to 1, the inverse blows up and the network has no finite steady state. Cross that line and the network destabilizes.</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Here's the key point: motifs don't move the bulk at all. They only move outliers. Chains push a brand new outlier λ₂ out toward that boundary, and that effect grows with N. Reciprocals nudge λ₀ further left into safety, independently of N.</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The whole stability story comes down to where λ₂ lands. And to predict that, the authors build one clean matrix that captures everything — J-eff."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i="1">
                <a:solidFill>
                  <a:schemeClr val="tx1"/>
                </a:solidFill>
                <a:latin typeface="+mn-lt"/>
                <a:ea typeface="+mn-lt"/>
                <a:cs typeface="+mn-lt"/>
              </a:rPr>
              <a:t>"So what is J-eff and why do we care?</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Four steps on the left. Start with J, decompose into J-naught plus Z, take the second-order correction — the average of Z-squared, ⟨Z²⟩ — add it onto J-naught, and you get J-eff. It's deterministic, it has no randomness in it, and you can compute it directly.</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The main payoff: J-eff lets you predict r-star without any simulation. Same response equation as before, but J is replaced by J-eff, which has already absorbed the mean structure and the motif corrections. Instead of running thousands of simulations and averaging, you just invert J-eff once. That's it.</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It also predicts something classical models completely miss — the paradoxical response. More on that in a second.</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For anyone working with empirical data: decompose your weight matrix, compute ⟨Z²⟩, build J-eff. That's the whole recipe.</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But why does J-eff have that specific form? Because motifs leave a fingerprint in the statistics of Z — and ⟨Z²⟩ is exactly where that fingerprint shows up."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i="1">
                <a:solidFill>
                  <a:schemeClr val="tx1"/>
                </a:solidFill>
                <a:latin typeface="+mn-lt"/>
                <a:ea typeface="+mn-lt"/>
                <a:cs typeface="+mn-lt"/>
              </a:rPr>
              <a:t>"This slide traces the path from motif to matrix entry.</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Both chain and reciprocal motifs live in Z — they're deviations from the mean, not part of J-naught. But Z on its own averages to zero. Individual weights go up and down and cancel out. First order: nothing.</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But when you square Z, the sign disappears. Positive times positive, negative times negative — both positive. The correlated pairs — the ones that form motifs — stop cancelling and start accumulating. That's ⟨Z²⟩, and it carries the motif fingerprint that Z alone couldn't.</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Chains go into the off-diagonal entries of ⟨Z²⟩ — those are the cross-neuron terms, connections between different neurons. Every new neuron you add creates more potential chain paths, so those entries grow with N. That's what pushes λ₂ out of the bulk.</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Reciprocals go into the diagonal entries — a neuron's self-interaction mediated through its reciprocal partner. Fixed, doesn't grow with N. Nudges λ₀ left by a constant amount.</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J-eff absorbs both. It's what the network effectively experiences — the one matrix you need to predict steady-state behavior without simulating every synapse.</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So what does it actually predict that classical models miss?"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i="1">
                <a:solidFill>
                  <a:schemeClr val="tx1"/>
                </a:solidFill>
                <a:latin typeface="+mn-lt"/>
                <a:ea typeface="+mn-lt"/>
                <a:cs typeface="+mn-lt"/>
              </a:rPr>
              <a:t>"This is the most counterintuitive result in the paper. When chain motifs are strong enough — when λ₂ is pushing toward the instability boundary — the network enters a regime where stimulating inhibition harder actually reduces inhibitory activity. More inhibition leads to less inhibition.</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Why? In an inhibition-stabilized network, I neurons have no independent drive — they only fire because E neurons are activating them. When you stimulate I harder, inhibition goes up, which suppresses E. But as E drops, I neurons lose their only drive source and follow E back down — below where they started.</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Two things have to be true for this to happen: the network has to be inhibition-stabilized, and E-to-E coupling has to be strong — which is exactly what chain motifs create. So the paradoxical response isn't just a curiosity. It's a direct consequence of chain motifs pushing λ₂ toward the instability boundary. The </a:t>
            </a:r>
            <a:r>
              <a:rPr sz="1200" i="1">
                <a:solidFill>
                  <a:schemeClr val="tx1"/>
                </a:solidFill>
                <a:latin typeface="+mn-lt"/>
                <a:ea typeface="+mn-lt"/>
                <a:cs typeface="+mn-lt"/>
              </a:rPr>
              <a:t>eigenspectrum</a:t>
            </a:r>
            <a:r>
              <a:rPr sz="1200" i="1">
                <a:solidFill>
                  <a:schemeClr val="tx1"/>
                </a:solidFill>
                <a:latin typeface="+mn-lt"/>
                <a:ea typeface="+mn-lt"/>
                <a:cs typeface="+mn-lt"/>
              </a:rPr>
              <a:t> predicted it, and J-eff formalizes it." and it's been observed experimentally in both mouse and the human cortex."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mn-lt"/>
                <a:ea typeface="+mn-lt"/>
                <a:cs typeface="+mn-lt"/>
              </a:rPr>
              <a:t>"So the takeaway is this. Classic random-network theory assumes independence — but motifs break that assumption and the consequences are real. Chains dominate at scale because their influence grows with N. A handful of outlier eigenmodes govern the whole network response. J-eff captures all of it in one deterministic matrix — predicting steady-state behavior and paradoxical responses that classical models miss entirely. The bottom line: structure matters more than averages.   </a:t>
            </a:r>
            <a:r>
              <a:rPr sz="1200" i="1">
                <a:solidFill>
                  <a:schemeClr val="tx1"/>
                </a:solidFill>
                <a:latin typeface="+mn-lt"/>
                <a:ea typeface="+mn-lt"/>
                <a:cs typeface="+mn-lt"/>
              </a:rPr>
              <a:t>Two networks with identical averages can behave completely differently — the wiring pattern is the hidden variable."</a:t>
            </a:r>
            <a:r>
              <a:rPr sz="1200">
                <a:solidFill>
                  <a:schemeClr val="tx1"/>
                </a:solidFill>
                <a:latin typeface="+mn-lt"/>
                <a:ea typeface="+mn-lt"/>
                <a:cs typeface="+mn-lt"/>
              </a:rPr>
              <a:t>   </a:t>
            </a:r>
            <a:r>
              <a:rPr sz="1200" i="1">
                <a:solidFill>
                  <a:schemeClr val="tx1"/>
                </a:solidFill>
                <a:latin typeface="+mn-lt"/>
                <a:ea typeface="+mn-lt"/>
                <a:cs typeface="+mn-lt"/>
              </a:rPr>
              <a:t>"Averages tell you the rules. Motifs tell you who breaks them — and that's what drives the dynamics."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mn-lt"/>
                <a:ea typeface="+mn-lt"/>
                <a:cs typeface="+mn-lt"/>
              </a:rPr>
              <a:t>Use this slide to shift from the paper summary into the empirical extension. Emphasize that no synthetic networks were generated.</a:t>
            </a:r>
            <a:endParaRPr/>
          </a:p>
          <a:p xmlns:a="http://schemas.openxmlformats.org/drawingml/2006/main">
            <a:r>
              <a:rPr sz="1200">
                <a:solidFill>
                  <a:schemeClr val="tx1"/>
                </a:solidFill>
                <a:latin typeface="+mn-lt"/>
                <a:ea typeface="+mn-lt"/>
                <a:cs typeface="+mn-lt"/>
              </a:rPr>
              <a:t/>
            </a:r>
            <a:endParaRPr/>
          </a:p>
          <a:p xmlns:a="http://schemas.openxmlformats.org/drawingml/2006/main">
            <a:r>
              <a:rPr sz="1200">
                <a:solidFill>
                  <a:schemeClr val="tx1"/>
                </a:solidFill>
                <a:latin typeface="+mn-lt"/>
                <a:ea typeface="+mn-lt"/>
                <a:cs typeface="+mn-lt"/>
              </a:rPr>
              <a:t>[Sources]</a:t>
            </a:r>
            <a:endParaRPr/>
          </a:p>
          <a:p xmlns:a="http://schemas.openxmlformats.org/drawingml/2006/main">
            <a:r>
              <a:rPr sz="1200">
                <a:solidFill>
                  <a:schemeClr val="tx1"/>
                </a:solidFill>
                <a:latin typeface="+mn-lt"/>
                <a:ea typeface="+mn-lt"/>
                <a:cs typeface="+mn-lt"/>
              </a:rPr>
              <a:t>- data/mij_matrix.csv</a:t>
            </a:r>
            <a:endParaRPr/>
          </a:p>
          <a:p xmlns:a="http://schemas.openxmlformats.org/drawingml/2006/main">
            <a:r>
              <a:rPr sz="1200">
                <a:solidFill>
                  <a:schemeClr val="tx1"/>
                </a:solidFill>
                <a:latin typeface="+mn-lt"/>
                <a:ea typeface="+mn-lt"/>
                <a:cs typeface="+mn-lt"/>
              </a:rPr>
              <a:t>- data/mij_netlist.csv</a:t>
            </a:r>
            <a:endParaRPr/>
          </a:p>
          <a:p xmlns:a="http://schemas.openxmlformats.org/drawingml/2006/main">
            <a:r>
              <a:rPr sz="1200">
                <a:solidFill>
                  <a:schemeClr val="tx1"/>
                </a:solidFill>
                <a:latin typeface="+mn-lt"/>
                <a:ea typeface="+mn-lt"/>
                <a:cs typeface="+mn-lt"/>
              </a:rPr>
              <a:t>- outputs/mij_paper_replication/metadata.csv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mn-lt"/>
                <a:ea typeface="+mn-lt"/>
                <a:cs typeface="+mn-lt"/>
              </a:rPr>
              <a:t>Block summary: note the strong I-receiver/E-sender mean and the sparse E-receiver/I-sender block.</a:t>
            </a:r>
            <a:endParaRPr/>
          </a:p>
          <a:p xmlns:a="http://schemas.openxmlformats.org/drawingml/2006/main">
            <a:r>
              <a:rPr sz="1200">
                <a:solidFill>
                  <a:schemeClr val="tx1"/>
                </a:solidFill>
                <a:latin typeface="+mn-lt"/>
                <a:ea typeface="+mn-lt"/>
                <a:cs typeface="+mn-lt"/>
              </a:rPr>
              <a:t/>
            </a:r>
            <a:endParaRPr/>
          </a:p>
          <a:p xmlns:a="http://schemas.openxmlformats.org/drawingml/2006/main">
            <a:r>
              <a:rPr sz="1200">
                <a:solidFill>
                  <a:schemeClr val="tx1"/>
                </a:solidFill>
                <a:latin typeface="+mn-lt"/>
                <a:ea typeface="+mn-lt"/>
                <a:cs typeface="+mn-lt"/>
              </a:rPr>
              <a:t>[Sources]</a:t>
            </a:r>
            <a:endParaRPr/>
          </a:p>
          <a:p xmlns:a="http://schemas.openxmlformats.org/drawingml/2006/main">
            <a:r>
              <a:rPr sz="1200">
                <a:solidFill>
                  <a:schemeClr val="tx1"/>
                </a:solidFill>
                <a:latin typeface="+mn-lt"/>
                <a:ea typeface="+mn-lt"/>
                <a:cs typeface="+mn-lt"/>
              </a:rPr>
              <a:t>- outputs/mij_paper_replication/ei_block_summary.csv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mn-lt"/>
                <a:ea typeface="+mn-lt"/>
                <a:cs typeface="+mn-lt"/>
              </a:rPr>
              <a:t>The full empirical matrix is normalized to spectral radius 1. The very large condition number is why the radius-one response should be read as an instability-boundary diagnostic.</a:t>
            </a:r>
            <a:endParaRPr/>
          </a:p>
          <a:p xmlns:a="http://schemas.openxmlformats.org/drawingml/2006/main">
            <a:r>
              <a:rPr sz="1200">
                <a:solidFill>
                  <a:schemeClr val="tx1"/>
                </a:solidFill>
                <a:latin typeface="+mn-lt"/>
                <a:ea typeface="+mn-lt"/>
                <a:cs typeface="+mn-lt"/>
              </a:rPr>
              <a:t/>
            </a:r>
            <a:endParaRPr/>
          </a:p>
          <a:p xmlns:a="http://schemas.openxmlformats.org/drawingml/2006/main">
            <a:r>
              <a:rPr sz="1200">
                <a:solidFill>
                  <a:schemeClr val="tx1"/>
                </a:solidFill>
                <a:latin typeface="+mn-lt"/>
                <a:ea typeface="+mn-lt"/>
                <a:cs typeface="+mn-lt"/>
              </a:rPr>
              <a:t>[Sources]</a:t>
            </a:r>
            <a:endParaRPr/>
          </a:p>
          <a:p xmlns:a="http://schemas.openxmlformats.org/drawingml/2006/main">
            <a:r>
              <a:rPr sz="1200">
                <a:solidFill>
                  <a:schemeClr val="tx1"/>
                </a:solidFill>
                <a:latin typeface="+mn-lt"/>
                <a:ea typeface="+mn-lt"/>
                <a:cs typeface="+mn-lt"/>
              </a:rPr>
              <a:t>- outputs/mij_paper_replication/metadata.csv</a:t>
            </a:r>
            <a:endParaRPr/>
          </a:p>
          <a:p xmlns:a="http://schemas.openxmlformats.org/drawingml/2006/main">
            <a:r>
              <a:rPr sz="1200">
                <a:solidFill>
                  <a:schemeClr val="tx1"/>
                </a:solidFill>
                <a:latin typeface="+mn-lt"/>
                <a:ea typeface="+mn-lt"/>
                <a:cs typeface="+mn-lt"/>
              </a:rPr>
              <a:t>- outputs/mij_paper_replication/leading_eigenvalues.csv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mn-lt"/>
                <a:ea typeface="+mn-lt"/>
                <a:cs typeface="+mn-lt"/>
              </a:rPr>
              <a:t>Jeff summarizes the paper's effective-connectivity approximation on the empirical matrix. Its radius is above 1 because Jeff is a derived matrix, not the normalized input J.</a:t>
            </a:r>
            <a:endParaRPr/>
          </a:p>
          <a:p xmlns:a="http://schemas.openxmlformats.org/drawingml/2006/main">
            <a:r>
              <a:rPr sz="1200">
                <a:solidFill>
                  <a:schemeClr val="tx1"/>
                </a:solidFill>
                <a:latin typeface="+mn-lt"/>
                <a:ea typeface="+mn-lt"/>
                <a:cs typeface="+mn-lt"/>
              </a:rPr>
              <a:t/>
            </a:r>
            <a:endParaRPr/>
          </a:p>
          <a:p xmlns:a="http://schemas.openxmlformats.org/drawingml/2006/main">
            <a:r>
              <a:rPr sz="1200">
                <a:solidFill>
                  <a:schemeClr val="tx1"/>
                </a:solidFill>
                <a:latin typeface="+mn-lt"/>
                <a:ea typeface="+mn-lt"/>
                <a:cs typeface="+mn-lt"/>
              </a:rPr>
              <a:t>[Sources]</a:t>
            </a:r>
            <a:endParaRPr/>
          </a:p>
          <a:p xmlns:a="http://schemas.openxmlformats.org/drawingml/2006/main">
            <a:r>
              <a:rPr sz="1200">
                <a:solidFill>
                  <a:schemeClr val="tx1"/>
                </a:solidFill>
                <a:latin typeface="+mn-lt"/>
                <a:ea typeface="+mn-lt"/>
                <a:cs typeface="+mn-lt"/>
              </a:rPr>
              <a:t>- outputs/mij_paper_replication/metadata.csv</a:t>
            </a:r>
            <a:endParaRPr/>
          </a:p>
          <a:p xmlns:a="http://schemas.openxmlformats.org/drawingml/2006/main">
            <a:r>
              <a:rPr sz="1200">
                <a:solidFill>
                  <a:schemeClr val="tx1"/>
                </a:solidFill>
                <a:latin typeface="+mn-lt"/>
                <a:ea typeface="+mn-lt"/>
                <a:cs typeface="+mn-lt"/>
              </a:rPr>
              <a:t>- outputs/mij_paper_replication/jeff_leading_eigenvalues.csv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mn-lt"/>
                <a:ea typeface="+mn-lt"/>
                <a:cs typeface="+mn-lt"/>
              </a:rPr>
              <a:t>This slide reports deterministic motif enrichment from the empirical binary graph, not a synthetic-network simulation.</a:t>
            </a:r>
            <a:endParaRPr/>
          </a:p>
          <a:p xmlns:a="http://schemas.openxmlformats.org/drawingml/2006/main">
            <a:r>
              <a:rPr sz="1200">
                <a:solidFill>
                  <a:schemeClr val="tx1"/>
                </a:solidFill>
                <a:latin typeface="+mn-lt"/>
                <a:ea typeface="+mn-lt"/>
                <a:cs typeface="+mn-lt"/>
              </a:rPr>
              <a:t/>
            </a:r>
            <a:endParaRPr/>
          </a:p>
          <a:p xmlns:a="http://schemas.openxmlformats.org/drawingml/2006/main">
            <a:r>
              <a:rPr sz="1200">
                <a:solidFill>
                  <a:schemeClr val="tx1"/>
                </a:solidFill>
                <a:latin typeface="+mn-lt"/>
                <a:ea typeface="+mn-lt"/>
                <a:cs typeface="+mn-lt"/>
              </a:rPr>
              <a:t>[Sources]</a:t>
            </a:r>
            <a:endParaRPr/>
          </a:p>
          <a:p xmlns:a="http://schemas.openxmlformats.org/drawingml/2006/main">
            <a:r>
              <a:rPr sz="1200">
                <a:solidFill>
                  <a:schemeClr val="tx1"/>
                </a:solidFill>
                <a:latin typeface="+mn-lt"/>
                <a:ea typeface="+mn-lt"/>
                <a:cs typeface="+mn-lt"/>
              </a:rPr>
              <a:t>- outputs/mij_paper_replication/binary_motif_enrichment.csv</a:t>
            </a:r>
            <a:endParaRPr/>
          </a:p>
          <a:p xmlns:a="http://schemas.openxmlformats.org/drawingml/2006/main">
            <a:r>
              <a:rPr sz="1200">
                <a:solidFill>
                  <a:schemeClr val="tx1"/>
                </a:solidFill>
                <a:latin typeface="+mn-lt"/>
                <a:ea typeface="+mn-lt"/>
                <a:cs typeface="+mn-lt"/>
              </a:rPr>
              <a:t>- outputs/mij_paper_replication/motif_correlations.csv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chain sweep perturbs the empirical Jeff chain component deterministically. The crossing between 0.50x and 0.75x supports the stability-boundary interpretation.</a:t>
            </a:r>
          </a:p>
          <a:p xmlns:a="http://schemas.openxmlformats.org/drawingml/2006/main">
            <a:r>
              <a:t/>
            </a:r>
          </a:p>
          <a:p xmlns:a="http://schemas.openxmlformats.org/drawingml/2006/main">
            <a:r>
              <a:t>[Sources]</a:t>
            </a:r>
          </a:p>
          <a:p xmlns:a="http://schemas.openxmlformats.org/drawingml/2006/main">
            <a:r>
              <a:t>- outputs/mij_paper_replication/chain_enrichment_sweep.csv</a:t>
            </a:r>
          </a:p>
          <a:p xmlns:a="http://schemas.openxmlformats.org/drawingml/2006/main">
            <a:r>
              <a:t>- outputs/mij_paper_replication/dominant_eigenvalue_block_sensitivity.csv</a:t>
            </a:r>
          </a:p>
          <a:p xmlns:a="http://schemas.openxmlformats.org/drawingml/2006/main">
            <a:r>
              <a:t>- outputs/mij_paper_replication/population_responses.csv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bf2abe60324d2b" /><Relationship Type="http://schemas.openxmlformats.org/officeDocument/2006/relationships/image" Target="/ppt/media/image.png" Id="Rd89578bfd5b54bc2" /><Relationship Type="http://schemas.openxmlformats.org/officeDocument/2006/relationships/image" Target="/ppt/media/image2.png" Id="R9debce3d2bb34798" /><Relationship Type="http://schemas.openxmlformats.org/officeDocument/2006/relationships/image" Target="/ppt/media/image3.png" Id="Raf8a67359a9a4eb9" /><Relationship Type="http://schemas.openxmlformats.org/officeDocument/2006/relationships/image" Target="/ppt/media/image4.png" Id="R269834294e614bd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ca2911365da43b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54c595f492c44da" /><Relationship Type="http://schemas.openxmlformats.org/officeDocument/2006/relationships/image" Target="/ppt/media/image5.png" Id="R14251a2670a44f5e" /><Relationship Type="http://schemas.openxmlformats.org/officeDocument/2006/relationships/image" Target="/ppt/media/image6.png" Id="Racea737fec55401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02cbdce0f0b41a7" /><Relationship Type="http://schemas.openxmlformats.org/officeDocument/2006/relationships/image" Target="/ppt/media/image7.png" Id="Rd506d4440a194379" /><Relationship Type="http://schemas.openxmlformats.org/officeDocument/2006/relationships/image" Target="/ppt/media/image2.png" Id="R54cfe5bd284941f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2.xml" Id="R3bec4cb0fea74bf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2.xml" Id="R1ee25067a704436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c31ad93570c14a3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562a6cade061462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3142fb219f6b482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8647890fff4f47b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d9c80579612043fc"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99f103ad86f3444b"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879f2dfce3704d58"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ccc2eb0cc9664081"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a9424b599858462c"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3.xml" Id="Rdefabf971f104045"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3.xml" Id="R6cc958bf492e4f2a"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3.xml" Id="R478a3d1785b44a45"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3.xml" Id="Reefabdeedb10442d"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3.xml" Id="Re55f0a02bbaf4a11"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3.xml" Id="R47839c252c8d4668"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3.xml" Id="R0c3f2851ede14c92"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3.xml" Id="R45ea083af57f4be4"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3.xml" Id="Rde1850c2e23743c1"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3.xml" Id="R019e4f2c49204aed"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3.xml" Id="R5afa4155e5494849" /></Relationships>
</file>

<file path=ppt/slideLayouts/slideLayout1.xml><?xml version="1.0" encoding="utf-8"?>
<p:sldLayout xmlns:p="http://schemas.openxmlformats.org/presentationml/2006/main" type="title" preserve="1">
  <p:cSld name="Title Slide">
    <p:bg>
      <p:bgPr>
        <a:solidFill xmlns:a="http://schemas.openxmlformats.org/drawingml/2006/main">
          <a:schemeClr val="tx2"/>
        </a:solidFill>
      </p:bgPr>
    </p:bg>
    <p:spTree>
      <p:nvGrpSpPr>
        <p:cNvPr id="1" name=""/>
        <p:cNvGrpSpPr/>
        <p:nvPr/>
      </p:nvGrpSpPr>
      <p:grpSpPr>
        <a:xfrm xmlns:a="http://schemas.openxmlformats.org/drawingml/2006/main"/>
      </p:grpSpPr>
      <p:pic>
        <p:nvPicPr>
          <p:cNvPr id="8" name="Picture 7"/>
          <p:cNvPicPr>
            <a:picLocks xmlns:a="http://schemas.openxmlformats.org/drawingml/2006/main" noChangeAspect="1"/>
          </p:cNvPicPr>
          <p:nvPr/>
        </p:nvPicPr>
        <p:blipFill rotWithShape="1">
          <a:blip xmlns:r="http://schemas.openxmlformats.org/officeDocument/2006/relationships" xmlns:a="http://schemas.openxmlformats.org/drawingml/2006/main" r:embed="Rd89578bfd5b54bc2">
            <a:alphaModFix amt="20000"/>
          </a:blip>
          <a:srcRect xmlns:a="http://schemas.openxmlformats.org/drawingml/2006/main" l="0" t="0" r="0" b="19027"/>
          <a:stretch xmlns:a="http://schemas.openxmlformats.org/drawingml/2006/main"/>
        </p:blipFill>
        <p:spPr>
          <a:xfrm xmlns:a="http://schemas.openxmlformats.org/drawingml/2006/main">
            <a:off x="4902150" y="-674203"/>
            <a:ext cx="7694778" cy="8354115"/>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F8649688-59E7-1703-6239-C6E17422C4E4}"/>
              </a:ext>
            </a:extLst>
          </p:cNvPr>
          <p:cNvSpPr>
            <a:spLocks xmlns:a="http://schemas.openxmlformats.org/drawingml/2006/main" noGrp="1"/>
          </p:cNvSpPr>
          <p:nvPr>
            <p:ph type="ctrTitle" idx="0"/>
          </p:nvPr>
        </p:nvSpPr>
        <p:spPr>
          <a:xfrm xmlns:a="http://schemas.openxmlformats.org/drawingml/2006/main">
            <a:off x="779481" y="3697149"/>
            <a:ext cx="7604864" cy="1380539"/>
          </a:xfrm>
        </p:spPr>
        <p:txBody>
          <a:bodyPr xmlns:a="http://schemas.openxmlformats.org/drawingml/2006/main" anchor="b">
            <a:normAutofit/>
          </a:bodyPr>
          <a:lstStyle xmlns:a="http://schemas.openxmlformats.org/drawingml/2006/main">
            <a:lvl1pPr algn="l">
              <a:buNone/>
              <a:defRPr sz="4000">
                <a:solidFill>
                  <a:schemeClr val="bg1"/>
                </a:solidFill>
              </a:defRPr>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0AEE2DF3-20B9-5FE4-78BC-2A84C112A90A}"/>
              </a:ext>
            </a:extLst>
          </p:cNvPr>
          <p:cNvSpPr>
            <a:spLocks xmlns:a="http://schemas.openxmlformats.org/drawingml/2006/main" noGrp="1"/>
          </p:cNvSpPr>
          <p:nvPr>
            <p:ph type="subTitle" idx="1"/>
          </p:nvPr>
        </p:nvSpPr>
        <p:spPr>
          <a:xfrm xmlns:a="http://schemas.openxmlformats.org/drawingml/2006/main">
            <a:off x="1559796" y="5412912"/>
            <a:ext cx="3342354" cy="1464519"/>
          </a:xfrm>
        </p:spPr>
        <p:txBody>
          <a:bodyPr xmlns:a="http://schemas.openxmlformats.org/drawingml/2006/main"/>
          <a:lstStyle xmlns:a="http://schemas.openxmlformats.org/drawingml/2006/main">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pic>
        <p:nvPicPr>
          <p:cNvPr id="11" name="Picture 13"/>
          <p:cNvPicPr>
            <a:picLocks xmlns:a="http://schemas.openxmlformats.org/drawingml/2006/main" noChangeAspect="1"/>
          </p:cNvPicPr>
          <p:nvPr/>
        </p:nvPicPr>
        <p:blipFill>
          <a:blip xmlns:r="http://schemas.openxmlformats.org/officeDocument/2006/relationships" xmlns:a="http://schemas.openxmlformats.org/drawingml/2006/main" r:embed="R9debce3d2bb34798"/>
          <a:stretch xmlns:a="http://schemas.openxmlformats.org/drawingml/2006/main">
            <a:fillRect l="0" t="0" r="0" b="0"/>
          </a:stretch>
        </p:blipFill>
        <p:spPr>
          <a:xfrm xmlns:a="http://schemas.openxmlformats.org/drawingml/2006/main">
            <a:off x="615061" y="1197215"/>
            <a:ext cx="5899299" cy="1981444"/>
          </a:xfrm>
          <a:prstGeom xmlns:a="http://schemas.openxmlformats.org/drawingml/2006/main" prst="rect">
            <a:avLst/>
          </a:prstGeom>
        </p:spPr>
      </p:pic>
      <p:pic>
        <p:nvPicPr>
          <p:cNvPr id="12" name="Picture 4"/>
          <p:cNvPicPr>
            <a:picLocks xmlns:a="http://schemas.openxmlformats.org/drawingml/2006/main" noChangeAspect="1"/>
          </p:cNvPicPr>
          <p:nvPr/>
        </p:nvPicPr>
        <p:blipFill>
          <a:blip xmlns:r="http://schemas.openxmlformats.org/officeDocument/2006/relationships" xmlns:a="http://schemas.openxmlformats.org/drawingml/2006/main" r:embed="Raf8a67359a9a4eb9"/>
          <a:stretch xmlns:a="http://schemas.openxmlformats.org/drawingml/2006/main">
            <a:fillRect l="0" t="0" r="0" b="0"/>
          </a:stretch>
        </p:blipFill>
        <p:spPr>
          <a:xfrm xmlns:a="http://schemas.openxmlformats.org/drawingml/2006/main">
            <a:off x="9963982" y="3502855"/>
            <a:ext cx="5932940" cy="7005710"/>
          </a:xfrm>
          <a:prstGeom xmlns:a="http://schemas.openxmlformats.org/drawingml/2006/main" prst="rect">
            <a:avLst/>
          </a:prstGeom>
        </p:spPr>
      </p:pic>
      <p:pic>
        <p:nvPicPr>
          <p:cNvPr id="13" name="Picture 6"/>
          <p:cNvPicPr>
            <a:picLocks xmlns:a="http://schemas.openxmlformats.org/drawingml/2006/main" noChangeAspect="1"/>
          </p:cNvPicPr>
          <p:nvPr/>
        </p:nvPicPr>
        <p:blipFill>
          <a:blip xmlns:r="http://schemas.openxmlformats.org/officeDocument/2006/relationships" xmlns:a="http://schemas.openxmlformats.org/drawingml/2006/main" r:embed="R269834294e614bd5"/>
          <a:stretch xmlns:a="http://schemas.openxmlformats.org/drawingml/2006/main">
            <a:fillRect l="0" t="0" r="0" b="0"/>
          </a:stretch>
        </p:blipFill>
        <p:spPr>
          <a:xfrm xmlns:a="http://schemas.openxmlformats.org/drawingml/2006/main">
            <a:off x="754906" y="5412912"/>
            <a:ext cx="651267" cy="657297"/>
          </a:xfrm>
          <a:prstGeom xmlns:a="http://schemas.openxmlformats.org/drawingml/2006/main" prst="rect">
            <a:avLst/>
          </a:prstGeom>
        </p:spPr>
      </p:pic>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34430F-5A5E-5D4B-4BC7-884289535AD9}"/>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lvl1pPr>
              <a:buNone/>
              <a:defRPr sz="3200" baseline="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5482327C-9D0F-B15E-C5AE-0B4402F1F54D}"/>
              </a:ext>
            </a:extLst>
          </p:cNvPr>
          <p:cNvSpPr>
            <a:spLocks xmlns:a="http://schemas.openxmlformats.org/drawingml/2006/main" noGrp="1"/>
          </p:cNvSpPr>
          <p:nvPr>
            <p:ph idx="1"/>
          </p:nvPr>
        </p:nvSpPr>
        <p:spPr>
          <a:xfrm xmlns:a="http://schemas.openxmlformats.org/drawingml/2006/main">
            <a:off x="831166" y="1952234"/>
            <a:ext cx="10515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8B656B8F-F397-B870-64C7-260815F62451}"/>
              </a:ext>
            </a:extLst>
          </p:cNvPr>
          <p:cNvSpPr>
            <a:spLocks xmlns:a="http://schemas.openxmlformats.org/drawingml/2006/main" noGrp="1"/>
          </p:cNvSpPr>
          <p:nvPr>
            <p:ph type="ftr" idx="11"/>
          </p:nvPr>
        </p:nvSpPr>
        <p:spPr>
          <a:xfrm xmlns:a="http://schemas.openxmlformats.org/drawingml/2006/main" rot="16200000">
            <a:off x="10838536" y="5052805"/>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r>
              <a:t>GEORGE MASON UNIVERSITY</a:t>
            </a:r>
          </a:p>
        </p:txBody>
      </p:sp>
      <p:sp>
        <p:nvSpPr>
          <p:cNvPr id="6" name="Slide Number Placeholder 5">
            <a:extLst xmlns:a="http://schemas.openxmlformats.org/drawingml/2006/main">
              <a:ext uri="{FF2B5EF4-FFF2-40B4-BE49-F238E27FC236}">
                <a16:creationId xmlns:a16="http://schemas.microsoft.com/office/drawing/2014/main" id="{919B4960-F59B-CF95-3858-F7F56D5011FC}"/>
              </a:ext>
            </a:extLst>
          </p:cNvPr>
          <p:cNvSpPr>
            <a:spLocks xmlns:a="http://schemas.openxmlformats.org/drawingml/2006/main" noGrp="1"/>
          </p:cNvSpPr>
          <p:nvPr>
            <p:ph type="sldNum" idx="12"/>
          </p:nvPr>
        </p:nvSpPr>
        <p:spPr>
          <a:xfrm xmlns:a="http://schemas.openxmlformats.org/drawingml/2006/main">
            <a:off x="11682902"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fld id="{944FE883-4AC6-394B-8129-6E4BB686DB20}" type="slidenum">
              <a:t>‹#›</a:t>
            </a:fld>
            <a:endParaRPr/>
          </a:p>
        </p:txBody>
      </p:sp>
    </p:spTree>
  </p:cSld>
</p:sldLayout>
</file>

<file path=ppt/slideLayouts/slideLayout3.xml><?xml version="1.0" encoding="utf-8"?>
<p:sldLayout xmlns:p="http://schemas.openxmlformats.org/presentationml/2006/main" preserve="1" userDrawn="1">
  <p:cSld name="2_Title and Content">
    <p:spTree>
      <p:nvGrpSpPr>
        <p:cNvPr id="1" name=""/>
        <p:cNvGrpSpPr/>
        <p:nvPr/>
      </p:nvGrpSpPr>
      <p:grpSpPr>
        <a:xfrm xmlns:a="http://schemas.openxmlformats.org/drawingml/2006/main"/>
      </p:grpSpPr>
      <p:pic>
        <p:nvPicPr>
          <p:cNvPr id="10" name="Picture 9"/>
          <p:cNvPicPr>
            <a:picLocks xmlns:a="http://schemas.openxmlformats.org/drawingml/2006/main" noChangeAspect="1"/>
          </p:cNvPicPr>
          <p:nvPr/>
        </p:nvPicPr>
        <p:blipFill rotWithShape="1">
          <a:blip xmlns:r="http://schemas.openxmlformats.org/officeDocument/2006/relationships" xmlns:a="http://schemas.openxmlformats.org/drawingml/2006/main" r:embed="R14251a2670a44f5e"/>
          <a:srcRect xmlns:a="http://schemas.openxmlformats.org/drawingml/2006/main" l="22097" t="73191" r="26779" b="0"/>
          <a:stretch xmlns:a="http://schemas.openxmlformats.org/drawingml/2006/main"/>
        </p:blipFill>
        <p:spPr>
          <a:xfrm xmlns:a="http://schemas.openxmlformats.org/drawingml/2006/main">
            <a:off x="5956300" y="-2875"/>
            <a:ext cx="2400300" cy="757385"/>
          </a:xfrm>
          <a:prstGeom xmlns:a="http://schemas.openxmlformats.org/drawingml/2006/main" prst="rect">
            <a:avLst/>
          </a:prstGeom>
        </p:spPr>
      </p:pic>
      <p:pic>
        <p:nvPicPr>
          <p:cNvPr id="11" name="Picture 8"/>
          <p:cNvPicPr>
            <a:picLocks xmlns:a="http://schemas.openxmlformats.org/drawingml/2006/main" noChangeAspect="1"/>
          </p:cNvPicPr>
          <p:nvPr/>
        </p:nvPicPr>
        <p:blipFill rotWithShape="1">
          <a:blip xmlns:r="http://schemas.openxmlformats.org/officeDocument/2006/relationships" xmlns:a="http://schemas.openxmlformats.org/drawingml/2006/main" r:embed="Racea737fec554012"/>
          <a:srcRect xmlns:a="http://schemas.openxmlformats.org/drawingml/2006/main" l="-10100" t="-3420" r="27678" b="5864"/>
          <a:stretch xmlns:a="http://schemas.openxmlformats.org/drawingml/2006/main"/>
        </p:blipFill>
        <p:spPr>
          <a:xfrm xmlns:a="http://schemas.openxmlformats.org/drawingml/2006/main">
            <a:off x="11019637" y="5562599"/>
            <a:ext cx="1172363" cy="1325563"/>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2334430F-5A5E-5D4B-4BC7-884289535AD9}"/>
              </a:ext>
            </a:extLst>
          </p:cNvPr>
          <p:cNvSpPr>
            <a:spLocks xmlns:a="http://schemas.openxmlformats.org/drawingml/2006/main" noGrp="1"/>
          </p:cNvSpPr>
          <p:nvPr>
            <p:ph type="title" idx="0"/>
          </p:nvPr>
        </p:nvSpPr>
        <p:spPr>
          <a:xfrm xmlns:a="http://schemas.openxmlformats.org/drawingml/2006/main">
            <a:off x="7239000" y="890886"/>
            <a:ext cx="46863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5482327C-9D0F-B15E-C5AE-0B4402F1F54D}"/>
              </a:ext>
            </a:extLst>
          </p:cNvPr>
          <p:cNvSpPr>
            <a:spLocks xmlns:a="http://schemas.openxmlformats.org/drawingml/2006/main" noGrp="1"/>
          </p:cNvSpPr>
          <p:nvPr>
            <p:ph idx="1"/>
          </p:nvPr>
        </p:nvSpPr>
        <p:spPr>
          <a:xfrm xmlns:a="http://schemas.openxmlformats.org/drawingml/2006/main">
            <a:off x="0" y="0"/>
            <a:ext cx="6311900" cy="6858000"/>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8B656B8F-F397-B870-64C7-260815F62451}"/>
              </a:ext>
            </a:extLst>
          </p:cNvPr>
          <p:cNvSpPr>
            <a:spLocks xmlns:a="http://schemas.openxmlformats.org/drawingml/2006/main" noGrp="1"/>
          </p:cNvSpPr>
          <p:nvPr>
            <p:ph type="ftr" idx="11"/>
          </p:nvPr>
        </p:nvSpPr>
        <p:spPr>
          <a:xfrm xmlns:a="http://schemas.openxmlformats.org/drawingml/2006/main">
            <a:off x="6832600" y="6356350"/>
            <a:ext cx="4114800" cy="365125"/>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r>
              <a:t>GEORGE MASON UNIVERSITY</a:t>
            </a:r>
          </a:p>
        </p:txBody>
      </p:sp>
      <p:sp>
        <p:nvSpPr>
          <p:cNvPr id="6" name="Slide Number Placeholder 5">
            <a:extLst xmlns:a="http://schemas.openxmlformats.org/drawingml/2006/main">
              <a:ext uri="{FF2B5EF4-FFF2-40B4-BE49-F238E27FC236}">
                <a16:creationId xmlns:a16="http://schemas.microsoft.com/office/drawing/2014/main" id="{919B4960-F59B-CF95-3858-F7F56D5011FC}"/>
              </a:ext>
            </a:extLst>
          </p:cNvPr>
          <p:cNvSpPr>
            <a:spLocks xmlns:a="http://schemas.openxmlformats.org/drawingml/2006/main" noGrp="1"/>
          </p:cNvSpPr>
          <p:nvPr>
            <p:ph type="sldNum" idx="12"/>
          </p:nvPr>
        </p:nvSpPr>
        <p:spPr>
          <a:xfrm xmlns:a="http://schemas.openxmlformats.org/drawingml/2006/main">
            <a:off x="109474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fld id="{944FE883-4AC6-394B-8129-6E4BB686DB20}" type="slidenum">
              <a:t>‹#›</a:t>
            </a:fld>
            <a:endParaRPr/>
          </a:p>
        </p:txBody>
      </p:sp>
      <p:sp>
        <p:nvSpPr>
          <p:cNvPr id="7" name="Content Placeholder 6">
            <a:extLst xmlns:a="http://schemas.openxmlformats.org/drawingml/2006/main">
              <a:ext uri="{FF2B5EF4-FFF2-40B4-BE49-F238E27FC236}">
                <a16:creationId xmlns:a16="http://schemas.microsoft.com/office/drawing/2014/main" id="{8A07B2B8-372A-822A-3B45-E45E06B6D59A}"/>
              </a:ext>
            </a:extLst>
          </p:cNvPr>
          <p:cNvSpPr>
            <a:spLocks xmlns:a="http://schemas.openxmlformats.org/drawingml/2006/main" noGrp="1"/>
          </p:cNvSpPr>
          <p:nvPr>
            <p:ph idx="13"/>
          </p:nvPr>
        </p:nvSpPr>
        <p:spPr>
          <a:xfrm xmlns:a="http://schemas.openxmlformats.org/drawingml/2006/main">
            <a:off x="7239000" y="2489201"/>
            <a:ext cx="4686300" cy="3505200"/>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4.xml><?xml version="1.0" encoding="utf-8"?>
<p:sldLayout xmlns:p="http://schemas.openxmlformats.org/presentationml/2006/main" type="secHead" preserve="1">
  <p:cSld name="Section Header">
    <p:bg>
      <p:bgPr>
        <a:solidFill xmlns:a="http://schemas.openxmlformats.org/drawingml/2006/main">
          <a:schemeClr val="tx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297B771-CD45-205F-806A-816788390E28}"/>
              </a:ext>
            </a:extLst>
          </p:cNvPr>
          <p:cNvSpPr>
            <a:spLocks xmlns:a="http://schemas.openxmlformats.org/drawingml/2006/main" noGrp="1"/>
          </p:cNvSpPr>
          <p:nvPr>
            <p:ph type="title" idx="0"/>
          </p:nvPr>
        </p:nvSpPr>
        <p:spPr>
          <a:xfrm xmlns:a="http://schemas.openxmlformats.org/drawingml/2006/main">
            <a:off x="6527800" y="2503174"/>
            <a:ext cx="4819650" cy="1267453"/>
          </a:xfrm>
        </p:spPr>
        <p:txBody>
          <a:bodyPr xmlns:a="http://schemas.openxmlformats.org/drawingml/2006/main" anchor="b">
            <a:normAutofit/>
          </a:bodyPr>
          <a:lstStyle xmlns:a="http://schemas.openxmlformats.org/drawingml/2006/main">
            <a:lvl1pPr algn="r">
              <a:buNone/>
              <a:defRPr sz="4000">
                <a:solidFill>
                  <a:schemeClr val="bg1"/>
                </a:solidFill>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D47E9AFD-F871-6540-2115-DB916F644689}"/>
              </a:ext>
            </a:extLst>
          </p:cNvPr>
          <p:cNvSpPr>
            <a:spLocks xmlns:a="http://schemas.openxmlformats.org/drawingml/2006/main" noGrp="1"/>
          </p:cNvSpPr>
          <p:nvPr>
            <p:ph type="body" idx="1"/>
          </p:nvPr>
        </p:nvSpPr>
        <p:spPr>
          <a:xfrm xmlns:a="http://schemas.openxmlformats.org/drawingml/2006/main">
            <a:off x="6527800" y="3797615"/>
            <a:ext cx="4819650" cy="1500187"/>
          </a:xfrm>
        </p:spPr>
        <p:txBody>
          <a:bodyPr xmlns:a="http://schemas.openxmlformats.org/drawingml/2006/main"/>
          <a:lstStyle xmlns:a="http://schemas.openxmlformats.org/drawingml/2006/main">
            <a:lvl1pPr marL="0" indent="0" algn="r">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pic>
        <p:nvPicPr>
          <p:cNvPr id="8" name="Picture 8"/>
          <p:cNvPicPr>
            <a:picLocks xmlns:a="http://schemas.openxmlformats.org/drawingml/2006/main" noChangeAspect="1"/>
          </p:cNvPicPr>
          <p:nvPr/>
        </p:nvPicPr>
        <p:blipFill rotWithShape="1">
          <a:blip xmlns:r="http://schemas.openxmlformats.org/officeDocument/2006/relationships" xmlns:a="http://schemas.openxmlformats.org/drawingml/2006/main" r:embed="Rd506d4440a194379">
            <a:alphaModFix amt="20000"/>
          </a:blip>
          <a:srcRect xmlns:a="http://schemas.openxmlformats.org/drawingml/2006/main" l="6365" t="0" r="1479" b="0"/>
          <a:stretch xmlns:a="http://schemas.openxmlformats.org/drawingml/2006/main"/>
        </p:blipFill>
        <p:spPr>
          <a:xfrm xmlns:a="http://schemas.openxmlformats.org/drawingml/2006/main">
            <a:off x="-1435100" y="419100"/>
            <a:ext cx="8085811" cy="6985000"/>
          </a:xfrm>
          <a:prstGeom xmlns:a="http://schemas.openxmlformats.org/drawingml/2006/main" prst="rect">
            <a:avLst/>
          </a:prstGeom>
        </p:spPr>
      </p:pic>
      <p:pic>
        <p:nvPicPr>
          <p:cNvPr id="9" name="Picture 7"/>
          <p:cNvPicPr>
            <a:picLocks xmlns:a="http://schemas.openxmlformats.org/drawingml/2006/main" noChangeAspect="1"/>
          </p:cNvPicPr>
          <p:nvPr/>
        </p:nvPicPr>
        <p:blipFill>
          <a:blip xmlns:r="http://schemas.openxmlformats.org/officeDocument/2006/relationships" xmlns:a="http://schemas.openxmlformats.org/drawingml/2006/main" r:embed="R54cfe5bd284941f1"/>
          <a:stretch xmlns:a="http://schemas.openxmlformats.org/drawingml/2006/main">
            <a:fillRect l="0" t="0" r="0" b="0"/>
          </a:stretch>
        </p:blipFill>
        <p:spPr>
          <a:xfrm xmlns:a="http://schemas.openxmlformats.org/drawingml/2006/main">
            <a:off x="7861300" y="276893"/>
            <a:ext cx="3773552" cy="1267453"/>
          </a:xfrm>
          <a:prstGeom xmlns:a="http://schemas.openxmlformats.org/drawingml/2006/main" prst="rect">
            <a:avLst/>
          </a:prstGeom>
        </p:spPr>
      </p:pic>
    </p:spTree>
  </p:cSld>
</p:sldLayout>
</file>

<file path=ppt/slideLayouts/slideLayout5.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B6C2701-4420-72DC-D9FF-898684F729A8}"/>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E7696297-FA0A-C43E-7108-817161C6E15D}"/>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37A60C57-4A3B-2719-81CA-09B73DA6692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B84967F-2382-1D42-B474-ED4C6215D2E3}" type="datetimeFigureOut">
              <a:t>8/24/2026</a:t>
            </a:fld>
            <a:endParaRPr/>
          </a:p>
        </p:txBody>
      </p:sp>
      <p:sp>
        <p:nvSpPr>
          <p:cNvPr id="5" name="Footer Placeholder 4">
            <a:extLst xmlns:a="http://schemas.openxmlformats.org/drawingml/2006/main">
              <a:ext uri="{FF2B5EF4-FFF2-40B4-BE49-F238E27FC236}">
                <a16:creationId xmlns:a16="http://schemas.microsoft.com/office/drawing/2014/main" id="{D575C47A-F876-ED35-DAE5-3572E81133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95924CA-7BF3-D294-A28C-08A9A060603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536A363-BB52-F847-9CC8-A14FBF3DB02D}" type="slidenum">
              <a:t>‹#›</a:t>
            </a:fld>
            <a:endParaRPr/>
          </a:p>
        </p:txBody>
      </p:sp>
    </p:spTree>
  </p:cSld>
</p:sldLayout>
</file>

<file path=ppt/slideLayouts/slideLayout6.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2CA5C8A-0B8F-489F-EE46-BC751895BDE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8EB6E7A-928B-AFFC-58EB-DDF90F805E01}"/>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EF2C910-FE19-34A9-89EC-61EEDA4E414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B84967F-2382-1D42-B474-ED4C6215D2E3}" type="datetimeFigureOut">
              <a:t>8/24/2026</a:t>
            </a:fld>
            <a:endParaRPr/>
          </a:p>
        </p:txBody>
      </p:sp>
      <p:sp>
        <p:nvSpPr>
          <p:cNvPr id="5" name="Footer Placeholder 4">
            <a:extLst xmlns:a="http://schemas.openxmlformats.org/drawingml/2006/main">
              <a:ext uri="{FF2B5EF4-FFF2-40B4-BE49-F238E27FC236}">
                <a16:creationId xmlns:a16="http://schemas.microsoft.com/office/drawing/2014/main" id="{0F2EFA6F-EE9F-1222-61BB-6CA64CF7F55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8B23EB0-73EB-A669-40D8-A7BDD08F13C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536A363-BB52-F847-9CC8-A14FBF3DB02D}" type="slidenum">
              <a:t>‹#›</a:t>
            </a:fld>
            <a:endParaRPr/>
          </a:p>
        </p:txBody>
      </p:sp>
    </p:spTree>
  </p:cSld>
</p:sldLayout>
</file>

<file path=ppt/slideLayouts/slideLayout7.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871FFF6-7C3E-B82E-BAD3-3DE14A8ED69A}"/>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B370A6E4-035E-A278-7C29-F7C19E8BAF7B}"/>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B6C13EDC-550D-793C-1A85-3455C9C4CC3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B84967F-2382-1D42-B474-ED4C6215D2E3}" type="datetimeFigureOut">
              <a:t>8/24/2026</a:t>
            </a:fld>
            <a:endParaRPr/>
          </a:p>
        </p:txBody>
      </p:sp>
      <p:sp>
        <p:nvSpPr>
          <p:cNvPr id="5" name="Footer Placeholder 4">
            <a:extLst xmlns:a="http://schemas.openxmlformats.org/drawingml/2006/main">
              <a:ext uri="{FF2B5EF4-FFF2-40B4-BE49-F238E27FC236}">
                <a16:creationId xmlns:a16="http://schemas.microsoft.com/office/drawing/2014/main" id="{450158A0-98A6-F425-07F8-AD2416B3EEA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C759031-28CA-0A3A-FA4D-0C74C339DAD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536A363-BB52-F847-9CC8-A14FBF3DB02D}" type="slidenum">
              <a:t>‹#›</a:t>
            </a:fld>
            <a:endParaRPr/>
          </a:p>
        </p:txBody>
      </p:sp>
    </p:spTree>
  </p:cSld>
</p:sldLayout>
</file>

<file path=ppt/slideLayouts/slideLayout8.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F1A442C-E7A1-4B84-D829-7CCFAC8C637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1A97A649-0420-A710-F725-C76CCE0D6CFB}"/>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68FD3817-238F-3DE7-81A5-734A9291E707}"/>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F570E521-970C-0A16-339D-01F543C2F62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B84967F-2382-1D42-B474-ED4C6215D2E3}" type="datetimeFigureOut">
              <a:t>8/24/2026</a:t>
            </a:fld>
            <a:endParaRPr/>
          </a:p>
        </p:txBody>
      </p:sp>
      <p:sp>
        <p:nvSpPr>
          <p:cNvPr id="6" name="Footer Placeholder 5">
            <a:extLst xmlns:a="http://schemas.openxmlformats.org/drawingml/2006/main">
              <a:ext uri="{FF2B5EF4-FFF2-40B4-BE49-F238E27FC236}">
                <a16:creationId xmlns:a16="http://schemas.microsoft.com/office/drawing/2014/main" id="{27500133-5DFD-4E8F-78F2-20C8E60D5D8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C1ABD90-E5A5-8AFE-AF68-645F771A068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536A363-BB52-F847-9CC8-A14FBF3DB02D}" type="slidenum">
              <a:t>‹#›</a:t>
            </a:fld>
            <a:endParaRPr/>
          </a:p>
        </p:txBody>
      </p:sp>
    </p:spTree>
  </p:cSld>
</p:sldLayout>
</file>

<file path=ppt/slideLayouts/slideLayout9.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2BAE022-1263-0F86-3BCE-C134CAA19439}"/>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AC5018F2-F8CE-4B78-5B33-7B7C6A5CDB24}"/>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00FCAB54-FA9D-256B-6B70-DB2FF3755AFB}"/>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D468D39D-2C9E-8BEC-F41A-E542FDBE8D2A}"/>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FE114F0C-49C8-852E-937E-1CED58824D53}"/>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CF36C534-DF33-C872-B51D-C6C81045CF1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B84967F-2382-1D42-B474-ED4C6215D2E3}" type="datetimeFigureOut">
              <a:t>8/24/2026</a:t>
            </a:fld>
            <a:endParaRPr/>
          </a:p>
        </p:txBody>
      </p:sp>
      <p:sp>
        <p:nvSpPr>
          <p:cNvPr id="8" name="Footer Placeholder 7">
            <a:extLst xmlns:a="http://schemas.openxmlformats.org/drawingml/2006/main">
              <a:ext uri="{FF2B5EF4-FFF2-40B4-BE49-F238E27FC236}">
                <a16:creationId xmlns:a16="http://schemas.microsoft.com/office/drawing/2014/main" id="{38D48419-26EC-1F6C-06ED-4FEDEEA9175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318E161C-F9A4-9A91-4F1C-965605687A0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536A363-BB52-F847-9CC8-A14FBF3DB02D}" type="slidenum">
              <a:t>‹#›</a:t>
            </a:fld>
            <a:endParaRPr/>
          </a:p>
        </p:txBody>
      </p:sp>
    </p:spTree>
  </p:cSld>
</p:sldLayout>
</file>

<file path=ppt/slideLayouts/slideLayout10.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7A7F527-C9C4-3AE9-1AB6-0A92543C6D8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630A292B-FD17-3482-0ADF-55B3DEAB153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B84967F-2382-1D42-B474-ED4C6215D2E3}" type="datetimeFigureOut">
              <a:t>8/24/2026</a:t>
            </a:fld>
            <a:endParaRPr/>
          </a:p>
        </p:txBody>
      </p:sp>
      <p:sp>
        <p:nvSpPr>
          <p:cNvPr id="4" name="Footer Placeholder 3">
            <a:extLst xmlns:a="http://schemas.openxmlformats.org/drawingml/2006/main">
              <a:ext uri="{FF2B5EF4-FFF2-40B4-BE49-F238E27FC236}">
                <a16:creationId xmlns:a16="http://schemas.microsoft.com/office/drawing/2014/main" id="{9FC4CFF4-32C3-E17B-C4D7-7A0CF58DE9E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B032BFF3-9C13-EF99-0729-5CAD7C9A025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536A363-BB52-F847-9CC8-A14FBF3DB02D}" type="slidenum">
              <a:t>‹#›</a:t>
            </a:fld>
            <a:endParaRPr/>
          </a:p>
        </p:txBody>
      </p:sp>
    </p:spTree>
  </p:cSld>
</p:sldLayout>
</file>

<file path=ppt/slideLayouts/slideLayout11.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ECF96DED-A25F-6860-FA29-8B5A8C8810C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B84967F-2382-1D42-B474-ED4C6215D2E3}" type="datetimeFigureOut">
              <a:t>8/24/2026</a:t>
            </a:fld>
            <a:endParaRPr/>
          </a:p>
        </p:txBody>
      </p:sp>
      <p:sp>
        <p:nvSpPr>
          <p:cNvPr id="3" name="Footer Placeholder 2">
            <a:extLst xmlns:a="http://schemas.openxmlformats.org/drawingml/2006/main">
              <a:ext uri="{FF2B5EF4-FFF2-40B4-BE49-F238E27FC236}">
                <a16:creationId xmlns:a16="http://schemas.microsoft.com/office/drawing/2014/main" id="{B770275C-7907-9F15-85B5-70FBD727146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FA31B68D-9337-DF5E-FDE3-D260CF6E7D3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536A363-BB52-F847-9CC8-A14FBF3DB02D}" type="slidenum">
              <a:t>‹#›</a:t>
            </a:fld>
            <a:endParaRPr/>
          </a:p>
        </p:txBody>
      </p:sp>
    </p:spTree>
  </p:cSld>
</p:sldLayout>
</file>

<file path=ppt/slideLayouts/slideLayout12.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5AE3C2B-45CE-B511-13E2-9DAE79A8458E}"/>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CFF10148-A2A9-0799-F4F7-18017CE84783}"/>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35FFB31A-DA89-95E7-AB08-ECC256F19728}"/>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C9A7533F-7C4E-022F-1503-9303E85D6E6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B84967F-2382-1D42-B474-ED4C6215D2E3}" type="datetimeFigureOut">
              <a:t>8/24/2026</a:t>
            </a:fld>
            <a:endParaRPr/>
          </a:p>
        </p:txBody>
      </p:sp>
      <p:sp>
        <p:nvSpPr>
          <p:cNvPr id="6" name="Footer Placeholder 5">
            <a:extLst xmlns:a="http://schemas.openxmlformats.org/drawingml/2006/main">
              <a:ext uri="{FF2B5EF4-FFF2-40B4-BE49-F238E27FC236}">
                <a16:creationId xmlns:a16="http://schemas.microsoft.com/office/drawing/2014/main" id="{2540BDBA-F83C-B51D-3180-D13C4E39E99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DF3C8B5-4C34-EC01-EB6E-5BF3EB0D273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536A363-BB52-F847-9CC8-A14FBF3DB02D}" type="slidenum">
              <a:t>‹#›</a:t>
            </a:fld>
            <a:endParaRPr/>
          </a:p>
        </p:txBody>
      </p:sp>
    </p:spTree>
  </p:cSld>
</p:sldLayout>
</file>

<file path=ppt/slideLayouts/slideLayout13.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B8A3A86-0B7B-9417-206C-8023301A42E6}"/>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7AFAB53F-53C6-9A50-564C-B9B09AEED97D}"/>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21FADB9C-BE4B-90D1-43B5-0B304E9FB5E0}"/>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D9602F0E-CB70-B6CB-0280-2E396AB8B0B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B84967F-2382-1D42-B474-ED4C6215D2E3}" type="datetimeFigureOut">
              <a:t>8/24/2026</a:t>
            </a:fld>
            <a:endParaRPr/>
          </a:p>
        </p:txBody>
      </p:sp>
      <p:sp>
        <p:nvSpPr>
          <p:cNvPr id="6" name="Footer Placeholder 5">
            <a:extLst xmlns:a="http://schemas.openxmlformats.org/drawingml/2006/main">
              <a:ext uri="{FF2B5EF4-FFF2-40B4-BE49-F238E27FC236}">
                <a16:creationId xmlns:a16="http://schemas.microsoft.com/office/drawing/2014/main" id="{CD1C533A-08B0-58EA-9AD7-A3F8B324FA9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E26A372-BDCD-A7E2-5A4F-E62DC39F1C9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536A363-BB52-F847-9CC8-A14FBF3DB02D}" type="slidenum">
              <a:t>‹#›</a:t>
            </a:fld>
            <a:endParaRPr/>
          </a:p>
        </p:txBody>
      </p:sp>
    </p:spTree>
  </p:cSld>
</p:sldLayout>
</file>

<file path=ppt/slideLayouts/slideLayout14.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640EBD8-E926-E742-3B9A-FB7253CBC3E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387357F9-DC12-94D1-6A8F-A398E6061695}"/>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0EE06DF-5858-0C46-6785-0912478308C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B84967F-2382-1D42-B474-ED4C6215D2E3}" type="datetimeFigureOut">
              <a:t>8/24/2026</a:t>
            </a:fld>
            <a:endParaRPr/>
          </a:p>
        </p:txBody>
      </p:sp>
      <p:sp>
        <p:nvSpPr>
          <p:cNvPr id="5" name="Footer Placeholder 4">
            <a:extLst xmlns:a="http://schemas.openxmlformats.org/drawingml/2006/main">
              <a:ext uri="{FF2B5EF4-FFF2-40B4-BE49-F238E27FC236}">
                <a16:creationId xmlns:a16="http://schemas.microsoft.com/office/drawing/2014/main" id="{6E465DCB-E870-DEF5-349E-FB0C17002C0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D0E2825-6709-2936-5F16-188693E21D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536A363-BB52-F847-9CC8-A14FBF3DB02D}" type="slidenum">
              <a:t>‹#›</a:t>
            </a:fld>
            <a:endParaRPr/>
          </a:p>
        </p:txBody>
      </p:sp>
    </p:spTree>
  </p:cSld>
</p:sldLayout>
</file>

<file path=ppt/slideLayouts/slideLayout15.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D8190BBB-294E-EA0B-4584-034FA002CA09}"/>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9AE2A05C-F0E4-B4A7-DC39-EB2E7568FDEE}"/>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9983312-CA81-4776-9938-6738102779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B84967F-2382-1D42-B474-ED4C6215D2E3}" type="datetimeFigureOut">
              <a:t>8/24/2026</a:t>
            </a:fld>
            <a:endParaRPr/>
          </a:p>
        </p:txBody>
      </p:sp>
      <p:sp>
        <p:nvSpPr>
          <p:cNvPr id="5" name="Footer Placeholder 4">
            <a:extLst xmlns:a="http://schemas.openxmlformats.org/drawingml/2006/main">
              <a:ext uri="{FF2B5EF4-FFF2-40B4-BE49-F238E27FC236}">
                <a16:creationId xmlns:a16="http://schemas.microsoft.com/office/drawing/2014/main" id="{86B87C54-F5DE-248C-FC2C-5BB73F76D0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B672711-175A-0A82-C452-816AAB8F991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536A363-BB52-F847-9CC8-A14FBF3DB02D}" type="slidenum">
              <a:t>‹#›</a:t>
            </a:fld>
            <a:endParaRPr/>
          </a:p>
        </p:txBody>
      </p:sp>
    </p:spTree>
  </p:cSld>
</p:sldLayout>
</file>

<file path=ppt/slideLayouts/slideLayout16.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E4C7F74-E65C-984E-FFFB-9873BF05238C}"/>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B877072B-1A48-E8CC-BA32-C6C0F54A3772}"/>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6546E196-C6A3-D45C-AE7F-358CCC0114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815D5C6-F7A1-5D44-B216-FA90FD5DD46C}" type="datetimeFigureOut">
              <a:t>8/24/2026</a:t>
            </a:fld>
            <a:endParaRPr/>
          </a:p>
        </p:txBody>
      </p:sp>
      <p:sp>
        <p:nvSpPr>
          <p:cNvPr id="5" name="Footer Placeholder 4">
            <a:extLst xmlns:a="http://schemas.openxmlformats.org/drawingml/2006/main">
              <a:ext uri="{FF2B5EF4-FFF2-40B4-BE49-F238E27FC236}">
                <a16:creationId xmlns:a16="http://schemas.microsoft.com/office/drawing/2014/main" id="{3EF0C394-B57F-0355-CCFD-984B2FE12F2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6BE2EA4-D9C9-6654-B8BA-1C033886418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D5B741-F039-A04D-81E9-C0DE6BA46523}" type="slidenum">
              <a:t>‹#›</a:t>
            </a:fld>
            <a:endParaRPr/>
          </a:p>
        </p:txBody>
      </p:sp>
    </p:spTree>
  </p:cSld>
</p:sldLayout>
</file>

<file path=ppt/slideLayouts/slideLayout17.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18E867D-53A7-E375-1117-1A31A9D5257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F0513F4-D2B2-F0E3-ECBA-F3DC31E94C75}"/>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2E8344E-33BD-ECDF-B54C-D2495594097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815D5C6-F7A1-5D44-B216-FA90FD5DD46C}" type="datetimeFigureOut">
              <a:t>8/24/2026</a:t>
            </a:fld>
            <a:endParaRPr/>
          </a:p>
        </p:txBody>
      </p:sp>
      <p:sp>
        <p:nvSpPr>
          <p:cNvPr id="5" name="Footer Placeholder 4">
            <a:extLst xmlns:a="http://schemas.openxmlformats.org/drawingml/2006/main">
              <a:ext uri="{FF2B5EF4-FFF2-40B4-BE49-F238E27FC236}">
                <a16:creationId xmlns:a16="http://schemas.microsoft.com/office/drawing/2014/main" id="{1883BA72-D85A-09D5-0600-DA0ADB549FE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682EF3A-9F15-3C46-FFFB-022261A7C4D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D5B741-F039-A04D-81E9-C0DE6BA46523}" type="slidenum">
              <a:t>‹#›</a:t>
            </a:fld>
            <a:endParaRPr/>
          </a:p>
        </p:txBody>
      </p:sp>
    </p:spTree>
  </p:cSld>
</p:sldLayout>
</file>

<file path=ppt/slideLayouts/slideLayout18.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41E438D-15AB-1384-01DA-DBC8400254CA}"/>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E5BF7F2-D1ED-7EA7-354A-565D52FF4E6B}"/>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AA6E1DCA-88C9-4457-D10B-A94EB9AD782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815D5C6-F7A1-5D44-B216-FA90FD5DD46C}" type="datetimeFigureOut">
              <a:t>8/24/2026</a:t>
            </a:fld>
            <a:endParaRPr/>
          </a:p>
        </p:txBody>
      </p:sp>
      <p:sp>
        <p:nvSpPr>
          <p:cNvPr id="5" name="Footer Placeholder 4">
            <a:extLst xmlns:a="http://schemas.openxmlformats.org/drawingml/2006/main">
              <a:ext uri="{FF2B5EF4-FFF2-40B4-BE49-F238E27FC236}">
                <a16:creationId xmlns:a16="http://schemas.microsoft.com/office/drawing/2014/main" id="{3754F4D0-A1CD-2FEC-7FE5-3EFEA82E33B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8A13ACB-3D51-C021-380A-422741CC01C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D5B741-F039-A04D-81E9-C0DE6BA46523}" type="slidenum">
              <a:t>‹#›</a:t>
            </a:fld>
            <a:endParaRPr/>
          </a:p>
        </p:txBody>
      </p:sp>
    </p:spTree>
  </p:cSld>
</p:sldLayout>
</file>

<file path=ppt/slideLayouts/slideLayout19.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06998A7-CA9A-1FEB-D37F-86B06EC6BAC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53C477CC-EB3F-8190-5A4C-65AE4E397D82}"/>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1BC5C47D-3BE5-48D2-EE39-FCF23184266C}"/>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3CF493D8-52FD-639F-7179-FFC6FA0DD79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815D5C6-F7A1-5D44-B216-FA90FD5DD46C}" type="datetimeFigureOut">
              <a:t>8/24/2026</a:t>
            </a:fld>
            <a:endParaRPr/>
          </a:p>
        </p:txBody>
      </p:sp>
      <p:sp>
        <p:nvSpPr>
          <p:cNvPr id="6" name="Footer Placeholder 5">
            <a:extLst xmlns:a="http://schemas.openxmlformats.org/drawingml/2006/main">
              <a:ext uri="{FF2B5EF4-FFF2-40B4-BE49-F238E27FC236}">
                <a16:creationId xmlns:a16="http://schemas.microsoft.com/office/drawing/2014/main" id="{FBC36B6A-9301-ABDB-03CF-23ADF7F07C4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B7E4F21-C24C-D131-6D7F-52B80594D4D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D5B741-F039-A04D-81E9-C0DE6BA46523}" type="slidenum">
              <a:t>‹#›</a:t>
            </a:fld>
            <a:endParaRPr/>
          </a:p>
        </p:txBody>
      </p:sp>
    </p:spTree>
  </p:cSld>
</p:sldLayout>
</file>

<file path=ppt/slideLayouts/slideLayout20.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004D842-A184-D34E-83A3-7939A51F2F31}"/>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BAB88A4F-A689-1A7A-CAA8-4068B47FD42E}"/>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6BA3E650-B706-5DEB-EE7A-90F3218CF87A}"/>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9FD9BED9-8399-658E-9C06-CE1A6A0093F7}"/>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F6063B30-E962-04B2-019E-17B9C7A4EE16}"/>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4D8B6CFA-AA84-B957-4789-8CE9BB15897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815D5C6-F7A1-5D44-B216-FA90FD5DD46C}" type="datetimeFigureOut">
              <a:t>8/24/2026</a:t>
            </a:fld>
            <a:endParaRPr/>
          </a:p>
        </p:txBody>
      </p:sp>
      <p:sp>
        <p:nvSpPr>
          <p:cNvPr id="8" name="Footer Placeholder 7">
            <a:extLst xmlns:a="http://schemas.openxmlformats.org/drawingml/2006/main">
              <a:ext uri="{FF2B5EF4-FFF2-40B4-BE49-F238E27FC236}">
                <a16:creationId xmlns:a16="http://schemas.microsoft.com/office/drawing/2014/main" id="{E792B9A4-0BCD-4078-27F1-CE03080C7B6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15B652E3-0273-69D9-07C6-940891B923D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D5B741-F039-A04D-81E9-C0DE6BA46523}" type="slidenum">
              <a:t>‹#›</a:t>
            </a:fld>
            <a:endParaRPr/>
          </a:p>
        </p:txBody>
      </p:sp>
    </p:spTree>
  </p:cSld>
</p:sldLayout>
</file>

<file path=ppt/slideLayouts/slideLayout21.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2B1E62D-DDB5-965C-61E2-C64BE73C917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A4E61465-2D74-BA61-3A96-9F2CCD6A7A1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815D5C6-F7A1-5D44-B216-FA90FD5DD46C}" type="datetimeFigureOut">
              <a:t>8/24/2026</a:t>
            </a:fld>
            <a:endParaRPr/>
          </a:p>
        </p:txBody>
      </p:sp>
      <p:sp>
        <p:nvSpPr>
          <p:cNvPr id="4" name="Footer Placeholder 3">
            <a:extLst xmlns:a="http://schemas.openxmlformats.org/drawingml/2006/main">
              <a:ext uri="{FF2B5EF4-FFF2-40B4-BE49-F238E27FC236}">
                <a16:creationId xmlns:a16="http://schemas.microsoft.com/office/drawing/2014/main" id="{A8C54FB0-75C8-BAB0-E08F-5597C745F45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F1EBFBCC-94A9-E98E-22C3-CC3862648A6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D5B741-F039-A04D-81E9-C0DE6BA46523}" type="slidenum">
              <a:t>‹#›</a:t>
            </a:fld>
            <a:endParaRPr/>
          </a:p>
        </p:txBody>
      </p:sp>
    </p:spTree>
  </p:cSld>
</p:sldLayout>
</file>

<file path=ppt/slideLayouts/slideLayout22.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6124318E-3FAE-E6CF-52C8-A5357EEE763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815D5C6-F7A1-5D44-B216-FA90FD5DD46C}" type="datetimeFigureOut">
              <a:t>8/24/2026</a:t>
            </a:fld>
            <a:endParaRPr/>
          </a:p>
        </p:txBody>
      </p:sp>
      <p:sp>
        <p:nvSpPr>
          <p:cNvPr id="3" name="Footer Placeholder 2">
            <a:extLst xmlns:a="http://schemas.openxmlformats.org/drawingml/2006/main">
              <a:ext uri="{FF2B5EF4-FFF2-40B4-BE49-F238E27FC236}">
                <a16:creationId xmlns:a16="http://schemas.microsoft.com/office/drawing/2014/main" id="{C9B0A48F-0238-53D6-2204-E5B225E25A3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DCCE8633-0444-E110-E633-38AC564DC0D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D5B741-F039-A04D-81E9-C0DE6BA46523}" type="slidenum">
              <a:t>‹#›</a:t>
            </a:fld>
            <a:endParaRPr/>
          </a:p>
        </p:txBody>
      </p:sp>
    </p:spTree>
  </p:cSld>
</p:sldLayout>
</file>

<file path=ppt/slideLayouts/slideLayout23.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B0A3B09-7850-228A-25AC-33C768D9DF57}"/>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C5F54079-0291-2553-0325-367A181407EB}"/>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DD68713B-4F7B-73A8-AC88-08F4E43387E5}"/>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FFF00650-DD85-EA5B-AC1C-BD0EA4C575C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815D5C6-F7A1-5D44-B216-FA90FD5DD46C}" type="datetimeFigureOut">
              <a:t>8/24/2026</a:t>
            </a:fld>
            <a:endParaRPr/>
          </a:p>
        </p:txBody>
      </p:sp>
      <p:sp>
        <p:nvSpPr>
          <p:cNvPr id="6" name="Footer Placeholder 5">
            <a:extLst xmlns:a="http://schemas.openxmlformats.org/drawingml/2006/main">
              <a:ext uri="{FF2B5EF4-FFF2-40B4-BE49-F238E27FC236}">
                <a16:creationId xmlns:a16="http://schemas.microsoft.com/office/drawing/2014/main" id="{D02F2E68-5EFE-4521-37C9-0D2D2A5F17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1C79F28-1FD0-F39C-054C-149BB5733DB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D5B741-F039-A04D-81E9-C0DE6BA46523}" type="slidenum">
              <a:t>‹#›</a:t>
            </a:fld>
            <a:endParaRPr/>
          </a:p>
        </p:txBody>
      </p:sp>
    </p:spTree>
  </p:cSld>
</p:sldLayout>
</file>

<file path=ppt/slideLayouts/slideLayout24.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842600-E7F7-0A7C-3F48-7DC437608293}"/>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8B1D641E-C182-AA2F-BDCE-515CDD073D55}"/>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EA6BA398-7343-A78C-5E87-2861D8733229}"/>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6D3B96A-4338-90F4-C630-4B1D3B91388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815D5C6-F7A1-5D44-B216-FA90FD5DD46C}" type="datetimeFigureOut">
              <a:t>8/24/2026</a:t>
            </a:fld>
            <a:endParaRPr/>
          </a:p>
        </p:txBody>
      </p:sp>
      <p:sp>
        <p:nvSpPr>
          <p:cNvPr id="6" name="Footer Placeholder 5">
            <a:extLst xmlns:a="http://schemas.openxmlformats.org/drawingml/2006/main">
              <a:ext uri="{FF2B5EF4-FFF2-40B4-BE49-F238E27FC236}">
                <a16:creationId xmlns:a16="http://schemas.microsoft.com/office/drawing/2014/main" id="{C5199B5F-56F1-C929-633A-316982F9F39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7560F7B3-C312-29B8-3DC6-506DD032AEC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D5B741-F039-A04D-81E9-C0DE6BA46523}" type="slidenum">
              <a:t>‹#›</a:t>
            </a:fld>
            <a:endParaRPr/>
          </a:p>
        </p:txBody>
      </p:sp>
    </p:spTree>
  </p:cSld>
</p:sldLayout>
</file>

<file path=ppt/slideLayouts/slideLayout25.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3208239-20ED-83C2-5E94-937A1AD96ED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5AB3D5DE-5127-38D3-6E89-B9D722EC2329}"/>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300445D7-6DAD-B423-C661-09989B9F54A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815D5C6-F7A1-5D44-B216-FA90FD5DD46C}" type="datetimeFigureOut">
              <a:t>8/24/2026</a:t>
            </a:fld>
            <a:endParaRPr/>
          </a:p>
        </p:txBody>
      </p:sp>
      <p:sp>
        <p:nvSpPr>
          <p:cNvPr id="5" name="Footer Placeholder 4">
            <a:extLst xmlns:a="http://schemas.openxmlformats.org/drawingml/2006/main">
              <a:ext uri="{FF2B5EF4-FFF2-40B4-BE49-F238E27FC236}">
                <a16:creationId xmlns:a16="http://schemas.microsoft.com/office/drawing/2014/main" id="{88ED203D-59EC-5FB7-5C4E-181DE2DCD8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F4D749D-FD83-7F6C-FA44-FEFB64867F6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D5B741-F039-A04D-81E9-C0DE6BA46523}" type="slidenum">
              <a:t>‹#›</a:t>
            </a:fld>
            <a:endParaRPr/>
          </a:p>
        </p:txBody>
      </p:sp>
    </p:spTree>
  </p:cSld>
</p:sldLayout>
</file>

<file path=ppt/slideLayouts/slideLayout26.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3D73154B-5C96-2E9F-D96C-FB3E0FD938F7}"/>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3F25D171-DBA8-3F47-FB05-D4B0DD2C7AB0}"/>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C4BBFC7-FA2F-62E6-4063-B8016AC9542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815D5C6-F7A1-5D44-B216-FA90FD5DD46C}" type="datetimeFigureOut">
              <a:t>8/24/2026</a:t>
            </a:fld>
            <a:endParaRPr/>
          </a:p>
        </p:txBody>
      </p:sp>
      <p:sp>
        <p:nvSpPr>
          <p:cNvPr id="5" name="Footer Placeholder 4">
            <a:extLst xmlns:a="http://schemas.openxmlformats.org/drawingml/2006/main">
              <a:ext uri="{FF2B5EF4-FFF2-40B4-BE49-F238E27FC236}">
                <a16:creationId xmlns:a16="http://schemas.microsoft.com/office/drawing/2014/main" id="{4BD08E5F-665E-DCDF-E602-9A5066D3983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33BF30F-B402-482F-1090-52983BFFEAD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D5B741-F039-A04D-81E9-C0DE6BA46523}"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d97cbeac474f8c" /><Relationship Type="http://schemas.openxmlformats.org/officeDocument/2006/relationships/slideLayout" Target="/ppt/slideLayouts/slideLayout1.xml" Id="R88943cdebc20454f" /><Relationship Type="http://schemas.openxmlformats.org/officeDocument/2006/relationships/slideLayout" Target="/ppt/slideLayouts/slideLayout2.xml" Id="Rd9f6f599d3b04044" /><Relationship Type="http://schemas.openxmlformats.org/officeDocument/2006/relationships/slideLayout" Target="/ppt/slideLayouts/slideLayout3.xml" Id="R0f5121d2b2634d23" /><Relationship Type="http://schemas.openxmlformats.org/officeDocument/2006/relationships/slideLayout" Target="/ppt/slideLayouts/slideLayout4.xml" Id="R971524c0aa2343bf"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8cb0fc6ffedd4625" /><Relationship Type="http://schemas.openxmlformats.org/officeDocument/2006/relationships/slideLayout" Target="/ppt/slideLayouts/slideLayout5.xml" Id="R68ba721427be4d4e" /><Relationship Type="http://schemas.openxmlformats.org/officeDocument/2006/relationships/slideLayout" Target="/ppt/slideLayouts/slideLayout6.xml" Id="Rb2c1614f354143bb" /><Relationship Type="http://schemas.openxmlformats.org/officeDocument/2006/relationships/slideLayout" Target="/ppt/slideLayouts/slideLayout7.xml" Id="Rb62244725dee449c" /><Relationship Type="http://schemas.openxmlformats.org/officeDocument/2006/relationships/slideLayout" Target="/ppt/slideLayouts/slideLayout8.xml" Id="R4cfc57b7688a4e64" /><Relationship Type="http://schemas.openxmlformats.org/officeDocument/2006/relationships/slideLayout" Target="/ppt/slideLayouts/slideLayout9.xml" Id="R5e9e925d87e44d2a" /><Relationship Type="http://schemas.openxmlformats.org/officeDocument/2006/relationships/slideLayout" Target="/ppt/slideLayouts/slideLayout10.xml" Id="R67ecfa7da24144d6" /><Relationship Type="http://schemas.openxmlformats.org/officeDocument/2006/relationships/slideLayout" Target="/ppt/slideLayouts/slideLayout11.xml" Id="R1483520dd9564844" /><Relationship Type="http://schemas.openxmlformats.org/officeDocument/2006/relationships/slideLayout" Target="/ppt/slideLayouts/slideLayout12.xml" Id="R787557b6b260485f" /><Relationship Type="http://schemas.openxmlformats.org/officeDocument/2006/relationships/slideLayout" Target="/ppt/slideLayouts/slideLayout13.xml" Id="Rf1039c613f0c40d4" /><Relationship Type="http://schemas.openxmlformats.org/officeDocument/2006/relationships/slideLayout" Target="/ppt/slideLayouts/slideLayout14.xml" Id="R424332a972f54ae5" /><Relationship Type="http://schemas.openxmlformats.org/officeDocument/2006/relationships/slideLayout" Target="/ppt/slideLayouts/slideLayout15.xml" Id="R76b70bafcc214b10" /></Relationships>
</file>

<file path=ppt/slideMasters/_rels/slideMaster3.xml.rels>&#65279;<?xml version="1.0" encoding="utf-8"?><Relationships xmlns="http://schemas.openxmlformats.org/package/2006/relationships"><Relationship Type="http://schemas.openxmlformats.org/officeDocument/2006/relationships/theme" Target="/ppt/slideMasters/theme/theme4.xml" Id="R26f413fab92f4afe" /><Relationship Type="http://schemas.openxmlformats.org/officeDocument/2006/relationships/slideLayout" Target="/ppt/slideLayouts/slideLayout16.xml" Id="Rb1b28acdbb76427a" /><Relationship Type="http://schemas.openxmlformats.org/officeDocument/2006/relationships/slideLayout" Target="/ppt/slideLayouts/slideLayout17.xml" Id="R8a3df602ed184b7f" /><Relationship Type="http://schemas.openxmlformats.org/officeDocument/2006/relationships/slideLayout" Target="/ppt/slideLayouts/slideLayout18.xml" Id="Reecd801626d64ebd" /><Relationship Type="http://schemas.openxmlformats.org/officeDocument/2006/relationships/slideLayout" Target="/ppt/slideLayouts/slideLayout19.xml" Id="Rf463e0edabf6476a" /><Relationship Type="http://schemas.openxmlformats.org/officeDocument/2006/relationships/slideLayout" Target="/ppt/slideLayouts/slideLayout20.xml" Id="R977401c804454798" /><Relationship Type="http://schemas.openxmlformats.org/officeDocument/2006/relationships/slideLayout" Target="/ppt/slideLayouts/slideLayout21.xml" Id="Rf2f90c52e073480f" /><Relationship Type="http://schemas.openxmlformats.org/officeDocument/2006/relationships/slideLayout" Target="/ppt/slideLayouts/slideLayout22.xml" Id="R32044ba022c14d30" /><Relationship Type="http://schemas.openxmlformats.org/officeDocument/2006/relationships/slideLayout" Target="/ppt/slideLayouts/slideLayout23.xml" Id="Rae12368959fd4dc7" /><Relationship Type="http://schemas.openxmlformats.org/officeDocument/2006/relationships/slideLayout" Target="/ppt/slideLayouts/slideLayout24.xml" Id="Rf1aa9d9559034d94" /><Relationship Type="http://schemas.openxmlformats.org/officeDocument/2006/relationships/slideLayout" Target="/ppt/slideLayouts/slideLayout25.xml" Id="Rd9390a3f506d483a" /><Relationship Type="http://schemas.openxmlformats.org/officeDocument/2006/relationships/slideLayout" Target="/ppt/slideLayouts/slideLayout26.xml" Id="Raf014ecc5ec84e9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D3DD871-3B5C-C6B1-86B7-BAD5C9E0264F}"/>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8315E8F-94C3-DEA7-72D7-43D974A55693}"/>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EA33BC0-FF84-DF07-2D03-812433C8C87E}"/>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270F68AE-1121-E34D-AB43-7EFA01D82E5E}" type="datetimeFigureOut">
              <a:t>8/24/2026</a:t>
            </a:fld>
            <a:endParaRPr/>
          </a:p>
        </p:txBody>
      </p:sp>
      <p:sp>
        <p:nvSpPr>
          <p:cNvPr id="5" name="Footer Placeholder 4">
            <a:extLst xmlns:a="http://schemas.openxmlformats.org/drawingml/2006/main">
              <a:ext uri="{FF2B5EF4-FFF2-40B4-BE49-F238E27FC236}">
                <a16:creationId xmlns:a16="http://schemas.microsoft.com/office/drawing/2014/main" id="{D9404D14-8F6B-6828-E58B-9590E68C8082}"/>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3D5504E-6E70-6ECE-79C3-BCDDE83ED4B0}"/>
              </a:ext>
            </a:extLst>
          </p:cNvPr>
          <p:cNvSpPr>
            <a:spLocks xmlns:a="http://schemas.openxmlformats.org/drawingml/2006/main" noGrp="1"/>
          </p:cNvSpPr>
          <p:nvPr>
            <p:ph type="sldNum" idx="4"/>
          </p:nvPr>
        </p:nvSpPr>
        <p:spPr>
          <a:xfrm xmlns:a="http://schemas.openxmlformats.org/drawingml/2006/main">
            <a:off x="11577711" y="6356350"/>
            <a:ext cx="587326"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944FE883-4AC6-394B-8129-6E4BB686DB20}"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943cdebc20454f"/>
    <p:sldLayoutId xmlns:r="http://schemas.openxmlformats.org/officeDocument/2006/relationships" id="2147483650" r:id="Rd9f6f599d3b04044"/>
    <p:sldLayoutId xmlns:r="http://schemas.openxmlformats.org/officeDocument/2006/relationships" id="2147483651" r:id="R0f5121d2b2634d23"/>
    <p:sldLayoutId xmlns:r="http://schemas.openxmlformats.org/officeDocument/2006/relationships" id="2147483652" r:id="R971524c0aa2343bf"/>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555914E-B12D-A7B0-5FD9-797382E1C308}"/>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1D96845E-D9F9-8BDF-C840-02AB94A4666B}"/>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700E1BE-A7B7-ED17-1838-DBB3F46715F4}"/>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4B84967F-2382-1D42-B474-ED4C6215D2E3}" type="datetimeFigureOut">
              <a:t>8/24/2026</a:t>
            </a:fld>
            <a:endParaRPr/>
          </a:p>
        </p:txBody>
      </p:sp>
      <p:sp>
        <p:nvSpPr>
          <p:cNvPr id="5" name="Footer Placeholder 4">
            <a:extLst xmlns:a="http://schemas.openxmlformats.org/drawingml/2006/main">
              <a:ext uri="{FF2B5EF4-FFF2-40B4-BE49-F238E27FC236}">
                <a16:creationId xmlns:a16="http://schemas.microsoft.com/office/drawing/2014/main" id="{4D185862-84FD-CE9D-9FE7-4D2339447222}"/>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3353032-999A-FB0D-8D6A-9372F506D68F}"/>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A536A363-BB52-F847-9CC8-A14FBF3DB02D}"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54" r:id="R68ba721427be4d4e"/>
    <p:sldLayoutId xmlns:r="http://schemas.openxmlformats.org/officeDocument/2006/relationships" id="2147483655" r:id="Rb2c1614f354143bb"/>
    <p:sldLayoutId xmlns:r="http://schemas.openxmlformats.org/officeDocument/2006/relationships" id="2147483656" r:id="Rb62244725dee449c"/>
    <p:sldLayoutId xmlns:r="http://schemas.openxmlformats.org/officeDocument/2006/relationships" id="2147483657" r:id="R4cfc57b7688a4e64"/>
    <p:sldLayoutId xmlns:r="http://schemas.openxmlformats.org/officeDocument/2006/relationships" id="2147483658" r:id="R5e9e925d87e44d2a"/>
    <p:sldLayoutId xmlns:r="http://schemas.openxmlformats.org/officeDocument/2006/relationships" id="2147483659" r:id="R67ecfa7da24144d6"/>
    <p:sldLayoutId xmlns:r="http://schemas.openxmlformats.org/officeDocument/2006/relationships" id="2147483660" r:id="R1483520dd9564844"/>
    <p:sldLayoutId xmlns:r="http://schemas.openxmlformats.org/officeDocument/2006/relationships" id="2147483661" r:id="R787557b6b260485f"/>
    <p:sldLayoutId xmlns:r="http://schemas.openxmlformats.org/officeDocument/2006/relationships" id="2147483662" r:id="Rf1039c613f0c40d4"/>
    <p:sldLayoutId xmlns:r="http://schemas.openxmlformats.org/officeDocument/2006/relationships" id="2147483663" r:id="R424332a972f54ae5"/>
    <p:sldLayoutId xmlns:r="http://schemas.openxmlformats.org/officeDocument/2006/relationships" id="2147483664" r:id="R76b70bafcc214b10"/>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3.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73929900-2ACA-4B92-0E1A-06DA734F90A0}"/>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7F8FEAE7-C0FC-3C7F-593D-72FA7D103949}"/>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59F4F41-5353-39BA-3414-85A2A531C26C}"/>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4815D5C6-F7A1-5D44-B216-FA90FD5DD46C}" type="datetimeFigureOut">
              <a:t>8/24/2026</a:t>
            </a:fld>
            <a:endParaRPr/>
          </a:p>
        </p:txBody>
      </p:sp>
      <p:sp>
        <p:nvSpPr>
          <p:cNvPr id="5" name="Footer Placeholder 4">
            <a:extLst xmlns:a="http://schemas.openxmlformats.org/drawingml/2006/main">
              <a:ext uri="{FF2B5EF4-FFF2-40B4-BE49-F238E27FC236}">
                <a16:creationId xmlns:a16="http://schemas.microsoft.com/office/drawing/2014/main" id="{16726262-21EF-79AE-4E83-5A1E4D0B135F}"/>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BA5C12F-C386-8200-06E7-EF5A40CF073A}"/>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F1D5B741-F039-A04D-81E9-C0DE6BA46523}"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66" r:id="Rb1b28acdbb76427a"/>
    <p:sldLayoutId xmlns:r="http://schemas.openxmlformats.org/officeDocument/2006/relationships" id="2147483667" r:id="R8a3df602ed184b7f"/>
    <p:sldLayoutId xmlns:r="http://schemas.openxmlformats.org/officeDocument/2006/relationships" id="2147483668" r:id="Reecd801626d64ebd"/>
    <p:sldLayoutId xmlns:r="http://schemas.openxmlformats.org/officeDocument/2006/relationships" id="2147483669" r:id="Rf463e0edabf6476a"/>
    <p:sldLayoutId xmlns:r="http://schemas.openxmlformats.org/officeDocument/2006/relationships" id="2147483670" r:id="R977401c804454798"/>
    <p:sldLayoutId xmlns:r="http://schemas.openxmlformats.org/officeDocument/2006/relationships" id="2147483671" r:id="Rf2f90c52e073480f"/>
    <p:sldLayoutId xmlns:r="http://schemas.openxmlformats.org/officeDocument/2006/relationships" id="2147483672" r:id="R32044ba022c14d30"/>
    <p:sldLayoutId xmlns:r="http://schemas.openxmlformats.org/officeDocument/2006/relationships" id="2147483673" r:id="Rae12368959fd4dc7"/>
    <p:sldLayoutId xmlns:r="http://schemas.openxmlformats.org/officeDocument/2006/relationships" id="2147483674" r:id="Rf1aa9d9559034d94"/>
    <p:sldLayoutId xmlns:r="http://schemas.openxmlformats.org/officeDocument/2006/relationships" id="2147483675" r:id="Rd9390a3f506d483a"/>
    <p:sldLayoutId xmlns:r="http://schemas.openxmlformats.org/officeDocument/2006/relationships" id="2147483676" r:id="Raf014ecc5ec84e9b"/>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Custom 17">
      <a:dk1>
        <a:srgbClr val="000000"/>
      </a:dk1>
      <a:lt1>
        <a:srgbClr val="FFFFFF"/>
      </a:lt1>
      <a:dk2>
        <a:srgbClr val="005138"/>
      </a:dk2>
      <a:lt2>
        <a:srgbClr val="E7E6E6"/>
      </a:lt2>
      <a:accent1>
        <a:srgbClr val="FFC733"/>
      </a:accent1>
      <a:accent2>
        <a:srgbClr val="333333"/>
      </a:accent2>
      <a:accent3>
        <a:srgbClr val="A5A5A5"/>
      </a:accent3>
      <a:accent4>
        <a:srgbClr val="FFC000"/>
      </a:accent4>
      <a:accent5>
        <a:srgbClr val="5B9BD5"/>
      </a:accent5>
      <a:accent6>
        <a:srgbClr val="70AD47"/>
      </a:accent6>
      <a:hlink>
        <a:srgbClr val="0563C1"/>
      </a:hlink>
      <a:folHlink>
        <a:srgbClr val="954F72"/>
      </a:folHlink>
    </a:clrScheme>
    <a:fontScheme name="Franklin Gothic">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ustom 17">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7033829b93447c5" /><Relationship Type="http://schemas.openxmlformats.org/officeDocument/2006/relationships/notesSlide" Target="/ppt/notesSlides/notesSlide1.xml" Id="Rd194cea4918941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2556097fa4f4454e" /><Relationship Type="http://schemas.openxmlformats.org/officeDocument/2006/relationships/image" Target="/ppt/media/image8.png" Id="R299dc91c15a24360" /><Relationship Type="http://schemas.openxmlformats.org/officeDocument/2006/relationships/image" Target="/ppt/media/image9.png" Id="R0062e24c716f4122" /><Relationship Type="http://schemas.openxmlformats.org/officeDocument/2006/relationships/image" Target="/ppt/media/image10.png" Id="Rbabde051a85144d2" /><Relationship Type="http://schemas.openxmlformats.org/officeDocument/2006/relationships/image" Target="/ppt/media/image.svg" Id="R0a5a56ea90ee4730" /><Relationship Type="http://schemas.openxmlformats.org/officeDocument/2006/relationships/notesSlide" Target="/ppt/notesSlides/notesSlide2.xml" Id="R1c7a813d5ba54d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2ff478f8d604258" /><Relationship Type="http://schemas.openxmlformats.org/officeDocument/2006/relationships/image" Target="/ppt/media/image8.png" Id="Rb19d1dd6b5734bb9" /><Relationship Type="http://schemas.openxmlformats.org/officeDocument/2006/relationships/image" Target="/ppt/media/image11.png" Id="Rdcce577675874454" /><Relationship Type="http://schemas.openxmlformats.org/officeDocument/2006/relationships/notesSlide" Target="/ppt/notesSlides/notesSlide3.xml" Id="R7bf270e58f1b456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3c071944cb4844e6" /><Relationship Type="http://schemas.openxmlformats.org/officeDocument/2006/relationships/image" Target="/ppt/media/image8.png" Id="Rc00ebb23b3714208" /><Relationship Type="http://schemas.openxmlformats.org/officeDocument/2006/relationships/diagramData" Target="/ppt/graphics/data1.xml" Id="R990603455de04044" /><Relationship Type="http://schemas.openxmlformats.org/officeDocument/2006/relationships/diagramLayout" Target="/ppt/graphics/layout1.xml" Id="R6e4aee61ea80400a" /><Relationship Type="http://schemas.openxmlformats.org/officeDocument/2006/relationships/image" Target="/ppt/media/image12.png" Id="R30c143f3b4074b9a" /><Relationship Type="http://schemas.openxmlformats.org/officeDocument/2006/relationships/diagramData" Target="/ppt/graphics/data2.xml" Id="R8e980b04986b40a8" /><Relationship Type="http://schemas.openxmlformats.org/officeDocument/2006/relationships/diagramLayout" Target="/ppt/graphics/layout2.xml" Id="R9a43e85213064f52" /><Relationship Type="http://schemas.openxmlformats.org/officeDocument/2006/relationships/notesSlide" Target="/ppt/notesSlides/notesSlide4.xml" Id="R55c200f10b144a5c"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f2e428fa693c4c08" /><Relationship Type="http://schemas.openxmlformats.org/officeDocument/2006/relationships/image" Target="/ppt/media/image8.png" Id="Rce998cc586af45aa" /><Relationship Type="http://schemas.openxmlformats.org/officeDocument/2006/relationships/image" Target="/ppt/media/image13.png" Id="Rd38bba26787c491d" /><Relationship Type="http://schemas.openxmlformats.org/officeDocument/2006/relationships/notesSlide" Target="/ppt/notesSlides/notesSlide5.xml" Id="Rbe3156c6deaf4d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5c20aad5d8764eed" /><Relationship Type="http://schemas.openxmlformats.org/officeDocument/2006/relationships/image" Target="/ppt/media/image8.png" Id="R50c6c1ac471b45d0" /><Relationship Type="http://schemas.openxmlformats.org/officeDocument/2006/relationships/image" Target="/ppt/media/image14.png" Id="R2a1a656ea1ac4b38" /><Relationship Type="http://schemas.openxmlformats.org/officeDocument/2006/relationships/image" Target="/ppt/media/image15.png" Id="R04bcc3f7dc794a20" /><Relationship Type="http://schemas.openxmlformats.org/officeDocument/2006/relationships/notesSlide" Target="/ppt/notesSlides/notesSlide6.xml" Id="Rdc258b992ad84470"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6f5a8ac0406f4e42" /><Relationship Type="http://schemas.openxmlformats.org/officeDocument/2006/relationships/diagramData" Target="/ppt/graphics/data3.xml" Id="Rd07aa2bd77434e7e" /><Relationship Type="http://schemas.openxmlformats.org/officeDocument/2006/relationships/diagramLayout" Target="/ppt/graphics/layout3.xml" Id="Rc2aecd2737144841" /><Relationship Type="http://schemas.openxmlformats.org/officeDocument/2006/relationships/image" Target="/ppt/media/image8.png" Id="Ra39ee2554dc04dab" /><Relationship Type="http://schemas.openxmlformats.org/officeDocument/2006/relationships/notesSlide" Target="/ppt/notesSlides/notesSlide7.xml" Id="Ra945cd1044e647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bbd2d4051132430d" /><Relationship Type="http://schemas.openxmlformats.org/officeDocument/2006/relationships/diagramData" Target="/ppt/graphics/data4.xml" Id="R050e67f2203a4f7b" /><Relationship Type="http://schemas.openxmlformats.org/officeDocument/2006/relationships/diagramLayout" Target="/ppt/graphics/layout4.xml" Id="R6592bb81b4bd49fa" /><Relationship Type="http://schemas.openxmlformats.org/officeDocument/2006/relationships/image" Target="/ppt/media/image8.png" Id="R976b1193cb714869" /><Relationship Type="http://schemas.openxmlformats.org/officeDocument/2006/relationships/diagramData" Target="/ppt/graphics/data5.xml" Id="Rcd6ef8b0549e43e3" /><Relationship Type="http://schemas.openxmlformats.org/officeDocument/2006/relationships/diagramLayout" Target="/ppt/graphics/layout5.xml" Id="Re856ef30a57c4d57" /><Relationship Type="http://schemas.openxmlformats.org/officeDocument/2006/relationships/notesSlide" Target="/ppt/notesSlides/notesSlide8.xml" Id="Rbd590dcff8514a59"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3b2bc2f9c6a54324" /><Relationship Type="http://schemas.openxmlformats.org/officeDocument/2006/relationships/image" Target="/ppt/media/image16.png" Id="Rfbd7b43849f944e9" /><Relationship Type="http://schemas.openxmlformats.org/officeDocument/2006/relationships/image" Target="/ppt/media/image8.png" Id="Rbda52a963a3f4690" /><Relationship Type="http://schemas.openxmlformats.org/officeDocument/2006/relationships/notesSlide" Target="/ppt/notesSlides/notesSlide9.xml" Id="R4d67662637604c4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fe9cf1faf3c14072" /><Relationship Type="http://schemas.openxmlformats.org/officeDocument/2006/relationships/image" Target="/ppt/media/image8.png" Id="R40f4ced581df447c" /><Relationship Type="http://schemas.openxmlformats.org/officeDocument/2006/relationships/notesSlide" Target="/ppt/notesSlides/notesSlide10.xml" Id="Rd909422e4e5a4a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0c28471c62ab4519" /><Relationship Type="http://schemas.openxmlformats.org/officeDocument/2006/relationships/image" Target="/ppt/media/image8.png" Id="R801515054db04df8" /><Relationship Type="http://schemas.openxmlformats.org/officeDocument/2006/relationships/notesSlide" Target="/ppt/notesSlides/notesSlide11.xml" Id="Ra94f79df4cf8452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34f0b663a6c04f49" /><Relationship Type="http://schemas.openxmlformats.org/officeDocument/2006/relationships/image" Target="/ppt/media/image8.png" Id="R38f02cad8e064ef2" /><Relationship Type="http://schemas.openxmlformats.org/officeDocument/2006/relationships/notesSlide" Target="/ppt/notesSlides/notesSlide12.xml" Id="R444185d4ca76403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b3a977e956504715" /><Relationship Type="http://schemas.openxmlformats.org/officeDocument/2006/relationships/image" Target="/ppt/media/image8.png" Id="R7396b6866370460e" /><Relationship Type="http://schemas.openxmlformats.org/officeDocument/2006/relationships/chart" Target="/ppt/slides/charts/chart1.xml" Id="Rdfe54d6618cd424a" /><Relationship Type="http://schemas.openxmlformats.org/officeDocument/2006/relationships/notesSlide" Target="/ppt/notesSlides/notesSlide13.xml" Id="Re3bf61d20b9c4f9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3aa05b3f5dd4495a" /><Relationship Type="http://schemas.openxmlformats.org/officeDocument/2006/relationships/image" Target="/ppt/media/image8.png" Id="R12c5b6c816d6404a" /><Relationship Type="http://schemas.openxmlformats.org/officeDocument/2006/relationships/chart" Target="/ppt/slides/charts/chart2.xml" Id="R2e550e27f1f049e4" /><Relationship Type="http://schemas.openxmlformats.org/officeDocument/2006/relationships/notesSlide" Target="/ppt/notesSlides/notesSlide14.xml" Id="Rfe9d75db6cbd420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1c3ae7773df34f7d" /><Relationship Type="http://schemas.openxmlformats.org/officeDocument/2006/relationships/image" Target="/ppt/media/image8.png" Id="R707fc1ee063941d2" /><Relationship Type="http://schemas.openxmlformats.org/officeDocument/2006/relationships/chart" Target="/ppt/slides/charts/chart3.xml" Id="Rf673da497d914b96" /><Relationship Type="http://schemas.openxmlformats.org/officeDocument/2006/relationships/notesSlide" Target="/ppt/notesSlides/notesSlide15.xml" Id="R00ab1cc9e34146d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2376f2eef1a84461" /><Relationship Type="http://schemas.openxmlformats.org/officeDocument/2006/relationships/image" Target="/ppt/media/image8.png" Id="R8779e3b68a954bb2" /><Relationship Type="http://schemas.openxmlformats.org/officeDocument/2006/relationships/chart" Target="/ppt/slides/charts/chart4.xml" Id="R777c6952edff4304" /><Relationship Type="http://schemas.openxmlformats.org/officeDocument/2006/relationships/notesSlide" Target="/ppt/notesSlides/notesSlide16.xml" Id="R6e71ca672b7d4449" /></Relationships>
</file>

<file path=ppt/slides/charts/chart1.xml><?xml version="1.0" encoding="utf-8"?>
<c:chartSpace xmlns:c="http://schemas.openxmlformats.org/drawingml/2006/chart">
  <c:lang val="en-US"/>
  <c:chart>
    <c:plotArea>
      <c:barChart>
        <c:barDir val="col"/>
        <c:varyColors val="0"/>
        <c:ser>
          <c:idx val="0"/>
          <c:order val="0"/>
          <c:tx>
            <c:v>Value</c:v>
          </c:tx>
          <c:spPr>
            <a:solidFill xmlns:a="http://schemas.openxmlformats.org/drawingml/2006/main">
              <a:schemeClr val="accent1"/>
            </a:solidFill>
          </c:spPr>
          <c:cat>
            <c:strLit>
              <c:ptCount val="3"/>
              <c:pt idx="0">
                <c:v>rho(J)</c:v>
              </c:pt>
              <c:pt idx="1">
                <c:v>max Re</c:v>
              </c:pt>
              <c:pt idx="2">
                <c:v>J_eff rho</c:v>
              </c:pt>
            </c:strLit>
          </c:cat>
          <c:val>
            <c:numLit>
              <c:formatCode>General</c:formatCode>
              <c:ptCount val="3"/>
              <c:pt idx="0">
                <c:v>0.9999999999999994</c:v>
              </c:pt>
              <c:pt idx="1">
                <c:v>0.9999999999999994</c:v>
              </c:pt>
              <c:pt idx="2">
                <c:v>1.0337424834576134</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plotArea>
    <c:plotVisOnly val="1"/>
  </c:chart>
</c:chartSpace>
</file>

<file path=ppt/slides/charts/chart2.xml><?xml version="1.0" encoding="utf-8"?>
<c:chartSpace xmlns:c="http://schemas.openxmlformats.org/drawingml/2006/chart">
  <c:lang val="en-US"/>
  <c:chart>
    <c:plotArea>
      <c:barChart>
        <c:barDir val="col"/>
        <c:varyColors val="0"/>
        <c:ser>
          <c:idx val="0"/>
          <c:order val="0"/>
          <c:tx>
            <c:v>Spectral radius</c:v>
          </c:tx>
          <c:spPr>
            <a:solidFill xmlns:a="http://schemas.openxmlformats.org/drawingml/2006/main">
              <a:schemeClr val="accent5"/>
            </a:solidFill>
          </c:spPr>
          <c:cat>
            <c:strLit>
              <c:ptCount val="2"/>
              <c:pt idx="0">
                <c:v>J</c:v>
              </c:pt>
              <c:pt idx="1">
                <c:v>J_eff</c:v>
              </c:pt>
            </c:strLit>
          </c:cat>
          <c:val>
            <c:numLit>
              <c:formatCode>General</c:formatCode>
              <c:ptCount val="2"/>
              <c:pt idx="0">
                <c:v>1</c:v>
              </c:pt>
              <c:pt idx="1">
                <c:v>1.0337424834576134</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plotArea>
    <c:plotVisOnly val="1"/>
  </c:chart>
</c:chartSpace>
</file>

<file path=ppt/slides/charts/chart3.xml><?xml version="1.0" encoding="utf-8"?>
<c:chartSpace xmlns:c="http://schemas.openxmlformats.org/drawingml/2006/chart">
  <c:lang val="en-US"/>
  <c:chart>
    <c:plotArea>
      <c:barChart>
        <c:barDir val="col"/>
        <c:varyColors val="0"/>
        <c:ser>
          <c:idx val="0"/>
          <c:order val="0"/>
          <c:tx>
            <c:v>Mean enrichment</c:v>
          </c:tx>
          <c:spPr>
            <a:solidFill xmlns:a="http://schemas.openxmlformats.org/drawingml/2006/main">
              <a:schemeClr val="accent1"/>
            </a:solidFill>
          </c:spPr>
          <c:cat>
            <c:strLit>
              <c:ptCount val="4"/>
              <c:pt idx="0">
                <c:v>Chain</c:v>
              </c:pt>
              <c:pt idx="1">
                <c:v>Reciprocal</c:v>
              </c:pt>
              <c:pt idx="2">
                <c:v>Divergent</c:v>
              </c:pt>
              <c:pt idx="3">
                <c:v>Convergent</c:v>
              </c:pt>
            </c:strLit>
          </c:cat>
          <c:val>
            <c:numLit>
              <c:formatCode>General</c:formatCode>
              <c:ptCount val="4"/>
              <c:pt idx="0">
                <c:v>1.0221058048363076</c:v>
              </c:pt>
              <c:pt idx="1">
                <c:v>2.6558736451266016</c:v>
              </c:pt>
              <c:pt idx="2">
                <c:v>1.2683183134325695</c:v>
              </c:pt>
              <c:pt idx="3">
                <c:v>1.1732846769793317</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plotArea>
    <c:plotVisOnly val="1"/>
  </c:chart>
</c:chartSpace>
</file>

<file path=ppt/slides/charts/chart4.xml><?xml version="1.0" encoding="utf-8"?>
<c:chartSpace xmlns:c="http://schemas.openxmlformats.org/drawingml/2006/chart">
  <c:lang val="en-US"/>
  <c:chart>
    <c:plotArea>
      <c:lineChart>
        <c:grouping val="standard"/>
        <c:ser>
          <c:idx val="0"/>
          <c:order val="0"/>
          <c:tx>
            <c:v>rho</c:v>
          </c:tx>
          <c:spPr>
            <a:solidFill xmlns:a="http://schemas.openxmlformats.org/drawingml/2006/main">
              <a:schemeClr val="accent1"/>
            </a:solidFill>
            <a:ln xmlns:a="http://schemas.openxmlformats.org/drawingml/2006/main" w="28575">
              <a:solidFill>
                <a:srgbClr val="005138"/>
              </a:solidFill>
            </a:ln>
          </c:spPr>
          <c:marker>
            <c:symbol val="none"/>
          </c:marker>
          <c:cat>
            <c:strLit>
              <c:ptCount val="7"/>
              <c:pt idx="0">
                <c:v>0x</c:v>
              </c:pt>
              <c:pt idx="1">
                <c:v>0.25x</c:v>
              </c:pt>
              <c:pt idx="2">
                <c:v>0.5x</c:v>
              </c:pt>
              <c:pt idx="3">
                <c:v>0.75x</c:v>
              </c:pt>
              <c:pt idx="4">
                <c:v>1x</c:v>
              </c:pt>
              <c:pt idx="5">
                <c:v>1.25x</c:v>
              </c:pt>
              <c:pt idx="6">
                <c:v>1.5x</c:v>
              </c:pt>
            </c:strLit>
          </c:cat>
          <c:val>
            <c:numLit>
              <c:formatCode>General</c:formatCode>
              <c:ptCount val="7"/>
              <c:pt idx="0">
                <c:v>0.9054566293497861</c:v>
              </c:pt>
              <c:pt idx="1">
                <c:v>0.9395648505069429</c:v>
              </c:pt>
              <c:pt idx="2">
                <c:v>0.974180374140749</c:v>
              </c:pt>
              <c:pt idx="3">
                <c:v>1.0091986549249239</c:v>
              </c:pt>
              <c:pt idx="4">
                <c:v>1.0445413474029914</c:v>
              </c:pt>
              <c:pt idx="5">
                <c:v>1.0801487745978808</c:v>
              </c:pt>
              <c:pt idx="6">
                <c:v>1.1159747921683045</c:v>
              </c:pt>
            </c:numLit>
          </c:val>
        </c:ser>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plotArea>
    <c:plotVisOnly val="1"/>
  </c:chart>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7" name="Title 6">
            <a:extLst xmlns:a="http://schemas.openxmlformats.org/drawingml/2006/main">
              <a:ext uri="{FF2B5EF4-FFF2-40B4-BE49-F238E27FC236}">
                <a16:creationId xmlns:a16="http://schemas.microsoft.com/office/drawing/2014/main" id="{A9199008-FA7F-E626-60CB-AC2CECA62B96}"/>
              </a:ext>
            </a:extLst>
          </p:cNvPr>
          <p:cNvSpPr>
            <a:spLocks xmlns:a="http://schemas.openxmlformats.org/drawingml/2006/main" noGrp="1"/>
          </p:cNvSpPr>
          <p:nvPr>
            <p:ph type="ctrTitle" idx="0"/>
          </p:nvPr>
        </p:nvSpPr>
        <p:spPr>
          <a:xfrm xmlns:a="http://schemas.openxmlformats.org/drawingml/2006/main">
            <a:off x="779481" y="2971435"/>
            <a:ext cx="10650519" cy="2106253"/>
          </a:xfrm>
        </p:spPr>
        <p:txBody>
          <a:bodyPr xmlns:a="http://schemas.openxmlformats.org/drawingml/2006/main" anchor="t"/>
          <a:lstStyle xmlns:a="http://schemas.openxmlformats.org/drawingml/2006/main"/>
          <a:p xmlns:a="http://schemas.openxmlformats.org/drawingml/2006/main">
            <a:r>
              <a:t>Impact of local connectivity patterns on excitatory-inhibitory network dynamics</a:t>
            </a:r>
            <a:endParaRPr>
              <a:solidFill>
                <a:srgbClr val="000000"/>
              </a:solidFill>
            </a:endParaRPr>
          </a:p>
          <a:p xmlns:a="http://schemas.openxmlformats.org/drawingml/2006/main">
            <a:endParaRPr i="1"/>
          </a:p>
        </p:txBody>
      </p:sp>
      <p:sp>
        <p:nvSpPr>
          <p:cNvPr id="6" name="Subtitle 4">
            <a:extLst xmlns:a="http://schemas.openxmlformats.org/drawingml/2006/main">
              <a:ext uri="{FF2B5EF4-FFF2-40B4-BE49-F238E27FC236}">
                <a16:creationId xmlns:a16="http://schemas.microsoft.com/office/drawing/2014/main" id="{414F8F07-C389-5152-45F9-6278B2E0B195}"/>
              </a:ext>
            </a:extLst>
          </p:cNvPr>
          <p:cNvSpPr>
            <a:spLocks xmlns:a="http://schemas.openxmlformats.org/drawingml/2006/main" noGrp="1"/>
          </p:cNvSpPr>
          <p:nvPr/>
        </p:nvSpPr>
        <p:spPr>
          <a:xfrm xmlns:a="http://schemas.openxmlformats.org/drawingml/2006/main">
            <a:off x="1559795" y="5627077"/>
            <a:ext cx="4165755" cy="1209191"/>
          </a:xfrm>
          <a:prstGeom xmlns:a="http://schemas.openxmlformats.org/drawingml/2006/main" prst="rect">
            <a:avLst/>
          </a:prstGeom>
        </p:spPr>
        <p:txBody>
          <a:bodyPr xmlns:a="http://schemas.openxmlformats.org/drawingml/2006/main" vert="horz" lIns="91440" tIns="45720" rIns="91440" bIns="45720" anchor="b">
            <a:normAutofit/>
          </a:bodyPr>
          <a:lstStyle xmlns:a="http://schemas.openxmlformats.org/drawingml/2006/main">
            <a:lvl1pPr marL="0" indent="0" algn="l" defTabSz="914400">
              <a:lnSpc>
                <a:spcPct val="90000"/>
              </a:lnSpc>
              <a:spcBef>
                <a:spcPts val="1000"/>
              </a:spcBef>
              <a:buFont typeface="Arial"/>
              <a:buNone/>
              <a:defRPr sz="2400" kern="1200">
                <a:solidFill>
                  <a:schemeClr val="bg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2000"/>
              <a:t>Final Presentation</a:t>
            </a:r>
          </a:p>
          <a:p xmlns:a="http://schemas.openxmlformats.org/drawingml/2006/main">
            <a:r>
              <a:rPr sz="2000"/>
              <a:t>Spring 2026 | BINF751</a:t>
            </a:r>
          </a:p>
          <a:p xmlns:a="http://schemas.openxmlformats.org/drawingml/2006/main">
            <a:r>
              <a:rPr sz="2000"/>
              <a:t>By R. Aniceto</a:t>
            </a:r>
          </a:p>
        </p:txBody>
      </p:sp>
      <p:sp>
        <p:nvSpPr>
          <p:cNvPr id="2" name="Subtitle 4">
            <a:extLst xmlns:a="http://schemas.openxmlformats.org/drawingml/2006/main">
              <a:ext uri="{FF2B5EF4-FFF2-40B4-BE49-F238E27FC236}">
                <a16:creationId xmlns:a16="http://schemas.microsoft.com/office/drawing/2014/main" id="{AFF2D2F8-0566-ECAD-B517-B0455416386E}"/>
              </a:ext>
            </a:extLst>
          </p:cNvPr>
          <p:cNvSpPr>
            <a:spLocks xmlns:a="http://schemas.openxmlformats.org/drawingml/2006/main" noGrp="1"/>
          </p:cNvSpPr>
          <p:nvPr/>
        </p:nvSpPr>
        <p:spPr>
          <a:xfrm xmlns:a="http://schemas.openxmlformats.org/drawingml/2006/main">
            <a:off x="874643" y="4314357"/>
            <a:ext cx="9965035" cy="763332"/>
          </a:xfrm>
          <a:prstGeom xmlns:a="http://schemas.openxmlformats.org/drawingml/2006/main" prst="rect">
            <a:avLst/>
          </a:prstGeom>
        </p:spPr>
        <p:txBody>
          <a:bodyPr xmlns:a="http://schemas.openxmlformats.org/drawingml/2006/main" vert="horz" lIns="91440" tIns="45720" rIns="91440" bIns="45720" anchor="b">
            <a:normAutofit/>
          </a:bodyPr>
          <a:lstStyle xmlns:a="http://schemas.openxmlformats.org/drawingml/2006/main">
            <a:lvl1pPr marL="0" indent="0" algn="l" defTabSz="914400">
              <a:lnSpc>
                <a:spcPct val="90000"/>
              </a:lnSpc>
              <a:spcBef>
                <a:spcPts val="1000"/>
              </a:spcBef>
              <a:buFont typeface="Arial"/>
              <a:buNone/>
              <a:defRPr sz="2400" kern="1200">
                <a:solidFill>
                  <a:schemeClr val="bg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800"/>
              <a:t>Shao, Y., Dahmen, D., </a:t>
            </a:r>
            <a:r>
              <a:rPr sz="1800"/>
              <a:t>Recanatesi</a:t>
            </a:r>
            <a:r>
              <a:rPr sz="1800"/>
              <a:t>, S., Shea-Brown, E., &amp; Ostojic, S. (2025). </a:t>
            </a:r>
            <a:r>
              <a:rPr sz="1800" i="1"/>
              <a:t>PRX life</a:t>
            </a:r>
            <a:r>
              <a:rPr sz="1800"/>
              <a:t>, </a:t>
            </a:r>
            <a:r>
              <a:rPr sz="1800" i="1"/>
              <a:t>3</a:t>
            </a:r>
            <a:r>
              <a:rPr sz="1800"/>
              <a:t>(2), 023008.</a:t>
            </a:r>
            <a:endParaRPr sz="1600"/>
          </a:p>
        </p:txBody>
      </p:sp>
    </p:spTree>
    <p:extLst>
      <p:ext uri="{BB962C8B-B14F-4D97-AF65-F5344CB8AC3E}">
        <p14:creationId xmlns:p14="http://schemas.microsoft.com/office/powerpoint/2010/main" val="176551235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5"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299dc91c15a24360"/>
          <a:stretch xmlns:a="http://schemas.openxmlformats.org/drawingml/2006/main">
            <a:fillRect l="0" t="0" r="0" b="0"/>
          </a:stretch>
        </p:blipFill>
        <p:spPr>
          <a:xfrm xmlns:a="http://schemas.openxmlformats.org/drawingml/2006/main">
            <a:off x="-14069" y="6192295"/>
            <a:ext cx="12206069" cy="690789"/>
          </a:xfrm>
        </p:spPr>
      </p:pic>
      <p:sp>
        <p:nvSpPr>
          <p:cNvPr id="8" name="Footer Placeholder 4">
            <a:extLst xmlns:a="http://schemas.openxmlformats.org/drawingml/2006/main">
              <a:ext uri="{FF2B5EF4-FFF2-40B4-BE49-F238E27FC236}">
                <a16:creationId xmlns:a16="http://schemas.microsoft.com/office/drawing/2014/main" id="{34DB340A-1C89-E3BB-C3CC-008583162F77}"/>
              </a:ext>
            </a:extLst>
          </p:cNvPr>
          <p:cNvSpPr>
            <a:spLocks xmlns:a="http://schemas.openxmlformats.org/drawingml/2006/main" noGrp="1"/>
          </p:cNvSpPr>
          <p:nvPr>
            <p:ph type="ftr" idx="11"/>
          </p:nvPr>
        </p:nvSpPr>
        <p:spPr>
          <a:xfrm xmlns:a="http://schemas.openxmlformats.org/drawingml/2006/main" rot="16200000">
            <a:off x="10817434" y="4975433"/>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pPr algn="l">
              <a:buNone/>
            </a:pPr>
            <a:r>
              <a:rPr sz="1000"/>
              <a:t>GEORGE MASON UNIVERSITY</a:t>
            </a:r>
          </a:p>
        </p:txBody>
      </p:sp>
      <p:sp>
        <p:nvSpPr>
          <p:cNvPr id="9" name="Slide Number Placeholder 5">
            <a:extLst xmlns:a="http://schemas.openxmlformats.org/drawingml/2006/main">
              <a:ext uri="{FF2B5EF4-FFF2-40B4-BE49-F238E27FC236}">
                <a16:creationId xmlns:a16="http://schemas.microsoft.com/office/drawing/2014/main" id="{9BC2B83B-9DC2-5A70-9DED-3A108FE4F690}"/>
              </a:ext>
            </a:extLst>
          </p:cNvPr>
          <p:cNvSpPr>
            <a:spLocks xmlns:a="http://schemas.openxmlformats.org/drawingml/2006/main" noGrp="1"/>
          </p:cNvSpPr>
          <p:nvPr>
            <p:ph type="sldNum" idx="12"/>
          </p:nvPr>
        </p:nvSpPr>
        <p:spPr>
          <a:xfrm xmlns:a="http://schemas.openxmlformats.org/drawingml/2006/main">
            <a:off x="116618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pPr algn="ctr">
              <a:buNone/>
            </a:pPr>
            <a:fld id="{944FE883-4AC6-394B-8129-6E4BB686DB20}" type="slidenum">
              <a:rPr>
                <a:solidFill>
                  <a:schemeClr val="bg1"/>
                </a:solidFill>
              </a:rPr>
              <a:t>2</a:t>
            </a:fld>
            <a:endParaRPr>
              <a:solidFill>
                <a:schemeClr val="bg1"/>
              </a:solidFill>
            </a:endParaRPr>
          </a:p>
        </p:txBody>
      </p:sp>
      <p:sp>
        <p:nvSpPr>
          <p:cNvPr id="4" name="Content Placeholder 5">
            <a:extLst xmlns:a="http://schemas.openxmlformats.org/drawingml/2006/main">
              <a:ext uri="{FF2B5EF4-FFF2-40B4-BE49-F238E27FC236}">
                <a16:creationId xmlns:a16="http://schemas.microsoft.com/office/drawing/2014/main" id="{F3E66628-0AA6-0CFA-ACD9-B17AEF3BEE5A}"/>
              </a:ext>
            </a:extLst>
          </p:cNvPr>
          <p:cNvSpPr>
            <a:spLocks xmlns:a="http://schemas.openxmlformats.org/drawingml/2006/main" noGrp="1"/>
          </p:cNvSpPr>
          <p:nvPr/>
        </p:nvSpPr>
        <p:spPr>
          <a:xfrm xmlns:a="http://schemas.openxmlformats.org/drawingml/2006/main">
            <a:off x="553155" y="1501422"/>
            <a:ext cx="5340717" cy="4189257"/>
          </a:xfrm>
          <a:prstGeom xmlns:a="http://schemas.openxmlformats.org/drawingml/2006/main" prst="rect">
            <a:avLst/>
          </a:prstGeom>
        </p:spPr>
        <p:txBody>
          <a:bodyPr xmlns:a="http://schemas.openxmlformats.org/drawingml/2006/main" vert="horz" lIns="91440" tIns="45720" rIns="91440" bIns="45720" anchor="t">
            <a:normAutofit/>
          </a:bodyPr>
          <a:lstStyle xmlns:a="http://schemas.openxmlformats.org/drawingml/2006/main">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buNone/>
            </a:pPr>
            <a:r>
              <a:rPr sz="2400" b="1"/>
              <a:t>The Old Assumption</a:t>
            </a:r>
          </a:p>
          <a:p xmlns:a="http://schemas.openxmlformats.org/drawingml/2006/main">
            <a:pPr marL="0" indent="0" algn="ctr">
              <a:buNone/>
            </a:pPr>
            <a:r>
              <a:rPr sz="2400"/>
              <a:t>Classic models assume neurons connect randomly, like strangers in a crowd</a:t>
            </a:r>
          </a:p>
        </p:txBody>
      </p:sp>
      <p:sp>
        <p:nvSpPr>
          <p:cNvPr id="11" name="Title 1">
            <a:extLst xmlns:a="http://schemas.openxmlformats.org/drawingml/2006/main">
              <a:ext uri="{FF2B5EF4-FFF2-40B4-BE49-F238E27FC236}">
                <a16:creationId xmlns:a16="http://schemas.microsoft.com/office/drawing/2014/main" id="{DD00EB9D-D0E6-5B02-DBAE-664E54E57CD0}"/>
              </a:ext>
            </a:extLst>
          </p:cNvPr>
          <p:cNvSpPr>
            <a:spLocks xmlns:a="http://schemas.openxmlformats.org/drawingml/2006/main" noGrp="1"/>
          </p:cNvSpPr>
          <p:nvPr/>
        </p:nvSpPr>
        <p:spPr>
          <a:xfrm xmlns:a="http://schemas.openxmlformats.org/drawingml/2006/main">
            <a:off x="-14069" y="2267"/>
            <a:ext cx="12206069"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r>
              <a:rPr>
                <a:solidFill>
                  <a:schemeClr val="tx2"/>
                </a:solidFill>
              </a:rPr>
              <a:t>The Big Question(s)</a:t>
            </a:r>
            <a:endParaRPr/>
          </a:p>
        </p:txBody>
      </p:sp>
      <p:pic>
        <p:nvPicPr>
          <p:cNvPr id="20" name="Picture 2"/>
          <p:cNvPicPr>
            <a:picLocks xmlns:a="http://schemas.openxmlformats.org/drawingml/2006/main" noChangeAspect="1"/>
          </p:cNvPicPr>
          <p:nvPr/>
        </p:nvPicPr>
        <p:blipFill>
          <a:blip xmlns:r="http://schemas.openxmlformats.org/officeDocument/2006/relationships" xmlns:a="http://schemas.openxmlformats.org/drawingml/2006/main" r:embed="R0062e24c716f4122"/>
          <a:srcRect xmlns:a="http://schemas.openxmlformats.org/drawingml/2006/main" l="5819" t="5246" r="0" b="0"/>
          <a:stretch xmlns:a="http://schemas.openxmlformats.org/drawingml/2006/main">
            <a:fillRect l="0" t="0" r="0" b="0"/>
          </a:stretch>
        </p:blipFill>
        <p:spPr>
          <a:xfrm xmlns:a="http://schemas.openxmlformats.org/drawingml/2006/main">
            <a:off x="8156364" y="3121148"/>
            <a:ext cx="1886662" cy="1840271"/>
          </a:xfrm>
          <a:prstGeom xmlns:a="http://schemas.openxmlformats.org/drawingml/2006/main" prst="rect">
            <a:avLst/>
          </a:prstGeom>
        </p:spPr>
      </p:pic>
      <p:sp>
        <p:nvSpPr>
          <p:cNvPr id="5" name="Content Placeholder 5">
            <a:extLst xmlns:a="http://schemas.openxmlformats.org/drawingml/2006/main">
              <a:ext uri="{FF2B5EF4-FFF2-40B4-BE49-F238E27FC236}">
                <a16:creationId xmlns:a16="http://schemas.microsoft.com/office/drawing/2014/main" id="{76F73CF7-319B-0BE3-0F61-B44E019DAAC7}"/>
              </a:ext>
            </a:extLst>
          </p:cNvPr>
          <p:cNvSpPr>
            <a:spLocks xmlns:a="http://schemas.openxmlformats.org/drawingml/2006/main" noGrp="1"/>
          </p:cNvSpPr>
          <p:nvPr/>
        </p:nvSpPr>
        <p:spPr>
          <a:xfrm xmlns:a="http://schemas.openxmlformats.org/drawingml/2006/main">
            <a:off x="6298129" y="1501422"/>
            <a:ext cx="5363671" cy="4189258"/>
          </a:xfrm>
          <a:prstGeom xmlns:a="http://schemas.openxmlformats.org/drawingml/2006/main" prst="rect">
            <a:avLst/>
          </a:prstGeom>
        </p:spPr>
        <p:txBody>
          <a:bodyPr xmlns:a="http://schemas.openxmlformats.org/drawingml/2006/main" vert="horz" lIns="91440" tIns="45720" rIns="91440" bIns="45720" anchor="t">
            <a:normAutofit/>
          </a:bodyPr>
          <a:lstStyle xmlns:a="http://schemas.openxmlformats.org/drawingml/2006/main">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buNone/>
            </a:pPr>
            <a:r>
              <a:rPr sz="2400" b="1"/>
              <a:t>The Reality</a:t>
            </a:r>
          </a:p>
          <a:p xmlns:a="http://schemas.openxmlformats.org/drawingml/2006/main">
            <a:pPr marL="0" indent="0" algn="ctr">
              <a:buNone/>
            </a:pPr>
            <a:r>
              <a:rPr sz="2400"/>
              <a:t>Biological networks are sparse and neurons have ‘motifs’: cliques and secret handshakes </a:t>
            </a:r>
          </a:p>
        </p:txBody>
      </p:sp>
      <p:sp>
        <p:nvSpPr>
          <p:cNvPr id="6" name="TextBox 5">
            <a:extLst xmlns:a="http://schemas.openxmlformats.org/drawingml/2006/main">
              <a:ext uri="{FF2B5EF4-FFF2-40B4-BE49-F238E27FC236}">
                <a16:creationId xmlns:a16="http://schemas.microsoft.com/office/drawing/2014/main" id="{D3907B9C-6893-9C0C-9E7A-46905D9F468C}"/>
              </a:ext>
            </a:extLst>
          </p:cNvPr>
          <p:cNvSpPr>
            <a:spLocks xmlns:a="http://schemas.openxmlformats.org/drawingml/2006/main" noGrp="1"/>
          </p:cNvSpPr>
          <p:nvPr/>
        </p:nvSpPr>
        <p:spPr>
          <a:xfrm xmlns:a="http://schemas.openxmlformats.org/drawingml/2006/main">
            <a:off x="-128369" y="5238187"/>
            <a:ext cx="10021669" cy="95410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800" b="1"/>
              <a:t>“How do these motifs respond to inputs and alter global stability?”</a:t>
            </a:r>
          </a:p>
        </p:txBody>
      </p:sp>
      <p:pic>
        <p:nvPicPr>
          <p:cNvPr id="23" name="Graphic 11"/>
          <p:cNvPicPr>
            <a:picLocks xmlns:a="http://schemas.openxmlformats.org/drawingml/2006/main" noChangeAspect="1"/>
          </p:cNvPicPr>
          <p:nvPr/>
        </p:nvPicPr>
        <p:blipFill>
          <a:blip xmlns:r="http://schemas.openxmlformats.org/officeDocument/2006/relationships" xmlns:a="http://schemas.openxmlformats.org/drawingml/2006/main" r:embed="Rbabde051a85144d2">
            <a:extLst>
              <a:ext uri="{96DAC541-7B7A-43D3-8B79-37D633B846F1}">
                <asvg:svgBlip xmlns:asvg="http://schemas.microsoft.com/office/drawing/2016/SVG/main" r:embed="R0a5a56ea90ee4730"/>
              </a:ext>
            </a:extLst>
          </a:blip>
          <a:stretch xmlns:a="http://schemas.openxmlformats.org/drawingml/2006/main">
            <a:fillRect l="0" t="0" r="0" b="0"/>
          </a:stretch>
        </p:blipFill>
        <p:spPr>
          <a:xfrm xmlns:a="http://schemas.openxmlformats.org/drawingml/2006/main">
            <a:off x="1811333" y="3080878"/>
            <a:ext cx="2100375" cy="2100375"/>
          </a:xfrm>
          <a:prstGeom xmlns:a="http://schemas.openxmlformats.org/drawingml/2006/main" prst="rect">
            <a:avLst/>
          </a:prstGeom>
        </p:spPr>
      </p:pic>
    </p:spTree>
    <p:extLst>
      <p:ext uri="{BB962C8B-B14F-4D97-AF65-F5344CB8AC3E}">
        <p14:creationId xmlns:p14="http://schemas.microsoft.com/office/powerpoint/2010/main" val="97590299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8"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b19d1dd6b5734bb9"/>
          <a:stretch xmlns:a="http://schemas.openxmlformats.org/drawingml/2006/main">
            <a:fillRect l="0" t="0" r="0" b="0"/>
          </a:stretch>
        </p:blipFill>
        <p:spPr>
          <a:xfrm xmlns:a="http://schemas.openxmlformats.org/drawingml/2006/main">
            <a:off x="-14069" y="6192295"/>
            <a:ext cx="12206069" cy="690789"/>
          </a:xfrm>
        </p:spPr>
      </p:pic>
      <p:sp>
        <p:nvSpPr>
          <p:cNvPr id="8" name="Footer Placeholder 4">
            <a:extLst xmlns:a="http://schemas.openxmlformats.org/drawingml/2006/main">
              <a:ext uri="{FF2B5EF4-FFF2-40B4-BE49-F238E27FC236}">
                <a16:creationId xmlns:a16="http://schemas.microsoft.com/office/drawing/2014/main" id="{C88FAD15-1391-B80C-CE95-163A259EA7BE}"/>
              </a:ext>
            </a:extLst>
          </p:cNvPr>
          <p:cNvSpPr>
            <a:spLocks xmlns:a="http://schemas.openxmlformats.org/drawingml/2006/main" noGrp="1"/>
          </p:cNvSpPr>
          <p:nvPr>
            <p:ph type="ftr" idx="11"/>
          </p:nvPr>
        </p:nvSpPr>
        <p:spPr>
          <a:xfrm xmlns:a="http://schemas.openxmlformats.org/drawingml/2006/main" rot="16200000">
            <a:off x="10817434" y="4975433"/>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pPr algn="l">
              <a:buNone/>
            </a:pPr>
            <a:r>
              <a:rPr sz="1000"/>
              <a:t>GEORGE MASON UNIVERSITY</a:t>
            </a:r>
          </a:p>
        </p:txBody>
      </p:sp>
      <p:sp>
        <p:nvSpPr>
          <p:cNvPr id="9" name="Slide Number Placeholder 5">
            <a:extLst xmlns:a="http://schemas.openxmlformats.org/drawingml/2006/main">
              <a:ext uri="{FF2B5EF4-FFF2-40B4-BE49-F238E27FC236}">
                <a16:creationId xmlns:a16="http://schemas.microsoft.com/office/drawing/2014/main" id="{FBDA9ABB-F42C-A79C-5640-02C6C516B104}"/>
              </a:ext>
            </a:extLst>
          </p:cNvPr>
          <p:cNvSpPr>
            <a:spLocks xmlns:a="http://schemas.openxmlformats.org/drawingml/2006/main" noGrp="1"/>
          </p:cNvSpPr>
          <p:nvPr>
            <p:ph type="sldNum" idx="12"/>
          </p:nvPr>
        </p:nvSpPr>
        <p:spPr>
          <a:xfrm xmlns:a="http://schemas.openxmlformats.org/drawingml/2006/main">
            <a:off x="116618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pPr algn="ctr">
              <a:buNone/>
            </a:pPr>
            <a:fld id="{944FE883-4AC6-394B-8129-6E4BB686DB20}" type="slidenum">
              <a:rPr>
                <a:solidFill>
                  <a:schemeClr val="bg1"/>
                </a:solidFill>
              </a:rPr>
              <a:t>3</a:t>
            </a:fld>
            <a:endParaRPr>
              <a:solidFill>
                <a:schemeClr val="bg1"/>
              </a:solidFill>
            </a:endParaRPr>
          </a:p>
        </p:txBody>
      </p:sp>
      <p:sp>
        <p:nvSpPr>
          <p:cNvPr id="11" name="Title 1">
            <a:extLst xmlns:a="http://schemas.openxmlformats.org/drawingml/2006/main">
              <a:ext uri="{FF2B5EF4-FFF2-40B4-BE49-F238E27FC236}">
                <a16:creationId xmlns:a16="http://schemas.microsoft.com/office/drawing/2014/main" id="{8F0B2CA4-6DD5-415D-B13B-440250896885}"/>
              </a:ext>
            </a:extLst>
          </p:cNvPr>
          <p:cNvSpPr>
            <a:spLocks xmlns:a="http://schemas.openxmlformats.org/drawingml/2006/main" noGrp="1"/>
          </p:cNvSpPr>
          <p:nvPr/>
        </p:nvSpPr>
        <p:spPr>
          <a:xfrm xmlns:a="http://schemas.openxmlformats.org/drawingml/2006/main">
            <a:off x="3629" y="2267"/>
            <a:ext cx="12188371"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r>
              <a:rPr>
                <a:solidFill>
                  <a:schemeClr val="tx2"/>
                </a:solidFill>
              </a:rPr>
              <a:t>The System: E-I Networks (and a bit of math)</a:t>
            </a:r>
            <a:endParaRPr/>
          </a:p>
        </p:txBody>
      </p:sp>
      <p:sp>
        <p:nvSpPr>
          <p:cNvPr id="15" name="TextBox 14">
            <a:extLst xmlns:a="http://schemas.openxmlformats.org/drawingml/2006/main">
              <a:ext uri="{FF2B5EF4-FFF2-40B4-BE49-F238E27FC236}">
                <a16:creationId xmlns:a16="http://schemas.microsoft.com/office/drawing/2014/main" id="{CE69C2D4-7AAB-9D8E-4075-C60A78D55049}"/>
              </a:ext>
            </a:extLst>
          </p:cNvPr>
          <p:cNvSpPr>
            <a:spLocks xmlns:a="http://schemas.openxmlformats.org/drawingml/2006/main" noGrp="1"/>
          </p:cNvSpPr>
          <p:nvPr/>
        </p:nvSpPr>
        <p:spPr>
          <a:xfrm xmlns:a="http://schemas.openxmlformats.org/drawingml/2006/main" rot="0" flipH="0" flipV="0">
            <a:off x="643701" y="4661584"/>
            <a:ext cx="3623499" cy="136960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lnSpc>
                <a:spcPct val="100000"/>
              </a:lnSpc>
              <a:spcBef>
                <a:spcPts val="0"/>
              </a:spcBef>
              <a:spcAft>
                <a:spcPts val="1800"/>
              </a:spcAft>
              <a:buNone/>
            </a:pPr>
            <a:r>
              <a:rPr sz="1800" b="1"/>
              <a:t>Connectivity Matrix</a:t>
            </a:r>
          </a:p>
          <a:p xmlns:a="http://schemas.openxmlformats.org/drawingml/2006/main">
            <a:pPr algn="ctr">
              <a:spcAft>
                <a:spcPts val="1200"/>
              </a:spcAft>
              <a:buNone/>
            </a:pPr>
            <a14:m xmlns:a14="http://schemas.microsoft.com/office/drawing/2010/main">
              <m:oMathPara xmlns:m="http://schemas.openxmlformats.org/officeDocument/2006/math">
                <m:oMathParaPr>
                  <m:jc m:val="centerGroup"/>
                </m:oMathParaPr>
                <m:oMath>
                  <m:r>
                    <a:rPr xmlns:a="http://schemas.openxmlformats.org/drawingml/2006/main" lang="en-US" sz="2400" b="1" i="1">
                      <a:latin typeface="Cambria Math"/>
                      <a:ea typeface="Cambria Math"/>
                      <a:cs typeface="Cambria Math"/>
                    </a:rPr>
                    <m:t>𝑱</m:t>
                  </m:r>
                  <m:r>
                    <a:rPr xmlns:a="http://schemas.openxmlformats.org/drawingml/2006/main" lang="en-US" sz="2400" i="1">
                      <a:latin typeface="Cambria Math"/>
                      <a:ea typeface="Cambria Math"/>
                      <a:cs typeface="Cambria Math"/>
                    </a:rPr>
                    <m:t>=</m:t>
                  </m:r>
                  <m:sSup>
                    <m:e>
                      <m:r>
                        <a:rPr xmlns:a="http://schemas.openxmlformats.org/drawingml/2006/main" lang="en-US" sz="2400" i="1">
                          <a:latin typeface="Cambria Math"/>
                          <a:ea typeface="Cambria Math"/>
                          <a:cs typeface="Cambria Math"/>
                        </a:rPr>
                        <m:t>𝐽</m:t>
                      </m:r>
                    </m:e>
                    <m:sup>
                      <m:r>
                        <a:rPr xmlns:a="http://schemas.openxmlformats.org/drawingml/2006/main" lang="en-US" sz="2400" i="1">
                          <a:latin typeface="Cambria Math"/>
                          <a:ea typeface="Cambria Math"/>
                          <a:cs typeface="Cambria Math"/>
                        </a:rPr>
                        <m:t>0</m:t>
                      </m:r>
                    </m:sup>
                  </m:sSup>
                  <m:r>
                    <a:rPr xmlns:a="http://schemas.openxmlformats.org/drawingml/2006/main" lang="en-US" sz="2400" b="0" i="1">
                      <a:latin typeface="Cambria Math"/>
                      <a:ea typeface="Cambria Math"/>
                      <a:cs typeface="Cambria Math"/>
                    </a:rPr>
                    <m:t xml:space="preserve">+ </m:t>
                  </m:r>
                  <m:r>
                    <a:rPr xmlns:a="http://schemas.openxmlformats.org/drawingml/2006/main" lang="en-US" sz="2400" b="0" i="1">
                      <a:latin typeface="Cambria Math"/>
                      <a:ea typeface="Cambria Math"/>
                      <a:cs typeface="Cambria Math"/>
                    </a:rPr>
                    <m:t>Z</m:t>
                  </m:r>
                </m:oMath>
              </m:oMathPara>
            </a14:m>
            <a:endParaRPr sz="1800" i="1">
              <a:latin typeface="Cambria Math"/>
              <a:ea typeface="Cambria Math"/>
              <a:cs typeface="Cambria Math"/>
            </a:endParaRPr>
          </a:p>
          <a:p xmlns:a="http://schemas.openxmlformats.org/drawingml/2006/main">
            <a:pPr algn="ctr">
              <a:spcAft>
                <a:spcPts val="1800"/>
              </a:spcAft>
              <a:buNone/>
            </a:pPr>
            <a14:m xmlns:a14="http://schemas.microsoft.com/office/drawing/2010/main">
              <m:oMathPara xmlns:m="http://schemas.openxmlformats.org/officeDocument/2006/math">
                <m:oMath>
                  <m:sSup>
                    <m:e>
                      <m:r>
                        <a:rPr xmlns:a="http://schemas.openxmlformats.org/drawingml/2006/main" lang="en-US" sz="1600" i="1">
                          <a:latin typeface="Cambria Math"/>
                          <a:ea typeface="Cambria Math"/>
                          <a:cs typeface="Cambria Math"/>
                        </a:rPr>
                        <m:t>𝐽</m:t>
                      </m:r>
                    </m:e>
                    <m:sup>
                      <m:r>
                        <a:rPr xmlns:a="http://schemas.openxmlformats.org/drawingml/2006/main" lang="en-US" sz="1600" i="1">
                          <a:latin typeface="Cambria Math"/>
                          <a:ea typeface="Cambria Math"/>
                          <a:cs typeface="Cambria Math"/>
                        </a:rPr>
                        <m:t>0</m:t>
                      </m:r>
                    </m:sup>
                  </m:sSup>
                  <m:r>
                    <a:rPr xmlns:a="http://schemas.openxmlformats.org/drawingml/2006/main" lang="en-US" sz="1600" i="1">
                      <a:latin typeface="Cambria Math"/>
                      <a:ea typeface="Cambria Math"/>
                      <a:cs typeface="Cambria Math"/>
                    </a:rPr>
                    <m:t xml:space="preserve"> </m:t>
                  </m:r>
                </m:oMath>
              </m:oMathPara>
            </a14:m>
            <a:r>
              <a:rPr sz="1600"/>
              <a:t>: sum of its mean,	</a:t>
            </a:r>
            <a14:m xmlns:a14="http://schemas.microsoft.com/office/drawing/2010/main">
              <m:oMathPara xmlns:m="http://schemas.openxmlformats.org/officeDocument/2006/math">
                <m:oMath>
                  <m:r>
                    <a:rPr xmlns:a="http://schemas.openxmlformats.org/drawingml/2006/main" lang="en-US" sz="1600" b="0" i="1">
                      <a:latin typeface="Cambria Math"/>
                      <a:ea typeface="Cambria Math"/>
                      <a:cs typeface="Cambria Math"/>
                    </a:rPr>
                    <m:t>Z</m:t>
                  </m:r>
                </m:oMath>
              </m:oMathPara>
            </a14:m>
            <a:r>
              <a:rPr sz="1600"/>
              <a:t>: the random bits</a:t>
            </a:r>
          </a:p>
        </p:txBody>
      </p:sp>
      <p:sp>
        <p:nvSpPr>
          <p:cNvPr id="10" name="Content Placeholder 5">
            <a:extLst xmlns:a="http://schemas.openxmlformats.org/drawingml/2006/main">
              <a:ext uri="{FF2B5EF4-FFF2-40B4-BE49-F238E27FC236}">
                <a16:creationId xmlns:a16="http://schemas.microsoft.com/office/drawing/2014/main" id="{C44AF3C6-C6BB-B91B-A1F0-1B1DE87AC300}"/>
              </a:ext>
            </a:extLst>
          </p:cNvPr>
          <p:cNvSpPr>
            <a:spLocks xmlns:a="http://schemas.openxmlformats.org/drawingml/2006/main" noGrp="1"/>
          </p:cNvSpPr>
          <p:nvPr/>
        </p:nvSpPr>
        <p:spPr>
          <a:xfrm xmlns:a="http://schemas.openxmlformats.org/drawingml/2006/main" rot="0" flipH="0" flipV="0">
            <a:off x="4635511" y="4664574"/>
            <a:ext cx="4521190" cy="1561626"/>
          </a:xfrm>
          <a:prstGeom xmlns:a="http://schemas.openxmlformats.org/drawingml/2006/main" prst="rect">
            <a:avLst/>
          </a:prstGeom>
        </p:spPr>
        <p:txBody>
          <a:bodyPr xmlns:a="http://schemas.openxmlformats.org/drawingml/2006/main" vert="horz" lIns="91440" tIns="45720" rIns="91440" bIns="45720" anchor="t">
            <a:normAutofit lnSpcReduction="10000"/>
          </a:bodyPr>
          <a:lstStyle xmlns:a="http://schemas.openxmlformats.org/drawingml/2006/main">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0"/>
              </a:spcBef>
              <a:spcAft>
                <a:spcPts val="1800"/>
              </a:spcAft>
              <a:buNone/>
            </a:pPr>
            <a:r>
              <a:rPr sz="1800" b="1"/>
              <a:t>Steady-State Response: </a:t>
            </a:r>
            <a:r>
              <a:rPr sz="1800"/>
              <a:t>“r star”</a:t>
            </a:r>
            <a:endParaRPr sz="1800" b="1"/>
          </a:p>
          <a:p xmlns:a="http://schemas.openxmlformats.org/drawingml/2006/main">
            <a:pPr marL="0" indent="0" algn="ctr">
              <a:lnSpc>
                <a:spcPct val="100000"/>
              </a:lnSpc>
              <a:spcBef>
                <a:spcPts val="0"/>
              </a:spcBef>
              <a:spcAft>
                <a:spcPts val="1200"/>
              </a:spcAft>
              <a:buNone/>
            </a:pPr>
            <a14:m xmlns:a14="http://schemas.microsoft.com/office/drawing/2010/main">
              <m:oMathPara xmlns:m="http://schemas.openxmlformats.org/officeDocument/2006/math">
                <m:oMathParaPr>
                  <m:jc m:val="centerGroup"/>
                </m:oMathParaPr>
                <m:oMath>
                  <m:sSup>
                    <m:e>
                      <m:r>
                        <a:rPr xmlns:a="http://schemas.openxmlformats.org/drawingml/2006/main" lang="en-US" sz="2400" b="0" i="1">
                          <a:latin typeface="Cambria Math"/>
                          <a:ea typeface="Cambria Math"/>
                          <a:cs typeface="Cambria Math"/>
                        </a:rPr>
                        <m:t>𝑟</m:t>
                      </m:r>
                    </m:e>
                    <m:sup>
                      <m:r>
                        <a:rPr xmlns:a="http://schemas.openxmlformats.org/drawingml/2006/main" lang="en-US" sz="2400" b="0" i="1">
                          <a:latin typeface="Cambria Math"/>
                          <a:ea typeface="Cambria Math"/>
                          <a:cs typeface="Cambria Math"/>
                        </a:rPr>
                        <m:t>∗</m:t>
                      </m:r>
                    </m:sup>
                  </m:sSup>
                  <m:r>
                    <a:rPr xmlns:a="http://schemas.openxmlformats.org/drawingml/2006/main" lang="en-US" sz="2400" b="0" i="1">
                      <a:latin typeface="Cambria Math"/>
                      <a:ea typeface="Cambria Math"/>
                      <a:cs typeface="Cambria Math"/>
                    </a:rPr>
                    <m:t>=</m:t>
                  </m:r>
                  <m:sSup>
                    <m:e>
                      <m:d>
                        <m:dPr>
                          <m:grow m:val="off"/>
                        </m:dPr>
                        <m:e>
                          <m:r>
                            <a:rPr xmlns:a="http://schemas.openxmlformats.org/drawingml/2006/main" lang="en-US" sz="2400" b="0" i="1">
                              <a:latin typeface="Cambria Math"/>
                              <a:ea typeface="Cambria Math"/>
                              <a:cs typeface="Cambria Math"/>
                            </a:rPr>
                            <m:t>𝐼</m:t>
                          </m:r>
                          <m:r>
                            <a:rPr xmlns:a="http://schemas.openxmlformats.org/drawingml/2006/main" lang="en-US" sz="2400" b="0" i="1">
                              <a:latin typeface="Cambria Math"/>
                              <a:ea typeface="Cambria Math"/>
                              <a:cs typeface="Cambria Math"/>
                            </a:rPr>
                            <m:t>−</m:t>
                          </m:r>
                          <m:r>
                            <a:rPr xmlns:a="http://schemas.openxmlformats.org/drawingml/2006/main" lang="en-US" sz="2400" b="0" i="1">
                              <a:latin typeface="Cambria Math"/>
                              <a:ea typeface="Cambria Math"/>
                              <a:cs typeface="Cambria Math"/>
                            </a:rPr>
                            <m:t>𝐽</m:t>
                          </m:r>
                        </m:e>
                      </m:d>
                    </m:e>
                    <m:sup>
                      <m:r>
                        <a:rPr xmlns:a="http://schemas.openxmlformats.org/drawingml/2006/main" lang="en-US" sz="2400" b="0" i="1">
                          <a:latin typeface="Cambria Math"/>
                          <a:ea typeface="Cambria Math"/>
                          <a:cs typeface="Cambria Math"/>
                        </a:rPr>
                        <m:t>−1</m:t>
                      </m:r>
                    </m:sup>
                  </m:sSup>
                  <m:sSup>
                    <m:e>
                      <m:r>
                        <a:rPr xmlns:a="http://schemas.openxmlformats.org/drawingml/2006/main" lang="en-US" sz="2400" b="0" i="1">
                          <a:latin typeface="Cambria Math"/>
                          <a:ea typeface="Cambria Math"/>
                          <a:cs typeface="Cambria Math"/>
                        </a:rPr>
                        <m:t>𝐼</m:t>
                      </m:r>
                    </m:e>
                    <m:sup>
                      <m:r>
                        <a:rPr xmlns:a="http://schemas.openxmlformats.org/drawingml/2006/main" lang="en-US" sz="2400" b="0" i="1">
                          <a:latin typeface="Cambria Math"/>
                          <a:ea typeface="Cambria Math"/>
                          <a:cs typeface="Cambria Math"/>
                        </a:rPr>
                        <m:t>𝑒𝑥𝑡</m:t>
                      </m:r>
                    </m:sup>
                  </m:sSup>
                </m:oMath>
              </m:oMathPara>
            </a14:m>
            <a:endParaRPr sz="1800"/>
          </a:p>
          <a:p xmlns:a="http://schemas.openxmlformats.org/drawingml/2006/main">
            <a:pPr marL="0" indent="0" algn="ctr">
              <a:lnSpc>
                <a:spcPct val="100000"/>
              </a:lnSpc>
              <a:spcBef>
                <a:spcPts val="0"/>
              </a:spcBef>
              <a:buNone/>
            </a:pPr>
            <a14:m xmlns:a14="http://schemas.microsoft.com/office/drawing/2010/main">
              <m:oMathPara xmlns:m="http://schemas.openxmlformats.org/officeDocument/2006/math">
                <m:oMath>
                  <m:r>
                    <a:rPr xmlns:a="http://schemas.openxmlformats.org/drawingml/2006/main" lang="en-US" sz="1600" i="1">
                      <a:latin typeface="Cambria Math"/>
                      <a:ea typeface="Cambria Math"/>
                      <a:cs typeface="Cambria Math"/>
                    </a:rPr>
                    <m:t>𝐼</m:t>
                  </m:r>
                </m:oMath>
              </m:oMathPara>
            </a14:m>
            <a:r>
              <a:rPr sz="1600"/>
              <a:t>: identity matrix, </a:t>
            </a:r>
            <a14:m xmlns:a14="http://schemas.microsoft.com/office/drawing/2010/main">
              <m:oMathPara xmlns:m="http://schemas.openxmlformats.org/officeDocument/2006/math">
                <m:oMath>
                  <m:sSup>
                    <m:e>
                      <m:r>
                        <a:rPr xmlns:a="http://schemas.openxmlformats.org/drawingml/2006/main" lang="en-US" sz="1600" i="1">
                          <a:latin typeface="Cambria Math"/>
                          <a:ea typeface="Cambria Math"/>
                          <a:cs typeface="Cambria Math"/>
                        </a:rPr>
                        <m:t>𝐼</m:t>
                      </m:r>
                    </m:e>
                    <m:sup>
                      <m:r>
                        <a:rPr xmlns:a="http://schemas.openxmlformats.org/drawingml/2006/main" lang="en-US" sz="1600" i="1">
                          <a:latin typeface="Cambria Math"/>
                          <a:ea typeface="Cambria Math"/>
                          <a:cs typeface="Cambria Math"/>
                        </a:rPr>
                        <m:t>𝑒𝑥𝑡</m:t>
                      </m:r>
                    </m:sup>
                  </m:sSup>
                </m:oMath>
              </m:oMathPara>
            </a14:m>
            <a:r>
              <a:rPr sz="1600"/>
              <a:t>: external input, </a:t>
            </a:r>
            <a14:m xmlns:a14="http://schemas.microsoft.com/office/drawing/2010/main">
              <m:oMathPara xmlns:m="http://schemas.openxmlformats.org/officeDocument/2006/math">
                <m:oMath>
                  <m:sSup>
                    <m:e>
                      <m:d>
                        <m:dPr>
                          <m:grow m:val="off"/>
                        </m:dPr>
                        <m:e>
                          <m:r>
                            <a:rPr xmlns:a="http://schemas.openxmlformats.org/drawingml/2006/main" lang="en-US" sz="1600" i="1">
                              <a:latin typeface="Cambria Math"/>
                              <a:ea typeface="Cambria Math"/>
                              <a:cs typeface="Cambria Math"/>
                            </a:rPr>
                            <m:t>𝐼</m:t>
                          </m:r>
                          <m:r>
                            <a:rPr xmlns:a="http://schemas.openxmlformats.org/drawingml/2006/main" lang="en-US" sz="1600" i="1">
                              <a:latin typeface="Cambria Math"/>
                              <a:ea typeface="Cambria Math"/>
                              <a:cs typeface="Cambria Math"/>
                            </a:rPr>
                            <m:t>−</m:t>
                          </m:r>
                          <m:r>
                            <a:rPr xmlns:a="http://schemas.openxmlformats.org/drawingml/2006/main" lang="en-US" sz="1600" i="1">
                              <a:latin typeface="Cambria Math"/>
                              <a:ea typeface="Cambria Math"/>
                              <a:cs typeface="Cambria Math"/>
                            </a:rPr>
                            <m:t>𝐽</m:t>
                          </m:r>
                        </m:e>
                      </m:d>
                    </m:e>
                    <m:sup>
                      <m:r>
                        <a:rPr xmlns:a="http://schemas.openxmlformats.org/drawingml/2006/main" lang="en-US" sz="1600" i="1">
                          <a:latin typeface="Cambria Math"/>
                          <a:ea typeface="Cambria Math"/>
                          <a:cs typeface="Cambria Math"/>
                        </a:rPr>
                        <m:t>−1</m:t>
                      </m:r>
                    </m:sup>
                  </m:sSup>
                  <m:r>
                    <a:rPr xmlns:a="http://schemas.openxmlformats.org/drawingml/2006/main" lang="en-US" sz="1600" b="0" i="1">
                      <a:latin typeface="Cambria Math"/>
                      <a:ea typeface="Cambria Math"/>
                      <a:cs typeface="Cambria Math"/>
                    </a:rPr>
                    <m:t>=</m:t>
                  </m:r>
                  <m:r>
                    <a:rPr xmlns:a="http://schemas.openxmlformats.org/drawingml/2006/main" lang="en-US" sz="1600" b="0" i="1">
                      <a:latin typeface="Cambria Math"/>
                      <a:ea typeface="Cambria Math"/>
                      <a:cs typeface="Cambria Math"/>
                    </a:rPr>
                    <m:t>𝜒</m:t>
                  </m:r>
                </m:oMath>
              </m:oMathPara>
            </a14:m>
            <a:r>
              <a:rPr sz="1600"/>
              <a:t>: response matrix</a:t>
            </a:r>
          </a:p>
        </p:txBody>
      </p:sp>
      <p:pic>
        <p:nvPicPr>
          <p:cNvPr id="24" name="Picture 2"/>
          <p:cNvPicPr>
            <a:picLocks xmlns:a="http://schemas.openxmlformats.org/drawingml/2006/main" noChangeAspect="1"/>
          </p:cNvPicPr>
          <p:nvPr/>
        </p:nvPicPr>
        <p:blipFill>
          <a:blip xmlns:r="http://schemas.openxmlformats.org/officeDocument/2006/relationships" xmlns:a="http://schemas.openxmlformats.org/drawingml/2006/main" r:embed="Rdcce577675874454"/>
          <a:srcRect xmlns:a="http://schemas.openxmlformats.org/drawingml/2006/main" l="5937" t="29832" r="5937" b="3781"/>
          <a:stretch xmlns:a="http://schemas.openxmlformats.org/drawingml/2006/main">
            <a:fillRect l="0" t="0" r="0" b="0"/>
          </a:stretch>
        </p:blipFill>
        <p:spPr>
          <a:xfrm xmlns:a="http://schemas.openxmlformats.org/drawingml/2006/main" rot="0" flipH="0" flipV="0">
            <a:off x="2459215" y="1432505"/>
            <a:ext cx="7273570" cy="3056448"/>
          </a:xfrm>
          <a:prstGeom xmlns:a="http://schemas.openxmlformats.org/drawingml/2006/main" prst="rect">
            <a:avLst/>
          </a:prstGeom>
        </p:spPr>
      </p:pic>
      <p:sp>
        <p:nvSpPr>
          <p:cNvPr id="13" name="TextBox 12">
            <a:extLst xmlns:a="http://schemas.openxmlformats.org/drawingml/2006/main">
              <a:ext uri="{FF2B5EF4-FFF2-40B4-BE49-F238E27FC236}">
                <a16:creationId xmlns:a16="http://schemas.microsoft.com/office/drawing/2014/main" id="{47241D35-0C77-A809-A2BF-B031211961C8}"/>
              </a:ext>
            </a:extLst>
          </p:cNvPr>
          <p:cNvSpPr>
            <a:spLocks xmlns:a="http://schemas.openxmlformats.org/drawingml/2006/main" noGrp="1"/>
          </p:cNvSpPr>
          <p:nvPr/>
        </p:nvSpPr>
        <p:spPr>
          <a:xfrm xmlns:a="http://schemas.openxmlformats.org/drawingml/2006/main" rot="0" flipH="0" flipV="0">
            <a:off x="2459215" y="970840"/>
            <a:ext cx="713208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solidFill>
                  <a:srgbClr val="00B050"/>
                </a:solidFill>
              </a:rPr>
              <a:t>+ Excitatory (E)</a:t>
            </a:r>
            <a:r>
              <a:rPr sz="2400" b="1"/>
              <a:t>		</a:t>
            </a:r>
            <a:r>
              <a:rPr sz="2400" b="1">
                <a:solidFill>
                  <a:srgbClr val="FF0000"/>
                </a:solidFill>
              </a:rPr>
              <a:t>- Inhibitory (I)</a:t>
            </a:r>
          </a:p>
        </p:txBody>
      </p:sp>
    </p:spTree>
    <p:extLst>
      <p:ext uri="{BB962C8B-B14F-4D97-AF65-F5344CB8AC3E}">
        <p14:creationId xmlns:p14="http://schemas.microsoft.com/office/powerpoint/2010/main" val="149048808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9"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c00ebb23b3714208"/>
          <a:stretch xmlns:a="http://schemas.openxmlformats.org/drawingml/2006/main">
            <a:fillRect l="0" t="0" r="0" b="0"/>
          </a:stretch>
        </p:blipFill>
        <p:spPr>
          <a:xfrm xmlns:a="http://schemas.openxmlformats.org/drawingml/2006/main">
            <a:off x="-14069" y="6192295"/>
            <a:ext cx="12206069" cy="690789"/>
          </a:xfrm>
        </p:spPr>
      </p:pic>
      <p:sp>
        <p:nvSpPr>
          <p:cNvPr id="8" name="Footer Placeholder 4">
            <a:extLst xmlns:a="http://schemas.openxmlformats.org/drawingml/2006/main">
              <a:ext uri="{FF2B5EF4-FFF2-40B4-BE49-F238E27FC236}">
                <a16:creationId xmlns:a16="http://schemas.microsoft.com/office/drawing/2014/main" id="{FCA6D00C-6E00-18D6-FD3B-74BCBC6FB1FE}"/>
              </a:ext>
            </a:extLst>
          </p:cNvPr>
          <p:cNvSpPr>
            <a:spLocks xmlns:a="http://schemas.openxmlformats.org/drawingml/2006/main" noGrp="1"/>
          </p:cNvSpPr>
          <p:nvPr>
            <p:ph type="ftr" idx="11"/>
          </p:nvPr>
        </p:nvSpPr>
        <p:spPr>
          <a:xfrm xmlns:a="http://schemas.openxmlformats.org/drawingml/2006/main" rot="16200000">
            <a:off x="10817434" y="4975433"/>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pPr algn="l">
              <a:buNone/>
            </a:pPr>
            <a:r>
              <a:rPr sz="1000"/>
              <a:t>GEORGE MASON UNIVERSITY</a:t>
            </a:r>
          </a:p>
        </p:txBody>
      </p:sp>
      <p:sp>
        <p:nvSpPr>
          <p:cNvPr id="9" name="Slide Number Placeholder 5">
            <a:extLst xmlns:a="http://schemas.openxmlformats.org/drawingml/2006/main">
              <a:ext uri="{FF2B5EF4-FFF2-40B4-BE49-F238E27FC236}">
                <a16:creationId xmlns:a16="http://schemas.microsoft.com/office/drawing/2014/main" id="{0E47F240-819D-B29B-74FE-CA7F28ADD814}"/>
              </a:ext>
            </a:extLst>
          </p:cNvPr>
          <p:cNvSpPr>
            <a:spLocks xmlns:a="http://schemas.openxmlformats.org/drawingml/2006/main" noGrp="1"/>
          </p:cNvSpPr>
          <p:nvPr>
            <p:ph type="sldNum" idx="12"/>
          </p:nvPr>
        </p:nvSpPr>
        <p:spPr>
          <a:xfrm xmlns:a="http://schemas.openxmlformats.org/drawingml/2006/main">
            <a:off x="116618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pPr algn="ctr">
              <a:buNone/>
            </a:pPr>
            <a:fld id="{944FE883-4AC6-394B-8129-6E4BB686DB20}" type="slidenum">
              <a:rPr>
                <a:solidFill>
                  <a:schemeClr val="bg1"/>
                </a:solidFill>
              </a:rPr>
              <a:t>4</a:t>
            </a:fld>
            <a:endParaRPr>
              <a:solidFill>
                <a:schemeClr val="bg1"/>
              </a:solidFill>
            </a:endParaRPr>
          </a:p>
        </p:txBody>
      </p:sp>
      <p:sp>
        <p:nvSpPr>
          <p:cNvPr id="11" name="Title 1">
            <a:extLst xmlns:a="http://schemas.openxmlformats.org/drawingml/2006/main">
              <a:ext uri="{FF2B5EF4-FFF2-40B4-BE49-F238E27FC236}">
                <a16:creationId xmlns:a16="http://schemas.microsoft.com/office/drawing/2014/main" id="{F4C3911C-6CB4-467E-817B-2DF0C089F8A6}"/>
              </a:ext>
            </a:extLst>
          </p:cNvPr>
          <p:cNvSpPr>
            <a:spLocks xmlns:a="http://schemas.openxmlformats.org/drawingml/2006/main" noGrp="1"/>
          </p:cNvSpPr>
          <p:nvPr/>
        </p:nvSpPr>
        <p:spPr>
          <a:xfrm xmlns:a="http://schemas.openxmlformats.org/drawingml/2006/main">
            <a:off x="3629" y="2267"/>
            <a:ext cx="12188371"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r>
              <a:rPr>
                <a:solidFill>
                  <a:schemeClr val="tx2"/>
                </a:solidFill>
              </a:rPr>
              <a:t>Pairwise Motifs - The Four Cliques</a:t>
            </a:r>
            <a:endParaRPr/>
          </a:p>
        </p:txBody>
      </p:sp>
      <p:graphicFrame>
        <p:nvGraphicFramePr>
          <p:cNvPr id="23" name="Diagram 5"/>
          <p:cNvGraphicFramePr/>
          <p:nvPr/>
        </p:nvGraphicFramePr>
        <p:xfrm>
          <a:off xmlns:a="http://schemas.openxmlformats.org/drawingml/2006/main" x="5533160" y="1778826"/>
          <a:ext xmlns:a="http://schemas.openxmlformats.org/drawingml/2006/main" cx="6160216" cy="2645859"/>
        </p:xfrm>
        <a:graphic xmlns:a="http://schemas.openxmlformats.org/drawingml/2006/main">
          <a:graphicData uri="http://schemas.openxmlformats.org/drawingml/2006/diagram">
            <dgm:relIds xmlns:r="http://schemas.openxmlformats.org/officeDocument/2006/relationships" xmlns:dgm="http://schemas.openxmlformats.org/drawingml/2006/diagram" r:dm="R990603455de04044" r:lo="R6e4aee61ea80400a"/>
          </a:graphicData>
        </a:graphic>
      </p:graphicFrame>
      <p:pic>
        <p:nvPicPr>
          <p:cNvPr id="24" name="Picture 11"/>
          <p:cNvPicPr>
            <a:picLocks xmlns:a="http://schemas.openxmlformats.org/drawingml/2006/main" noChangeAspect="1"/>
          </p:cNvPicPr>
          <p:nvPr/>
        </p:nvPicPr>
        <p:blipFill>
          <a:blip xmlns:r="http://schemas.openxmlformats.org/officeDocument/2006/relationships" xmlns:a="http://schemas.openxmlformats.org/drawingml/2006/main" r:embed="R30c143f3b4074b9a"/>
          <a:stretch xmlns:a="http://schemas.openxmlformats.org/drawingml/2006/main">
            <a:fillRect l="0" t="0" r="0" b="0"/>
          </a:stretch>
        </p:blipFill>
        <p:spPr>
          <a:xfrm xmlns:a="http://schemas.openxmlformats.org/drawingml/2006/main">
            <a:off x="498624" y="1514936"/>
            <a:ext cx="4823744" cy="2053536"/>
          </a:xfrm>
          <a:prstGeom xmlns:a="http://schemas.openxmlformats.org/drawingml/2006/main" prst="rect">
            <a:avLst/>
          </a:prstGeom>
        </p:spPr>
      </p:pic>
      <p:graphicFrame>
        <p:nvGraphicFramePr>
          <p:cNvPr id="25" name="Diagram 9"/>
          <p:cNvGraphicFramePr/>
          <p:nvPr/>
        </p:nvGraphicFramePr>
        <p:xfrm rot="0" flipH="0" flipV="0">
          <a:off xmlns:a="http://schemas.openxmlformats.org/drawingml/2006/main" x="955227" y="4344482"/>
          <a:ext xmlns:a="http://schemas.openxmlformats.org/drawingml/2006/main" cx="3910537" cy="1325563"/>
        </p:xfrm>
        <a:graphic xmlns:a="http://schemas.openxmlformats.org/drawingml/2006/main">
          <a:graphicData uri="http://schemas.openxmlformats.org/drawingml/2006/diagram">
            <dgm:relIds xmlns:r="http://schemas.openxmlformats.org/officeDocument/2006/relationships" xmlns:dgm="http://schemas.openxmlformats.org/drawingml/2006/diagram" r:dm="R8e980b04986b40a8" r:lo="R9a43e85213064f52"/>
          </a:graphicData>
        </a:graphic>
      </p:graphicFrame>
      <p:sp>
        <p:nvSpPr>
          <p:cNvPr id="13" name="TextBox 12">
            <a:extLst xmlns:a="http://schemas.openxmlformats.org/drawingml/2006/main">
              <a:ext uri="{FF2B5EF4-FFF2-40B4-BE49-F238E27FC236}">
                <a16:creationId xmlns:a16="http://schemas.microsoft.com/office/drawing/2014/main" id="{546DC93A-ABDE-63CF-7FAB-7CD232ECC03A}"/>
              </a:ext>
            </a:extLst>
          </p:cNvPr>
          <p:cNvSpPr>
            <a:spLocks xmlns:a="http://schemas.openxmlformats.org/drawingml/2006/main" noGrp="1"/>
          </p:cNvSpPr>
          <p:nvPr/>
        </p:nvSpPr>
        <p:spPr>
          <a:xfrm xmlns:a="http://schemas.openxmlformats.org/drawingml/2006/main" rot="0" flipH="0" flipV="0">
            <a:off x="1126850" y="3964783"/>
            <a:ext cx="3567289"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i="1"/>
              <a:t>(Not analyzed in this paper)</a:t>
            </a:r>
          </a:p>
        </p:txBody>
      </p:sp>
      <p:sp>
        <p:nvSpPr>
          <p:cNvPr id="14" name="TextBox 13">
            <a:extLst xmlns:a="http://schemas.openxmlformats.org/drawingml/2006/main">
              <a:ext uri="{FF2B5EF4-FFF2-40B4-BE49-F238E27FC236}">
                <a16:creationId xmlns:a16="http://schemas.microsoft.com/office/drawing/2014/main" id="{B420D2A9-96BD-C42E-4D50-D8AD8CF3E406}"/>
              </a:ext>
            </a:extLst>
          </p:cNvPr>
          <p:cNvSpPr>
            <a:spLocks xmlns:a="http://schemas.openxmlformats.org/drawingml/2006/main" noGrp="1"/>
          </p:cNvSpPr>
          <p:nvPr/>
        </p:nvSpPr>
        <p:spPr>
          <a:xfrm xmlns:a="http://schemas.openxmlformats.org/drawingml/2006/main">
            <a:off x="863258" y="1187955"/>
            <a:ext cx="2607734" cy="24622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i="1"/>
              <a:t>Shao et al (2025). Figure 1c</a:t>
            </a:r>
          </a:p>
        </p:txBody>
      </p:sp>
    </p:spTree>
    <p:extLst>
      <p:ext uri="{BB962C8B-B14F-4D97-AF65-F5344CB8AC3E}">
        <p14:creationId xmlns:p14="http://schemas.microsoft.com/office/powerpoint/2010/main" val="167776337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4"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ce998cc586af45aa"/>
          <a:stretch xmlns:a="http://schemas.openxmlformats.org/drawingml/2006/main">
            <a:fillRect l="0" t="0" r="0" b="0"/>
          </a:stretch>
        </p:blipFill>
        <p:spPr>
          <a:xfrm xmlns:a="http://schemas.openxmlformats.org/drawingml/2006/main">
            <a:off x="-14069" y="6192295"/>
            <a:ext cx="12206069" cy="690789"/>
          </a:xfrm>
        </p:spPr>
      </p:pic>
      <p:sp>
        <p:nvSpPr>
          <p:cNvPr id="8" name="Footer Placeholder 4">
            <a:extLst xmlns:a="http://schemas.openxmlformats.org/drawingml/2006/main">
              <a:ext uri="{FF2B5EF4-FFF2-40B4-BE49-F238E27FC236}">
                <a16:creationId xmlns:a16="http://schemas.microsoft.com/office/drawing/2014/main" id="{B7C8EB9C-9304-3201-34A9-968137FF2CE7}"/>
              </a:ext>
            </a:extLst>
          </p:cNvPr>
          <p:cNvSpPr>
            <a:spLocks xmlns:a="http://schemas.openxmlformats.org/drawingml/2006/main" noGrp="1"/>
          </p:cNvSpPr>
          <p:nvPr>
            <p:ph type="ftr" idx="11"/>
          </p:nvPr>
        </p:nvSpPr>
        <p:spPr>
          <a:xfrm xmlns:a="http://schemas.openxmlformats.org/drawingml/2006/main" rot="16200000">
            <a:off x="10817434" y="4975433"/>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pPr algn="l">
              <a:buNone/>
            </a:pPr>
            <a:r>
              <a:rPr sz="1000"/>
              <a:t>GEORGE MASON UNIVERSITY</a:t>
            </a:r>
          </a:p>
        </p:txBody>
      </p:sp>
      <p:sp>
        <p:nvSpPr>
          <p:cNvPr id="9" name="Slide Number Placeholder 5">
            <a:extLst xmlns:a="http://schemas.openxmlformats.org/drawingml/2006/main">
              <a:ext uri="{FF2B5EF4-FFF2-40B4-BE49-F238E27FC236}">
                <a16:creationId xmlns:a16="http://schemas.microsoft.com/office/drawing/2014/main" id="{95CC769E-3DE2-B251-DACA-D028D5842663}"/>
              </a:ext>
            </a:extLst>
          </p:cNvPr>
          <p:cNvSpPr>
            <a:spLocks xmlns:a="http://schemas.openxmlformats.org/drawingml/2006/main" noGrp="1"/>
          </p:cNvSpPr>
          <p:nvPr>
            <p:ph type="sldNum" idx="12"/>
          </p:nvPr>
        </p:nvSpPr>
        <p:spPr>
          <a:xfrm xmlns:a="http://schemas.openxmlformats.org/drawingml/2006/main">
            <a:off x="116618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pPr algn="ctr">
              <a:buNone/>
            </a:pPr>
            <a:fld id="{944FE883-4AC6-394B-8129-6E4BB686DB20}" type="slidenum">
              <a:rPr>
                <a:solidFill>
                  <a:schemeClr val="bg1"/>
                </a:solidFill>
              </a:rPr>
              <a:t>5</a:t>
            </a:fld>
            <a:endParaRPr>
              <a:solidFill>
                <a:schemeClr val="bg1"/>
              </a:solidFill>
            </a:endParaRPr>
          </a:p>
        </p:txBody>
      </p:sp>
      <p:sp>
        <p:nvSpPr>
          <p:cNvPr id="11" name="Title 1">
            <a:extLst xmlns:a="http://schemas.openxmlformats.org/drawingml/2006/main">
              <a:ext uri="{FF2B5EF4-FFF2-40B4-BE49-F238E27FC236}">
                <a16:creationId xmlns:a16="http://schemas.microsoft.com/office/drawing/2014/main" id="{05182F97-EE30-016F-25A7-5FD2A522701F}"/>
              </a:ext>
            </a:extLst>
          </p:cNvPr>
          <p:cNvSpPr>
            <a:spLocks xmlns:a="http://schemas.openxmlformats.org/drawingml/2006/main" noGrp="1"/>
          </p:cNvSpPr>
          <p:nvPr/>
        </p:nvSpPr>
        <p:spPr>
          <a:xfrm xmlns:a="http://schemas.openxmlformats.org/drawingml/2006/main">
            <a:off x="3629" y="2267"/>
            <a:ext cx="12188371"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r>
              <a:rPr>
                <a:solidFill>
                  <a:schemeClr val="tx2"/>
                </a:solidFill>
              </a:rPr>
              <a:t>Deconstructing the Connectivity Matrix (J)</a:t>
            </a:r>
            <a:endParaRPr/>
          </a:p>
        </p:txBody>
      </p:sp>
      <p:pic>
        <p:nvPicPr>
          <p:cNvPr id="18" name="Picture 3"/>
          <p:cNvPicPr>
            <a:picLocks xmlns:a="http://schemas.openxmlformats.org/drawingml/2006/main" noChangeAspect="1"/>
          </p:cNvPicPr>
          <p:nvPr/>
        </p:nvPicPr>
        <p:blipFill>
          <a:blip xmlns:r="http://schemas.openxmlformats.org/officeDocument/2006/relationships" xmlns:a="http://schemas.openxmlformats.org/drawingml/2006/main" r:embed="Rd38bba26787c491d"/>
          <a:srcRect xmlns:a="http://schemas.openxmlformats.org/drawingml/2006/main" l="0" t="17417" r="0" b="0"/>
          <a:stretch xmlns:a="http://schemas.openxmlformats.org/drawingml/2006/main">
            <a:fillRect l="0" t="0" r="0" b="0"/>
          </a:stretch>
        </p:blipFill>
        <p:spPr>
          <a:xfrm xmlns:a="http://schemas.openxmlformats.org/drawingml/2006/main">
            <a:off x="1194361" y="1327830"/>
            <a:ext cx="9803278" cy="3557942"/>
          </a:xfrm>
          <a:prstGeom xmlns:a="http://schemas.openxmlformats.org/drawingml/2006/main" prst="rect">
            <a:avLst/>
          </a:prstGeom>
        </p:spPr>
      </p:pic>
      <p:sp>
        <p:nvSpPr>
          <p:cNvPr id="10" name="TextBox 9">
            <a:extLst xmlns:a="http://schemas.openxmlformats.org/drawingml/2006/main">
              <a:ext uri="{FF2B5EF4-FFF2-40B4-BE49-F238E27FC236}">
                <a16:creationId xmlns:a16="http://schemas.microsoft.com/office/drawing/2014/main" id="{80BCC527-1268-73E4-0B27-90BE774E980E}"/>
              </a:ext>
            </a:extLst>
          </p:cNvPr>
          <p:cNvSpPr>
            <a:spLocks xmlns:a="http://schemas.openxmlformats.org/drawingml/2006/main" noGrp="1"/>
          </p:cNvSpPr>
          <p:nvPr/>
        </p:nvSpPr>
        <p:spPr>
          <a:xfrm xmlns:a="http://schemas.openxmlformats.org/drawingml/2006/main">
            <a:off x="227772" y="5545964"/>
            <a:ext cx="9803278"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buFont typeface="Arial"/>
              <a:buNone/>
            </a:pPr>
            <a:r>
              <a:rPr b="1"/>
              <a:t>Low-Rank Approximation = The Connectivity Cliff Notes</a:t>
            </a:r>
          </a:p>
          <a:p xmlns:a="http://schemas.openxmlformats.org/drawingml/2006/main">
            <a:pPr marL="0" indent="0">
              <a:buFont typeface="Arial"/>
              <a:buNone/>
            </a:pPr>
            <a:r>
              <a:t>A few dominant patterns can be used to describe a majority of the system</a:t>
            </a:r>
          </a:p>
        </p:txBody>
      </p:sp>
      <p:sp>
        <p:nvSpPr>
          <p:cNvPr id="5" name="TextBox 4">
            <a:extLst xmlns:a="http://schemas.openxmlformats.org/drawingml/2006/main">
              <a:ext uri="{FF2B5EF4-FFF2-40B4-BE49-F238E27FC236}">
                <a16:creationId xmlns:a16="http://schemas.microsoft.com/office/drawing/2014/main" id="{E269BFAB-8949-220A-7FC5-0D2FA999E90B}"/>
              </a:ext>
            </a:extLst>
          </p:cNvPr>
          <p:cNvSpPr>
            <a:spLocks xmlns:a="http://schemas.openxmlformats.org/drawingml/2006/main" noGrp="1"/>
          </p:cNvSpPr>
          <p:nvPr/>
        </p:nvSpPr>
        <p:spPr>
          <a:xfrm xmlns:a="http://schemas.openxmlformats.org/drawingml/2006/main">
            <a:off x="4942389" y="2546430"/>
            <a:ext cx="2303363" cy="175432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3600" b="1" i="1">
                <a:latin typeface="Cambria Math"/>
                <a:ea typeface="Cambria Math"/>
                <a:cs typeface="Cambria Math"/>
              </a:rPr>
              <a:t>EE	   EI</a:t>
            </a:r>
          </a:p>
          <a:p xmlns:a="http://schemas.openxmlformats.org/drawingml/2006/main">
            <a:pPr algn="ctr">
              <a:buNone/>
            </a:pPr>
            <a:endParaRPr sz="3600" b="1" i="1">
              <a:latin typeface="Cambria Math"/>
              <a:ea typeface="Cambria Math"/>
              <a:cs typeface="Cambria Math"/>
            </a:endParaRPr>
          </a:p>
          <a:p xmlns:a="http://schemas.openxmlformats.org/drawingml/2006/main">
            <a:pPr algn="ctr">
              <a:buNone/>
            </a:pPr>
            <a:r>
              <a:rPr sz="3600" b="1" i="1">
                <a:latin typeface="Cambria Math"/>
                <a:ea typeface="Cambria Math"/>
                <a:cs typeface="Cambria Math"/>
              </a:rPr>
              <a:t>IE	   II</a:t>
            </a:r>
          </a:p>
        </p:txBody>
      </p:sp>
    </p:spTree>
    <p:extLst>
      <p:ext uri="{BB962C8B-B14F-4D97-AF65-F5344CB8AC3E}">
        <p14:creationId xmlns:p14="http://schemas.microsoft.com/office/powerpoint/2010/main" val="220333952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5"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50c6c1ac471b45d0"/>
          <a:stretch xmlns:a="http://schemas.openxmlformats.org/drawingml/2006/main">
            <a:fillRect l="0" t="0" r="0" b="0"/>
          </a:stretch>
        </p:blipFill>
        <p:spPr>
          <a:xfrm xmlns:a="http://schemas.openxmlformats.org/drawingml/2006/main">
            <a:off x="-14069" y="6192295"/>
            <a:ext cx="12206069" cy="690789"/>
          </a:xfrm>
        </p:spPr>
      </p:pic>
      <p:sp>
        <p:nvSpPr>
          <p:cNvPr id="8" name="Footer Placeholder 4">
            <a:extLst xmlns:a="http://schemas.openxmlformats.org/drawingml/2006/main">
              <a:ext uri="{FF2B5EF4-FFF2-40B4-BE49-F238E27FC236}">
                <a16:creationId xmlns:a16="http://schemas.microsoft.com/office/drawing/2014/main" id="{F7B63AA1-025D-B38B-77BA-CF9B9BEDCCD8}"/>
              </a:ext>
            </a:extLst>
          </p:cNvPr>
          <p:cNvSpPr>
            <a:spLocks xmlns:a="http://schemas.openxmlformats.org/drawingml/2006/main" noGrp="1"/>
          </p:cNvSpPr>
          <p:nvPr>
            <p:ph type="ftr" idx="11"/>
          </p:nvPr>
        </p:nvSpPr>
        <p:spPr>
          <a:xfrm xmlns:a="http://schemas.openxmlformats.org/drawingml/2006/main" rot="16200000">
            <a:off x="10817434" y="4975433"/>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pPr algn="l">
              <a:buNone/>
            </a:pPr>
            <a:r>
              <a:rPr sz="1000"/>
              <a:t>GEORGE MASON UNIVERSITY</a:t>
            </a:r>
          </a:p>
        </p:txBody>
      </p:sp>
      <p:sp>
        <p:nvSpPr>
          <p:cNvPr id="9" name="Slide Number Placeholder 5">
            <a:extLst xmlns:a="http://schemas.openxmlformats.org/drawingml/2006/main">
              <a:ext uri="{FF2B5EF4-FFF2-40B4-BE49-F238E27FC236}">
                <a16:creationId xmlns:a16="http://schemas.microsoft.com/office/drawing/2014/main" id="{07D0322A-C7F7-C9BD-CBE7-6153E3F4BDFD}"/>
              </a:ext>
            </a:extLst>
          </p:cNvPr>
          <p:cNvSpPr>
            <a:spLocks xmlns:a="http://schemas.openxmlformats.org/drawingml/2006/main" noGrp="1"/>
          </p:cNvSpPr>
          <p:nvPr>
            <p:ph type="sldNum" idx="12"/>
          </p:nvPr>
        </p:nvSpPr>
        <p:spPr>
          <a:xfrm xmlns:a="http://schemas.openxmlformats.org/drawingml/2006/main">
            <a:off x="116618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pPr algn="ctr">
              <a:buNone/>
            </a:pPr>
            <a:fld id="{944FE883-4AC6-394B-8129-6E4BB686DB20}" type="slidenum">
              <a:rPr>
                <a:solidFill>
                  <a:schemeClr val="bg1"/>
                </a:solidFill>
              </a:rPr>
              <a:t>6</a:t>
            </a:fld>
            <a:endParaRPr>
              <a:solidFill>
                <a:schemeClr val="bg1"/>
              </a:solidFill>
            </a:endParaRPr>
          </a:p>
        </p:txBody>
      </p:sp>
      <p:sp>
        <p:nvSpPr>
          <p:cNvPr id="11" name="Title 1">
            <a:extLst xmlns:a="http://schemas.openxmlformats.org/drawingml/2006/main">
              <a:ext uri="{FF2B5EF4-FFF2-40B4-BE49-F238E27FC236}">
                <a16:creationId xmlns:a16="http://schemas.microsoft.com/office/drawing/2014/main" id="{909B4004-D25C-A98C-16FB-7E0B55A1698D}"/>
              </a:ext>
            </a:extLst>
          </p:cNvPr>
          <p:cNvSpPr>
            <a:spLocks xmlns:a="http://schemas.openxmlformats.org/drawingml/2006/main" noGrp="1"/>
          </p:cNvSpPr>
          <p:nvPr/>
        </p:nvSpPr>
        <p:spPr>
          <a:xfrm xmlns:a="http://schemas.openxmlformats.org/drawingml/2006/main">
            <a:off x="3629" y="2267"/>
            <a:ext cx="12188371"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r>
              <a:rPr>
                <a:solidFill>
                  <a:schemeClr val="tx2"/>
                </a:solidFill>
              </a:rPr>
              <a:t>Eigenspectrum</a:t>
            </a:r>
            <a:r>
              <a:rPr>
                <a:solidFill>
                  <a:schemeClr val="tx2"/>
                </a:solidFill>
              </a:rPr>
              <a:t> - Bulk vs. Outliers</a:t>
            </a:r>
            <a:endParaRPr/>
          </a:p>
        </p:txBody>
      </p:sp>
      <p:pic>
        <p:nvPicPr>
          <p:cNvPr id="19" name="Picture 4"/>
          <p:cNvPicPr>
            <a:picLocks xmlns:a="http://schemas.openxmlformats.org/drawingml/2006/main" noChangeAspect="1"/>
          </p:cNvPicPr>
          <p:nvPr/>
        </p:nvPicPr>
        <p:blipFill>
          <a:blip xmlns:r="http://schemas.openxmlformats.org/officeDocument/2006/relationships" xmlns:a="http://schemas.openxmlformats.org/drawingml/2006/main" r:embed="R2a1a656ea1ac4b38"/>
          <a:srcRect xmlns:a="http://schemas.openxmlformats.org/drawingml/2006/main" l="0" t="8853" r="0" b="5834"/>
          <a:stretch xmlns:a="http://schemas.openxmlformats.org/drawingml/2006/main">
            <a:fillRect l="0" t="0" r="0" b="0"/>
          </a:stretch>
        </p:blipFill>
        <p:spPr>
          <a:xfrm xmlns:a="http://schemas.openxmlformats.org/drawingml/2006/main">
            <a:off x="123799" y="1103246"/>
            <a:ext cx="10116235" cy="4812132"/>
          </a:xfrm>
          <a:prstGeom xmlns:a="http://schemas.openxmlformats.org/drawingml/2006/main" prst="rect">
            <a:avLst/>
          </a:prstGeom>
        </p:spPr>
      </p:pic>
      <p:sp>
        <p:nvSpPr>
          <p:cNvPr id="6" name="TextBox 5">
            <a:extLst xmlns:a="http://schemas.openxmlformats.org/drawingml/2006/main">
              <a:ext uri="{FF2B5EF4-FFF2-40B4-BE49-F238E27FC236}">
                <a16:creationId xmlns:a16="http://schemas.microsoft.com/office/drawing/2014/main" id="{CC7819E3-B21A-B593-1055-8E9709ACAAA0}"/>
              </a:ext>
            </a:extLst>
          </p:cNvPr>
          <p:cNvSpPr>
            <a:spLocks xmlns:a="http://schemas.openxmlformats.org/drawingml/2006/main" noGrp="1"/>
          </p:cNvSpPr>
          <p:nvPr/>
        </p:nvSpPr>
        <p:spPr>
          <a:xfrm xmlns:a="http://schemas.openxmlformats.org/drawingml/2006/main">
            <a:off x="123799" y="1084958"/>
            <a:ext cx="3736245" cy="20313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285750" indent="-285750">
              <a:buFont typeface="Arial"/>
              <a:buChar char="•"/>
            </a:pPr>
            <a:r>
              <a:t>Increase chain correlations, a new outlier appears</a:t>
            </a:r>
          </a:p>
          <a:p xmlns:a="http://schemas.openxmlformats.org/drawingml/2006/main">
            <a:pPr marL="285750" indent="-285750">
              <a:buFont typeface="Arial"/>
              <a:buChar char="•"/>
            </a:pPr>
            <a:r>
              <a:t>Increase reciprocal correlations, nudges existing negative </a:t>
            </a:r>
            <a14:m xmlns:a14="http://schemas.microsoft.com/office/drawing/2010/main">
              <m:oMathPara xmlns:m="http://schemas.openxmlformats.org/officeDocument/2006/math">
                <m:oMath>
                  <m:sSub>
                    <m:e>
                      <m:r>
                        <a:rPr xmlns:a="http://schemas.openxmlformats.org/drawingml/2006/main" lang="el-GR" b="0" i="1">
                          <a:latin typeface="Cambria Math"/>
                          <a:ea typeface="Cambria Math"/>
                          <a:cs typeface="Cambria Math"/>
                        </a:rPr>
                        <m:t>𝜆</m:t>
                      </m:r>
                    </m:e>
                    <m:sub>
                      <m:r>
                        <a:rPr xmlns:a="http://schemas.openxmlformats.org/drawingml/2006/main" lang="en-US" b="0" i="1">
                          <a:latin typeface="Cambria Math"/>
                          <a:ea typeface="Cambria Math"/>
                          <a:cs typeface="Cambria Math"/>
                        </a:rPr>
                        <m:t>0</m:t>
                      </m:r>
                    </m:sub>
                  </m:sSub>
                </m:oMath>
              </m:oMathPara>
            </a14:m>
            <a:r>
              <a:rPr b="0"/>
              <a:t> left</a:t>
            </a:r>
          </a:p>
          <a:p xmlns:a="http://schemas.openxmlformats.org/drawingml/2006/main">
            <a:pPr marL="285750" indent="-285750">
              <a:buFont typeface="Arial"/>
              <a:buChar char="•"/>
            </a:pPr>
            <a:endParaRPr b="0"/>
          </a:p>
          <a:p xmlns:a="http://schemas.openxmlformats.org/drawingml/2006/main">
            <a:pPr marL="285750" indent="-285750">
              <a:buFont typeface="Arial"/>
              <a:buChar char="•"/>
            </a:pPr>
            <a:endParaRPr b="0"/>
          </a:p>
          <a:p xmlns:a="http://schemas.openxmlformats.org/drawingml/2006/main">
            <a:pPr marL="285750" indent="-285750">
              <a:buFont typeface="Arial"/>
              <a:buChar char="•"/>
            </a:pPr>
            <a:endParaRPr/>
          </a:p>
        </p:txBody>
      </p:sp>
      <p:pic>
        <p:nvPicPr>
          <p:cNvPr id="21" name="Ink 3"/>
          <p:cNvPicPr>
            <a:picLocks xmlns:a="http://schemas.openxmlformats.org/drawingml/2006/main" noChangeAspect="1"/>
          </p:cNvPicPr>
          <p:nvPr/>
        </p:nvPicPr>
        <p:blipFill>
          <a:blip xmlns:r="http://schemas.openxmlformats.org/officeDocument/2006/relationships" xmlns:a="http://schemas.openxmlformats.org/drawingml/2006/main" r:embed="R04bcc3f7dc794a20"/>
          <a:stretch xmlns:a="http://schemas.openxmlformats.org/drawingml/2006/main">
            <a:fillRect l="0" t="0" r="0" b="0"/>
          </a:stretch>
        </p:blipFill>
        <p:spPr>
          <a:xfrm xmlns:a="http://schemas.openxmlformats.org/drawingml/2006/main">
            <a:off x="6877644" y="3555643"/>
            <a:ext cx="126000" cy="126000"/>
          </a:xfrm>
          <a:prstGeom xmlns:a="http://schemas.openxmlformats.org/drawingml/2006/main" prst="rect">
            <a:avLst/>
          </a:prstGeom>
        </p:spPr>
      </p:pic>
    </p:spTree>
    <p:extLst>
      <p:ext uri="{BB962C8B-B14F-4D97-AF65-F5344CB8AC3E}">
        <p14:creationId xmlns:p14="http://schemas.microsoft.com/office/powerpoint/2010/main" val="195840388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graphicFrame>
        <p:nvGraphicFramePr>
          <p:cNvPr id="62" name="Diagram 1"/>
          <p:cNvGraphicFramePr/>
          <p:nvPr/>
        </p:nvGraphicFramePr>
        <p:xfrm>
          <a:off xmlns:a="http://schemas.openxmlformats.org/drawingml/2006/main" x="367176" y="1196789"/>
          <a:ext xmlns:a="http://schemas.openxmlformats.org/drawingml/2006/main" cx="3138260" cy="4898370"/>
        </p:xfrm>
        <a:graphic xmlns:a="http://schemas.openxmlformats.org/drawingml/2006/main">
          <a:graphicData uri="http://schemas.openxmlformats.org/drawingml/2006/diagram">
            <dgm:relIds xmlns:r="http://schemas.openxmlformats.org/officeDocument/2006/relationships" xmlns:dgm="http://schemas.openxmlformats.org/drawingml/2006/diagram" r:dm="Rd07aa2bd77434e7e" r:lo="Rc2aecd2737144841"/>
          </a:graphicData>
        </a:graphic>
      </p:graphicFrame>
      <p:pic>
        <p:nvPicPr>
          <p:cNvPr id="63"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a39ee2554dc04dab"/>
          <a:stretch xmlns:a="http://schemas.openxmlformats.org/drawingml/2006/main">
            <a:fillRect l="0" t="0" r="0" b="0"/>
          </a:stretch>
        </p:blipFill>
        <p:spPr>
          <a:xfrm xmlns:a="http://schemas.openxmlformats.org/drawingml/2006/main">
            <a:off x="-14069" y="6192295"/>
            <a:ext cx="12206069" cy="690789"/>
          </a:xfrm>
        </p:spPr>
      </p:pic>
      <p:sp>
        <p:nvSpPr>
          <p:cNvPr id="8" name="Footer Placeholder 4">
            <a:extLst xmlns:a="http://schemas.openxmlformats.org/drawingml/2006/main">
              <a:ext uri="{FF2B5EF4-FFF2-40B4-BE49-F238E27FC236}">
                <a16:creationId xmlns:a16="http://schemas.microsoft.com/office/drawing/2014/main" id="{C669EAED-9B95-CC15-2045-4BBD8B2EE271}"/>
              </a:ext>
            </a:extLst>
          </p:cNvPr>
          <p:cNvSpPr>
            <a:spLocks xmlns:a="http://schemas.openxmlformats.org/drawingml/2006/main" noGrp="1"/>
          </p:cNvSpPr>
          <p:nvPr>
            <p:ph type="ftr" idx="11"/>
          </p:nvPr>
        </p:nvSpPr>
        <p:spPr>
          <a:xfrm xmlns:a="http://schemas.openxmlformats.org/drawingml/2006/main" rot="16200000">
            <a:off x="10817434" y="4975433"/>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pPr algn="l">
              <a:buNone/>
            </a:pPr>
            <a:r>
              <a:rPr sz="1000"/>
              <a:t>GEORGE MASON UNIVERSITY</a:t>
            </a:r>
          </a:p>
        </p:txBody>
      </p:sp>
      <p:sp>
        <p:nvSpPr>
          <p:cNvPr id="9" name="Slide Number Placeholder 5">
            <a:extLst xmlns:a="http://schemas.openxmlformats.org/drawingml/2006/main">
              <a:ext uri="{FF2B5EF4-FFF2-40B4-BE49-F238E27FC236}">
                <a16:creationId xmlns:a16="http://schemas.microsoft.com/office/drawing/2014/main" id="{618B1C75-C4A8-01E2-9160-088E0F3D2F88}"/>
              </a:ext>
            </a:extLst>
          </p:cNvPr>
          <p:cNvSpPr>
            <a:spLocks xmlns:a="http://schemas.openxmlformats.org/drawingml/2006/main" noGrp="1"/>
          </p:cNvSpPr>
          <p:nvPr>
            <p:ph type="sldNum" idx="12"/>
          </p:nvPr>
        </p:nvSpPr>
        <p:spPr>
          <a:xfrm xmlns:a="http://schemas.openxmlformats.org/drawingml/2006/main">
            <a:off x="116618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pPr algn="ctr">
              <a:buNone/>
            </a:pPr>
            <a:fld id="{944FE883-4AC6-394B-8129-6E4BB686DB20}" type="slidenum">
              <a:rPr>
                <a:solidFill>
                  <a:schemeClr val="bg1"/>
                </a:solidFill>
              </a:rPr>
              <a:t>7</a:t>
            </a:fld>
            <a:endParaRPr>
              <a:solidFill>
                <a:schemeClr val="bg1"/>
              </a:solidFill>
            </a:endParaRPr>
          </a:p>
        </p:txBody>
      </p:sp>
      <p:sp>
        <p:nvSpPr>
          <p:cNvPr id="11" name="Title 1">
            <a:extLst xmlns:a="http://schemas.openxmlformats.org/drawingml/2006/main">
              <a:ext uri="{FF2B5EF4-FFF2-40B4-BE49-F238E27FC236}">
                <a16:creationId xmlns:a16="http://schemas.microsoft.com/office/drawing/2014/main" id="{E3883735-7990-74AA-968F-12014DFE2E5E}"/>
              </a:ext>
            </a:extLst>
          </p:cNvPr>
          <p:cNvSpPr>
            <a:spLocks xmlns:a="http://schemas.openxmlformats.org/drawingml/2006/main" noGrp="1"/>
          </p:cNvSpPr>
          <p:nvPr/>
        </p:nvSpPr>
        <p:spPr>
          <a:xfrm xmlns:a="http://schemas.openxmlformats.org/drawingml/2006/main">
            <a:off x="3629" y="2267"/>
            <a:ext cx="12188371"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r>
              <a:rPr>
                <a:solidFill>
                  <a:schemeClr val="tx2"/>
                </a:solidFill>
              </a:rPr>
              <a:t>Meet J</a:t>
            </a:r>
            <a:r>
              <a:rPr>
                <a:solidFill>
                  <a:schemeClr val="tx2"/>
                </a:solidFill>
              </a:rPr>
              <a:t>eff</a:t>
            </a:r>
            <a:r>
              <a:rPr>
                <a:solidFill>
                  <a:schemeClr val="tx2"/>
                </a:solidFill>
              </a:rPr>
              <a:t>, The Effective Matrix</a:t>
            </a:r>
            <a:endParaRPr/>
          </a:p>
        </p:txBody>
      </p:sp>
      <p:sp>
        <p:nvSpPr>
          <p:cNvPr id="18" name="Straight Connector 17">
            <a:extLst xmlns:a="http://schemas.openxmlformats.org/drawingml/2006/main">
              <a:ext uri="{FF2B5EF4-FFF2-40B4-BE49-F238E27FC236}">
                <a16:creationId xmlns:a16="http://schemas.microsoft.com/office/drawing/2014/main" id="{69100D6F-A805-4C0F-8C2E-E1A5617E217E}"/>
              </a:ext>
            </a:extLst>
          </p:cNvPr>
          <p:cNvSpPr>
            <a:spLocks xmlns:a="http://schemas.openxmlformats.org/drawingml/2006/main" noGrp="1"/>
          </p:cNvSpPr>
          <p:nvPr/>
        </p:nvSpPr>
        <p:spPr>
          <a:xfrm xmlns:a="http://schemas.openxmlformats.org/drawingml/2006/main">
            <a:off x="4023360" y="1258248"/>
            <a:ext cx="0" cy="4749636"/>
          </a:xfrm>
          <a:prstGeom xmlns:a="http://schemas.openxmlformats.org/drawingml/2006/main" prst="line">
            <a:avLst/>
          </a:prstGeom>
          <a:ln xmlns:a="http://schemas.openxmlformats.org/drawingml/2006/main">
            <a:solidFill>
              <a:schemeClr val="tx1"/>
            </a:solidFill>
            <a:prstDash val="dash"/>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3" name="TextBox 52">
            <a:extLst xmlns:a="http://schemas.openxmlformats.org/drawingml/2006/main">
              <a:ext uri="{FF2B5EF4-FFF2-40B4-BE49-F238E27FC236}">
                <a16:creationId xmlns:a16="http://schemas.microsoft.com/office/drawing/2014/main" id="{3F119078-FCFB-A265-EEEB-A978F83F2AED}"/>
              </a:ext>
            </a:extLst>
          </p:cNvPr>
          <p:cNvSpPr>
            <a:spLocks xmlns:a="http://schemas.openxmlformats.org/drawingml/2006/main" noGrp="1"/>
          </p:cNvSpPr>
          <p:nvPr/>
        </p:nvSpPr>
        <p:spPr>
          <a:xfrm xmlns:a="http://schemas.openxmlformats.org/drawingml/2006/main">
            <a:off x="2046340" y="3492085"/>
            <a:ext cx="1034270"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t>2</a:t>
            </a:r>
            <a:r>
              <a:rPr sz="1400"/>
              <a:t>nd</a:t>
            </a:r>
            <a:r>
              <a:rPr sz="1400"/>
              <a:t> order</a:t>
            </a:r>
          </a:p>
        </p:txBody>
      </p:sp>
      <p:sp>
        <p:nvSpPr>
          <p:cNvPr id="59" name="TextBox 58">
            <a:extLst xmlns:a="http://schemas.openxmlformats.org/drawingml/2006/main">
              <a:ext uri="{FF2B5EF4-FFF2-40B4-BE49-F238E27FC236}">
                <a16:creationId xmlns:a16="http://schemas.microsoft.com/office/drawing/2014/main" id="{63BEE6DF-7515-8B4A-E2BB-FB63A04D6400}"/>
              </a:ext>
            </a:extLst>
          </p:cNvPr>
          <p:cNvSpPr>
            <a:spLocks xmlns:a="http://schemas.openxmlformats.org/drawingml/2006/main" noGrp="1"/>
          </p:cNvSpPr>
          <p:nvPr/>
        </p:nvSpPr>
        <p:spPr>
          <a:xfrm xmlns:a="http://schemas.openxmlformats.org/drawingml/2006/main">
            <a:off x="2997200" y="5181600"/>
            <a:ext cx="184731"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endParaRPr/>
          </a:p>
        </p:txBody>
      </p:sp>
      <p:sp>
        <p:nvSpPr>
          <p:cNvPr id="15" name="TextBox 14">
            <a:extLst xmlns:a="http://schemas.openxmlformats.org/drawingml/2006/main">
              <a:ext uri="{FF2B5EF4-FFF2-40B4-BE49-F238E27FC236}">
                <a16:creationId xmlns:a16="http://schemas.microsoft.com/office/drawing/2014/main" id="{8BFF6C19-74C6-0F3F-3A7A-39EA33797C08}"/>
              </a:ext>
            </a:extLst>
          </p:cNvPr>
          <p:cNvSpPr>
            <a:spLocks xmlns:a="http://schemas.openxmlformats.org/drawingml/2006/main" noGrp="1"/>
          </p:cNvSpPr>
          <p:nvPr/>
        </p:nvSpPr>
        <p:spPr>
          <a:xfrm xmlns:a="http://schemas.openxmlformats.org/drawingml/2006/main">
            <a:off x="2046339" y="2192082"/>
            <a:ext cx="1135591"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t>decompose</a:t>
            </a:r>
          </a:p>
        </p:txBody>
      </p:sp>
      <p:sp>
        <p:nvSpPr>
          <p:cNvPr id="20" name="TextBox 19">
            <a:extLst xmlns:a="http://schemas.openxmlformats.org/drawingml/2006/main">
              <a:ext uri="{FF2B5EF4-FFF2-40B4-BE49-F238E27FC236}">
                <a16:creationId xmlns:a16="http://schemas.microsoft.com/office/drawing/2014/main" id="{DDFEEA29-34CB-F64F-BA0B-6FD60BDFADD1}"/>
              </a:ext>
            </a:extLst>
          </p:cNvPr>
          <p:cNvSpPr>
            <a:spLocks xmlns:a="http://schemas.openxmlformats.org/drawingml/2006/main" noGrp="1"/>
          </p:cNvSpPr>
          <p:nvPr/>
        </p:nvSpPr>
        <p:spPr>
          <a:xfrm xmlns:a="http://schemas.openxmlformats.org/drawingml/2006/main">
            <a:off x="4198971" y="3297802"/>
            <a:ext cx="6520078" cy="212109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Predicts steady-state	 </a:t>
            </a:r>
            <a14:m xmlns:a14="http://schemas.microsoft.com/office/drawing/2010/main">
              <m:oMathPara xmlns:m="http://schemas.openxmlformats.org/officeDocument/2006/math">
                <m:oMath>
                  <m:sSup>
                    <m:e>
                      <m:r>
                        <a:rPr xmlns:a="http://schemas.openxmlformats.org/drawingml/2006/main" lang="en-US" i="1">
                          <a:latin typeface="Cambria Math"/>
                          <a:ea typeface="Cambria Math"/>
                          <a:cs typeface="Cambria Math"/>
                        </a:rPr>
                        <m:t>𝑟</m:t>
                      </m:r>
                    </m:e>
                    <m:sup>
                      <m:r>
                        <a:rPr xmlns:a="http://schemas.openxmlformats.org/drawingml/2006/main" lang="en-US" i="1">
                          <a:latin typeface="Cambria Math"/>
                          <a:ea typeface="Cambria Math"/>
                          <a:cs typeface="Cambria Math"/>
                        </a:rPr>
                        <m:t>∗</m:t>
                      </m:r>
                    </m:sup>
                  </m:sSup>
                  <m:r>
                    <a:rPr xmlns:a="http://schemas.openxmlformats.org/drawingml/2006/main" lang="en-US" i="1">
                      <a:latin typeface="Cambria Math"/>
                      <a:ea typeface="Cambria Math"/>
                      <a:cs typeface="Cambria Math"/>
                    </a:rPr>
                    <m:t>=</m:t>
                  </m:r>
                  <m:sSup>
                    <m:e>
                      <m:d>
                        <m:dPr>
                          <m:grow m:val="off"/>
                        </m:dPr>
                        <m:e>
                          <m:r>
                            <a:rPr xmlns:a="http://schemas.openxmlformats.org/drawingml/2006/main" lang="en-US" i="1">
                              <a:latin typeface="Cambria Math"/>
                              <a:ea typeface="Cambria Math"/>
                              <a:cs typeface="Cambria Math"/>
                            </a:rPr>
                            <m:t>𝐼</m:t>
                          </m:r>
                          <m:r>
                            <a:rPr xmlns:a="http://schemas.openxmlformats.org/drawingml/2006/main" lang="en-US" i="1">
                              <a:latin typeface="Cambria Math"/>
                              <a:ea typeface="Cambria Math"/>
                              <a:cs typeface="Cambria Math"/>
                            </a:rPr>
                            <m:t>−</m:t>
                          </m:r>
                          <m:sSup>
                            <m:e>
                              <m:r>
                                <a:rPr xmlns:a="http://schemas.openxmlformats.org/drawingml/2006/main" lang="en-US" i="1">
                                  <a:latin typeface="Cambria Math"/>
                                  <a:ea typeface="Cambria Math"/>
                                  <a:cs typeface="Cambria Math"/>
                                </a:rPr>
                                <m:t>𝐽</m:t>
                              </m:r>
                            </m:e>
                            <m:sup>
                              <m:r>
                                <a:rPr xmlns:a="http://schemas.openxmlformats.org/drawingml/2006/main" lang="en-US" i="1">
                                  <a:latin typeface="Cambria Math"/>
                                  <a:ea typeface="Cambria Math"/>
                                  <a:cs typeface="Cambria Math"/>
                                </a:rPr>
                                <m:t>𝑒𝑓𝑓</m:t>
                              </m:r>
                            </m:sup>
                          </m:sSup>
                        </m:e>
                      </m:d>
                    </m:e>
                    <m:sup>
                      <m:r>
                        <a:rPr xmlns:a="http://schemas.openxmlformats.org/drawingml/2006/main" lang="en-US" i="1">
                          <a:latin typeface="Cambria Math"/>
                          <a:ea typeface="Cambria Math"/>
                          <a:cs typeface="Cambria Math"/>
                        </a:rPr>
                        <m:t>−1</m:t>
                      </m:r>
                    </m:sup>
                  </m:sSup>
                  <m:sSup>
                    <m:e>
                      <m:r>
                        <a:rPr xmlns:a="http://schemas.openxmlformats.org/drawingml/2006/main" lang="en-US" i="1">
                          <a:latin typeface="Cambria Math"/>
                          <a:ea typeface="Cambria Math"/>
                          <a:cs typeface="Cambria Math"/>
                        </a:rPr>
                        <m:t>𝐼</m:t>
                      </m:r>
                    </m:e>
                    <m:sup>
                      <m:r>
                        <a:rPr xmlns:a="http://schemas.openxmlformats.org/drawingml/2006/main" lang="en-US" i="1">
                          <a:latin typeface="Cambria Math"/>
                          <a:ea typeface="Cambria Math"/>
                          <a:cs typeface="Cambria Math"/>
                        </a:rPr>
                        <m:t>𝑒𝑥𝑡</m:t>
                      </m:r>
                    </m:sup>
                  </m:sSup>
                </m:oMath>
              </m:oMathPara>
            </a14:m>
            <a:endParaRPr/>
          </a:p>
          <a:p xmlns:a="http://schemas.openxmlformats.org/drawingml/2006/main">
            <a:pPr marL="285750" indent="-285750">
              <a:buFont typeface="Arial"/>
              <a:buChar char="•"/>
            </a:pPr>
            <a:r>
              <a:t>No simulation needed: one clean matrix inversion</a:t>
            </a:r>
          </a:p>
          <a:p xmlns:a="http://schemas.openxmlformats.org/drawingml/2006/main">
            <a:pPr marL="285750" indent="-285750">
              <a:buFont typeface="Arial"/>
              <a:buChar char="•"/>
            </a:pPr>
            <a:r>
              <a:t>Replaces the full noisy matrix</a:t>
            </a:r>
          </a:p>
          <a:p xmlns:a="http://schemas.openxmlformats.org/drawingml/2006/main">
            <a:pPr marL="285750" indent="-285750">
              <a:buFont typeface="Arial"/>
              <a:buChar char="•"/>
            </a:pPr>
            <a:endParaRPr/>
          </a:p>
          <a:p xmlns:a="http://schemas.openxmlformats.org/drawingml/2006/main">
            <a:r>
              <a:t>Predicts paradoxical responses</a:t>
            </a:r>
          </a:p>
          <a:p xmlns:a="http://schemas.openxmlformats.org/drawingml/2006/main">
            <a:pPr marL="285750" indent="-285750">
              <a:buFont typeface="Arial"/>
              <a:buChar char="•"/>
            </a:pPr>
            <a:r>
              <a:t>Captures how chain motifs structure drives counterintuitive inhibitory suppression</a:t>
            </a:r>
          </a:p>
        </p:txBody>
      </p:sp>
      <p:sp>
        <p:nvSpPr>
          <p:cNvPr id="21" name="TextBox 20">
            <a:extLst xmlns:a="http://schemas.openxmlformats.org/drawingml/2006/main">
              <a:ext uri="{FF2B5EF4-FFF2-40B4-BE49-F238E27FC236}">
                <a16:creationId xmlns:a16="http://schemas.microsoft.com/office/drawing/2014/main" id="{1ABC394E-EFAF-88A9-FC4C-1F1DFAAA6180}"/>
              </a:ext>
            </a:extLst>
          </p:cNvPr>
          <p:cNvSpPr>
            <a:spLocks xmlns:a="http://schemas.openxmlformats.org/drawingml/2006/main" noGrp="1"/>
          </p:cNvSpPr>
          <p:nvPr/>
        </p:nvSpPr>
        <p:spPr>
          <a:xfrm xmlns:a="http://schemas.openxmlformats.org/drawingml/2006/main">
            <a:off x="6279589" y="1528873"/>
            <a:ext cx="3138258" cy="598434"/>
          </a:xfrm>
          <a:prstGeom xmlns:a="http://schemas.openxmlformats.org/drawingml/2006/main" prst="rect">
            <a:avLst/>
          </a:prstGeom>
          <a:noFill xmlns:a="http://schemas.openxmlformats.org/drawingml/2006/main"/>
          <a:ln xmlns:a="http://schemas.openxmlformats.org/drawingml/2006/main">
            <a:solidFill>
              <a:schemeClr val="tx1"/>
            </a:solidFill>
          </a:ln>
        </p:spPr>
        <p:txBody>
          <a:bodyPr xmlns:a="http://schemas.openxmlformats.org/drawingml/2006/main" wrap="square" anchor="ctr">
            <a:spAutoFit/>
          </a:bodyPr>
          <a:lstStyle xmlns:a="http://schemas.openxmlformats.org/drawingml/2006/main"/>
          <a:p xmlns:a="http://schemas.openxmlformats.org/drawingml/2006/main">
            <a:pPr lvl="0" algn="ctr">
              <a:buNone/>
            </a:pPr>
            <a:r>
              <a:rPr sz="3200" b="1"/>
              <a:t> </a:t>
            </a:r>
            <a14:m xmlns:a14="http://schemas.microsoft.com/office/drawing/2010/main">
              <m:oMathPara xmlns:m="http://schemas.openxmlformats.org/officeDocument/2006/math">
                <m:oMath>
                  <m:sSup>
                    <m:e>
                      <m:r>
                        <a:rPr xmlns:a="http://schemas.openxmlformats.org/drawingml/2006/main" lang="en-US" sz="3200" b="0" i="1">
                          <a:latin typeface="Cambria Math"/>
                          <a:ea typeface="Cambria Math"/>
                          <a:cs typeface="Cambria Math"/>
                        </a:rPr>
                        <m:t>𝐽</m:t>
                      </m:r>
                    </m:e>
                    <m:sup>
                      <m:r>
                        <a:rPr xmlns:a="http://schemas.openxmlformats.org/drawingml/2006/main" lang="en-US" sz="3200" b="0" i="1">
                          <a:latin typeface="Cambria Math"/>
                          <a:ea typeface="Cambria Math"/>
                          <a:cs typeface="Cambria Math"/>
                        </a:rPr>
                        <m:t>𝑒𝑓𝑓</m:t>
                      </m:r>
                    </m:sup>
                  </m:sSup>
                  <m:r>
                    <a:rPr xmlns:a="http://schemas.openxmlformats.org/drawingml/2006/main" lang="en-US" sz="3200" b="0" i="1">
                      <a:latin typeface="Cambria Math"/>
                      <a:ea typeface="Cambria Math"/>
                      <a:cs typeface="Cambria Math"/>
                    </a:rPr>
                    <m:t>=</m:t>
                  </m:r>
                  <m:sSup>
                    <m:e>
                      <m:r>
                        <a:rPr xmlns:a="http://schemas.openxmlformats.org/drawingml/2006/main" lang="en-US" sz="3200" b="0" i="1">
                          <a:latin typeface="Cambria Math"/>
                          <a:ea typeface="Cambria Math"/>
                          <a:cs typeface="Cambria Math"/>
                        </a:rPr>
                        <m:t>𝐽</m:t>
                      </m:r>
                    </m:e>
                    <m:sup>
                      <m:r>
                        <a:rPr xmlns:a="http://schemas.openxmlformats.org/drawingml/2006/main" lang="en-US" sz="3200" b="0" i="1">
                          <a:latin typeface="Cambria Math"/>
                          <a:ea typeface="Cambria Math"/>
                          <a:cs typeface="Cambria Math"/>
                        </a:rPr>
                        <m:t>0</m:t>
                      </m:r>
                    </m:sup>
                  </m:sSup>
                  <m:r>
                    <a:rPr xmlns:a="http://schemas.openxmlformats.org/drawingml/2006/main" lang="en-US" sz="3200" b="0" i="1">
                      <a:latin typeface="Cambria Math"/>
                      <a:ea typeface="Cambria Math"/>
                      <a:cs typeface="Cambria Math"/>
                    </a:rPr>
                    <m:t>+</m:t>
                  </m:r>
                  <m:d>
                    <m:dPr>
                      <m:begChr m:val="⟨"/>
                      <m:endChr m:val="⟩"/>
                      <m:grow m:val="off"/>
                    </m:dPr>
                    <m:e>
                      <m:sSup>
                        <m:e>
                          <m:r>
                            <a:rPr xmlns:a="http://schemas.openxmlformats.org/drawingml/2006/main" lang="en-US" sz="3200" b="0" i="1">
                              <a:latin typeface="Cambria Math"/>
                              <a:ea typeface="Cambria Math"/>
                              <a:cs typeface="Cambria Math"/>
                            </a:rPr>
                            <m:t>𝑍</m:t>
                          </m:r>
                        </m:e>
                        <m:sup>
                          <m:r>
                            <a:rPr xmlns:a="http://schemas.openxmlformats.org/drawingml/2006/main" lang="en-US" sz="3200" b="0" i="1">
                              <a:latin typeface="Cambria Math"/>
                              <a:ea typeface="Cambria Math"/>
                              <a:cs typeface="Cambria Math"/>
                            </a:rPr>
                            <m:t>2</m:t>
                          </m:r>
                        </m:sup>
                      </m:sSup>
                    </m:e>
                  </m:d>
                </m:oMath>
              </m:oMathPara>
            </a14:m>
            <a:endParaRPr sz="3200"/>
          </a:p>
        </p:txBody>
      </p:sp>
      <p:sp>
        <p:nvSpPr>
          <p:cNvPr id="23" name="TextBox 22">
            <a:extLst xmlns:a="http://schemas.openxmlformats.org/drawingml/2006/main">
              <a:ext uri="{FF2B5EF4-FFF2-40B4-BE49-F238E27FC236}">
                <a16:creationId xmlns:a16="http://schemas.microsoft.com/office/drawing/2014/main" id="{D0110793-65F7-A69D-26CA-2182A1C3FD12}"/>
              </a:ext>
            </a:extLst>
          </p:cNvPr>
          <p:cNvSpPr>
            <a:spLocks xmlns:a="http://schemas.openxmlformats.org/drawingml/2006/main" noGrp="1"/>
          </p:cNvSpPr>
          <p:nvPr/>
        </p:nvSpPr>
        <p:spPr>
          <a:xfrm xmlns:a="http://schemas.openxmlformats.org/drawingml/2006/main">
            <a:off x="4198970" y="2544091"/>
            <a:ext cx="7462825"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Absorbs both mean structure J</a:t>
            </a:r>
            <a:r>
              <a:t>0</a:t>
            </a:r>
            <a:r>
              <a:t> and motif corrections into one deterministic object</a:t>
            </a:r>
          </a:p>
        </p:txBody>
      </p:sp>
    </p:spTree>
    <p:extLst>
      <p:ext uri="{BB962C8B-B14F-4D97-AF65-F5344CB8AC3E}">
        <p14:creationId xmlns:p14="http://schemas.microsoft.com/office/powerpoint/2010/main" val="320005838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graphicFrame>
        <p:nvGraphicFramePr>
          <p:cNvPr id="65" name="Diagram 24"/>
          <p:cNvGraphicFramePr/>
          <p:nvPr/>
        </p:nvGraphicFramePr>
        <p:xfrm>
          <a:off xmlns:a="http://schemas.openxmlformats.org/drawingml/2006/main" x="7578111" y="1217051"/>
          <a:ext xmlns:a="http://schemas.openxmlformats.org/drawingml/2006/main" cx="3782462" cy="3961582"/>
        </p:xfrm>
        <a:graphic xmlns:a="http://schemas.openxmlformats.org/drawingml/2006/main">
          <a:graphicData uri="http://schemas.openxmlformats.org/drawingml/2006/diagram">
            <dgm:relIds xmlns:r="http://schemas.openxmlformats.org/officeDocument/2006/relationships" xmlns:dgm="http://schemas.openxmlformats.org/drawingml/2006/diagram" r:dm="R050e67f2203a4f7b" r:lo="R6592bb81b4bd49fa"/>
          </a:graphicData>
        </a:graphic>
      </p:graphicFrame>
      <p:pic>
        <p:nvPicPr>
          <p:cNvPr id="66"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976b1193cb714869"/>
          <a:stretch xmlns:a="http://schemas.openxmlformats.org/drawingml/2006/main">
            <a:fillRect l="0" t="0" r="0" b="0"/>
          </a:stretch>
        </p:blipFill>
        <p:spPr>
          <a:xfrm xmlns:a="http://schemas.openxmlformats.org/drawingml/2006/main">
            <a:off x="-14069" y="6192295"/>
            <a:ext cx="12206069" cy="690789"/>
          </a:xfrm>
        </p:spPr>
      </p:pic>
      <p:sp>
        <p:nvSpPr>
          <p:cNvPr id="8" name="Footer Placeholder 4">
            <a:extLst xmlns:a="http://schemas.openxmlformats.org/drawingml/2006/main">
              <a:ext uri="{FF2B5EF4-FFF2-40B4-BE49-F238E27FC236}">
                <a16:creationId xmlns:a16="http://schemas.microsoft.com/office/drawing/2014/main" id="{8DCC66B9-8AB6-C470-0762-A134FF83945D}"/>
              </a:ext>
            </a:extLst>
          </p:cNvPr>
          <p:cNvSpPr>
            <a:spLocks xmlns:a="http://schemas.openxmlformats.org/drawingml/2006/main" noGrp="1"/>
          </p:cNvSpPr>
          <p:nvPr>
            <p:ph type="ftr" idx="11"/>
          </p:nvPr>
        </p:nvSpPr>
        <p:spPr>
          <a:xfrm xmlns:a="http://schemas.openxmlformats.org/drawingml/2006/main" rot="16200000">
            <a:off x="10817434" y="4975433"/>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pPr algn="l">
              <a:buNone/>
            </a:pPr>
            <a:r>
              <a:rPr sz="1000"/>
              <a:t>GEORGE MASON UNIVERSITY</a:t>
            </a:r>
          </a:p>
        </p:txBody>
      </p:sp>
      <p:sp>
        <p:nvSpPr>
          <p:cNvPr id="9" name="Slide Number Placeholder 5">
            <a:extLst xmlns:a="http://schemas.openxmlformats.org/drawingml/2006/main">
              <a:ext uri="{FF2B5EF4-FFF2-40B4-BE49-F238E27FC236}">
                <a16:creationId xmlns:a16="http://schemas.microsoft.com/office/drawing/2014/main" id="{1FE9452E-7B16-B2EC-1633-FCA29308FE6C}"/>
              </a:ext>
            </a:extLst>
          </p:cNvPr>
          <p:cNvSpPr>
            <a:spLocks xmlns:a="http://schemas.openxmlformats.org/drawingml/2006/main" noGrp="1"/>
          </p:cNvSpPr>
          <p:nvPr>
            <p:ph type="sldNum" idx="12"/>
          </p:nvPr>
        </p:nvSpPr>
        <p:spPr>
          <a:xfrm xmlns:a="http://schemas.openxmlformats.org/drawingml/2006/main">
            <a:off x="116618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pPr algn="ctr">
              <a:buNone/>
            </a:pPr>
            <a:fld id="{944FE883-4AC6-394B-8129-6E4BB686DB20}" type="slidenum">
              <a:rPr>
                <a:solidFill>
                  <a:schemeClr val="bg1"/>
                </a:solidFill>
              </a:rPr>
              <a:t>8</a:t>
            </a:fld>
            <a:endParaRPr>
              <a:solidFill>
                <a:schemeClr val="bg1"/>
              </a:solidFill>
            </a:endParaRPr>
          </a:p>
        </p:txBody>
      </p:sp>
      <p:sp>
        <p:nvSpPr>
          <p:cNvPr id="11" name="Title 1">
            <a:extLst xmlns:a="http://schemas.openxmlformats.org/drawingml/2006/main">
              <a:ext uri="{FF2B5EF4-FFF2-40B4-BE49-F238E27FC236}">
                <a16:creationId xmlns:a16="http://schemas.microsoft.com/office/drawing/2014/main" id="{870E8EDA-3E78-0FFD-29E5-8C7D668D46CD}"/>
              </a:ext>
            </a:extLst>
          </p:cNvPr>
          <p:cNvSpPr>
            <a:spLocks xmlns:a="http://schemas.openxmlformats.org/drawingml/2006/main" noGrp="1"/>
          </p:cNvSpPr>
          <p:nvPr/>
        </p:nvSpPr>
        <p:spPr>
          <a:xfrm xmlns:a="http://schemas.openxmlformats.org/drawingml/2006/main">
            <a:off x="3629" y="2267"/>
            <a:ext cx="12188371"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r>
              <a:rPr>
                <a:solidFill>
                  <a:schemeClr val="tx2"/>
                </a:solidFill>
              </a:rPr>
              <a:t>Where Motifs Live: From Z to J</a:t>
            </a:r>
            <a:r>
              <a:rPr>
                <a:solidFill>
                  <a:schemeClr val="tx2"/>
                </a:solidFill>
              </a:rPr>
              <a:t>eff</a:t>
            </a:r>
            <a:endParaRPr/>
          </a:p>
        </p:txBody>
      </p:sp>
      <p:sp>
        <p:nvSpPr>
          <p:cNvPr id="30" name="TextBox 29">
            <a:extLst xmlns:a="http://schemas.openxmlformats.org/drawingml/2006/main">
              <a:ext uri="{FF2B5EF4-FFF2-40B4-BE49-F238E27FC236}">
                <a16:creationId xmlns:a16="http://schemas.microsoft.com/office/drawing/2014/main" id="{39B5C157-322F-2CB3-C085-78EEE3E9C6BD}"/>
              </a:ext>
            </a:extLst>
          </p:cNvPr>
          <p:cNvSpPr>
            <a:spLocks xmlns:a="http://schemas.openxmlformats.org/drawingml/2006/main" noGrp="1"/>
          </p:cNvSpPr>
          <p:nvPr/>
        </p:nvSpPr>
        <p:spPr>
          <a:xfrm xmlns:a="http://schemas.openxmlformats.org/drawingml/2006/main">
            <a:off x="360492" y="4672543"/>
            <a:ext cx="2930065" cy="584775"/>
          </a:xfrm>
          <a:prstGeom xmlns:a="http://schemas.openxmlformats.org/drawingml/2006/main" prst="rect">
            <a:avLst/>
          </a:prstGeom>
          <a:solidFill xmlns:a="http://schemas.openxmlformats.org/drawingml/2006/main">
            <a:schemeClr val="accent6"/>
          </a:solidFill>
        </p:spPr>
        <p:txBody>
          <a:bodyPr xmlns:a="http://schemas.openxmlformats.org/drawingml/2006/main" wrap="square" anchor="b">
            <a:spAutoFit/>
          </a:bodyPr>
          <a:lstStyle xmlns:a="http://schemas.openxmlformats.org/drawingml/2006/main"/>
          <a:p xmlns:a="http://schemas.openxmlformats.org/drawingml/2006/main">
            <a:pPr algn="ctr">
              <a:buNone/>
            </a:pPr>
            <a:r>
              <a:rPr sz="1600" b="1">
                <a:solidFill>
                  <a:schemeClr val="bg1"/>
                </a:solidFill>
              </a:rPr>
              <a:t>Motifs are encoded in ⟨Z²⟩, </a:t>
            </a:r>
          </a:p>
          <a:p xmlns:a="http://schemas.openxmlformats.org/drawingml/2006/main">
            <a:pPr algn="ctr">
              <a:buNone/>
            </a:pPr>
            <a:r>
              <a:rPr sz="1600">
                <a:solidFill>
                  <a:schemeClr val="bg1"/>
                </a:solidFill>
              </a:rPr>
              <a:t>not in Z itself</a:t>
            </a:r>
          </a:p>
        </p:txBody>
      </p:sp>
      <p:sp>
        <p:nvSpPr>
          <p:cNvPr id="59" name="TextBox 58">
            <a:extLst xmlns:a="http://schemas.openxmlformats.org/drawingml/2006/main">
              <a:ext uri="{FF2B5EF4-FFF2-40B4-BE49-F238E27FC236}">
                <a16:creationId xmlns:a16="http://schemas.microsoft.com/office/drawing/2014/main" id="{DECBFB6A-7569-6059-01E6-8EC16B3BF601}"/>
              </a:ext>
            </a:extLst>
          </p:cNvPr>
          <p:cNvSpPr>
            <a:spLocks xmlns:a="http://schemas.openxmlformats.org/drawingml/2006/main" noGrp="1"/>
          </p:cNvSpPr>
          <p:nvPr/>
        </p:nvSpPr>
        <p:spPr>
          <a:xfrm xmlns:a="http://schemas.openxmlformats.org/drawingml/2006/main">
            <a:off x="2997200" y="5181600"/>
            <a:ext cx="184731"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endParaRPr/>
          </a:p>
        </p:txBody>
      </p:sp>
      <p:graphicFrame>
        <p:nvGraphicFramePr>
          <p:cNvPr id="72" name="Diagram 22"/>
          <p:cNvGraphicFramePr/>
          <p:nvPr/>
        </p:nvGraphicFramePr>
        <p:xfrm>
          <a:off xmlns:a="http://schemas.openxmlformats.org/drawingml/2006/main" x="148120" y="1594938"/>
          <a:ext xmlns:a="http://schemas.openxmlformats.org/drawingml/2006/main" cx="3101289" cy="3487171"/>
        </p:xfrm>
        <a:graphic xmlns:a="http://schemas.openxmlformats.org/drawingml/2006/main">
          <a:graphicData uri="http://schemas.openxmlformats.org/drawingml/2006/diagram">
            <dgm:relIds xmlns:r="http://schemas.openxmlformats.org/officeDocument/2006/relationships" xmlns:dgm="http://schemas.openxmlformats.org/drawingml/2006/diagram" r:dm="Rcd6ef8b0549e43e3" r:lo="Re856ef30a57c4d57"/>
          </a:graphicData>
        </a:graphic>
      </p:graphicFrame>
      <p:sp>
        <p:nvSpPr>
          <p:cNvPr id="27" name="TextBox 26">
            <a:extLst xmlns:a="http://schemas.openxmlformats.org/drawingml/2006/main">
              <a:ext uri="{FF2B5EF4-FFF2-40B4-BE49-F238E27FC236}">
                <a16:creationId xmlns:a16="http://schemas.microsoft.com/office/drawing/2014/main" id="{0D5AD644-B85E-E4C2-741E-ABD1E5437E84}"/>
              </a:ext>
            </a:extLst>
          </p:cNvPr>
          <p:cNvSpPr>
            <a:spLocks xmlns:a="http://schemas.openxmlformats.org/drawingml/2006/main" noGrp="1"/>
          </p:cNvSpPr>
          <p:nvPr/>
        </p:nvSpPr>
        <p:spPr>
          <a:xfrm xmlns:a="http://schemas.openxmlformats.org/drawingml/2006/main" rot="0" flipH="0" flipV="0">
            <a:off x="4109826" y="1433292"/>
            <a:ext cx="2985177" cy="113877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spAutoFit/>
          </a:bodyPr>
          <a:lstStyle xmlns:a="http://schemas.openxmlformats.org/drawingml/2006/main"/>
          <a:p xmlns:a="http://schemas.openxmlformats.org/drawingml/2006/main">
            <a:pPr algn="ctr">
              <a:buNone/>
            </a:pPr>
            <a:r>
              <a:rPr b="1"/>
              <a:t>Z averages out</a:t>
            </a:r>
          </a:p>
          <a:p xmlns:a="http://schemas.openxmlformats.org/drawingml/2006/main">
            <a:pPr algn="ctr">
              <a:buNone/>
            </a:pPr>
            <a:endParaRPr sz="800" i="1"/>
          </a:p>
          <a:p xmlns:a="http://schemas.openxmlformats.org/drawingml/2006/main">
            <a:pPr algn="ctr">
              <a:buNone/>
            </a:pPr>
            <a:r>
              <a:rPr sz="1200"/>
              <a:t>⬆️</a:t>
            </a:r>
            <a:r>
              <a:t> </a:t>
            </a:r>
            <a:r>
              <a:rPr sz="2800"/>
              <a:t>⬇️</a:t>
            </a:r>
            <a:r>
              <a:t> </a:t>
            </a:r>
            <a:r>
              <a:rPr sz="2000"/>
              <a:t>⬆️</a:t>
            </a:r>
            <a:r>
              <a:t> </a:t>
            </a:r>
            <a:r>
              <a:rPr sz="1400"/>
              <a:t>⬇️</a:t>
            </a:r>
            <a:r>
              <a:t> ⬆️ = 0</a:t>
            </a:r>
          </a:p>
          <a:p xmlns:a="http://schemas.openxmlformats.org/drawingml/2006/main">
            <a:pPr algn="ctr">
              <a:buNone/>
            </a:pPr>
            <a:r>
              <a:rPr sz="1400" i="1"/>
              <a:t>random wires cancel out</a:t>
            </a:r>
          </a:p>
        </p:txBody>
      </p:sp>
      <p:sp>
        <p:nvSpPr>
          <p:cNvPr id="32" name="TextBox 31">
            <a:extLst xmlns:a="http://schemas.openxmlformats.org/drawingml/2006/main">
              <a:ext uri="{FF2B5EF4-FFF2-40B4-BE49-F238E27FC236}">
                <a16:creationId xmlns:a16="http://schemas.microsoft.com/office/drawing/2014/main" id="{1A731435-8DD5-CF36-6A0A-489CC9BF1B0E}"/>
              </a:ext>
            </a:extLst>
          </p:cNvPr>
          <p:cNvSpPr>
            <a:spLocks xmlns:a="http://schemas.openxmlformats.org/drawingml/2006/main" noGrp="1"/>
          </p:cNvSpPr>
          <p:nvPr/>
        </p:nvSpPr>
        <p:spPr>
          <a:xfrm xmlns:a="http://schemas.openxmlformats.org/drawingml/2006/main" rot="0" flipH="0" flipV="0">
            <a:off x="4129316" y="3309061"/>
            <a:ext cx="2985182" cy="16927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spAutoFit/>
          </a:bodyPr>
          <a:lstStyle xmlns:a="http://schemas.openxmlformats.org/drawingml/2006/main"/>
          <a:p xmlns:a="http://schemas.openxmlformats.org/drawingml/2006/main">
            <a:pPr algn="ctr">
              <a:buNone/>
            </a:pPr>
            <a:r>
              <a:rPr b="1"/>
              <a:t>⟨Z²⟩ survives</a:t>
            </a:r>
          </a:p>
          <a:p xmlns:a="http://schemas.openxmlformats.org/drawingml/2006/main">
            <a:pPr algn="ctr">
              <a:buNone/>
            </a:pPr>
            <a:endParaRPr/>
          </a:p>
          <a:p xmlns:a="http://schemas.openxmlformats.org/drawingml/2006/main">
            <a:pPr algn="ctr">
              <a:buNone/>
            </a:pPr>
            <a:endParaRPr/>
          </a:p>
          <a:p xmlns:a="http://schemas.openxmlformats.org/drawingml/2006/main">
            <a:pPr algn="ctr">
              <a:buNone/>
            </a:pPr>
            <a:endParaRPr/>
          </a:p>
          <a:p xmlns:a="http://schemas.openxmlformats.org/drawingml/2006/main">
            <a:pPr algn="ctr">
              <a:buNone/>
            </a:pPr>
            <a:endParaRPr/>
          </a:p>
          <a:p xmlns:a="http://schemas.openxmlformats.org/drawingml/2006/main">
            <a:pPr algn="ctr">
              <a:buNone/>
            </a:pPr>
            <a:r>
              <a:rPr sz="1400" i="1"/>
              <a:t>correlated pairs don’t cancel</a:t>
            </a:r>
          </a:p>
        </p:txBody>
      </p:sp>
      <p:sp>
        <p:nvSpPr>
          <p:cNvPr id="33" name="Oval 32">
            <a:extLst xmlns:a="http://schemas.openxmlformats.org/drawingml/2006/main">
              <a:ext uri="{FF2B5EF4-FFF2-40B4-BE49-F238E27FC236}">
                <a16:creationId xmlns:a16="http://schemas.microsoft.com/office/drawing/2014/main" id="{2EAD2D91-8B26-3A61-FC41-9A71AF5F8561}"/>
              </a:ext>
            </a:extLst>
          </p:cNvPr>
          <p:cNvSpPr>
            <a:spLocks xmlns:a="http://schemas.openxmlformats.org/drawingml/2006/main" noGrp="1"/>
          </p:cNvSpPr>
          <p:nvPr/>
        </p:nvSpPr>
        <p:spPr>
          <a:xfrm xmlns:a="http://schemas.openxmlformats.org/drawingml/2006/main" rot="0" flipH="0" flipV="0">
            <a:off x="4492162" y="4198871"/>
            <a:ext cx="447249" cy="431718"/>
          </a:xfrm>
          <a:prstGeom xmlns:a="http://schemas.openxmlformats.org/drawingml/2006/main" prst="ellipse">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Oval 33">
            <a:extLst xmlns:a="http://schemas.openxmlformats.org/drawingml/2006/main">
              <a:ext uri="{FF2B5EF4-FFF2-40B4-BE49-F238E27FC236}">
                <a16:creationId xmlns:a16="http://schemas.microsoft.com/office/drawing/2014/main" id="{2F8DDAD2-7019-CCC0-9BDE-2040B8BC848C}"/>
              </a:ext>
            </a:extLst>
          </p:cNvPr>
          <p:cNvSpPr>
            <a:spLocks xmlns:a="http://schemas.openxmlformats.org/drawingml/2006/main" noGrp="1"/>
          </p:cNvSpPr>
          <p:nvPr/>
        </p:nvSpPr>
        <p:spPr>
          <a:xfrm xmlns:a="http://schemas.openxmlformats.org/drawingml/2006/main" rot="0" flipH="0" flipV="0">
            <a:off x="5385026" y="3788113"/>
            <a:ext cx="434779" cy="431718"/>
          </a:xfrm>
          <a:prstGeom xmlns:a="http://schemas.openxmlformats.org/drawingml/2006/main" prst="ellipse">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Oval 34">
            <a:extLst xmlns:a="http://schemas.openxmlformats.org/drawingml/2006/main">
              <a:ext uri="{FF2B5EF4-FFF2-40B4-BE49-F238E27FC236}">
                <a16:creationId xmlns:a16="http://schemas.microsoft.com/office/drawing/2014/main" id="{A510F0CF-66F4-9EDA-396F-A2329F02F17F}"/>
              </a:ext>
            </a:extLst>
          </p:cNvPr>
          <p:cNvSpPr>
            <a:spLocks xmlns:a="http://schemas.openxmlformats.org/drawingml/2006/main" noGrp="1"/>
          </p:cNvSpPr>
          <p:nvPr/>
        </p:nvSpPr>
        <p:spPr>
          <a:xfrm xmlns:a="http://schemas.openxmlformats.org/drawingml/2006/main" rot="0" flipH="0" flipV="0">
            <a:off x="6228203" y="4198871"/>
            <a:ext cx="447249" cy="431718"/>
          </a:xfrm>
          <a:prstGeom xmlns:a="http://schemas.openxmlformats.org/drawingml/2006/main" prst="ellipse">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cxnSp>
        <p:nvCxnSpPr>
          <p:cNvPr id="78" name="Straight Arrow Connector 36"/>
          <p:cNvCxnSpPr>
            <a:stCxn xmlns:a="http://schemas.openxmlformats.org/drawingml/2006/main" id="33" idx="7"/>
            <a:endCxn xmlns:a="http://schemas.openxmlformats.org/drawingml/2006/main" id="34" idx="2"/>
          </p:cNvCxnSpPr>
          <p:nvPr/>
        </p:nvCxnSpPr>
        <p:spPr>
          <a:xfrm xmlns:a="http://schemas.openxmlformats.org/drawingml/2006/main" rot="0" flipH="0" flipV="1">
            <a:off x="4873913" y="4003972"/>
            <a:ext cx="511113" cy="258123"/>
          </a:xfrm>
          <a:prstGeom xmlns:a="http://schemas.openxmlformats.org/drawingml/2006/main" prst="straightConnector1">
            <a:avLst/>
          </a:prstGeom>
          <a:ln xmlns:a="http://schemas.openxmlformats.org/drawingml/2006/main">
            <a:solidFill>
              <a:schemeClr val="tx1"/>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79" name="Straight Arrow Connector 38"/>
          <p:cNvCxnSpPr>
            <a:stCxn xmlns:a="http://schemas.openxmlformats.org/drawingml/2006/main" id="34" idx="6"/>
            <a:endCxn xmlns:a="http://schemas.openxmlformats.org/drawingml/2006/main" id="35" idx="1"/>
          </p:cNvCxnSpPr>
          <p:nvPr/>
        </p:nvCxnSpPr>
        <p:spPr>
          <a:xfrm xmlns:a="http://schemas.openxmlformats.org/drawingml/2006/main" rot="0" flipH="0" flipV="0">
            <a:off x="5819805" y="4003972"/>
            <a:ext cx="473896" cy="258123"/>
          </a:xfrm>
          <a:prstGeom xmlns:a="http://schemas.openxmlformats.org/drawingml/2006/main" prst="straightConnector1">
            <a:avLst/>
          </a:prstGeom>
          <a:ln xmlns:a="http://schemas.openxmlformats.org/drawingml/2006/main">
            <a:solidFill>
              <a:schemeClr val="tx1"/>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2" name="TextBox 11">
            <a:extLst xmlns:a="http://schemas.openxmlformats.org/drawingml/2006/main">
              <a:ext uri="{FF2B5EF4-FFF2-40B4-BE49-F238E27FC236}">
                <a16:creationId xmlns:a16="http://schemas.microsoft.com/office/drawing/2014/main" id="{B083890E-99B5-EED6-B8F3-A5B35922F2BD}"/>
              </a:ext>
            </a:extLst>
          </p:cNvPr>
          <p:cNvSpPr>
            <a:spLocks xmlns:a="http://schemas.openxmlformats.org/drawingml/2006/main" noGrp="1"/>
          </p:cNvSpPr>
          <p:nvPr/>
        </p:nvSpPr>
        <p:spPr>
          <a:xfrm xmlns:a="http://schemas.openxmlformats.org/drawingml/2006/main" rot="0" flipH="0" flipV="0">
            <a:off x="4758169" y="2543703"/>
            <a:ext cx="1675748" cy="2308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900" i="1"/>
              <a:t>1</a:t>
            </a:r>
            <a:r>
              <a:rPr sz="900"/>
              <a:t>°</a:t>
            </a:r>
            <a:r>
              <a:rPr sz="900" i="1"/>
              <a:t> order = average of values</a:t>
            </a:r>
          </a:p>
        </p:txBody>
      </p:sp>
      <p:sp>
        <p:nvSpPr>
          <p:cNvPr id="17" name="TextBox 16">
            <a:extLst xmlns:a="http://schemas.openxmlformats.org/drawingml/2006/main">
              <a:ext uri="{FF2B5EF4-FFF2-40B4-BE49-F238E27FC236}">
                <a16:creationId xmlns:a16="http://schemas.microsoft.com/office/drawing/2014/main" id="{A8359A4A-D934-4057-E8C7-36EB3D440C9D}"/>
              </a:ext>
            </a:extLst>
          </p:cNvPr>
          <p:cNvSpPr>
            <a:spLocks xmlns:a="http://schemas.openxmlformats.org/drawingml/2006/main" noGrp="1"/>
          </p:cNvSpPr>
          <p:nvPr/>
        </p:nvSpPr>
        <p:spPr>
          <a:xfrm xmlns:a="http://schemas.openxmlformats.org/drawingml/2006/main" rot="0" flipH="0" flipV="0">
            <a:off x="4154716" y="5012921"/>
            <a:ext cx="2882654" cy="2308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900" i="1"/>
              <a:t>2</a:t>
            </a:r>
            <a:r>
              <a:rPr sz="900"/>
              <a:t>°</a:t>
            </a:r>
            <a:r>
              <a:rPr sz="900" i="1"/>
              <a:t> order = average</a:t>
            </a:r>
            <a:r>
              <a:rPr sz="900" b="1" i="1"/>
              <a:t> </a:t>
            </a:r>
            <a:r>
              <a:rPr sz="900" i="1"/>
              <a:t>of squared values</a:t>
            </a:r>
            <a:endParaRPr sz="900" b="1"/>
          </a:p>
        </p:txBody>
      </p:sp>
      <p:cxnSp>
        <p:nvCxnSpPr>
          <p:cNvPr id="82" name="Straight Arrow Connector 21"/>
          <p:cNvCxnSpPr>
            <a:endCxn xmlns:a="http://schemas.openxmlformats.org/drawingml/2006/main" id="32" idx="0"/>
          </p:cNvCxnSpPr>
          <p:nvPr/>
        </p:nvCxnSpPr>
        <p:spPr>
          <a:xfrm xmlns:a="http://schemas.openxmlformats.org/drawingml/2006/main" rot="0" flipH="0" flipV="0">
            <a:off x="5621904" y="2850717"/>
            <a:ext cx="3" cy="458344"/>
          </a:xfrm>
          <a:prstGeom xmlns:a="http://schemas.openxmlformats.org/drawingml/2006/main" prst="straightConnector1">
            <a:avLst/>
          </a:prstGeom>
          <a:ln xmlns:a="http://schemas.openxmlformats.org/drawingml/2006/main" w="9525">
            <a:solidFill>
              <a:schemeClr val="tx1"/>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24" name="TextBox 23">
            <a:extLst xmlns:a="http://schemas.openxmlformats.org/drawingml/2006/main">
              <a:ext uri="{FF2B5EF4-FFF2-40B4-BE49-F238E27FC236}">
                <a16:creationId xmlns:a16="http://schemas.microsoft.com/office/drawing/2014/main" id="{2E847C7D-2646-801C-082D-44E6F7621123}"/>
              </a:ext>
            </a:extLst>
          </p:cNvPr>
          <p:cNvSpPr>
            <a:spLocks xmlns:a="http://schemas.openxmlformats.org/drawingml/2006/main" noGrp="1"/>
          </p:cNvSpPr>
          <p:nvPr/>
        </p:nvSpPr>
        <p:spPr>
          <a:xfrm xmlns:a="http://schemas.openxmlformats.org/drawingml/2006/main" rot="0" flipH="0" flipV="0">
            <a:off x="5404113" y="2973768"/>
            <a:ext cx="1158024"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200" i="1"/>
              <a:t>square it</a:t>
            </a:r>
          </a:p>
        </p:txBody>
      </p:sp>
      <p:sp>
        <p:nvSpPr>
          <p:cNvPr id="41" name="Right Brace 40">
            <a:extLst xmlns:a="http://schemas.openxmlformats.org/drawingml/2006/main">
              <a:ext uri="{FF2B5EF4-FFF2-40B4-BE49-F238E27FC236}">
                <a16:creationId xmlns:a16="http://schemas.microsoft.com/office/drawing/2014/main" id="{379CB5E8-CD59-5EEB-3449-1DD3E9DDAAFD}"/>
              </a:ext>
            </a:extLst>
          </p:cNvPr>
          <p:cNvSpPr>
            <a:spLocks xmlns:a="http://schemas.openxmlformats.org/drawingml/2006/main" noGrp="1"/>
          </p:cNvSpPr>
          <p:nvPr/>
        </p:nvSpPr>
        <p:spPr>
          <a:xfrm xmlns:a="http://schemas.openxmlformats.org/drawingml/2006/main">
            <a:off x="3275487" y="2801821"/>
            <a:ext cx="1556924" cy="1692771"/>
          </a:xfrm>
          <a:prstGeom xmlns:a="http://schemas.openxmlformats.org/drawingml/2006/main" prst="rightBrace">
            <a:avLst>
              <a:gd name="adj1" fmla="val 8333"/>
              <a:gd name="adj2" fmla="val 42664"/>
            </a:avLst>
          </a:prstGeom>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6" name="Left Brace 55">
            <a:extLst xmlns:a="http://schemas.openxmlformats.org/drawingml/2006/main">
              <a:ext uri="{FF2B5EF4-FFF2-40B4-BE49-F238E27FC236}">
                <a16:creationId xmlns:a16="http://schemas.microsoft.com/office/drawing/2014/main" id="{BE97BCAA-F8AD-DBBE-2557-D9512D5A3C98}"/>
              </a:ext>
            </a:extLst>
          </p:cNvPr>
          <p:cNvSpPr>
            <a:spLocks xmlns:a="http://schemas.openxmlformats.org/drawingml/2006/main" noGrp="1"/>
          </p:cNvSpPr>
          <p:nvPr/>
        </p:nvSpPr>
        <p:spPr>
          <a:xfrm xmlns:a="http://schemas.openxmlformats.org/drawingml/2006/main">
            <a:off x="6460460" y="2033722"/>
            <a:ext cx="1635640" cy="2843078"/>
          </a:xfrm>
          <a:prstGeom xmlns:a="http://schemas.openxmlformats.org/drawingml/2006/main" prst="leftBrace">
            <a:avLst>
              <a:gd name="adj1" fmla="val 8333"/>
              <a:gd name="adj2" fmla="val 51168"/>
            </a:avLst>
          </a:prstGeom>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1" name="TextBox 60">
            <a:extLst xmlns:a="http://schemas.openxmlformats.org/drawingml/2006/main">
              <a:ext uri="{FF2B5EF4-FFF2-40B4-BE49-F238E27FC236}">
                <a16:creationId xmlns:a16="http://schemas.microsoft.com/office/drawing/2014/main" id="{B3A057F8-9C9E-5C0B-5957-25A2E5FA52B7}"/>
              </a:ext>
            </a:extLst>
          </p:cNvPr>
          <p:cNvSpPr>
            <a:spLocks xmlns:a="http://schemas.openxmlformats.org/drawingml/2006/main" noGrp="1"/>
          </p:cNvSpPr>
          <p:nvPr/>
        </p:nvSpPr>
        <p:spPr>
          <a:xfrm xmlns:a="http://schemas.openxmlformats.org/drawingml/2006/main">
            <a:off x="2820585" y="5541199"/>
            <a:ext cx="6220178" cy="74885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lvl="0" algn="ctr">
              <a:buNone/>
            </a:pPr>
            <a:r>
              <a:rPr sz="2400" b="1"/>
              <a:t>The Effective Matrix:  </a:t>
            </a:r>
            <a14:m xmlns:a14="http://schemas.microsoft.com/office/drawing/2010/main">
              <m:oMathPara xmlns:m="http://schemas.openxmlformats.org/officeDocument/2006/math">
                <m:oMath>
                  <m:sSup>
                    <m:e>
                      <m:r>
                        <a:rPr xmlns:a="http://schemas.openxmlformats.org/drawingml/2006/main" lang="en-US" sz="2400" b="0" i="1">
                          <a:latin typeface="Cambria Math"/>
                          <a:ea typeface="Cambria Math"/>
                          <a:cs typeface="Cambria Math"/>
                        </a:rPr>
                        <m:t>𝐽</m:t>
                      </m:r>
                    </m:e>
                    <m:sup>
                      <m:r>
                        <a:rPr xmlns:a="http://schemas.openxmlformats.org/drawingml/2006/main" lang="en-US" sz="2400" b="0" i="1">
                          <a:latin typeface="Cambria Math"/>
                          <a:ea typeface="Cambria Math"/>
                          <a:cs typeface="Cambria Math"/>
                        </a:rPr>
                        <m:t>𝑒𝑓𝑓</m:t>
                      </m:r>
                    </m:sup>
                  </m:sSup>
                  <m:r>
                    <a:rPr xmlns:a="http://schemas.openxmlformats.org/drawingml/2006/main" lang="en-US" sz="2400" b="0" i="1">
                      <a:latin typeface="Cambria Math"/>
                      <a:ea typeface="Cambria Math"/>
                      <a:cs typeface="Cambria Math"/>
                    </a:rPr>
                    <m:t>=</m:t>
                  </m:r>
                  <m:sSup>
                    <m:e>
                      <m:r>
                        <a:rPr xmlns:a="http://schemas.openxmlformats.org/drawingml/2006/main" lang="en-US" sz="2400" b="0" i="1">
                          <a:latin typeface="Cambria Math"/>
                          <a:ea typeface="Cambria Math"/>
                          <a:cs typeface="Cambria Math"/>
                        </a:rPr>
                        <m:t>𝐽</m:t>
                      </m:r>
                    </m:e>
                    <m:sup>
                      <m:r>
                        <a:rPr xmlns:a="http://schemas.openxmlformats.org/drawingml/2006/main" lang="en-US" sz="2400" b="0" i="1">
                          <a:latin typeface="Cambria Math"/>
                          <a:ea typeface="Cambria Math"/>
                          <a:cs typeface="Cambria Math"/>
                        </a:rPr>
                        <m:t>0</m:t>
                      </m:r>
                    </m:sup>
                  </m:sSup>
                  <m:r>
                    <a:rPr xmlns:a="http://schemas.openxmlformats.org/drawingml/2006/main" lang="en-US" sz="2400" b="0" i="1">
                      <a:latin typeface="Cambria Math"/>
                      <a:ea typeface="Cambria Math"/>
                      <a:cs typeface="Cambria Math"/>
                    </a:rPr>
                    <m:t>+</m:t>
                  </m:r>
                  <m:d>
                    <m:dPr>
                      <m:begChr m:val="⟨"/>
                      <m:endChr m:val="⟩"/>
                      <m:grow m:val="off"/>
                    </m:dPr>
                    <m:e>
                      <m:sSup>
                        <m:e>
                          <m:r>
                            <a:rPr xmlns:a="http://schemas.openxmlformats.org/drawingml/2006/main" lang="en-US" sz="2400" b="0" i="1">
                              <a:latin typeface="Cambria Math"/>
                              <a:ea typeface="Cambria Math"/>
                              <a:cs typeface="Cambria Math"/>
                            </a:rPr>
                            <m:t>𝑍</m:t>
                          </m:r>
                        </m:e>
                        <m:sup>
                          <m:r>
                            <a:rPr xmlns:a="http://schemas.openxmlformats.org/drawingml/2006/main" lang="en-US" sz="2400" b="0" i="1">
                              <a:latin typeface="Cambria Math"/>
                              <a:ea typeface="Cambria Math"/>
                              <a:cs typeface="Cambria Math"/>
                            </a:rPr>
                            <m:t>2</m:t>
                          </m:r>
                        </m:sup>
                      </m:sSup>
                    </m:e>
                  </m:d>
                </m:oMath>
              </m:oMathPara>
            </a14:m>
            <a:endParaRPr sz="2400"/>
          </a:p>
          <a:p xmlns:a="http://schemas.openxmlformats.org/drawingml/2006/main">
            <a:pPr lvl="0" algn="ctr">
              <a:buNone/>
            </a:pPr>
            <a:endParaRPr b="1"/>
          </a:p>
        </p:txBody>
      </p:sp>
    </p:spTree>
    <p:extLst>
      <p:ext uri="{BB962C8B-B14F-4D97-AF65-F5344CB8AC3E}">
        <p14:creationId xmlns:p14="http://schemas.microsoft.com/office/powerpoint/2010/main" val="90193006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8" name="Picture 13"/>
          <p:cNvPicPr>
            <a:picLocks xmlns:a="http://schemas.openxmlformats.org/drawingml/2006/main" noChangeAspect="1"/>
          </p:cNvPicPr>
          <p:nvPr/>
        </p:nvPicPr>
        <p:blipFill>
          <a:blip xmlns:r="http://schemas.openxmlformats.org/officeDocument/2006/relationships" xmlns:a="http://schemas.openxmlformats.org/drawingml/2006/main" r:embed="Rfbd7b43849f944e9"/>
          <a:stretch xmlns:a="http://schemas.openxmlformats.org/drawingml/2006/main">
            <a:fillRect l="0" t="0" r="0" b="0"/>
          </a:stretch>
        </p:blipFill>
        <p:spPr>
          <a:xfrm xmlns:a="http://schemas.openxmlformats.org/drawingml/2006/main">
            <a:off x="5083025" y="2043290"/>
            <a:ext cx="5715391" cy="3750019"/>
          </a:xfrm>
          <a:prstGeom xmlns:a="http://schemas.openxmlformats.org/drawingml/2006/main" prst="rect">
            <a:avLst/>
          </a:prstGeom>
        </p:spPr>
      </p:pic>
      <p:pic>
        <p:nvPicPr>
          <p:cNvPr id="19"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bda52a963a3f4690"/>
          <a:stretch xmlns:a="http://schemas.openxmlformats.org/drawingml/2006/main">
            <a:fillRect l="0" t="0" r="0" b="0"/>
          </a:stretch>
        </p:blipFill>
        <p:spPr>
          <a:xfrm xmlns:a="http://schemas.openxmlformats.org/drawingml/2006/main">
            <a:off x="-14069" y="6192295"/>
            <a:ext cx="12206069" cy="690789"/>
          </a:xfrm>
        </p:spPr>
      </p:pic>
      <p:sp>
        <p:nvSpPr>
          <p:cNvPr id="8" name="Footer Placeholder 4">
            <a:extLst xmlns:a="http://schemas.openxmlformats.org/drawingml/2006/main">
              <a:ext uri="{FF2B5EF4-FFF2-40B4-BE49-F238E27FC236}">
                <a16:creationId xmlns:a16="http://schemas.microsoft.com/office/drawing/2014/main" id="{9C3B62A8-F80B-89B5-8AFE-A76008DE5D55}"/>
              </a:ext>
            </a:extLst>
          </p:cNvPr>
          <p:cNvSpPr>
            <a:spLocks xmlns:a="http://schemas.openxmlformats.org/drawingml/2006/main" noGrp="1"/>
          </p:cNvSpPr>
          <p:nvPr>
            <p:ph type="ftr" idx="11"/>
          </p:nvPr>
        </p:nvSpPr>
        <p:spPr>
          <a:xfrm xmlns:a="http://schemas.openxmlformats.org/drawingml/2006/main" rot="16200000">
            <a:off x="10817434" y="4975433"/>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pPr algn="l">
              <a:buNone/>
            </a:pPr>
            <a:r>
              <a:rPr sz="1000"/>
              <a:t>GEORGE MASON UNIVERSITY</a:t>
            </a:r>
          </a:p>
        </p:txBody>
      </p:sp>
      <p:sp>
        <p:nvSpPr>
          <p:cNvPr id="9" name="Slide Number Placeholder 5">
            <a:extLst xmlns:a="http://schemas.openxmlformats.org/drawingml/2006/main">
              <a:ext uri="{FF2B5EF4-FFF2-40B4-BE49-F238E27FC236}">
                <a16:creationId xmlns:a16="http://schemas.microsoft.com/office/drawing/2014/main" id="{9716E906-7E69-A19E-24E6-3B3E5FD22973}"/>
              </a:ext>
            </a:extLst>
          </p:cNvPr>
          <p:cNvSpPr>
            <a:spLocks xmlns:a="http://schemas.openxmlformats.org/drawingml/2006/main" noGrp="1"/>
          </p:cNvSpPr>
          <p:nvPr>
            <p:ph type="sldNum" idx="12"/>
          </p:nvPr>
        </p:nvSpPr>
        <p:spPr>
          <a:xfrm xmlns:a="http://schemas.openxmlformats.org/drawingml/2006/main">
            <a:off x="116618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pPr algn="ctr">
              <a:buNone/>
            </a:pPr>
            <a:fld id="{944FE883-4AC6-394B-8129-6E4BB686DB20}" type="slidenum">
              <a:rPr>
                <a:solidFill>
                  <a:schemeClr val="bg1"/>
                </a:solidFill>
              </a:rPr>
              <a:t>9</a:t>
            </a:fld>
            <a:endParaRPr>
              <a:solidFill>
                <a:schemeClr val="bg1"/>
              </a:solidFill>
            </a:endParaRPr>
          </a:p>
        </p:txBody>
      </p:sp>
      <p:sp>
        <p:nvSpPr>
          <p:cNvPr id="11" name="Title 1">
            <a:extLst xmlns:a="http://schemas.openxmlformats.org/drawingml/2006/main">
              <a:ext uri="{FF2B5EF4-FFF2-40B4-BE49-F238E27FC236}">
                <a16:creationId xmlns:a16="http://schemas.microsoft.com/office/drawing/2014/main" id="{44927B93-CE68-2D8B-5FB7-6558AB6DC318}"/>
              </a:ext>
            </a:extLst>
          </p:cNvPr>
          <p:cNvSpPr>
            <a:spLocks xmlns:a="http://schemas.openxmlformats.org/drawingml/2006/main" noGrp="1"/>
          </p:cNvSpPr>
          <p:nvPr/>
        </p:nvSpPr>
        <p:spPr>
          <a:xfrm xmlns:a="http://schemas.openxmlformats.org/drawingml/2006/main">
            <a:off x="3629" y="2267"/>
            <a:ext cx="12188371"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r>
              <a:rPr>
                <a:solidFill>
                  <a:schemeClr val="tx2"/>
                </a:solidFill>
              </a:rPr>
              <a:t>Paradoxical Response: More is Less</a:t>
            </a:r>
          </a:p>
        </p:txBody>
      </p:sp>
      <p:sp>
        <p:nvSpPr>
          <p:cNvPr id="3" name="Content Placeholder 5">
            <a:extLst xmlns:a="http://schemas.openxmlformats.org/drawingml/2006/main">
              <a:ext uri="{FF2B5EF4-FFF2-40B4-BE49-F238E27FC236}">
                <a16:creationId xmlns:a16="http://schemas.microsoft.com/office/drawing/2014/main" id="{8F76C1C1-E6F8-6C00-4D88-68EA0F3D567C}"/>
              </a:ext>
            </a:extLst>
          </p:cNvPr>
          <p:cNvSpPr>
            <a:spLocks xmlns:a="http://schemas.openxmlformats.org/drawingml/2006/main" noGrp="1"/>
          </p:cNvSpPr>
          <p:nvPr/>
        </p:nvSpPr>
        <p:spPr>
          <a:xfrm xmlns:a="http://schemas.openxmlformats.org/drawingml/2006/main">
            <a:off x="380610" y="1150654"/>
            <a:ext cx="11281190" cy="892636"/>
          </a:xfrm>
          <a:prstGeom xmlns:a="http://schemas.openxmlformats.org/drawingml/2006/main" prst="rect">
            <a:avLst/>
          </a:prstGeom>
        </p:spPr>
        <p:txBody>
          <a:bodyPr xmlns:a="http://schemas.openxmlformats.org/drawingml/2006/main" vert="horz" lIns="91440" tIns="45720" rIns="91440" bIns="45720" anchor="t">
            <a:normAutofit/>
          </a:bodyPr>
          <a:lstStyle xmlns:a="http://schemas.openxmlformats.org/drawingml/2006/main">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ctr">
              <a:buNone/>
            </a:pPr>
            <a:r>
              <a:rPr sz="2000"/>
              <a:t>In networks with high chain motifs, telling the Brakes to work harder makes them shut down</a:t>
            </a:r>
          </a:p>
          <a:p xmlns:a="http://schemas.openxmlformats.org/drawingml/2006/main">
            <a:pPr marL="0" indent="0" algn="ctr">
              <a:buNone/>
            </a:pPr>
            <a:r>
              <a:rPr sz="2000"/>
              <a:t>More inhibition → less inhibition (sometimes)</a:t>
            </a:r>
          </a:p>
        </p:txBody>
      </p:sp>
      <p:sp>
        <p:nvSpPr>
          <p:cNvPr id="5" name="Content Placeholder 5">
            <a:extLst xmlns:a="http://schemas.openxmlformats.org/drawingml/2006/main">
              <a:ext uri="{FF2B5EF4-FFF2-40B4-BE49-F238E27FC236}">
                <a16:creationId xmlns:a16="http://schemas.microsoft.com/office/drawing/2014/main" id="{8EA27D2A-83BA-B627-4B40-AF9600BF19A0}"/>
              </a:ext>
            </a:extLst>
          </p:cNvPr>
          <p:cNvSpPr>
            <a:spLocks xmlns:a="http://schemas.openxmlformats.org/drawingml/2006/main" noGrp="1"/>
          </p:cNvSpPr>
          <p:nvPr/>
        </p:nvSpPr>
        <p:spPr>
          <a:xfrm xmlns:a="http://schemas.openxmlformats.org/drawingml/2006/main">
            <a:off x="373575" y="2043291"/>
            <a:ext cx="5715390" cy="4481870"/>
          </a:xfrm>
          <a:prstGeom xmlns:a="http://schemas.openxmlformats.org/drawingml/2006/main" prst="rect">
            <a:avLst/>
          </a:prstGeom>
        </p:spPr>
        <p:txBody>
          <a:bodyPr xmlns:a="http://schemas.openxmlformats.org/drawingml/2006/main" vert="horz" lIns="91440" tIns="45720" rIns="91440" bIns="45720" anchor="t">
            <a:normAutofit/>
          </a:bodyPr>
          <a:lstStyle xmlns:a="http://schemas.openxmlformats.org/drawingml/2006/main">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buNone/>
            </a:pPr>
            <a:r>
              <a:rPr sz="2000" b="1"/>
              <a:t>Need these conditions:</a:t>
            </a:r>
          </a:p>
          <a:p xmlns:a="http://schemas.openxmlformats.org/drawingml/2006/main">
            <a:pPr marL="0" indent="0">
              <a:buNone/>
            </a:pPr>
            <a:r>
              <a:rPr sz="2000" b="1"/>
              <a:t>Inhibition-stabilized networks (ISN)</a:t>
            </a:r>
          </a:p>
          <a:p xmlns:a="http://schemas.openxmlformats.org/drawingml/2006/main">
            <a:pPr>
              <a:buFontTx/>
              <a:buChar char="-"/>
            </a:pPr>
            <a:r>
              <a:rPr sz="2000"/>
              <a:t>Inhibition becomes load-bearing </a:t>
            </a:r>
          </a:p>
          <a:p xmlns:a="http://schemas.openxmlformats.org/drawingml/2006/main">
            <a:pPr>
              <a:buFontTx/>
              <a:buChar char="-"/>
            </a:pPr>
            <a:r>
              <a:rPr sz="2000"/>
              <a:t>Only E signals activate I neurons</a:t>
            </a:r>
          </a:p>
          <a:p xmlns:a="http://schemas.openxmlformats.org/drawingml/2006/main">
            <a:pPr>
              <a:buFontTx/>
              <a:buChar char="-"/>
            </a:pPr>
            <a:endParaRPr sz="2000"/>
          </a:p>
          <a:p xmlns:a="http://schemas.openxmlformats.org/drawingml/2006/main">
            <a:pPr marL="0" indent="0">
              <a:buNone/>
            </a:pPr>
            <a:r>
              <a:rPr sz="2000" b="1"/>
              <a:t>Strong E-E Coupling</a:t>
            </a:r>
          </a:p>
          <a:p xmlns:a="http://schemas.openxmlformats.org/drawingml/2006/main">
            <a:pPr>
              <a:buFontTx/>
              <a:buChar char="-"/>
            </a:pPr>
            <a:r>
              <a:rPr sz="2000"/>
              <a:t>E neurons sustain each other, I tries to keep up</a:t>
            </a:r>
          </a:p>
          <a:p xmlns:a="http://schemas.openxmlformats.org/drawingml/2006/main">
            <a:pPr>
              <a:buFontTx/>
              <a:buChar char="-"/>
            </a:pPr>
            <a:r>
              <a:rPr sz="2000"/>
              <a:t>Excitation drops, Inhibition loses their drive</a:t>
            </a:r>
          </a:p>
          <a:p xmlns:a="http://schemas.openxmlformats.org/drawingml/2006/main">
            <a:pPr>
              <a:buFontTx/>
              <a:buChar char="-"/>
            </a:pPr>
            <a:r>
              <a:rPr sz="2000"/>
              <a:t>I need E neurons to be activated</a:t>
            </a:r>
          </a:p>
          <a:p xmlns:a="http://schemas.openxmlformats.org/drawingml/2006/main">
            <a:pPr>
              <a:buFontTx/>
              <a:buChar char="-"/>
            </a:pPr>
            <a:r>
              <a:rPr sz="2000"/>
              <a:t>I decrease in strong self-exciting networks</a:t>
            </a:r>
          </a:p>
          <a:p xmlns:a="http://schemas.openxmlformats.org/drawingml/2006/main">
            <a:pPr>
              <a:buFontTx/>
              <a:buChar char="-"/>
            </a:pPr>
            <a:endParaRPr sz="2000"/>
          </a:p>
        </p:txBody>
      </p:sp>
      <p:sp>
        <p:nvSpPr>
          <p:cNvPr id="12" name="Content Placeholder 5">
            <a:extLst xmlns:a="http://schemas.openxmlformats.org/drawingml/2006/main">
              <a:ext uri="{FF2B5EF4-FFF2-40B4-BE49-F238E27FC236}">
                <a16:creationId xmlns:a16="http://schemas.microsoft.com/office/drawing/2014/main" id="{9A9BB2F6-0F5A-5BAE-115A-8C914937E03A}"/>
              </a:ext>
            </a:extLst>
          </p:cNvPr>
          <p:cNvSpPr>
            <a:spLocks xmlns:a="http://schemas.openxmlformats.org/drawingml/2006/main" noGrp="1"/>
          </p:cNvSpPr>
          <p:nvPr/>
        </p:nvSpPr>
        <p:spPr>
          <a:xfrm xmlns:a="http://schemas.openxmlformats.org/drawingml/2006/main">
            <a:off x="6096000" y="2012873"/>
            <a:ext cx="5715390" cy="4114347"/>
          </a:xfrm>
          <a:prstGeom xmlns:a="http://schemas.openxmlformats.org/drawingml/2006/main" prst="rect">
            <a:avLst/>
          </a:prstGeom>
        </p:spPr>
        <p:txBody>
          <a:bodyPr xmlns:a="http://schemas.openxmlformats.org/drawingml/2006/main" vert="horz" lIns="91440" tIns="45720" rIns="91440" bIns="45720" anchor="t">
            <a:normAutofit/>
          </a:bodyPr>
          <a:lstStyle xmlns:a="http://schemas.openxmlformats.org/drawingml/2006/main">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buNone/>
            </a:pPr>
            <a:endParaRPr sz="2000"/>
          </a:p>
        </p:txBody>
      </p:sp>
      <p:sp>
        <p:nvSpPr>
          <p:cNvPr id="15" name="&quot;Not Allowed&quot; Symbol 14">
            <a:extLst xmlns:a="http://schemas.openxmlformats.org/drawingml/2006/main">
              <a:ext uri="{FF2B5EF4-FFF2-40B4-BE49-F238E27FC236}">
                <a16:creationId xmlns:a16="http://schemas.microsoft.com/office/drawing/2014/main" id="{4E831F11-DBB3-E1FA-640A-28CC7E50881E}"/>
              </a:ext>
            </a:extLst>
          </p:cNvPr>
          <p:cNvSpPr>
            <a:spLocks xmlns:a="http://schemas.openxmlformats.org/drawingml/2006/main" noGrp="1"/>
          </p:cNvSpPr>
          <p:nvPr/>
        </p:nvSpPr>
        <p:spPr>
          <a:xfrm xmlns:a="http://schemas.openxmlformats.org/drawingml/2006/main">
            <a:off x="9166578" y="4143408"/>
            <a:ext cx="643466" cy="597925"/>
          </a:xfrm>
          <a:prstGeom xmlns:a="http://schemas.openxmlformats.org/drawingml/2006/main" prst="noSmoking">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Tree>
    <p:extLst>
      <p:ext uri="{BB962C8B-B14F-4D97-AF65-F5344CB8AC3E}">
        <p14:creationId xmlns:p14="http://schemas.microsoft.com/office/powerpoint/2010/main" val="235159769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3"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40f4ced581df447c"/>
          <a:stretch xmlns:a="http://schemas.openxmlformats.org/drawingml/2006/main">
            <a:fillRect l="0" t="0" r="0" b="0"/>
          </a:stretch>
        </p:blipFill>
        <p:spPr>
          <a:xfrm xmlns:a="http://schemas.openxmlformats.org/drawingml/2006/main">
            <a:off x="-14069" y="6192295"/>
            <a:ext cx="12206069" cy="690789"/>
          </a:xfrm>
        </p:spPr>
      </p:pic>
      <p:sp>
        <p:nvSpPr>
          <p:cNvPr id="8" name="Footer Placeholder 4">
            <a:extLst xmlns:a="http://schemas.openxmlformats.org/drawingml/2006/main">
              <a:ext uri="{FF2B5EF4-FFF2-40B4-BE49-F238E27FC236}">
                <a16:creationId xmlns:a16="http://schemas.microsoft.com/office/drawing/2014/main" id="{BD07A5FD-1786-CBE3-59E6-B45659D2EBEC}"/>
              </a:ext>
            </a:extLst>
          </p:cNvPr>
          <p:cNvSpPr>
            <a:spLocks xmlns:a="http://schemas.openxmlformats.org/drawingml/2006/main" noGrp="1"/>
          </p:cNvSpPr>
          <p:nvPr>
            <p:ph type="ftr" idx="11"/>
          </p:nvPr>
        </p:nvSpPr>
        <p:spPr>
          <a:xfrm xmlns:a="http://schemas.openxmlformats.org/drawingml/2006/main" rot="16200000">
            <a:off x="10817434" y="4975433"/>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pPr algn="l">
              <a:buNone/>
            </a:pPr>
            <a:r>
              <a:rPr sz="1000"/>
              <a:t>GEORGE MASON UNIVERSITY</a:t>
            </a:r>
          </a:p>
        </p:txBody>
      </p:sp>
      <p:sp>
        <p:nvSpPr>
          <p:cNvPr id="9" name="Slide Number Placeholder 5">
            <a:extLst xmlns:a="http://schemas.openxmlformats.org/drawingml/2006/main">
              <a:ext uri="{FF2B5EF4-FFF2-40B4-BE49-F238E27FC236}">
                <a16:creationId xmlns:a16="http://schemas.microsoft.com/office/drawing/2014/main" id="{716D7FBD-2ABC-1E37-7C21-3D5724AC1EE4}"/>
              </a:ext>
            </a:extLst>
          </p:cNvPr>
          <p:cNvSpPr>
            <a:spLocks xmlns:a="http://schemas.openxmlformats.org/drawingml/2006/main" noGrp="1"/>
          </p:cNvSpPr>
          <p:nvPr>
            <p:ph type="sldNum" idx="12"/>
          </p:nvPr>
        </p:nvSpPr>
        <p:spPr>
          <a:xfrm xmlns:a="http://schemas.openxmlformats.org/drawingml/2006/main">
            <a:off x="116618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pPr algn="ctr">
              <a:buNone/>
            </a:pPr>
            <a:fld id="{944FE883-4AC6-394B-8129-6E4BB686DB20}" type="slidenum">
              <a:rPr>
                <a:solidFill>
                  <a:schemeClr val="bg1"/>
                </a:solidFill>
              </a:rPr>
              <a:t>10</a:t>
            </a:fld>
            <a:endParaRPr>
              <a:solidFill>
                <a:schemeClr val="bg1"/>
              </a:solidFill>
            </a:endParaRPr>
          </a:p>
        </p:txBody>
      </p:sp>
      <p:sp>
        <p:nvSpPr>
          <p:cNvPr id="11" name="Title 1">
            <a:extLst xmlns:a="http://schemas.openxmlformats.org/drawingml/2006/main">
              <a:ext uri="{FF2B5EF4-FFF2-40B4-BE49-F238E27FC236}">
                <a16:creationId xmlns:a16="http://schemas.microsoft.com/office/drawing/2014/main" id="{D0650EF4-780E-1192-EEF1-807763F4A3F8}"/>
              </a:ext>
            </a:extLst>
          </p:cNvPr>
          <p:cNvSpPr>
            <a:spLocks xmlns:a="http://schemas.openxmlformats.org/drawingml/2006/main" noGrp="1"/>
          </p:cNvSpPr>
          <p:nvPr/>
        </p:nvSpPr>
        <p:spPr>
          <a:xfrm xmlns:a="http://schemas.openxmlformats.org/drawingml/2006/main">
            <a:off x="3629" y="2267"/>
            <a:ext cx="12188371"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r>
              <a:rPr>
                <a:solidFill>
                  <a:schemeClr val="tx2"/>
                </a:solidFill>
              </a:rPr>
              <a:t>Conclusion: Patterns Over Averages</a:t>
            </a:r>
            <a:endParaRPr/>
          </a:p>
        </p:txBody>
      </p:sp>
      <p:sp>
        <p:nvSpPr>
          <p:cNvPr id="2" name="TextBox 1">
            <a:extLst xmlns:a="http://schemas.openxmlformats.org/drawingml/2006/main">
              <a:ext uri="{FF2B5EF4-FFF2-40B4-BE49-F238E27FC236}">
                <a16:creationId xmlns:a16="http://schemas.microsoft.com/office/drawing/2014/main" id="{2FCD8CC8-5F3B-B4D7-42AF-BA6D111474D5}"/>
              </a:ext>
            </a:extLst>
          </p:cNvPr>
          <p:cNvSpPr>
            <a:spLocks xmlns:a="http://schemas.openxmlformats.org/drawingml/2006/main" noGrp="1"/>
          </p:cNvSpPr>
          <p:nvPr/>
        </p:nvSpPr>
        <p:spPr>
          <a:xfrm xmlns:a="http://schemas.openxmlformats.org/drawingml/2006/main">
            <a:off x="428976" y="1327830"/>
            <a:ext cx="10182577" cy="655564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285750" indent="-285750">
              <a:lnSpc>
                <a:spcPct val="200000"/>
              </a:lnSpc>
              <a:buFont typeface="Arial"/>
              <a:buChar char="•"/>
            </a:pPr>
            <a:r>
              <a:rPr sz="2000"/>
              <a:t>Classic theory of independence violates correlations in connected motifs</a:t>
            </a:r>
          </a:p>
          <a:p xmlns:a="http://schemas.openxmlformats.org/drawingml/2006/main">
            <a:pPr marL="285750" indent="-285750">
              <a:lnSpc>
                <a:spcPct val="200000"/>
              </a:lnSpc>
              <a:buFont typeface="Arial"/>
              <a:buChar char="•"/>
            </a:pPr>
            <a:r>
              <a:rPr sz="2000"/>
              <a:t>Excitatory-inhibitory stability is governed by delicate feedback balance</a:t>
            </a:r>
          </a:p>
          <a:p xmlns:a="http://schemas.openxmlformats.org/drawingml/2006/main">
            <a:pPr marL="285750" indent="-285750">
              <a:lnSpc>
                <a:spcPct val="200000"/>
              </a:lnSpc>
              <a:buFont typeface="Arial"/>
              <a:buChar char="•"/>
            </a:pPr>
            <a:r>
              <a:rPr sz="2000"/>
              <a:t>Chain motifs dominate because their influence scales with network size</a:t>
            </a:r>
          </a:p>
          <a:p xmlns:a="http://schemas.openxmlformats.org/drawingml/2006/main">
            <a:pPr marL="285750" indent="-285750">
              <a:lnSpc>
                <a:spcPct val="200000"/>
              </a:lnSpc>
              <a:buFont typeface="Arial"/>
              <a:buChar char="•"/>
            </a:pPr>
            <a:r>
              <a:rPr sz="2000"/>
              <a:t>Low rank approximation: few outlier eigenmodes govern the response matrix</a:t>
            </a:r>
          </a:p>
          <a:p xmlns:a="http://schemas.openxmlformats.org/drawingml/2006/main">
            <a:pPr marL="285750" indent="-285750">
              <a:lnSpc>
                <a:spcPct val="200000"/>
              </a:lnSpc>
              <a:buFont typeface="Arial"/>
              <a:buChar char="•"/>
            </a:pPr>
            <a14:m xmlns:a14="http://schemas.microsoft.com/office/drawing/2010/main">
              <m:oMathPara xmlns:m="http://schemas.openxmlformats.org/officeDocument/2006/math">
                <m:oMath>
                  <m:sSup>
                    <m:e>
                      <m:r>
                        <a:rPr xmlns:a="http://schemas.openxmlformats.org/drawingml/2006/main" lang="en-US" sz="2000" i="1">
                          <a:latin typeface="Cambria Math"/>
                          <a:ea typeface="Cambria Math"/>
                          <a:cs typeface="Cambria Math"/>
                        </a:rPr>
                        <m:t>𝐽</m:t>
                      </m:r>
                    </m:e>
                    <m:sup>
                      <m:r>
                        <a:rPr xmlns:a="http://schemas.openxmlformats.org/drawingml/2006/main" lang="en-US" sz="2000" i="1">
                          <a:latin typeface="Cambria Math"/>
                          <a:ea typeface="Cambria Math"/>
                          <a:cs typeface="Cambria Math"/>
                        </a:rPr>
                        <m:t>𝑒𝑓𝑓</m:t>
                      </m:r>
                    </m:sup>
                  </m:sSup>
                </m:oMath>
              </m:oMathPara>
            </a14:m>
            <a:r>
              <a:rPr sz="2000"/>
              <a:t>can predict the global steady-state and paradoxical responses</a:t>
            </a:r>
          </a:p>
          <a:p xmlns:a="http://schemas.openxmlformats.org/drawingml/2006/main">
            <a:pPr marL="285750" indent="-285750">
              <a:lnSpc>
                <a:spcPct val="200000"/>
              </a:lnSpc>
              <a:buFont typeface="Arial"/>
              <a:buChar char="•"/>
            </a:pPr>
            <a:r>
              <a:rPr sz="2000"/>
              <a:t>Magnitude alone does not determine population dynamics – sign structure balances all</a:t>
            </a:r>
          </a:p>
          <a:p xmlns:a="http://schemas.openxmlformats.org/drawingml/2006/main">
            <a:pPr marL="285750" indent="-285750">
              <a:lnSpc>
                <a:spcPct val="200000"/>
              </a:lnSpc>
              <a:buFont typeface="Arial"/>
              <a:buChar char="•"/>
            </a:pPr>
            <a:endParaRPr sz="2000"/>
          </a:p>
          <a:p xmlns:a="http://schemas.openxmlformats.org/drawingml/2006/main">
            <a:pPr marL="285750" indent="-285750">
              <a:lnSpc>
                <a:spcPct val="200000"/>
              </a:lnSpc>
              <a:buFont typeface="Arial"/>
              <a:buChar char="•"/>
            </a:pPr>
            <a:endParaRPr sz="2000"/>
          </a:p>
          <a:p xmlns:a="http://schemas.openxmlformats.org/drawingml/2006/main">
            <a:pPr marL="285750" indent="-285750">
              <a:lnSpc>
                <a:spcPct val="200000"/>
              </a:lnSpc>
              <a:buFont typeface="Arial"/>
              <a:buChar char="•"/>
            </a:pPr>
            <a:endParaRPr sz="2000"/>
          </a:p>
          <a:p xmlns:a="http://schemas.openxmlformats.org/drawingml/2006/main">
            <a:pPr marL="285750" indent="-285750">
              <a:lnSpc>
                <a:spcPct val="200000"/>
              </a:lnSpc>
              <a:buFont typeface="Arial"/>
              <a:buChar char="•"/>
            </a:pPr>
            <a:endParaRPr sz="2000"/>
          </a:p>
          <a:p xmlns:a="http://schemas.openxmlformats.org/drawingml/2006/main">
            <a:pPr marL="285750" indent="-285750">
              <a:buFont typeface="Arial"/>
              <a:buChar char="•"/>
            </a:pPr>
            <a:endParaRPr sz="2000"/>
          </a:p>
        </p:txBody>
      </p:sp>
    </p:spTree>
    <p:extLst>
      <p:ext uri="{BB962C8B-B14F-4D97-AF65-F5344CB8AC3E}">
        <p14:creationId xmlns:p14="http://schemas.microsoft.com/office/powerpoint/2010/main" val="244375165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13"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801515054db04df8"/>
          <a:stretch xmlns:a="http://schemas.openxmlformats.org/drawingml/2006/main">
            <a:fillRect l="0" t="0" r="0" b="0"/>
          </a:stretch>
        </p:blipFill>
        <p:spPr>
          <a:xfrm xmlns:a="http://schemas.openxmlformats.org/drawingml/2006/main">
            <a:off x="-14069" y="6192295"/>
            <a:ext cx="12206069" cy="690789"/>
          </a:xfrm>
        </p:spPr>
      </p:pic>
      <p:sp>
        <p:nvSpPr>
          <p:cNvPr id="8" name="Footer Placeholder 4">
            <a:extLst xmlns:a="http://schemas.openxmlformats.org/drawingml/2006/main">
              <a:ext uri="{FF2B5EF4-FFF2-40B4-BE49-F238E27FC236}">
                <a16:creationId xmlns:a16="http://schemas.microsoft.com/office/drawing/2014/main" id="{9C9AD4EF-16D9-FB48-7684-733E188896E5}"/>
              </a:ext>
            </a:extLst>
          </p:cNvPr>
          <p:cNvSpPr>
            <a:spLocks xmlns:a="http://schemas.openxmlformats.org/drawingml/2006/main" noGrp="1"/>
          </p:cNvSpPr>
          <p:nvPr>
            <p:ph type="ftr" idx="11"/>
          </p:nvPr>
        </p:nvSpPr>
        <p:spPr>
          <a:xfrm xmlns:a="http://schemas.openxmlformats.org/drawingml/2006/main" rot="16200000">
            <a:off x="10817434" y="4975433"/>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pPr algn="l">
              <a:buNone/>
            </a:pPr>
            <a:r>
              <a:rPr sz="1000"/>
              <a:t>GEORGE MASON UNIVERSITY</a:t>
            </a:r>
          </a:p>
        </p:txBody>
      </p:sp>
      <p:sp>
        <p:nvSpPr>
          <p:cNvPr id="9" name="Slide Number Placeholder 5">
            <a:extLst xmlns:a="http://schemas.openxmlformats.org/drawingml/2006/main">
              <a:ext uri="{FF2B5EF4-FFF2-40B4-BE49-F238E27FC236}">
                <a16:creationId xmlns:a16="http://schemas.microsoft.com/office/drawing/2014/main" id="{4F9E08A8-BAFC-36A4-4FAB-460109842610}"/>
              </a:ext>
            </a:extLst>
          </p:cNvPr>
          <p:cNvSpPr>
            <a:spLocks xmlns:a="http://schemas.openxmlformats.org/drawingml/2006/main" noGrp="1"/>
          </p:cNvSpPr>
          <p:nvPr>
            <p:ph type="sldNum" idx="12"/>
          </p:nvPr>
        </p:nvSpPr>
        <p:spPr>
          <a:xfrm xmlns:a="http://schemas.openxmlformats.org/drawingml/2006/main">
            <a:off x="116618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pPr algn="ctr">
              <a:buNone/>
            </a:pPr>
            <a:fld id="{944FE883-4AC6-394B-8129-6E4BB686DB20}" type="slidenum">
              <a:rPr>
                <a:solidFill>
                  <a:schemeClr val="bg1"/>
                </a:solidFill>
              </a:rPr>
              <a:t>11</a:t>
            </a:fld>
            <a:endParaRPr>
              <a:solidFill>
                <a:schemeClr val="bg1"/>
              </a:solidFill>
            </a:endParaRPr>
          </a:p>
        </p:txBody>
      </p:sp>
      <p:sp>
        <p:nvSpPr>
          <p:cNvPr id="11" name="Title 1">
            <a:extLst xmlns:a="http://schemas.openxmlformats.org/drawingml/2006/main">
              <a:ext uri="{FF2B5EF4-FFF2-40B4-BE49-F238E27FC236}">
                <a16:creationId xmlns:a16="http://schemas.microsoft.com/office/drawing/2014/main" id="{FB857582-3560-00B8-87D9-D0BB683D4C3C}"/>
              </a:ext>
            </a:extLst>
          </p:cNvPr>
          <p:cNvSpPr>
            <a:spLocks xmlns:a="http://schemas.openxmlformats.org/drawingml/2006/main" noGrp="1"/>
          </p:cNvSpPr>
          <p:nvPr/>
        </p:nvSpPr>
        <p:spPr>
          <a:xfrm xmlns:a="http://schemas.openxmlformats.org/drawingml/2006/main">
            <a:off x="3629" y="2267"/>
            <a:ext cx="12188371" cy="1325563"/>
          </a:xfrm>
          <a:prstGeom xmlns:a="http://schemas.openxmlformats.org/drawingml/2006/main" prst="rect">
            <a:avLst/>
          </a:prstGeom>
        </p:spPr>
        <p:txBody>
          <a:bodyPr xmlns:a="http://schemas.openxmlformats.org/drawingml/2006/main" vert="horz" lIns="91440" tIns="45720" rIns="91440" bIns="45720" anchor="ctr">
            <a:normAutofit fontScale="100000"/>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gn="l">
              <a:defRPr sz="3600" b="0">
                <a:solidFill>
                  <a:srgbClr val="005138"/>
                </a:solidFill>
              </a:defRPr>
            </a:pPr>
            <a:r>
              <a:rPr sz="3600" b="0">
                <a:solidFill>
                  <a:srgbClr val="005138"/>
                </a:solidFill>
              </a:rPr>
              <a:t>My extension: empirical J construction</a:t>
            </a:r>
            <a:endParaRPr/>
          </a:p>
        </p:txBody>
      </p:sp>
      <p:sp>
        <p:nvSpPr>
          <p:cNvPr id="2" name="TextBox 1">
            <a:extLst xmlns:a="http://schemas.openxmlformats.org/drawingml/2006/main">
              <a:ext uri="{FF2B5EF4-FFF2-40B4-BE49-F238E27FC236}">
                <a16:creationId xmlns:a16="http://schemas.microsoft.com/office/drawing/2014/main" id="{8745F4B1-19BE-D907-1201-D03E9856D89D}"/>
              </a:ext>
            </a:extLst>
          </p:cNvPr>
          <p:cNvSpPr>
            <a:spLocks xmlns:a="http://schemas.openxmlformats.org/drawingml/2006/main" noGrp="1"/>
          </p:cNvSpPr>
          <p:nvPr/>
        </p:nvSpPr>
        <p:spPr>
          <a:xfrm xmlns:a="http://schemas.openxmlformats.org/drawingml/2006/main">
            <a:off x="416943" y="1365848"/>
            <a:ext cx="8856452" cy="3421811"/>
          </a:xfrm>
          <a:prstGeom xmlns:a="http://schemas.openxmlformats.org/drawingml/2006/main" prst="rect">
            <a:avLst/>
          </a:prstGeom>
          <a:noFill xmlns:a="http://schemas.openxmlformats.org/drawingml/2006/main"/>
        </p:spPr>
        <p:txBody>
          <a:bodyPr xmlns:a="http://schemas.openxmlformats.org/drawingml/2006/main" rot="0" spcFirstLastPara="0" vert="horz" wrap="square" lIns="91440" tIns="45720" rIns="91440" bIns="45720" anchor="t">
            <a:spAutoFit/>
          </a:bodyPr>
          <a:lstStyle xmlns:a="http://schemas.openxmlformats.org/drawingml/2006/main"/>
          <a:p xmlns:a="http://schemas.openxmlformats.org/drawingml/2006/main">
            <a:pPr algn="l">
              <a:buNone/>
            </a:pPr>
            <a:endParaRPr/>
          </a:p>
        </p:txBody>
      </p:sp>
      <p:sp>
        <p:nvSpPr>
          <p:cNvPr id="4" name="TextBox 3">
            <a:extLst xmlns:a="http://schemas.openxmlformats.org/drawingml/2006/main">
              <a:ext uri="{FF2B5EF4-FFF2-40B4-BE49-F238E27FC236}">
                <a16:creationId xmlns:a16="http://schemas.microsoft.com/office/drawing/2014/main" id="{25CB4368-DA75-103F-37C9-D664230DD5A6}"/>
              </a:ext>
            </a:extLst>
          </p:cNvPr>
          <p:cNvSpPr>
            <a:spLocks xmlns:a="http://schemas.openxmlformats.org/drawingml/2006/main" noGrp="1"/>
          </p:cNvSpPr>
          <p:nvPr/>
        </p:nvSpPr>
        <p:spPr>
          <a:xfrm xmlns:a="http://schemas.openxmlformats.org/drawingml/2006/main">
            <a:off x="413876" y="1343420"/>
            <a:ext cx="10728960" cy="2308324"/>
          </a:xfrm>
          <a:prstGeom xmlns:a="http://schemas.openxmlformats.org/drawingml/2006/main" prst="rect">
            <a:avLst/>
          </a:prstGeom>
          <a:noFill xmlns:a="http://schemas.openxmlformats.org/drawingml/2006/main"/>
        </p:spPr>
        <p:txBody>
          <a:bodyPr xmlns:a="http://schemas.openxmlformats.org/drawingml/2006/main" rot="0" spcFirstLastPara="0" vert="horz" wrap="square" lIns="91440" tIns="45720" rIns="91440" bIns="45720" anchor="t">
            <a:spAutoFit/>
          </a:bodyPr>
          <a:lstStyle xmlns:a="http://schemas.openxmlformats.org/drawingml/2006/main"/>
          <a:p xmlns:a="http://schemas.openxmlformats.org/drawingml/2006/main">
            <a:pPr algn="l">
              <a:defRPr sz="1875" b="0">
                <a:solidFill>
                  <a:srgbClr val="111111"/>
                </a:solidFill>
              </a:defRPr>
            </a:pPr>
            <a:r>
              <a:rPr sz="1875" b="0">
                <a:solidFill>
                  <a:srgbClr val="111111"/>
                </a:solidFill>
              </a:rPr>
              <a:t>Experimental dataset: Hippocampome M_ij matrix and netlist</a:t>
            </a:r>
          </a:p>
          <a:p xmlns:a="http://schemas.openxmlformats.org/drawingml/2006/main">
            <a:pPr marL="285750" indent="-285750" algn="l">
              <a:buFont typeface="Arial"/>
              <a:buChar char="•"/>
              <a:defRPr sz="1875" b="0">
                <a:solidFill>
                  <a:srgbClr val="111111"/>
                </a:solidFill>
              </a:defRPr>
            </a:pPr>
            <a:r>
              <a:rPr sz="1875" b="0">
                <a:solidFill>
                  <a:srgbClr val="111111"/>
                </a:solidFill>
              </a:rPr>
              <a:t>85 cell types, 1,641 directed nonzero weighted connections</a:t>
            </a:r>
          </a:p>
          <a:p xmlns:a="http://schemas.openxmlformats.org/drawingml/2006/main">
            <a:pPr marL="285750" indent="-285750" algn="l">
              <a:buFont typeface="Arial"/>
              <a:buChar char="•"/>
              <a:defRPr sz="1875" b="0">
                <a:solidFill>
                  <a:srgbClr val="111111"/>
                </a:solidFill>
              </a:defRPr>
            </a:pPr>
            <a:r>
              <a:rPr sz="1875" b="0">
                <a:solidFill>
                  <a:srgbClr val="111111"/>
                </a:solidFill>
              </a:rPr>
              <a:t>CSV orientation: sender rows, receiver columns</a:t>
            </a:r>
            <a:endParaRPr/>
          </a:p>
          <a:p xmlns:a="http://schemas.openxmlformats.org/drawingml/2006/main">
            <a:pPr marL="285750" indent="-285750" algn="l">
              <a:buFont typeface="Arial"/>
              <a:buChar char="•"/>
              <a:defRPr sz="1875" b="0">
                <a:solidFill>
                  <a:srgbClr val="111111"/>
                </a:solidFill>
              </a:defRPr>
            </a:pPr>
            <a:r>
              <a:rPr sz="1875" b="0">
                <a:solidFill>
                  <a:srgbClr val="111111"/>
                </a:solidFill>
              </a:rPr>
              <a:t>Paper orientation: J[receiver, sender], so the matrix is transposed before analysis</a:t>
            </a:r>
          </a:p>
          <a:p xmlns:a="http://schemas.openxmlformats.org/drawingml/2006/main">
            <a:pPr marL="742950" lvl="1" indent="-285750" algn="l">
              <a:buFont typeface="Courier New"/>
              <a:buChar char="o"/>
              <a:defRPr sz="1875" b="0">
                <a:solidFill>
                  <a:srgbClr val="111111"/>
                </a:solidFill>
              </a:defRPr>
            </a:pPr>
            <a:r>
              <a:rPr sz="1875" b="0">
                <a:solidFill>
                  <a:srgbClr val="111111"/>
                </a:solidFill>
              </a:rPr>
              <a:t>E/I labels: 32 excitatory, 53 inhibitory from mij_netlist.csv</a:t>
            </a:r>
            <a:endParaRPr/>
          </a:p>
          <a:p xmlns:a="http://schemas.openxmlformats.org/drawingml/2006/main">
            <a:pPr marL="285750" indent="-285750" algn="l">
              <a:buFont typeface="Arial"/>
              <a:buChar char="•"/>
              <a:defRPr sz="1875" b="0">
                <a:solidFill>
                  <a:srgbClr val="111111"/>
                </a:solidFill>
              </a:defRPr>
            </a:pPr>
            <a:r>
              <a:rPr sz="1875" b="0">
                <a:solidFill>
                  <a:srgbClr val="111111"/>
                </a:solidFill>
              </a:rPr>
              <a:t>Normalization: raw rho(J) = 26213.13 -&gt; normalized rho(J) = 1.000</a:t>
            </a:r>
            <a:endParaRPr/>
          </a:p>
        </p:txBody>
      </p:sp>
    </p:spTree>
    <p:extLst>
      <p:ext uri="{BB962C8B-B14F-4D97-AF65-F5344CB8AC3E}">
        <p14:creationId xmlns:p14="http://schemas.microsoft.com/office/powerpoint/2010/main" val="294072690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7"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38f02cad8e064ef2"/>
          <a:stretch xmlns:a="http://schemas.openxmlformats.org/drawingml/2006/main">
            <a:fillRect l="0" t="0" r="0" b="0"/>
          </a:stretch>
        </p:blipFill>
        <p:spPr>
          <a:xfrm xmlns:a="http://schemas.openxmlformats.org/drawingml/2006/main">
            <a:off x="-14069" y="6192295"/>
            <a:ext cx="12206069" cy="690789"/>
          </a:xfrm>
        </p:spPr>
      </p:pic>
      <p:sp>
        <p:nvSpPr>
          <p:cNvPr id="8" name="Footer Placeholder 4">
            <a:extLst xmlns:a="http://schemas.openxmlformats.org/drawingml/2006/main">
              <a:ext uri="{FF2B5EF4-FFF2-40B4-BE49-F238E27FC236}">
                <a16:creationId xmlns:a16="http://schemas.microsoft.com/office/drawing/2014/main" id="{8DAD0C6B-9150-ED7A-DFE3-2E7F58FEECED}"/>
              </a:ext>
            </a:extLst>
          </p:cNvPr>
          <p:cNvSpPr>
            <a:spLocks xmlns:a="http://schemas.openxmlformats.org/drawingml/2006/main" noGrp="1"/>
          </p:cNvSpPr>
          <p:nvPr>
            <p:ph type="ftr" idx="11"/>
          </p:nvPr>
        </p:nvSpPr>
        <p:spPr>
          <a:xfrm xmlns:a="http://schemas.openxmlformats.org/drawingml/2006/main" rot="16200000">
            <a:off x="10817434" y="4975433"/>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pPr algn="l">
              <a:buNone/>
            </a:pPr>
            <a:r>
              <a:rPr sz="1000"/>
              <a:t>GEORGE MASON UNIVERSITY</a:t>
            </a:r>
          </a:p>
        </p:txBody>
      </p:sp>
      <p:sp>
        <p:nvSpPr>
          <p:cNvPr id="9" name="Slide Number Placeholder 5">
            <a:extLst xmlns:a="http://schemas.openxmlformats.org/drawingml/2006/main">
              <a:ext uri="{FF2B5EF4-FFF2-40B4-BE49-F238E27FC236}">
                <a16:creationId xmlns:a16="http://schemas.microsoft.com/office/drawing/2014/main" id="{0395F277-BDDF-278D-16D9-6682B2C310A3}"/>
              </a:ext>
            </a:extLst>
          </p:cNvPr>
          <p:cNvSpPr>
            <a:spLocks xmlns:a="http://schemas.openxmlformats.org/drawingml/2006/main" noGrp="1"/>
          </p:cNvSpPr>
          <p:nvPr>
            <p:ph type="sldNum" idx="12"/>
          </p:nvPr>
        </p:nvSpPr>
        <p:spPr>
          <a:xfrm xmlns:a="http://schemas.openxmlformats.org/drawingml/2006/main">
            <a:off x="116618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pPr algn="ctr">
              <a:buNone/>
            </a:pPr>
            <a:fld id="{944FE883-4AC6-394B-8129-6E4BB686DB20}" type="slidenum">
              <a:rPr>
                <a:solidFill>
                  <a:schemeClr val="bg1"/>
                </a:solidFill>
              </a:rPr>
              <a:t>12</a:t>
            </a:fld>
            <a:endParaRPr>
              <a:solidFill>
                <a:schemeClr val="bg1"/>
              </a:solidFill>
            </a:endParaRPr>
          </a:p>
        </p:txBody>
      </p:sp>
      <p:sp>
        <p:nvSpPr>
          <p:cNvPr id="11" name="Title 1">
            <a:extLst xmlns:a="http://schemas.openxmlformats.org/drawingml/2006/main">
              <a:ext uri="{FF2B5EF4-FFF2-40B4-BE49-F238E27FC236}">
                <a16:creationId xmlns:a16="http://schemas.microsoft.com/office/drawing/2014/main" id="{99CD5F36-FE5B-7C79-2C58-BDF68EC3AAE9}"/>
              </a:ext>
            </a:extLst>
          </p:cNvPr>
          <p:cNvSpPr>
            <a:spLocks xmlns:a="http://schemas.openxmlformats.org/drawingml/2006/main" noGrp="1"/>
          </p:cNvSpPr>
          <p:nvPr/>
        </p:nvSpPr>
        <p:spPr>
          <a:xfrm xmlns:a="http://schemas.openxmlformats.org/drawingml/2006/main">
            <a:off x="3629" y="2267"/>
            <a:ext cx="12188371" cy="1325563"/>
          </a:xfrm>
          <a:prstGeom xmlns:a="http://schemas.openxmlformats.org/drawingml/2006/main" prst="rect">
            <a:avLst/>
          </a:prstGeom>
        </p:spPr>
        <p:txBody>
          <a:bodyPr xmlns:a="http://schemas.openxmlformats.org/drawingml/2006/main" vert="horz" lIns="91440" tIns="45720" rIns="91440" bIns="45720" anchor="ctr">
            <a:normAutofit fontScale="100000"/>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gn="l">
              <a:defRPr sz="3600" b="0">
                <a:solidFill>
                  <a:srgbClr val="005138"/>
                </a:solidFill>
              </a:defRPr>
            </a:pPr>
            <a:r>
              <a:rPr sz="3600" b="0">
                <a:solidFill>
                  <a:srgbClr val="005138"/>
                </a:solidFill>
              </a:rPr>
              <a:t>J construction: E/I blocks after normalization</a:t>
            </a:r>
            <a:endParaRPr>
              <a:solidFill>
                <a:schemeClr val="tx2"/>
              </a:solidFill>
            </a:endParaRPr>
          </a:p>
        </p:txBody>
      </p:sp>
      <p:sp>
        <p:nvSpPr>
          <p:cNvPr id="2" name="TextBox 1">
            <a:extLst xmlns:a="http://schemas.openxmlformats.org/drawingml/2006/main">
              <a:ext uri="{FF2B5EF4-FFF2-40B4-BE49-F238E27FC236}">
                <a16:creationId xmlns:a16="http://schemas.microsoft.com/office/drawing/2014/main" id="{316A26CC-314E-7E67-EDEF-42828588AF36}"/>
              </a:ext>
            </a:extLst>
          </p:cNvPr>
          <p:cNvSpPr>
            <a:spLocks xmlns:a="http://schemas.openxmlformats.org/drawingml/2006/main" noGrp="1"/>
          </p:cNvSpPr>
          <p:nvPr/>
        </p:nvSpPr>
        <p:spPr>
          <a:xfrm xmlns:a="http://schemas.openxmlformats.org/drawingml/2006/main">
            <a:off x="416943" y="1365848"/>
            <a:ext cx="8856452" cy="3421811"/>
          </a:xfrm>
          <a:prstGeom xmlns:a="http://schemas.openxmlformats.org/drawingml/2006/main" prst="rect">
            <a:avLst/>
          </a:prstGeom>
          <a:noFill xmlns:a="http://schemas.openxmlformats.org/drawingml/2006/main"/>
        </p:spPr>
        <p:txBody>
          <a:bodyPr xmlns:a="http://schemas.openxmlformats.org/drawingml/2006/main" rot="0" spcFirstLastPara="0" vert="horz" wrap="square" lIns="91440" tIns="45720" rIns="91440" bIns="45720" anchor="t">
            <a:spAutoFit/>
          </a:bodyPr>
          <a:lstStyle xmlns:a="http://schemas.openxmlformats.org/drawingml/2006/main"/>
          <a:p xmlns:a="http://schemas.openxmlformats.org/drawingml/2006/main">
            <a:pPr algn="l">
              <a:buNone/>
            </a:pPr>
            <a:endParaRPr/>
          </a:p>
        </p:txBody>
      </p:sp>
      <p:sp>
        <p:nvSpPr>
          <p:cNvPr id="4" name="TextBox 3">
            <a:extLst xmlns:a="http://schemas.openxmlformats.org/drawingml/2006/main">
              <a:ext uri="{FF2B5EF4-FFF2-40B4-BE49-F238E27FC236}">
                <a16:creationId xmlns:a16="http://schemas.microsoft.com/office/drawing/2014/main" id="{0CB6D41A-0556-DBAD-B68D-E489FBE8E9FC}"/>
              </a:ext>
            </a:extLst>
          </p:cNvPr>
          <p:cNvSpPr>
            <a:spLocks xmlns:a="http://schemas.openxmlformats.org/drawingml/2006/main" noGrp="1"/>
          </p:cNvSpPr>
          <p:nvPr/>
        </p:nvSpPr>
        <p:spPr>
          <a:xfrm xmlns:a="http://schemas.openxmlformats.org/drawingml/2006/main">
            <a:off x="413876" y="1333260"/>
            <a:ext cx="5963920" cy="2031325"/>
          </a:xfrm>
          <a:prstGeom xmlns:a="http://schemas.openxmlformats.org/drawingml/2006/main" prst="rect">
            <a:avLst/>
          </a:prstGeom>
          <a:noFill xmlns:a="http://schemas.openxmlformats.org/drawingml/2006/main"/>
        </p:spPr>
        <p:txBody>
          <a:bodyPr xmlns:a="http://schemas.openxmlformats.org/drawingml/2006/main" rot="0" spcFirstLastPara="0" vert="horz" wrap="square" lIns="91440" tIns="45720" rIns="91440" bIns="45720" anchor="t">
            <a:spAutoFit/>
          </a:bodyPr>
          <a:lstStyle xmlns:a="http://schemas.openxmlformats.org/drawingml/2006/main"/>
          <a:p xmlns:a="http://schemas.openxmlformats.org/drawingml/2006/main">
            <a:pPr algn="l">
              <a:defRPr sz="1875" b="0">
                <a:solidFill>
                  <a:srgbClr val="111111"/>
                </a:solidFill>
              </a:defRPr>
            </a:pPr>
            <a:r>
              <a:rPr sz="1875" b="0">
                <a:solidFill>
                  <a:srgbClr val="111111"/>
                </a:solidFill>
              </a:rPr>
              <a:t>The signed empirical J is summarized as four E/I blocks.</a:t>
            </a:r>
            <a:endParaRPr/>
          </a:p>
          <a:p xmlns:a="http://schemas.openxmlformats.org/drawingml/2006/main">
            <a:pPr marL="285750" indent="-285750" algn="l">
              <a:buFont typeface="Arial"/>
              <a:buChar char="•"/>
              <a:defRPr sz="1875" b="0">
                <a:solidFill>
                  <a:srgbClr val="111111"/>
                </a:solidFill>
              </a:defRPr>
            </a:pPr>
            <a:r>
              <a:rPr sz="1875" b="0">
                <a:solidFill>
                  <a:srgbClr val="111111"/>
                </a:solidFill>
              </a:rPr>
              <a:t>Rows are receiver classes; columns are sender classes.</a:t>
            </a:r>
          </a:p>
          <a:p xmlns:a="http://schemas.openxmlformats.org/drawingml/2006/main">
            <a:pPr marL="285750" indent="-285750" algn="l">
              <a:buFont typeface="Arial"/>
              <a:buChar char="•"/>
              <a:defRPr sz="1875" b="0">
                <a:solidFill>
                  <a:srgbClr val="111111"/>
                </a:solidFill>
              </a:defRPr>
            </a:pPr>
            <a:r>
              <a:rPr sz="1875" b="0">
                <a:solidFill>
                  <a:srgbClr val="111111"/>
                </a:solidFill>
              </a:rPr>
              <a:t>Mean weights and densities are computed after spectral normalization.</a:t>
            </a:r>
            <a:endParaRPr/>
          </a:p>
        </p:txBody>
      </p:sp>
      <p:sp>
        <p:nvSpPr>
          <p:cNvPr id="13" name="">
            <a:extLst xmlns:a="http://schemas.openxmlformats.org/drawingml/2006/main">
              <a:ext uri="{FF2B5EF4-FFF2-40B4-BE49-F238E27FC236}">
                <a16:creationId xmlns:a16="http://schemas.microsoft.com/office/drawing/2014/main" id="{B7586847-DAD9-42AB-8B9D-ED1F4D3888C2}"/>
              </a:ext>
            </a:extLst>
          </p:cNvPr>
          <p:cNvSpPr>
            <a:spLocks xmlns:a="http://schemas.openxmlformats.org/drawingml/2006/main" noGrp="1"/>
          </p:cNvSpPr>
          <p:nvPr/>
        </p:nvSpPr>
        <p:spPr>
          <a:xfrm xmlns:a="http://schemas.openxmlformats.org/drawingml/2006/main">
            <a:off x="6572250" y="1524000"/>
            <a:ext cx="2000250" cy="1285875"/>
          </a:xfrm>
          <a:prstGeom xmlns:a="http://schemas.openxmlformats.org/drawingml/2006/main" prst="rect">
            <a:avLst/>
          </a:prstGeom>
          <a:solidFill xmlns:a="http://schemas.openxmlformats.org/drawingml/2006/main">
            <a:srgbClr val="FFF3CC"/>
          </a:solidFill>
          <a:ln xmlns:a="http://schemas.openxmlformats.org/drawingml/2006/main" w="9525">
            <a:solidFill>
              <a:srgbClr val="005138"/>
            </a:solidFill>
            <a:prstDash val="solid"/>
          </a:ln>
        </p:spPr>
        <p:txBody>
          <a:bodyPr xmlns:a="http://schemas.openxmlformats.org/drawingml/2006/main"/>
          <a:lstStyle xmlns:a="http://schemas.openxmlformats.org/drawingml/2006/main"/>
          <a:p xmlns:a="http://schemas.openxmlformats.org/drawingml/2006/main">
            <a:pPr algn="ctr">
              <a:defRPr sz="1575" b="0">
                <a:solidFill>
                  <a:srgbClr val="111111"/>
                </a:solidFill>
              </a:defRPr>
            </a:pPr>
            <a:r>
              <a:rPr sz="1575" b="0">
                <a:solidFill>
                  <a:srgbClr val="111111"/>
                </a:solidFill>
              </a:rPr>
              <a:t>E &lt;- E</a:t>
            </a:r>
          </a:p>
          <a:p xmlns:a="http://schemas.openxmlformats.org/drawingml/2006/main">
            <a:pPr algn="ctr">
              <a:defRPr sz="1575" b="0">
                <a:solidFill>
                  <a:srgbClr val="111111"/>
                </a:solidFill>
              </a:defRPr>
            </a:pPr>
            <a:r>
              <a:rPr sz="1575" b="0">
                <a:solidFill>
                  <a:srgbClr val="111111"/>
                </a:solidFill>
              </a:rPr>
              <a:t>mean 0.031</a:t>
            </a:r>
          </a:p>
          <a:p xmlns:a="http://schemas.openxmlformats.org/drawingml/2006/main">
            <a:pPr algn="ctr">
              <a:defRPr sz="1575" b="0">
                <a:solidFill>
                  <a:srgbClr val="111111"/>
                </a:solidFill>
              </a:defRPr>
            </a:pPr>
            <a:r>
              <a:rPr sz="1575" b="0">
                <a:solidFill>
                  <a:srgbClr val="111111"/>
                </a:solidFill>
              </a:rPr>
              <a:t>density 0.373</a:t>
            </a:r>
          </a:p>
        </p:txBody>
      </p:sp>
      <p:sp>
        <p:nvSpPr>
          <p:cNvPr id="14" name="">
            <a:extLst xmlns:a="http://schemas.openxmlformats.org/drawingml/2006/main">
              <a:ext uri="{FF2B5EF4-FFF2-40B4-BE49-F238E27FC236}">
                <a16:creationId xmlns:a16="http://schemas.microsoft.com/office/drawing/2014/main" id="{A0CE26D0-5CD1-458D-9AB1-9C073111F083}"/>
              </a:ext>
            </a:extLst>
          </p:cNvPr>
          <p:cNvSpPr>
            <a:spLocks xmlns:a="http://schemas.openxmlformats.org/drawingml/2006/main" noGrp="1"/>
          </p:cNvSpPr>
          <p:nvPr/>
        </p:nvSpPr>
        <p:spPr>
          <a:xfrm xmlns:a="http://schemas.openxmlformats.org/drawingml/2006/main">
            <a:off x="8810625" y="1524000"/>
            <a:ext cx="2000250" cy="1285875"/>
          </a:xfrm>
          <a:prstGeom xmlns:a="http://schemas.openxmlformats.org/drawingml/2006/main" prst="rect">
            <a:avLst/>
          </a:prstGeom>
          <a:solidFill xmlns:a="http://schemas.openxmlformats.org/drawingml/2006/main">
            <a:srgbClr val="E7E6E6"/>
          </a:solidFill>
          <a:ln xmlns:a="http://schemas.openxmlformats.org/drawingml/2006/main" w="9525">
            <a:solidFill>
              <a:srgbClr val="005138"/>
            </a:solidFill>
            <a:prstDash val="solid"/>
          </a:ln>
        </p:spPr>
        <p:txBody>
          <a:bodyPr xmlns:a="http://schemas.openxmlformats.org/drawingml/2006/main"/>
          <a:lstStyle xmlns:a="http://schemas.openxmlformats.org/drawingml/2006/main"/>
          <a:p xmlns:a="http://schemas.openxmlformats.org/drawingml/2006/main">
            <a:pPr algn="ctr">
              <a:defRPr sz="1575" b="0">
                <a:solidFill>
                  <a:srgbClr val="111111"/>
                </a:solidFill>
              </a:defRPr>
            </a:pPr>
            <a:r>
              <a:rPr sz="1575" b="0">
                <a:solidFill>
                  <a:srgbClr val="111111"/>
                </a:solidFill>
              </a:rPr>
              <a:t>E &lt;- I</a:t>
            </a:r>
          </a:p>
          <a:p xmlns:a="http://schemas.openxmlformats.org/drawingml/2006/main">
            <a:pPr algn="ctr">
              <a:defRPr sz="1575" b="0">
                <a:solidFill>
                  <a:srgbClr val="111111"/>
                </a:solidFill>
              </a:defRPr>
            </a:pPr>
            <a:r>
              <a:rPr sz="1575" b="0">
                <a:solidFill>
                  <a:srgbClr val="111111"/>
                </a:solidFill>
              </a:rPr>
              <a:t>mean -2.51e-4</a:t>
            </a:r>
          </a:p>
          <a:p xmlns:a="http://schemas.openxmlformats.org/drawingml/2006/main">
            <a:pPr algn="ctr">
              <a:defRPr sz="1575" b="0">
                <a:solidFill>
                  <a:srgbClr val="111111"/>
                </a:solidFill>
              </a:defRPr>
            </a:pPr>
            <a:r>
              <a:rPr sz="1575" b="0">
                <a:solidFill>
                  <a:srgbClr val="111111"/>
                </a:solidFill>
              </a:rPr>
              <a:t>density 0.101</a:t>
            </a:r>
          </a:p>
        </p:txBody>
      </p:sp>
      <p:sp>
        <p:nvSpPr>
          <p:cNvPr id="15" name="">
            <a:extLst xmlns:a="http://schemas.openxmlformats.org/drawingml/2006/main">
              <a:ext uri="{FF2B5EF4-FFF2-40B4-BE49-F238E27FC236}">
                <a16:creationId xmlns:a16="http://schemas.microsoft.com/office/drawing/2014/main" id="{665AD492-1971-4989-BBE8-D77FF0AE5DE8}"/>
              </a:ext>
            </a:extLst>
          </p:cNvPr>
          <p:cNvSpPr>
            <a:spLocks xmlns:a="http://schemas.openxmlformats.org/drawingml/2006/main" noGrp="1"/>
          </p:cNvSpPr>
          <p:nvPr/>
        </p:nvSpPr>
        <p:spPr>
          <a:xfrm xmlns:a="http://schemas.openxmlformats.org/drawingml/2006/main">
            <a:off x="6572250" y="3048000"/>
            <a:ext cx="2000250" cy="1285875"/>
          </a:xfrm>
          <a:prstGeom xmlns:a="http://schemas.openxmlformats.org/drawingml/2006/main" prst="rect">
            <a:avLst/>
          </a:prstGeom>
          <a:solidFill xmlns:a="http://schemas.openxmlformats.org/drawingml/2006/main">
            <a:srgbClr val="FFF3CC"/>
          </a:solidFill>
          <a:ln xmlns:a="http://schemas.openxmlformats.org/drawingml/2006/main" w="9525">
            <a:solidFill>
              <a:srgbClr val="005138"/>
            </a:solidFill>
            <a:prstDash val="solid"/>
          </a:ln>
        </p:spPr>
        <p:txBody>
          <a:bodyPr xmlns:a="http://schemas.openxmlformats.org/drawingml/2006/main"/>
          <a:lstStyle xmlns:a="http://schemas.openxmlformats.org/drawingml/2006/main"/>
          <a:p xmlns:a="http://schemas.openxmlformats.org/drawingml/2006/main">
            <a:pPr algn="ctr">
              <a:defRPr sz="1575" b="0">
                <a:solidFill>
                  <a:srgbClr val="111111"/>
                </a:solidFill>
              </a:defRPr>
            </a:pPr>
            <a:r>
              <a:rPr sz="1575" b="0">
                <a:solidFill>
                  <a:srgbClr val="111111"/>
                </a:solidFill>
              </a:rPr>
              <a:t>I &lt;- E</a:t>
            </a:r>
          </a:p>
          <a:p xmlns:a="http://schemas.openxmlformats.org/drawingml/2006/main">
            <a:pPr algn="ctr">
              <a:defRPr sz="1575" b="0">
                <a:solidFill>
                  <a:srgbClr val="111111"/>
                </a:solidFill>
              </a:defRPr>
            </a:pPr>
            <a:r>
              <a:rPr sz="1575" b="0">
                <a:solidFill>
                  <a:srgbClr val="111111"/>
                </a:solidFill>
              </a:rPr>
              <a:t>mean 0.255</a:t>
            </a:r>
          </a:p>
          <a:p xmlns:a="http://schemas.openxmlformats.org/drawingml/2006/main">
            <a:pPr algn="ctr">
              <a:defRPr sz="1575" b="0">
                <a:solidFill>
                  <a:srgbClr val="111111"/>
                </a:solidFill>
              </a:defRPr>
            </a:pPr>
            <a:r>
              <a:rPr sz="1575" b="0">
                <a:solidFill>
                  <a:srgbClr val="111111"/>
                </a:solidFill>
              </a:rPr>
              <a:t>density 0.208</a:t>
            </a:r>
          </a:p>
        </p:txBody>
      </p:sp>
      <p:sp>
        <p:nvSpPr>
          <p:cNvPr id="16" name="">
            <a:extLst xmlns:a="http://schemas.openxmlformats.org/drawingml/2006/main">
              <a:ext uri="{FF2B5EF4-FFF2-40B4-BE49-F238E27FC236}">
                <a16:creationId xmlns:a16="http://schemas.microsoft.com/office/drawing/2014/main" id="{6EB20406-385A-42C8-B4D6-BB600F856699}"/>
              </a:ext>
            </a:extLst>
          </p:cNvPr>
          <p:cNvSpPr>
            <a:spLocks xmlns:a="http://schemas.openxmlformats.org/drawingml/2006/main" noGrp="1"/>
          </p:cNvSpPr>
          <p:nvPr/>
        </p:nvSpPr>
        <p:spPr>
          <a:xfrm xmlns:a="http://schemas.openxmlformats.org/drawingml/2006/main">
            <a:off x="8810625" y="3048000"/>
            <a:ext cx="2000250" cy="1285875"/>
          </a:xfrm>
          <a:prstGeom xmlns:a="http://schemas.openxmlformats.org/drawingml/2006/main" prst="rect">
            <a:avLst/>
          </a:prstGeom>
          <a:solidFill xmlns:a="http://schemas.openxmlformats.org/drawingml/2006/main">
            <a:srgbClr val="E7E6E6"/>
          </a:solidFill>
          <a:ln xmlns:a="http://schemas.openxmlformats.org/drawingml/2006/main" w="9525">
            <a:solidFill>
              <a:srgbClr val="005138"/>
            </a:solidFill>
            <a:prstDash val="solid"/>
          </a:ln>
        </p:spPr>
        <p:txBody>
          <a:bodyPr xmlns:a="http://schemas.openxmlformats.org/drawingml/2006/main"/>
          <a:lstStyle xmlns:a="http://schemas.openxmlformats.org/drawingml/2006/main"/>
          <a:p xmlns:a="http://schemas.openxmlformats.org/drawingml/2006/main">
            <a:pPr algn="ctr">
              <a:defRPr sz="1575" b="0">
                <a:solidFill>
                  <a:srgbClr val="111111"/>
                </a:solidFill>
              </a:defRPr>
            </a:pPr>
            <a:r>
              <a:rPr sz="1575" b="0">
                <a:solidFill>
                  <a:srgbClr val="111111"/>
                </a:solidFill>
              </a:rPr>
              <a:t>I &lt;- I</a:t>
            </a:r>
          </a:p>
          <a:p xmlns:a="http://schemas.openxmlformats.org/drawingml/2006/main">
            <a:pPr algn="ctr">
              <a:defRPr sz="1575" b="0">
                <a:solidFill>
                  <a:srgbClr val="111111"/>
                </a:solidFill>
              </a:defRPr>
            </a:pPr>
            <a:r>
              <a:rPr sz="1575" b="0">
                <a:solidFill>
                  <a:srgbClr val="111111"/>
                </a:solidFill>
              </a:rPr>
              <a:t>mean -0.002</a:t>
            </a:r>
          </a:p>
          <a:p xmlns:a="http://schemas.openxmlformats.org/drawingml/2006/main">
            <a:pPr algn="ctr">
              <a:defRPr sz="1575" b="0">
                <a:solidFill>
                  <a:srgbClr val="111111"/>
                </a:solidFill>
              </a:defRPr>
            </a:pPr>
            <a:r>
              <a:rPr sz="1575" b="0">
                <a:solidFill>
                  <a:srgbClr val="111111"/>
                </a:solidFill>
              </a:rPr>
              <a:t>density 0.262</a:t>
            </a:r>
          </a:p>
        </p:txBody>
      </p:sp>
    </p:spTree>
    <p:extLst>
      <p:ext uri="{BB962C8B-B14F-4D97-AF65-F5344CB8AC3E}">
        <p14:creationId xmlns:p14="http://schemas.microsoft.com/office/powerpoint/2010/main" val="422366075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4"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7396b6866370460e"/>
          <a:stretch xmlns:a="http://schemas.openxmlformats.org/drawingml/2006/main">
            <a:fillRect l="0" t="0" r="0" b="0"/>
          </a:stretch>
        </p:blipFill>
        <p:spPr>
          <a:xfrm xmlns:a="http://schemas.openxmlformats.org/drawingml/2006/main">
            <a:off x="-14069" y="6192295"/>
            <a:ext cx="12206069" cy="690789"/>
          </a:xfrm>
        </p:spPr>
      </p:pic>
      <p:sp>
        <p:nvSpPr>
          <p:cNvPr id="8" name="Footer Placeholder 4">
            <a:extLst xmlns:a="http://schemas.openxmlformats.org/drawingml/2006/main">
              <a:ext uri="{FF2B5EF4-FFF2-40B4-BE49-F238E27FC236}">
                <a16:creationId xmlns:a16="http://schemas.microsoft.com/office/drawing/2014/main" id="{B57638C5-9186-A41C-8977-83A429B9F91D}"/>
              </a:ext>
            </a:extLst>
          </p:cNvPr>
          <p:cNvSpPr>
            <a:spLocks xmlns:a="http://schemas.openxmlformats.org/drawingml/2006/main" noGrp="1"/>
          </p:cNvSpPr>
          <p:nvPr>
            <p:ph type="ftr" idx="11"/>
          </p:nvPr>
        </p:nvSpPr>
        <p:spPr>
          <a:xfrm xmlns:a="http://schemas.openxmlformats.org/drawingml/2006/main" rot="16200000">
            <a:off x="10817434" y="4975433"/>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pPr algn="l">
              <a:buNone/>
            </a:pPr>
            <a:r>
              <a:rPr sz="1000"/>
              <a:t>GEORGE MASON UNIVERSITY</a:t>
            </a:r>
          </a:p>
        </p:txBody>
      </p:sp>
      <p:sp>
        <p:nvSpPr>
          <p:cNvPr id="9" name="Slide Number Placeholder 5">
            <a:extLst xmlns:a="http://schemas.openxmlformats.org/drawingml/2006/main">
              <a:ext uri="{FF2B5EF4-FFF2-40B4-BE49-F238E27FC236}">
                <a16:creationId xmlns:a16="http://schemas.microsoft.com/office/drawing/2014/main" id="{17FA3253-C4D0-D9DE-C0F7-963881F1BA66}"/>
              </a:ext>
            </a:extLst>
          </p:cNvPr>
          <p:cNvSpPr>
            <a:spLocks xmlns:a="http://schemas.openxmlformats.org/drawingml/2006/main" noGrp="1"/>
          </p:cNvSpPr>
          <p:nvPr>
            <p:ph type="sldNum" idx="12"/>
          </p:nvPr>
        </p:nvSpPr>
        <p:spPr>
          <a:xfrm xmlns:a="http://schemas.openxmlformats.org/drawingml/2006/main">
            <a:off x="116618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pPr algn="ctr">
              <a:buNone/>
            </a:pPr>
            <a:fld id="{944FE883-4AC6-394B-8129-6E4BB686DB20}" type="slidenum">
              <a:rPr>
                <a:solidFill>
                  <a:schemeClr val="bg1"/>
                </a:solidFill>
              </a:rPr>
              <a:t>13</a:t>
            </a:fld>
            <a:endParaRPr>
              <a:solidFill>
                <a:schemeClr val="bg1"/>
              </a:solidFill>
            </a:endParaRPr>
          </a:p>
        </p:txBody>
      </p:sp>
      <p:sp>
        <p:nvSpPr>
          <p:cNvPr id="11" name="Title 1">
            <a:extLst xmlns:a="http://schemas.openxmlformats.org/drawingml/2006/main">
              <a:ext uri="{FF2B5EF4-FFF2-40B4-BE49-F238E27FC236}">
                <a16:creationId xmlns:a16="http://schemas.microsoft.com/office/drawing/2014/main" id="{DE8ED482-B218-1DEC-A074-F34989A22FEA}"/>
              </a:ext>
            </a:extLst>
          </p:cNvPr>
          <p:cNvSpPr>
            <a:spLocks xmlns:a="http://schemas.openxmlformats.org/drawingml/2006/main" noGrp="1"/>
          </p:cNvSpPr>
          <p:nvPr/>
        </p:nvSpPr>
        <p:spPr>
          <a:xfrm xmlns:a="http://schemas.openxmlformats.org/drawingml/2006/main">
            <a:off x="3629" y="2267"/>
            <a:ext cx="12188371" cy="1325563"/>
          </a:xfrm>
          <a:prstGeom xmlns:a="http://schemas.openxmlformats.org/drawingml/2006/main" prst="rect">
            <a:avLst/>
          </a:prstGeom>
        </p:spPr>
        <p:txBody>
          <a:bodyPr xmlns:a="http://schemas.openxmlformats.org/drawingml/2006/main" vert="horz" lIns="91440" tIns="45720" rIns="91440" bIns="45720" anchor="ctr">
            <a:normAutofit fontScale="100000"/>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gn="l">
              <a:defRPr sz="3600" b="0">
                <a:solidFill>
                  <a:srgbClr val="005138"/>
                </a:solidFill>
              </a:defRPr>
            </a:pPr>
            <a:r>
              <a:rPr sz="3600" b="0">
                <a:solidFill>
                  <a:srgbClr val="005138"/>
                </a:solidFill>
              </a:rPr>
              <a:t>Eigenspectrum: normalized J sits on the boundary</a:t>
            </a:r>
            <a:endParaRPr>
              <a:solidFill>
                <a:schemeClr val="tx2"/>
              </a:solidFill>
            </a:endParaRPr>
          </a:p>
        </p:txBody>
      </p:sp>
      <p:sp>
        <p:nvSpPr>
          <p:cNvPr id="2" name="TextBox 1">
            <a:extLst xmlns:a="http://schemas.openxmlformats.org/drawingml/2006/main">
              <a:ext uri="{FF2B5EF4-FFF2-40B4-BE49-F238E27FC236}">
                <a16:creationId xmlns:a16="http://schemas.microsoft.com/office/drawing/2014/main" id="{ABA88A3B-53EC-3C73-65DD-E13892A21887}"/>
              </a:ext>
            </a:extLst>
          </p:cNvPr>
          <p:cNvSpPr>
            <a:spLocks xmlns:a="http://schemas.openxmlformats.org/drawingml/2006/main" noGrp="1"/>
          </p:cNvSpPr>
          <p:nvPr/>
        </p:nvSpPr>
        <p:spPr>
          <a:xfrm xmlns:a="http://schemas.openxmlformats.org/drawingml/2006/main">
            <a:off x="416943" y="1365848"/>
            <a:ext cx="8856452" cy="3421811"/>
          </a:xfrm>
          <a:prstGeom xmlns:a="http://schemas.openxmlformats.org/drawingml/2006/main" prst="rect">
            <a:avLst/>
          </a:prstGeom>
          <a:noFill xmlns:a="http://schemas.openxmlformats.org/drawingml/2006/main"/>
        </p:spPr>
        <p:txBody>
          <a:bodyPr xmlns:a="http://schemas.openxmlformats.org/drawingml/2006/main" rot="0" spcFirstLastPara="0" vert="horz" wrap="square" lIns="91440" tIns="45720" rIns="91440" bIns="45720" anchor="t">
            <a:spAutoFit/>
          </a:bodyPr>
          <a:lstStyle xmlns:a="http://schemas.openxmlformats.org/drawingml/2006/main"/>
          <a:p xmlns:a="http://schemas.openxmlformats.org/drawingml/2006/main">
            <a:pPr algn="l">
              <a:buNone/>
            </a:pPr>
            <a:endParaRPr/>
          </a:p>
        </p:txBody>
      </p:sp>
      <p:sp>
        <p:nvSpPr>
          <p:cNvPr id="4" name="TextBox 3">
            <a:extLst xmlns:a="http://schemas.openxmlformats.org/drawingml/2006/main">
              <a:ext uri="{FF2B5EF4-FFF2-40B4-BE49-F238E27FC236}">
                <a16:creationId xmlns:a16="http://schemas.microsoft.com/office/drawing/2014/main" id="{818C727A-A756-39C0-41B5-0DB492335B1F}"/>
              </a:ext>
            </a:extLst>
          </p:cNvPr>
          <p:cNvSpPr>
            <a:spLocks xmlns:a="http://schemas.openxmlformats.org/drawingml/2006/main" noGrp="1"/>
          </p:cNvSpPr>
          <p:nvPr/>
        </p:nvSpPr>
        <p:spPr>
          <a:xfrm xmlns:a="http://schemas.openxmlformats.org/drawingml/2006/main">
            <a:off x="413876" y="1353580"/>
            <a:ext cx="6817360" cy="1805940"/>
          </a:xfrm>
          <a:prstGeom xmlns:a="http://schemas.openxmlformats.org/drawingml/2006/main" prst="rect">
            <a:avLst/>
          </a:prstGeom>
          <a:noFill xmlns:a="http://schemas.openxmlformats.org/drawingml/2006/main"/>
        </p:spPr>
        <p:txBody>
          <a:bodyPr xmlns:a="http://schemas.openxmlformats.org/drawingml/2006/main" rot="0" spcFirstLastPara="0" vert="horz" wrap="square" lIns="91440" tIns="45720" rIns="91440" bIns="45720" anchor="t">
            <a:spAutoFit/>
          </a:bodyPr>
          <a:lstStyle xmlns:a="http://schemas.openxmlformats.org/drawingml/2006/main"/>
          <a:p xmlns:a="http://schemas.openxmlformats.org/drawingml/2006/main">
            <a:pPr marL="285750" indent="-285750" algn="l">
              <a:buFont typeface="Arial"/>
              <a:buChar char="•"/>
              <a:defRPr sz="1875" b="0">
                <a:solidFill>
                  <a:srgbClr val="111111"/>
                </a:solidFill>
              </a:defRPr>
            </a:pPr>
            <a:r>
              <a:rPr sz="1875" b="0">
                <a:solidFill>
                  <a:srgbClr val="111111"/>
                </a:solidFill>
              </a:rPr>
              <a:t>Full network spectral radius: 1.000</a:t>
            </a:r>
            <a:endParaRPr/>
          </a:p>
          <a:p xmlns:a="http://schemas.openxmlformats.org/drawingml/2006/main">
            <a:pPr marL="285750" indent="-285750" algn="l">
              <a:buFont typeface="Arial"/>
              <a:buChar char="•"/>
              <a:defRPr sz="1875" b="0">
                <a:solidFill>
                  <a:srgbClr val="111111"/>
                </a:solidFill>
              </a:defRPr>
            </a:pPr>
            <a:r>
              <a:rPr sz="1875" b="0">
                <a:solidFill>
                  <a:srgbClr val="111111"/>
                </a:solidFill>
              </a:rPr>
              <a:t>Max real eigenvalue: 1.000</a:t>
            </a:r>
            <a:endParaRPr/>
          </a:p>
          <a:p xmlns:a="http://schemas.openxmlformats.org/drawingml/2006/main">
            <a:pPr marL="285750" indent="-285750" algn="l">
              <a:buFont typeface="Arial"/>
              <a:buChar char="•"/>
              <a:defRPr sz="1875" b="0">
                <a:solidFill>
                  <a:srgbClr val="111111"/>
                </a:solidFill>
              </a:defRPr>
            </a:pPr>
            <a:r>
              <a:rPr sz="1875" b="0">
                <a:solidFill>
                  <a:srgbClr val="111111"/>
                </a:solidFill>
              </a:rPr>
              <a:t>cond(I - J): 2.42e+18</a:t>
            </a:r>
            <a:endParaRPr/>
          </a:p>
          <a:p xmlns:a="http://schemas.openxmlformats.org/drawingml/2006/main">
            <a:pPr marL="285750" indent="-285750" algn="l">
              <a:buFont typeface="Arial"/>
              <a:buChar char="•"/>
              <a:defRPr sz="1875" b="0">
                <a:solidFill>
                  <a:srgbClr val="111111"/>
                </a:solidFill>
              </a:defRPr>
            </a:pPr>
            <a:r>
              <a:rPr sz="1875" b="0">
                <a:solidFill>
                  <a:srgbClr val="111111"/>
                </a:solidFill>
              </a:rPr>
              <a:t>Numerical abscissa: 32.189</a:t>
            </a:r>
            <a:endParaRPr/>
          </a:p>
          <a:p xmlns:a="http://schemas.openxmlformats.org/drawingml/2006/main">
            <a:pPr marL="285750" indent="-285750" algn="l">
              <a:buFont typeface="Arial"/>
              <a:buChar char="•"/>
              <a:defRPr sz="1875" b="0">
                <a:solidFill>
                  <a:srgbClr val="111111"/>
                </a:solidFill>
              </a:defRPr>
            </a:pPr>
            <a:r>
              <a:rPr sz="1875" b="0">
                <a:solidFill>
                  <a:srgbClr val="111111"/>
                </a:solidFill>
              </a:rPr>
              <a:t>Interpretation: radius-one response is a near-critical, ill-conditioned limit.</a:t>
            </a:r>
            <a:endParaRPr/>
          </a:p>
        </p:txBody>
      </p:sp>
      <p:graphicFrame>
        <p:nvGraphicFramePr>
          <p:cNvPr id="20" name="Chart"/>
          <p:cNvGraphicFramePr/>
          <p:nvPr/>
        </p:nvGraphicFramePr>
        <p:xfrm>
          <a:off xmlns:a="http://schemas.openxmlformats.org/drawingml/2006/main" x="7286625" y="1666875"/>
          <a:ext xmlns:a="http://schemas.openxmlformats.org/drawingml/2006/main" cx="3429000" cy="2857500"/>
        </p:xfrm>
        <a:graphic xmlns:a="http://schemas.openxmlformats.org/drawingml/2006/main">
          <a:graphicData uri="http://schemas.openxmlformats.org/drawingml/2006/chart">
            <c:chart xmlns:r="http://schemas.openxmlformats.org/officeDocument/2006/relationships" xmlns:c="http://schemas.openxmlformats.org/drawingml/2006/chart" r:id="Rdfe54d6618cd424a"/>
          </a:graphicData>
        </a:graphic>
      </p:graphicFrame>
    </p:spTree>
    <p:extLst>
      <p:ext uri="{BB962C8B-B14F-4D97-AF65-F5344CB8AC3E}">
        <p14:creationId xmlns:p14="http://schemas.microsoft.com/office/powerpoint/2010/main" val="277116923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5"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12c5b6c816d6404a"/>
          <a:stretch xmlns:a="http://schemas.openxmlformats.org/drawingml/2006/main">
            <a:fillRect l="0" t="0" r="0" b="0"/>
          </a:stretch>
        </p:blipFill>
        <p:spPr>
          <a:xfrm xmlns:a="http://schemas.openxmlformats.org/drawingml/2006/main">
            <a:off x="-14069" y="6192295"/>
            <a:ext cx="12206069" cy="690789"/>
          </a:xfrm>
        </p:spPr>
      </p:pic>
      <p:sp>
        <p:nvSpPr>
          <p:cNvPr id="8" name="Footer Placeholder 4">
            <a:extLst xmlns:a="http://schemas.openxmlformats.org/drawingml/2006/main">
              <a:ext uri="{FF2B5EF4-FFF2-40B4-BE49-F238E27FC236}">
                <a16:creationId xmlns:a16="http://schemas.microsoft.com/office/drawing/2014/main" id="{9467DACF-4229-C560-7D49-D7444CB00271}"/>
              </a:ext>
            </a:extLst>
          </p:cNvPr>
          <p:cNvSpPr>
            <a:spLocks xmlns:a="http://schemas.openxmlformats.org/drawingml/2006/main" noGrp="1"/>
          </p:cNvSpPr>
          <p:nvPr>
            <p:ph type="ftr" idx="11"/>
          </p:nvPr>
        </p:nvSpPr>
        <p:spPr>
          <a:xfrm xmlns:a="http://schemas.openxmlformats.org/drawingml/2006/main" rot="16200000">
            <a:off x="10817434" y="4975433"/>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pPr algn="l">
              <a:buNone/>
            </a:pPr>
            <a:r>
              <a:rPr sz="1000"/>
              <a:t>GEORGE MASON UNIVERSITY</a:t>
            </a:r>
          </a:p>
        </p:txBody>
      </p:sp>
      <p:sp>
        <p:nvSpPr>
          <p:cNvPr id="9" name="Slide Number Placeholder 5">
            <a:extLst xmlns:a="http://schemas.openxmlformats.org/drawingml/2006/main">
              <a:ext uri="{FF2B5EF4-FFF2-40B4-BE49-F238E27FC236}">
                <a16:creationId xmlns:a16="http://schemas.microsoft.com/office/drawing/2014/main" id="{1578D2AD-CDC4-BD7F-68DB-97485FD9F5E0}"/>
              </a:ext>
            </a:extLst>
          </p:cNvPr>
          <p:cNvSpPr>
            <a:spLocks xmlns:a="http://schemas.openxmlformats.org/drawingml/2006/main" noGrp="1"/>
          </p:cNvSpPr>
          <p:nvPr>
            <p:ph type="sldNum" idx="12"/>
          </p:nvPr>
        </p:nvSpPr>
        <p:spPr>
          <a:xfrm xmlns:a="http://schemas.openxmlformats.org/drawingml/2006/main">
            <a:off x="116618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pPr algn="ctr">
              <a:buNone/>
            </a:pPr>
            <a:fld id="{944FE883-4AC6-394B-8129-6E4BB686DB20}" type="slidenum">
              <a:rPr>
                <a:solidFill>
                  <a:schemeClr val="bg1"/>
                </a:solidFill>
              </a:rPr>
              <a:t>14</a:t>
            </a:fld>
            <a:endParaRPr>
              <a:solidFill>
                <a:schemeClr val="bg1"/>
              </a:solidFill>
            </a:endParaRPr>
          </a:p>
        </p:txBody>
      </p:sp>
      <p:sp>
        <p:nvSpPr>
          <p:cNvPr id="11" name="Title 1">
            <a:extLst xmlns:a="http://schemas.openxmlformats.org/drawingml/2006/main">
              <a:ext uri="{FF2B5EF4-FFF2-40B4-BE49-F238E27FC236}">
                <a16:creationId xmlns:a16="http://schemas.microsoft.com/office/drawing/2014/main" id="{1708855B-A86D-FBB0-D392-08B2ACD458CF}"/>
              </a:ext>
            </a:extLst>
          </p:cNvPr>
          <p:cNvSpPr>
            <a:spLocks xmlns:a="http://schemas.openxmlformats.org/drawingml/2006/main" noGrp="1"/>
          </p:cNvSpPr>
          <p:nvPr/>
        </p:nvSpPr>
        <p:spPr>
          <a:xfrm xmlns:a="http://schemas.openxmlformats.org/drawingml/2006/main">
            <a:off x="3629" y="2267"/>
            <a:ext cx="12188371" cy="1325563"/>
          </a:xfrm>
          <a:prstGeom xmlns:a="http://schemas.openxmlformats.org/drawingml/2006/main" prst="rect">
            <a:avLst/>
          </a:prstGeom>
        </p:spPr>
        <p:txBody>
          <a:bodyPr xmlns:a="http://schemas.openxmlformats.org/drawingml/2006/main" vert="horz" lIns="91440" tIns="45720" rIns="91440" bIns="45720" anchor="ctr">
            <a:normAutofit fontScale="100000"/>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gn="l">
              <a:defRPr sz="3600" b="0">
                <a:solidFill>
                  <a:srgbClr val="005138"/>
                </a:solidFill>
              </a:defRPr>
            </a:pPr>
            <a:r>
              <a:rPr sz="3600" b="0">
                <a:solidFill>
                  <a:srgbClr val="005138"/>
                </a:solidFill>
              </a:rPr>
              <a:t>Meet Jeff: motif-corrected dynamics cross unity</a:t>
            </a:r>
            <a:endParaRPr/>
          </a:p>
        </p:txBody>
      </p:sp>
      <p:sp>
        <p:nvSpPr>
          <p:cNvPr id="13" name="">
            <a:extLst xmlns:a="http://schemas.openxmlformats.org/drawingml/2006/main">
              <a:ext uri="{FF2B5EF4-FFF2-40B4-BE49-F238E27FC236}">
                <a16:creationId xmlns:a16="http://schemas.microsoft.com/office/drawing/2014/main" id="{C365020E-250C-4737-B372-BBB59462DA6D}"/>
              </a:ext>
            </a:extLst>
          </p:cNvPr>
          <p:cNvSpPr>
            <a:spLocks xmlns:a="http://schemas.openxmlformats.org/drawingml/2006/main" noGrp="1"/>
          </p:cNvSpPr>
          <p:nvPr/>
        </p:nvSpPr>
        <p:spPr>
          <a:xfrm xmlns:a="http://schemas.openxmlformats.org/drawingml/2006/main">
            <a:off x="571500" y="1428750"/>
            <a:ext cx="51435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111111"/>
                </a:solidFill>
              </a:defRPr>
            </a:pPr>
            <a:r>
              <a:rPr sz="1950" b="0">
                <a:solidFill>
                  <a:srgbClr val="111111"/>
                </a:solidFill>
              </a:rPr>
              <a:t>J_eff = J0 + block-averaged empirical Z^2</a:t>
            </a:r>
          </a:p>
          <a:p xmlns:a="http://schemas.openxmlformats.org/drawingml/2006/main">
            <a:pPr algn="l">
              <a:defRPr sz="1950" b="0">
                <a:solidFill>
                  <a:srgbClr val="111111"/>
                </a:solidFill>
              </a:defRPr>
            </a:pPr>
            <a:r>
              <a:rPr sz="1950" b="0">
                <a:solidFill>
                  <a:srgbClr val="111111"/>
                </a:solidFill>
              </a:rPr>
              <a:t>rho(J_eff) = 1.034</a:t>
            </a:r>
          </a:p>
          <a:p xmlns:a="http://schemas.openxmlformats.org/drawingml/2006/main">
            <a:pPr algn="l">
              <a:defRPr sz="1950" b="0">
                <a:solidFill>
                  <a:srgbClr val="111111"/>
                </a:solidFill>
              </a:defRPr>
            </a:pPr>
            <a:r>
              <a:rPr sz="1950" b="0">
                <a:solidFill>
                  <a:srgbClr val="111111"/>
                </a:solidFill>
              </a:rPr>
              <a:t>max Re(lambda_eff) = 1.034</a:t>
            </a:r>
          </a:p>
          <a:p xmlns:a="http://schemas.openxmlformats.org/drawingml/2006/main">
            <a:pPr algn="l">
              <a:defRPr sz="1950" b="0">
                <a:solidFill>
                  <a:srgbClr val="111111"/>
                </a:solidFill>
              </a:defRPr>
            </a:pPr>
            <a:r>
              <a:rPr sz="1950" b="0">
                <a:solidFill>
                  <a:srgbClr val="111111"/>
                </a:solidFill>
              </a:rPr>
              <a:t>cond(I - J_eff) = 1364.3</a:t>
            </a:r>
          </a:p>
          <a:p xmlns:a="http://schemas.openxmlformats.org/drawingml/2006/main">
            <a:pPr algn="l">
              <a:defRPr sz="1950" b="0">
                <a:solidFill>
                  <a:srgbClr val="111111"/>
                </a:solidFill>
              </a:defRPr>
            </a:pPr>
            <a:r>
              <a:rPr sz="1950" b="0">
                <a:solidFill>
                  <a:srgbClr val="111111"/>
                </a:solidFill>
              </a:rPr>
              <a:t>J_eff is derived from normalized J, then left un-renormalized to expose motif-driven instability.</a:t>
            </a:r>
          </a:p>
        </p:txBody>
      </p:sp>
      <p:graphicFrame>
        <p:nvGraphicFramePr>
          <p:cNvPr id="20" name="Chart"/>
          <p:cNvGraphicFramePr/>
          <p:nvPr/>
        </p:nvGraphicFramePr>
        <p:xfrm>
          <a:off xmlns:a="http://schemas.openxmlformats.org/drawingml/2006/main" x="6334125" y="1428750"/>
          <a:ext xmlns:a="http://schemas.openxmlformats.org/drawingml/2006/main" cx="4095750" cy="3143250"/>
        </p:xfrm>
        <a:graphic xmlns:a="http://schemas.openxmlformats.org/drawingml/2006/main">
          <a:graphicData uri="http://schemas.openxmlformats.org/drawingml/2006/chart">
            <c:chart xmlns:r="http://schemas.openxmlformats.org/officeDocument/2006/relationships" xmlns:c="http://schemas.openxmlformats.org/drawingml/2006/chart" r:id="R2e550e27f1f049e4"/>
          </a:graphicData>
        </a:graphic>
      </p:graphicFrame>
    </p:spTree>
    <p:extLst>
      <p:ext uri="{BB962C8B-B14F-4D97-AF65-F5344CB8AC3E}">
        <p14:creationId xmlns:p14="http://schemas.microsoft.com/office/powerpoint/2010/main" val="205774120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15"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707fc1ee063941d2"/>
          <a:stretch xmlns:a="http://schemas.openxmlformats.org/drawingml/2006/main">
            <a:fillRect l="0" t="0" r="0" b="0"/>
          </a:stretch>
        </p:blipFill>
        <p:spPr>
          <a:xfrm xmlns:a="http://schemas.openxmlformats.org/drawingml/2006/main">
            <a:off x="-14069" y="6192295"/>
            <a:ext cx="12206069" cy="690789"/>
          </a:xfrm>
        </p:spPr>
      </p:pic>
      <p:sp>
        <p:nvSpPr>
          <p:cNvPr id="8" name="Footer Placeholder 4">
            <a:extLst xmlns:a="http://schemas.openxmlformats.org/drawingml/2006/main">
              <a:ext uri="{FF2B5EF4-FFF2-40B4-BE49-F238E27FC236}">
                <a16:creationId xmlns:a16="http://schemas.microsoft.com/office/drawing/2014/main" id="{F8BB6C12-864D-6D29-9DBD-29C813D1E56D}"/>
              </a:ext>
            </a:extLst>
          </p:cNvPr>
          <p:cNvSpPr>
            <a:spLocks xmlns:a="http://schemas.openxmlformats.org/drawingml/2006/main" noGrp="1"/>
          </p:cNvSpPr>
          <p:nvPr>
            <p:ph type="ftr" idx="11"/>
          </p:nvPr>
        </p:nvSpPr>
        <p:spPr>
          <a:xfrm xmlns:a="http://schemas.openxmlformats.org/drawingml/2006/main" rot="16200000">
            <a:off x="10817434" y="4975433"/>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pPr algn="l">
              <a:buNone/>
            </a:pPr>
            <a:r>
              <a:rPr sz="1000"/>
              <a:t>GEORGE MASON UNIVERSITY</a:t>
            </a:r>
          </a:p>
        </p:txBody>
      </p:sp>
      <p:sp>
        <p:nvSpPr>
          <p:cNvPr id="9" name="Slide Number Placeholder 5">
            <a:extLst xmlns:a="http://schemas.openxmlformats.org/drawingml/2006/main">
              <a:ext uri="{FF2B5EF4-FFF2-40B4-BE49-F238E27FC236}">
                <a16:creationId xmlns:a16="http://schemas.microsoft.com/office/drawing/2014/main" id="{1110F17F-2E69-C9F2-FA78-74AD749B663E}"/>
              </a:ext>
            </a:extLst>
          </p:cNvPr>
          <p:cNvSpPr>
            <a:spLocks xmlns:a="http://schemas.openxmlformats.org/drawingml/2006/main" noGrp="1"/>
          </p:cNvSpPr>
          <p:nvPr>
            <p:ph type="sldNum" idx="12"/>
          </p:nvPr>
        </p:nvSpPr>
        <p:spPr>
          <a:xfrm xmlns:a="http://schemas.openxmlformats.org/drawingml/2006/main">
            <a:off x="116618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pPr algn="ctr">
              <a:buNone/>
            </a:pPr>
            <a:fld id="{944FE883-4AC6-394B-8129-6E4BB686DB20}" type="slidenum">
              <a:rPr>
                <a:solidFill>
                  <a:schemeClr val="bg1"/>
                </a:solidFill>
              </a:rPr>
              <a:t>15</a:t>
            </a:fld>
            <a:endParaRPr>
              <a:solidFill>
                <a:schemeClr val="bg1"/>
              </a:solidFill>
            </a:endParaRPr>
          </a:p>
        </p:txBody>
      </p:sp>
      <p:sp>
        <p:nvSpPr>
          <p:cNvPr id="11" name="Title 1">
            <a:extLst xmlns:a="http://schemas.openxmlformats.org/drawingml/2006/main">
              <a:ext uri="{FF2B5EF4-FFF2-40B4-BE49-F238E27FC236}">
                <a16:creationId xmlns:a16="http://schemas.microsoft.com/office/drawing/2014/main" id="{EE86B9C5-43E0-6AE4-A2B4-EC2699DF6CBF}"/>
              </a:ext>
            </a:extLst>
          </p:cNvPr>
          <p:cNvSpPr>
            <a:spLocks xmlns:a="http://schemas.openxmlformats.org/drawingml/2006/main" noGrp="1"/>
          </p:cNvSpPr>
          <p:nvPr/>
        </p:nvSpPr>
        <p:spPr>
          <a:xfrm xmlns:a="http://schemas.openxmlformats.org/drawingml/2006/main">
            <a:off x="3629" y="2267"/>
            <a:ext cx="12188371" cy="1325563"/>
          </a:xfrm>
          <a:prstGeom xmlns:a="http://schemas.openxmlformats.org/drawingml/2006/main" prst="rect">
            <a:avLst/>
          </a:prstGeom>
        </p:spPr>
        <p:txBody>
          <a:bodyPr xmlns:a="http://schemas.openxmlformats.org/drawingml/2006/main" vert="horz" lIns="91440" tIns="45720" rIns="91440" bIns="45720" anchor="ctr">
            <a:normAutofit fontScale="100000"/>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gn="l">
              <a:defRPr sz="3600" b="0">
                <a:solidFill>
                  <a:srgbClr val="005138"/>
                </a:solidFill>
              </a:defRPr>
            </a:pPr>
            <a:r>
              <a:rPr sz="3600" b="0">
                <a:solidFill>
                  <a:srgbClr val="005138"/>
                </a:solidFill>
              </a:rPr>
              <a:t>Motif analysis: enrichment is not uniform</a:t>
            </a:r>
            <a:endParaRPr/>
          </a:p>
        </p:txBody>
      </p:sp>
      <p:sp>
        <p:nvSpPr>
          <p:cNvPr id="13" name="">
            <a:extLst xmlns:a="http://schemas.openxmlformats.org/drawingml/2006/main">
              <a:ext uri="{FF2B5EF4-FFF2-40B4-BE49-F238E27FC236}">
                <a16:creationId xmlns:a16="http://schemas.microsoft.com/office/drawing/2014/main" id="{FCBCBFF1-612D-4EEB-B9CA-18A55892EF66}"/>
              </a:ext>
            </a:extLst>
          </p:cNvPr>
          <p:cNvSpPr>
            <a:spLocks xmlns:a="http://schemas.openxmlformats.org/drawingml/2006/main" noGrp="1"/>
          </p:cNvSpPr>
          <p:nvPr/>
        </p:nvSpPr>
        <p:spPr>
          <a:xfrm xmlns:a="http://schemas.openxmlformats.org/drawingml/2006/main">
            <a:off x="552450" y="1381125"/>
            <a:ext cx="5000625" cy="3667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11111"/>
                </a:solidFill>
              </a:defRPr>
            </a:pPr>
            <a:r>
              <a:rPr sz="1800" b="0">
                <a:solidFill>
                  <a:srgbClr val="111111"/>
                </a:solidFill>
              </a:rPr>
              <a:t>Observed binary motifs were compared with block-density independence.</a:t>
            </a:r>
          </a:p>
          <a:p xmlns:a="http://schemas.openxmlformats.org/drawingml/2006/main">
            <a:pPr algn="l">
              <a:defRPr sz="1800" b="0">
                <a:solidFill>
                  <a:srgbClr val="111111"/>
                </a:solidFill>
              </a:defRPr>
            </a:pPr>
            <a:r>
              <a:rPr sz="1800" b="0">
                <a:solidFill>
                  <a:srgbClr val="111111"/>
                </a:solidFill>
              </a:rPr>
              <a:t>Mean enrichment ratios: chain 1.02, reciprocal 2.66, divergent 1.27, convergent 1.17.</a:t>
            </a:r>
          </a:p>
          <a:p xmlns:a="http://schemas.openxmlformats.org/drawingml/2006/main">
            <a:pPr algn="l">
              <a:defRPr sz="1800" b="0">
                <a:solidFill>
                  <a:srgbClr val="111111"/>
                </a:solidFill>
              </a:defRPr>
            </a:pPr>
            <a:r>
              <a:rPr sz="1800" b="0">
                <a:solidFill>
                  <a:srgbClr val="111111"/>
                </a:solidFill>
              </a:rPr>
              <a:t>Reciprocal motifs are strongest on average, while chain enrichment is heterogeneous across E/I paths.</a:t>
            </a:r>
          </a:p>
        </p:txBody>
      </p:sp>
      <p:graphicFrame>
        <p:nvGraphicFramePr>
          <p:cNvPr id="20" name="Chart"/>
          <p:cNvGraphicFramePr/>
          <p:nvPr/>
        </p:nvGraphicFramePr>
        <p:xfrm>
          <a:off xmlns:a="http://schemas.openxmlformats.org/drawingml/2006/main" x="6191250" y="1381125"/>
          <a:ext xmlns:a="http://schemas.openxmlformats.org/drawingml/2006/main" cx="4476750" cy="3238500"/>
        </p:xfrm>
        <a:graphic xmlns:a="http://schemas.openxmlformats.org/drawingml/2006/main">
          <a:graphicData uri="http://schemas.openxmlformats.org/drawingml/2006/chart">
            <c:chart xmlns:r="http://schemas.openxmlformats.org/officeDocument/2006/relationships" xmlns:c="http://schemas.openxmlformats.org/drawingml/2006/chart" r:id="Rf673da497d914b96"/>
          </a:graphicData>
        </a:graphic>
      </p:graphicFrame>
    </p:spTree>
    <p:extLst>
      <p:ext uri="{BB962C8B-B14F-4D97-AF65-F5344CB8AC3E}">
        <p14:creationId xmlns:p14="http://schemas.microsoft.com/office/powerpoint/2010/main" val="182921423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16"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8779e3b68a954bb2"/>
          <a:stretch xmlns:a="http://schemas.openxmlformats.org/drawingml/2006/main">
            <a:fillRect l="0" t="0" r="0" b="0"/>
          </a:stretch>
        </p:blipFill>
        <p:spPr>
          <a:xfrm xmlns:a="http://schemas.openxmlformats.org/drawingml/2006/main">
            <a:off x="-14069" y="6192295"/>
            <a:ext cx="12206069" cy="690789"/>
          </a:xfrm>
        </p:spPr>
      </p:pic>
      <p:sp>
        <p:nvSpPr>
          <p:cNvPr id="8" name="Footer Placeholder 4">
            <a:extLst xmlns:a="http://schemas.openxmlformats.org/drawingml/2006/main">
              <a:ext uri="{FF2B5EF4-FFF2-40B4-BE49-F238E27FC236}">
                <a16:creationId xmlns:a16="http://schemas.microsoft.com/office/drawing/2014/main" id="{9FFA659D-7EF9-07E5-0DB8-001AF77CBBD3}"/>
              </a:ext>
            </a:extLst>
          </p:cNvPr>
          <p:cNvSpPr>
            <a:spLocks xmlns:a="http://schemas.openxmlformats.org/drawingml/2006/main" noGrp="1"/>
          </p:cNvSpPr>
          <p:nvPr>
            <p:ph type="ftr" idx="11"/>
          </p:nvPr>
        </p:nvSpPr>
        <p:spPr>
          <a:xfrm xmlns:a="http://schemas.openxmlformats.org/drawingml/2006/main" rot="16200000">
            <a:off x="10817434" y="4975433"/>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pPr algn="l">
              <a:buNone/>
            </a:pPr>
            <a:r>
              <a:rPr sz="1000"/>
              <a:t>GEORGE MASON UNIVERSITY</a:t>
            </a:r>
          </a:p>
        </p:txBody>
      </p:sp>
      <p:sp>
        <p:nvSpPr>
          <p:cNvPr id="9" name="Slide Number Placeholder 5">
            <a:extLst xmlns:a="http://schemas.openxmlformats.org/drawingml/2006/main">
              <a:ext uri="{FF2B5EF4-FFF2-40B4-BE49-F238E27FC236}">
                <a16:creationId xmlns:a16="http://schemas.microsoft.com/office/drawing/2014/main" id="{7AECD783-BBBD-AF66-CD95-43A26BF9A169}"/>
              </a:ext>
            </a:extLst>
          </p:cNvPr>
          <p:cNvSpPr>
            <a:spLocks xmlns:a="http://schemas.openxmlformats.org/drawingml/2006/main" noGrp="1"/>
          </p:cNvSpPr>
          <p:nvPr>
            <p:ph type="sldNum" idx="12"/>
          </p:nvPr>
        </p:nvSpPr>
        <p:spPr>
          <a:xfrm xmlns:a="http://schemas.openxmlformats.org/drawingml/2006/main">
            <a:off x="116618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pPr algn="ctr">
              <a:buNone/>
            </a:pPr>
            <a:fld id="{944FE883-4AC6-394B-8129-6E4BB686DB20}" type="slidenum">
              <a:rPr>
                <a:solidFill>
                  <a:schemeClr val="bg1"/>
                </a:solidFill>
              </a:rPr>
              <a:t>16</a:t>
            </a:fld>
            <a:endParaRPr>
              <a:solidFill>
                <a:schemeClr val="bg1"/>
              </a:solidFill>
            </a:endParaRPr>
          </a:p>
        </p:txBody>
      </p:sp>
      <p:sp>
        <p:nvSpPr>
          <p:cNvPr id="11" name="Title 1">
            <a:extLst xmlns:a="http://schemas.openxmlformats.org/drawingml/2006/main">
              <a:ext uri="{FF2B5EF4-FFF2-40B4-BE49-F238E27FC236}">
                <a16:creationId xmlns:a16="http://schemas.microsoft.com/office/drawing/2014/main" id="{E518BA02-EFB1-EEE0-82DE-238F70B75E85}"/>
              </a:ext>
            </a:extLst>
          </p:cNvPr>
          <p:cNvSpPr>
            <a:spLocks xmlns:a="http://schemas.openxmlformats.org/drawingml/2006/main" noGrp="1"/>
          </p:cNvSpPr>
          <p:nvPr/>
        </p:nvSpPr>
        <p:spPr>
          <a:xfrm xmlns:a="http://schemas.openxmlformats.org/drawingml/2006/main">
            <a:off x="3629" y="2267"/>
            <a:ext cx="12188371" cy="1325563"/>
          </a:xfrm>
          <a:prstGeom xmlns:a="http://schemas.openxmlformats.org/drawingml/2006/main" prst="rect">
            <a:avLst/>
          </a:prstGeom>
        </p:spPr>
        <p:txBody>
          <a:bodyPr xmlns:a="http://schemas.openxmlformats.org/drawingml/2006/main" vert="horz" lIns="91440" tIns="45720" rIns="91440" bIns="45720" anchor="ctr">
            <a:normAutofit fontScale="100000"/>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gn="l">
              <a:defRPr sz="3450" b="0">
                <a:solidFill>
                  <a:srgbClr val="005138"/>
                </a:solidFill>
              </a:defRPr>
            </a:pPr>
            <a:r>
              <a:rPr sz="3450" b="0">
                <a:solidFill>
                  <a:srgbClr val="005138"/>
                </a:solidFill>
              </a:rPr>
              <a:t>Results: chain enrichment moves the stability boundary</a:t>
            </a:r>
          </a:p>
        </p:txBody>
      </p:sp>
      <p:sp>
        <p:nvSpPr>
          <p:cNvPr id="12" name="TextBox 11">
            <a:extLst xmlns:a="http://schemas.openxmlformats.org/drawingml/2006/main">
              <a:ext uri="{FF2B5EF4-FFF2-40B4-BE49-F238E27FC236}">
                <a16:creationId xmlns:a16="http://schemas.microsoft.com/office/drawing/2014/main" id="{D6D58656-C55B-B798-EEBB-296BCC270093}"/>
              </a:ext>
            </a:extLst>
          </p:cNvPr>
          <p:cNvSpPr>
            <a:spLocks xmlns:a="http://schemas.openxmlformats.org/drawingml/2006/main" noGrp="1"/>
          </p:cNvSpPr>
          <p:nvPr/>
        </p:nvSpPr>
        <p:spPr>
          <a:xfrm xmlns:a="http://schemas.openxmlformats.org/drawingml/2006/main">
            <a:off x="413861" y="1381125"/>
            <a:ext cx="5905500" cy="3524250"/>
          </a:xfrm>
          <a:prstGeom xmlns:a="http://schemas.openxmlformats.org/drawingml/2006/main" prst="rect">
            <a:avLst/>
          </a:prstGeom>
          <a:noFill xmlns:a="http://schemas.openxmlformats.org/drawingml/2006/main"/>
        </p:spPr>
        <p:txBody>
          <a:bodyPr xmlns:a="http://schemas.openxmlformats.org/drawingml/2006/main" rot="0" spcFirstLastPara="0" vert="horz" wrap="square" lIns="91440" tIns="45720" rIns="91440" bIns="45720" anchor="t">
            <a:spAutoFit/>
          </a:bodyPr>
          <a:lstStyle xmlns:a="http://schemas.openxmlformats.org/drawingml/2006/main"/>
          <a:p xmlns:a="http://schemas.openxmlformats.org/drawingml/2006/main">
            <a:pPr marL="285750" indent="-285750" algn="l">
              <a:lnSpc>
                <a:spcPct val="150000"/>
              </a:lnSpc>
              <a:buFont typeface="Arial"/>
              <a:buChar char="•"/>
              <a:defRPr sz="1725" b="0">
                <a:solidFill>
                  <a:srgbClr val="111111"/>
                </a:solidFill>
              </a:defRPr>
            </a:pPr>
            <a:r>
              <a:rPr sz="1725" b="0">
                <a:solidFill>
                  <a:srgbClr val="111111"/>
                </a:solidFill>
              </a:rPr>
              <a:t>Chain component sweep:</a:t>
            </a:r>
            <a:endParaRPr/>
          </a:p>
          <a:p xmlns:a="http://schemas.openxmlformats.org/drawingml/2006/main">
            <a:pPr marL="285750" indent="-285750" algn="l">
              <a:buFont typeface="Arial"/>
              <a:buChar char="•"/>
              <a:defRPr sz="1725" b="0">
                <a:solidFill>
                  <a:srgbClr val="111111"/>
                </a:solidFill>
              </a:defRPr>
            </a:pPr>
            <a:r>
              <a:rPr sz="1725" b="0">
                <a:solidFill>
                  <a:srgbClr val="111111"/>
                </a:solidFill>
              </a:rPr>
              <a:t>rho = 0.974 at 0.50x enrichment</a:t>
            </a:r>
            <a:endParaRPr/>
          </a:p>
          <a:p xmlns:a="http://schemas.openxmlformats.org/drawingml/2006/main">
            <a:pPr marL="285750" indent="-285750" algn="l">
              <a:buFont typeface="Arial"/>
              <a:buChar char="•"/>
              <a:defRPr sz="1725" b="0">
                <a:solidFill>
                  <a:srgbClr val="111111"/>
                </a:solidFill>
              </a:defRPr>
            </a:pPr>
            <a:r>
              <a:rPr sz="1725" b="0">
                <a:solidFill>
                  <a:srgbClr val="111111"/>
                </a:solidFill>
              </a:rPr>
              <a:t>rho = 1.009 at 0.75x enrichment</a:t>
            </a:r>
            <a:endParaRPr/>
          </a:p>
          <a:p xmlns:a="http://schemas.openxmlformats.org/drawingml/2006/main">
            <a:pPr marL="285750" indent="-285750" algn="l">
              <a:buFont typeface="Arial"/>
              <a:buChar char="•"/>
              <a:defRPr sz="1725" b="0">
                <a:solidFill>
                  <a:srgbClr val="111111"/>
                </a:solidFill>
              </a:defRPr>
            </a:pPr>
            <a:r>
              <a:rPr sz="1725" b="0">
                <a:solidFill>
                  <a:srgbClr val="111111"/>
                </a:solidFill>
              </a:rPr>
              <a:t>E &lt;- E perturbations push the dominant mode most strongly</a:t>
            </a:r>
            <a:endParaRPr/>
          </a:p>
          <a:p xmlns:a="http://schemas.openxmlformats.org/drawingml/2006/main">
            <a:pPr marL="285750" indent="-285750" algn="l">
              <a:buFont typeface="Arial"/>
              <a:buChar char="•"/>
              <a:defRPr sz="1725" b="0">
                <a:solidFill>
                  <a:srgbClr val="111111"/>
                </a:solidFill>
              </a:defRPr>
            </a:pPr>
            <a:r>
              <a:rPr sz="1725" b="0">
                <a:solidFill>
                  <a:srgbClr val="111111"/>
                </a:solidFill>
              </a:rPr>
              <a:t>Radius-one response is ill-conditioned; use Jeff and pseudoinverse diagnostics</a:t>
            </a:r>
            <a:endParaRPr/>
          </a:p>
          <a:p xmlns:a="http://schemas.openxmlformats.org/drawingml/2006/main">
            <a:pPr marL="285750" indent="-285750" algn="l">
              <a:buFont typeface="Arial"/>
              <a:buChar char="•"/>
              <a:defRPr sz="1725" b="0">
                <a:solidFill>
                  <a:srgbClr val="111111"/>
                </a:solidFill>
              </a:defRPr>
            </a:pPr>
            <a:r>
              <a:rPr sz="1725" b="0">
                <a:solidFill>
                  <a:srgbClr val="111111"/>
                </a:solidFill>
              </a:rPr>
              <a:t>Next: response-scale sweep and Schur/non-normal mode analysis</a:t>
            </a:r>
            <a:endParaRPr/>
          </a:p>
        </p:txBody>
      </p:sp>
      <p:graphicFrame>
        <p:nvGraphicFramePr>
          <p:cNvPr id="21" name="Chart"/>
          <p:cNvGraphicFramePr/>
          <p:nvPr/>
        </p:nvGraphicFramePr>
        <p:xfrm>
          <a:off xmlns:a="http://schemas.openxmlformats.org/drawingml/2006/main" x="7334250" y="1600200"/>
          <a:ext xmlns:a="http://schemas.openxmlformats.org/drawingml/2006/main" cx="2952750" cy="2333625"/>
        </p:xfrm>
        <a:graphic xmlns:a="http://schemas.openxmlformats.org/drawingml/2006/main">
          <a:graphicData uri="http://schemas.openxmlformats.org/drawingml/2006/chart">
            <c:chart xmlns:r="http://schemas.openxmlformats.org/officeDocument/2006/relationships" xmlns:c="http://schemas.openxmlformats.org/drawingml/2006/chart" r:id="R777c6952edff4304"/>
          </a:graphicData>
        </a:graphic>
      </p:graphicFrame>
      <p:sp>
        <p:nvSpPr>
          <p:cNvPr id="15" name="">
            <a:extLst xmlns:a="http://schemas.openxmlformats.org/drawingml/2006/main">
              <a:ext uri="{FF2B5EF4-FFF2-40B4-BE49-F238E27FC236}">
                <a16:creationId xmlns:a16="http://schemas.microsoft.com/office/drawing/2014/main" id="{043BD52F-E092-4750-9217-CA0DFB5D0AF3}"/>
              </a:ext>
            </a:extLst>
          </p:cNvPr>
          <p:cNvSpPr>
            <a:spLocks xmlns:a="http://schemas.openxmlformats.org/drawingml/2006/main" noGrp="1"/>
          </p:cNvSpPr>
          <p:nvPr/>
        </p:nvSpPr>
        <p:spPr>
          <a:xfrm xmlns:a="http://schemas.openxmlformats.org/drawingml/2006/main">
            <a:off x="7381875" y="4333875"/>
            <a:ext cx="2667000" cy="857250"/>
          </a:xfrm>
          <a:prstGeom xmlns:a="http://schemas.openxmlformats.org/drawingml/2006/main" prst="roundRect">
            <a:avLst>
              <a:gd name="adj" fmla="val 6667"/>
            </a:avLst>
          </a:prstGeom>
          <a:solidFill xmlns:a="http://schemas.openxmlformats.org/drawingml/2006/main">
            <a:srgbClr val="FFF3CC"/>
          </a:solidFill>
          <a:ln xmlns:a="http://schemas.openxmlformats.org/drawingml/2006/main" w="9525">
            <a:solidFill>
              <a:srgbClr val="005138"/>
            </a:solidFill>
            <a:prstDash val="solid"/>
          </a:ln>
        </p:spPr>
        <p:txBody>
          <a:bodyPr xmlns:a="http://schemas.openxmlformats.org/drawingml/2006/main"/>
          <a:lstStyle xmlns:a="http://schemas.openxmlformats.org/drawingml/2006/main"/>
          <a:p xmlns:a="http://schemas.openxmlformats.org/drawingml/2006/main">
            <a:pPr algn="ctr">
              <a:defRPr sz="1650" b="1">
                <a:solidFill>
                  <a:srgbClr val="005138"/>
                </a:solidFill>
              </a:defRPr>
            </a:pPr>
            <a:r>
              <a:rPr sz="1650" b="1">
                <a:solidFill>
                  <a:srgbClr val="005138"/>
                </a:solidFill>
              </a:rPr>
              <a:t>1.080</a:t>
            </a:r>
          </a:p>
          <a:p xmlns:a="http://schemas.openxmlformats.org/drawingml/2006/main">
            <a:pPr algn="ctr">
              <a:defRPr sz="1650" b="1">
                <a:solidFill>
                  <a:srgbClr val="005138"/>
                </a:solidFill>
              </a:defRPr>
            </a:pPr>
            <a:r>
              <a:rPr sz="1650" b="1">
                <a:solidFill>
                  <a:srgbClr val="005138"/>
                </a:solidFill>
              </a:rPr>
              <a:t>E &lt;- E weighted sensitivity</a:t>
            </a:r>
          </a:p>
        </p:txBody>
      </p:sp>
    </p:spTree>
    <p:extLst>
      <p:ext uri="{BB962C8B-B14F-4D97-AF65-F5344CB8AC3E}">
        <p14:creationId xmlns:p14="http://schemas.microsoft.com/office/powerpoint/2010/main" val="1304812568"/>
      </p:ext>
    </p:extLst>
  </p:cSld>
</p:sld>
</file>

<file path=ppt/theme/theme1.xml><?xml version="1.0" encoding="utf-8"?>
<a:theme xmlns:a="http://schemas.openxmlformats.org/drawingml/2006/main" name="Office Theme">
  <a:themeElements>
    <a:clrScheme name="Custom 17">
      <a:dk1>
        <a:srgbClr val="000000"/>
      </a:dk1>
      <a:lt1>
        <a:srgbClr val="FFFFFF"/>
      </a:lt1>
      <a:dk2>
        <a:srgbClr val="005138"/>
      </a:dk2>
      <a:lt2>
        <a:srgbClr val="E7E6E6"/>
      </a:lt2>
      <a:accent1>
        <a:srgbClr val="FFC733"/>
      </a:accent1>
      <a:accent2>
        <a:srgbClr val="333333"/>
      </a:accent2>
      <a:accent3>
        <a:srgbClr val="A5A5A5"/>
      </a:accent3>
      <a:accent4>
        <a:srgbClr val="FFC000"/>
      </a:accent4>
      <a:accent5>
        <a:srgbClr val="5B9BD5"/>
      </a:accent5>
      <a:accent6>
        <a:srgbClr val="70AD47"/>
      </a:accent6>
      <a:hlink>
        <a:srgbClr val="0563C1"/>
      </a:hlink>
      <a:folHlink>
        <a:srgbClr val="954F72"/>
      </a:folHlink>
    </a:clrScheme>
    <a:fontScheme name="Franklin Gothic">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ustom 17">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2026-08-24T20:53:54.5660000Z</dcterms:created>
  <dcterms:modified xsi:type="dcterms:W3CDTF">2026-08-24T20:53:54.5660000Z</dcterms:modified>
</coreProperties>
</file>