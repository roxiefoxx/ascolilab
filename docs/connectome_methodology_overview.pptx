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analysis stages on the same matrix. The through-line is that preprocessing choices — orientation, scale, and ordering — are not setup, they are load-bearing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The point of the whole project is the abscissa gap: spectral vs numerical.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097280"/>
            <a:ext cx="11091672" cy="274320"/>
          </a:xfrm>
          <a:prstGeom prst="rect">
            <a:avLst/>
          </a:prstGeom>
          <a:noFill/>
          <a:ln/>
        </p:spPr>
        <p:txBody>
          <a:bodyPr wrap="square" lIns="0" tIns="0" rIns="0" bIns="0" rtlCol="0" anchor="ctr"/>
          <a:lstStyle/>
          <a:p>
            <a:pPr indent="0" marL="0">
              <a:buNone/>
            </a:pPr>
            <a:r>
              <a:rPr lang="en-US" sz="1100" b="1" spc="200" kern="0" dirty="0">
                <a:solidFill>
                  <a:srgbClr val="B9CEDE"/>
                </a:solidFill>
                <a:latin typeface="Calibri" pitchFamily="34" charset="0"/>
                <a:ea typeface="Calibri" pitchFamily="34" charset="-122"/>
                <a:cs typeface="Calibri" pitchFamily="34" charset="-120"/>
              </a:rPr>
              <a:t>DISSERTATION PROGRESS  ·  ASCOLI LAB  ·  GEORGE MASON UNIVERSITY</a:t>
            </a:r>
            <a:endParaRPr lang="en-US" sz="1100" dirty="0"/>
          </a:p>
        </p:txBody>
      </p:sp>
      <p:sp>
        <p:nvSpPr>
          <p:cNvPr id="3" name="Text 1"/>
          <p:cNvSpPr txBox="1"/>
          <p:nvPr/>
        </p:nvSpPr>
        <p:spPr>
          <a:xfrm>
            <a:off x="548640" y="1600200"/>
            <a:ext cx="11091672" cy="1737360"/>
          </a:xfrm>
          <a:prstGeom prst="rect">
            <a:avLst/>
          </a:prstGeom>
          <a:noFill/>
          <a:ln/>
        </p:spPr>
        <p:txBody>
          <a:bodyPr wrap="square" lIns="0" tIns="0" rIns="0" bIns="0" rtlCol="0" anchor="t"/>
          <a:lstStyle/>
          <a:p>
            <a:pPr indent="0" marL="0">
              <a:lnSpc>
                <a:spcPts val="5200"/>
              </a:lnSpc>
              <a:buNone/>
            </a:pPr>
            <a:r>
              <a:rPr lang="en-US" sz="4000" b="1" dirty="0">
                <a:solidFill>
                  <a:srgbClr val="FFFFFF"/>
                </a:solidFill>
                <a:latin typeface="Cambria" pitchFamily="34" charset="0"/>
                <a:ea typeface="Cambria" pitchFamily="34" charset="-122"/>
                <a:cs typeface="Cambria" pitchFamily="34" charset="-120"/>
              </a:rPr>
              <a:t>Wiring geometry and stability in the</a:t>
            </a:r>
            <a:endParaRPr lang="en-US" sz="4000" dirty="0"/>
          </a:p>
          <a:p>
            <a:pPr indent="0" marL="0">
              <a:lnSpc>
                <a:spcPts val="5200"/>
              </a:lnSpc>
              <a:buNone/>
            </a:pPr>
            <a:r>
              <a:rPr lang="en-US" sz="4000" b="1" dirty="0">
                <a:solidFill>
                  <a:srgbClr val="FFFFFF"/>
                </a:solidFill>
                <a:latin typeface="Cambria" pitchFamily="34" charset="0"/>
                <a:ea typeface="Cambria" pitchFamily="34" charset="-122"/>
                <a:cs typeface="Cambria" pitchFamily="34" charset="-120"/>
              </a:rPr>
              <a:t>hippocampal–entorhinal connectome</a:t>
            </a:r>
            <a:endParaRPr lang="en-US" sz="4000" dirty="0"/>
          </a:p>
        </p:txBody>
      </p:sp>
      <p:sp>
        <p:nvSpPr>
          <p:cNvPr id="4" name="Text 2"/>
          <p:cNvSpPr txBox="1"/>
          <p:nvPr/>
        </p:nvSpPr>
        <p:spPr>
          <a:xfrm>
            <a:off x="548640" y="3429000"/>
            <a:ext cx="9875520" cy="822960"/>
          </a:xfrm>
          <a:prstGeom prst="rect">
            <a:avLst/>
          </a:prstGeom>
          <a:noFill/>
          <a:ln/>
        </p:spPr>
        <p:txBody>
          <a:bodyPr wrap="square" lIns="0" tIns="0" rIns="0" bIns="0" rtlCol="0" anchor="t"/>
          <a:lstStyle/>
          <a:p>
            <a:pPr indent="0" marL="0">
              <a:lnSpc>
                <a:spcPts val="2400"/>
              </a:lnSpc>
              <a:buNone/>
            </a:pPr>
            <a:r>
              <a:rPr lang="en-US" sz="1600" dirty="0">
                <a:solidFill>
                  <a:srgbClr val="B9CEDE"/>
                </a:solidFill>
                <a:latin typeface="Calibri" pitchFamily="34" charset="0"/>
                <a:ea typeface="Calibri" pitchFamily="34" charset="-122"/>
                <a:cs typeface="Calibri" pitchFamily="34" charset="-120"/>
              </a:rPr>
              <a:t>Six analyses on one 85-type Hippocampome coupling matrix — and the preprocessing that decides what any of them mean</a:t>
            </a:r>
            <a:endParaRPr lang="en-US" sz="1600" dirty="0"/>
          </a:p>
        </p:txBody>
      </p:sp>
      <p:sp>
        <p:nvSpPr>
          <p:cNvPr id="5" name="Shape 3"/>
          <p:cNvSpPr/>
          <p:nvPr/>
        </p:nvSpPr>
        <p:spPr>
          <a:xfrm>
            <a:off x="548640" y="4526280"/>
            <a:ext cx="1711452" cy="786384"/>
          </a:xfrm>
          <a:prstGeom prst="roundRect">
            <a:avLst>
              <a:gd name="adj" fmla="val 5814"/>
            </a:avLst>
          </a:prstGeom>
          <a:solidFill>
            <a:srgbClr val="1E3057"/>
          </a:solidFill>
          <a:ln w="12700">
            <a:solidFill>
              <a:srgbClr val="1E3057"/>
            </a:solidFill>
            <a:prstDash val="solid"/>
          </a:ln>
        </p:spPr>
      </p:sp>
      <p:sp>
        <p:nvSpPr>
          <p:cNvPr id="6" name="Text 4"/>
          <p:cNvSpPr txBox="1"/>
          <p:nvPr/>
        </p:nvSpPr>
        <p:spPr>
          <a:xfrm>
            <a:off x="548640" y="4599432"/>
            <a:ext cx="1711452"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Cambria" pitchFamily="34" charset="0"/>
                <a:ea typeface="Cambria" pitchFamily="34" charset="-122"/>
                <a:cs typeface="Cambria" pitchFamily="34" charset="-120"/>
              </a:rPr>
              <a:t>01</a:t>
            </a:r>
            <a:endParaRPr lang="en-US" sz="1300" dirty="0"/>
          </a:p>
        </p:txBody>
      </p:sp>
      <p:sp>
        <p:nvSpPr>
          <p:cNvPr id="7" name="Text 5"/>
          <p:cNvSpPr txBox="1"/>
          <p:nvPr/>
        </p:nvSpPr>
        <p:spPr>
          <a:xfrm>
            <a:off x="603504" y="4873752"/>
            <a:ext cx="1601724" cy="38404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E→E backbone</a:t>
            </a:r>
            <a:endParaRPr lang="en-US" sz="1100" dirty="0"/>
          </a:p>
        </p:txBody>
      </p:sp>
      <p:sp>
        <p:nvSpPr>
          <p:cNvPr id="8" name="Shape 6"/>
          <p:cNvSpPr/>
          <p:nvPr/>
        </p:nvSpPr>
        <p:spPr>
          <a:xfrm>
            <a:off x="2424684" y="4526280"/>
            <a:ext cx="1711452" cy="786384"/>
          </a:xfrm>
          <a:prstGeom prst="roundRect">
            <a:avLst>
              <a:gd name="adj" fmla="val 5814"/>
            </a:avLst>
          </a:prstGeom>
          <a:solidFill>
            <a:srgbClr val="1E3057"/>
          </a:solidFill>
          <a:ln w="12700">
            <a:solidFill>
              <a:srgbClr val="1E3057"/>
            </a:solidFill>
            <a:prstDash val="solid"/>
          </a:ln>
        </p:spPr>
      </p:sp>
      <p:sp>
        <p:nvSpPr>
          <p:cNvPr id="9" name="Text 7"/>
          <p:cNvSpPr txBox="1"/>
          <p:nvPr/>
        </p:nvSpPr>
        <p:spPr>
          <a:xfrm>
            <a:off x="2424684" y="4599432"/>
            <a:ext cx="1711452"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Cambria" pitchFamily="34" charset="0"/>
                <a:ea typeface="Cambria" pitchFamily="34" charset="-122"/>
                <a:cs typeface="Cambria" pitchFamily="34" charset="-120"/>
              </a:rPr>
              <a:t>02</a:t>
            </a:r>
            <a:endParaRPr lang="en-US" sz="1300" dirty="0"/>
          </a:p>
        </p:txBody>
      </p:sp>
      <p:sp>
        <p:nvSpPr>
          <p:cNvPr id="10" name="Text 8"/>
          <p:cNvSpPr txBox="1"/>
          <p:nvPr/>
        </p:nvSpPr>
        <p:spPr>
          <a:xfrm>
            <a:off x="2479548" y="4873752"/>
            <a:ext cx="1601724" cy="38404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Inhibition</a:t>
            </a:r>
            <a:endParaRPr lang="en-US" sz="1100" dirty="0"/>
          </a:p>
        </p:txBody>
      </p:sp>
      <p:sp>
        <p:nvSpPr>
          <p:cNvPr id="11" name="Shape 9"/>
          <p:cNvSpPr/>
          <p:nvPr/>
        </p:nvSpPr>
        <p:spPr>
          <a:xfrm>
            <a:off x="4300728" y="4526280"/>
            <a:ext cx="1711452" cy="786384"/>
          </a:xfrm>
          <a:prstGeom prst="roundRect">
            <a:avLst>
              <a:gd name="adj" fmla="val 5814"/>
            </a:avLst>
          </a:prstGeom>
          <a:solidFill>
            <a:srgbClr val="1E3057"/>
          </a:solidFill>
          <a:ln w="12700">
            <a:solidFill>
              <a:srgbClr val="1E3057"/>
            </a:solidFill>
            <a:prstDash val="solid"/>
          </a:ln>
        </p:spPr>
      </p:sp>
      <p:sp>
        <p:nvSpPr>
          <p:cNvPr id="12" name="Text 10"/>
          <p:cNvSpPr txBox="1"/>
          <p:nvPr/>
        </p:nvSpPr>
        <p:spPr>
          <a:xfrm>
            <a:off x="4300728" y="4599432"/>
            <a:ext cx="1711452"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Cambria" pitchFamily="34" charset="0"/>
                <a:ea typeface="Cambria" pitchFamily="34" charset="-122"/>
                <a:cs typeface="Cambria" pitchFamily="34" charset="-120"/>
              </a:rPr>
              <a:t>03</a:t>
            </a:r>
            <a:endParaRPr lang="en-US" sz="1300" dirty="0"/>
          </a:p>
        </p:txBody>
      </p:sp>
      <p:sp>
        <p:nvSpPr>
          <p:cNvPr id="13" name="Text 11"/>
          <p:cNvSpPr txBox="1"/>
          <p:nvPr/>
        </p:nvSpPr>
        <p:spPr>
          <a:xfrm>
            <a:off x="4355592" y="4873752"/>
            <a:ext cx="1601724" cy="38404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Motifs</a:t>
            </a:r>
            <a:endParaRPr lang="en-US" sz="1100" dirty="0"/>
          </a:p>
        </p:txBody>
      </p:sp>
      <p:sp>
        <p:nvSpPr>
          <p:cNvPr id="14" name="Shape 12"/>
          <p:cNvSpPr/>
          <p:nvPr/>
        </p:nvSpPr>
        <p:spPr>
          <a:xfrm>
            <a:off x="6176772" y="4526280"/>
            <a:ext cx="1711452" cy="786384"/>
          </a:xfrm>
          <a:prstGeom prst="roundRect">
            <a:avLst>
              <a:gd name="adj" fmla="val 5814"/>
            </a:avLst>
          </a:prstGeom>
          <a:solidFill>
            <a:srgbClr val="1E3057"/>
          </a:solidFill>
          <a:ln w="12700">
            <a:solidFill>
              <a:srgbClr val="1E3057"/>
            </a:solidFill>
            <a:prstDash val="solid"/>
          </a:ln>
        </p:spPr>
      </p:sp>
      <p:sp>
        <p:nvSpPr>
          <p:cNvPr id="15" name="Text 13"/>
          <p:cNvSpPr txBox="1"/>
          <p:nvPr/>
        </p:nvSpPr>
        <p:spPr>
          <a:xfrm>
            <a:off x="6176772" y="4599432"/>
            <a:ext cx="1711452"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Cambria" pitchFamily="34" charset="0"/>
                <a:ea typeface="Cambria" pitchFamily="34" charset="-122"/>
                <a:cs typeface="Cambria" pitchFamily="34" charset="-120"/>
              </a:rPr>
              <a:t>04</a:t>
            </a:r>
            <a:endParaRPr lang="en-US" sz="1300" dirty="0"/>
          </a:p>
        </p:txBody>
      </p:sp>
      <p:sp>
        <p:nvSpPr>
          <p:cNvPr id="16" name="Text 14"/>
          <p:cNvSpPr txBox="1"/>
          <p:nvPr/>
        </p:nvSpPr>
        <p:spPr>
          <a:xfrm>
            <a:off x="6231636" y="4873752"/>
            <a:ext cx="1601724" cy="38404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GSN</a:t>
            </a:r>
            <a:endParaRPr lang="en-US" sz="1100" dirty="0"/>
          </a:p>
        </p:txBody>
      </p:sp>
      <p:sp>
        <p:nvSpPr>
          <p:cNvPr id="17" name="Shape 15"/>
          <p:cNvSpPr/>
          <p:nvPr/>
        </p:nvSpPr>
        <p:spPr>
          <a:xfrm>
            <a:off x="8052816" y="4526280"/>
            <a:ext cx="1711452" cy="786384"/>
          </a:xfrm>
          <a:prstGeom prst="roundRect">
            <a:avLst>
              <a:gd name="adj" fmla="val 5814"/>
            </a:avLst>
          </a:prstGeom>
          <a:solidFill>
            <a:srgbClr val="1E3057"/>
          </a:solidFill>
          <a:ln w="12700">
            <a:solidFill>
              <a:srgbClr val="1E3057"/>
            </a:solidFill>
            <a:prstDash val="solid"/>
          </a:ln>
        </p:spPr>
      </p:sp>
      <p:sp>
        <p:nvSpPr>
          <p:cNvPr id="18" name="Text 16"/>
          <p:cNvSpPr txBox="1"/>
          <p:nvPr/>
        </p:nvSpPr>
        <p:spPr>
          <a:xfrm>
            <a:off x="8052816" y="4599432"/>
            <a:ext cx="1711452"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Cambria" pitchFamily="34" charset="0"/>
                <a:ea typeface="Cambria" pitchFamily="34" charset="-122"/>
                <a:cs typeface="Cambria" pitchFamily="34" charset="-120"/>
              </a:rPr>
              <a:t>05</a:t>
            </a:r>
            <a:endParaRPr lang="en-US" sz="1300" dirty="0"/>
          </a:p>
        </p:txBody>
      </p:sp>
      <p:sp>
        <p:nvSpPr>
          <p:cNvPr id="19" name="Text 17"/>
          <p:cNvSpPr txBox="1"/>
          <p:nvPr/>
        </p:nvSpPr>
        <p:spPr>
          <a:xfrm>
            <a:off x="8107680" y="4873752"/>
            <a:ext cx="1601724" cy="38404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Eigen / Schur</a:t>
            </a:r>
            <a:endParaRPr lang="en-US" sz="1100" dirty="0"/>
          </a:p>
        </p:txBody>
      </p:sp>
      <p:sp>
        <p:nvSpPr>
          <p:cNvPr id="20" name="Shape 18"/>
          <p:cNvSpPr/>
          <p:nvPr/>
        </p:nvSpPr>
        <p:spPr>
          <a:xfrm>
            <a:off x="9928860" y="4526280"/>
            <a:ext cx="1711452" cy="786384"/>
          </a:xfrm>
          <a:prstGeom prst="roundRect">
            <a:avLst>
              <a:gd name="adj" fmla="val 5814"/>
            </a:avLst>
          </a:prstGeom>
          <a:solidFill>
            <a:srgbClr val="1E3057"/>
          </a:solidFill>
          <a:ln w="12700">
            <a:solidFill>
              <a:srgbClr val="1E3057"/>
            </a:solidFill>
            <a:prstDash val="solid"/>
          </a:ln>
        </p:spPr>
      </p:sp>
      <p:sp>
        <p:nvSpPr>
          <p:cNvPr id="21" name="Text 19"/>
          <p:cNvSpPr txBox="1"/>
          <p:nvPr/>
        </p:nvSpPr>
        <p:spPr>
          <a:xfrm>
            <a:off x="9928860" y="4599432"/>
            <a:ext cx="1711452"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Cambria" pitchFamily="34" charset="0"/>
                <a:ea typeface="Cambria" pitchFamily="34" charset="-122"/>
                <a:cs typeface="Cambria" pitchFamily="34" charset="-120"/>
              </a:rPr>
              <a:t>06</a:t>
            </a:r>
            <a:endParaRPr lang="en-US" sz="1300" dirty="0"/>
          </a:p>
        </p:txBody>
      </p:sp>
      <p:sp>
        <p:nvSpPr>
          <p:cNvPr id="22" name="Text 20"/>
          <p:cNvSpPr txBox="1"/>
          <p:nvPr/>
        </p:nvSpPr>
        <p:spPr>
          <a:xfrm>
            <a:off x="9983724" y="4873752"/>
            <a:ext cx="1601724" cy="38404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Jacobian</a:t>
            </a:r>
            <a:endParaRPr lang="en-US" sz="1100" dirty="0"/>
          </a:p>
        </p:txBody>
      </p:sp>
      <p:sp>
        <p:nvSpPr>
          <p:cNvPr id="23" name="Text 21"/>
          <p:cNvSpPr txBox="1"/>
          <p:nvPr/>
        </p:nvSpPr>
        <p:spPr>
          <a:xfrm>
            <a:off x="548640" y="5806440"/>
            <a:ext cx="11091672" cy="320040"/>
          </a:xfrm>
          <a:prstGeom prst="rect">
            <a:avLst/>
          </a:prstGeom>
          <a:noFill/>
          <a:ln/>
        </p:spPr>
        <p:txBody>
          <a:bodyPr wrap="square" lIns="0" tIns="0" rIns="0" bIns="0" rtlCol="0" anchor="ctr"/>
          <a:lstStyle/>
          <a:p>
            <a:pPr indent="0" marL="0">
              <a:buNone/>
            </a:pPr>
            <a:r>
              <a:rPr lang="en-US" sz="1300" dirty="0">
                <a:solidFill>
                  <a:srgbClr val="B9CEDE"/>
                </a:solidFill>
                <a:latin typeface="Calibri" pitchFamily="34" charset="0"/>
                <a:ea typeface="Calibri" pitchFamily="34" charset="-122"/>
                <a:cs typeface="Calibri" pitchFamily="34" charset="-120"/>
              </a:rPr>
              <a:t>Roxanne Aniceto   ·   Advisor: Dr. Giorgio Ascoli   ·   10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D9A441"/>
                </a:solidFill>
                <a:latin typeface="Calibri" pitchFamily="34" charset="0"/>
                <a:ea typeface="Calibri" pitchFamily="34" charset="-122"/>
                <a:cs typeface="Calibri" pitchFamily="34" charset="-120"/>
              </a:rPr>
              <a:t>THE QUESTION</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A connectome is a matrix. Stability is a property of its geometry.</a:t>
            </a:r>
            <a:endParaRPr lang="en-US" sz="2600" dirty="0"/>
          </a:p>
        </p:txBody>
      </p:sp>
      <p:sp>
        <p:nvSpPr>
          <p:cNvPr id="4" name="Text 2"/>
          <p:cNvSpPr txBox="1"/>
          <p:nvPr/>
        </p:nvSpPr>
        <p:spPr>
          <a:xfrm>
            <a:off x="548640" y="1508760"/>
            <a:ext cx="10241280" cy="1097280"/>
          </a:xfrm>
          <a:prstGeom prst="rect">
            <a:avLst/>
          </a:prstGeom>
          <a:noFill/>
          <a:ln/>
        </p:spPr>
        <p:txBody>
          <a:bodyPr wrap="square" lIns="0" tIns="0" rIns="0" bIns="0" rtlCol="0" anchor="t"/>
          <a:lstStyle/>
          <a:p>
            <a:pPr algn="l" indent="0" marL="0">
              <a:lnSpc>
                <a:spcPts val="2100"/>
              </a:lnSpc>
              <a:buNone/>
            </a:pPr>
            <a:r>
              <a:rPr lang="en-US" sz="1600" dirty="0">
                <a:solidFill>
                  <a:srgbClr val="B9CEDE"/>
                </a:solidFill>
                <a:latin typeface="Calibri" pitchFamily="34" charset="0"/>
                <a:ea typeface="Calibri" pitchFamily="34" charset="-122"/>
                <a:cs typeface="Calibri" pitchFamily="34" charset="-120"/>
              </a:rPr>
              <a:t>Eigenvalues describe where a linear system ends up. They say almost nothing about what it does first. In a directed, strongly non-normal network the two answers can point in opposite directions — asymptotically stable, and amplifying 27-fold on the way there.</a:t>
            </a:r>
            <a:endParaRPr lang="en-US" sz="1600" dirty="0"/>
          </a:p>
        </p:txBody>
      </p:sp>
      <p:sp>
        <p:nvSpPr>
          <p:cNvPr id="5" name="Shape 3"/>
          <p:cNvSpPr/>
          <p:nvPr/>
        </p:nvSpPr>
        <p:spPr>
          <a:xfrm>
            <a:off x="548640" y="2880360"/>
            <a:ext cx="3514344" cy="1783080"/>
          </a:xfrm>
          <a:prstGeom prst="roundRect">
            <a:avLst>
              <a:gd name="adj" fmla="val 2564"/>
            </a:avLst>
          </a:prstGeom>
          <a:solidFill>
            <a:srgbClr val="1E3057"/>
          </a:solidFill>
          <a:ln w="12700">
            <a:solidFill>
              <a:srgbClr val="1E3057"/>
            </a:solidFill>
            <a:prstDash val="solid"/>
          </a:ln>
        </p:spPr>
      </p:sp>
      <p:sp>
        <p:nvSpPr>
          <p:cNvPr id="6" name="Text 4"/>
          <p:cNvSpPr txBox="1"/>
          <p:nvPr/>
        </p:nvSpPr>
        <p:spPr>
          <a:xfrm>
            <a:off x="804672" y="3127248"/>
            <a:ext cx="300228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Spectrum</a:t>
            </a:r>
            <a:endParaRPr lang="en-US" sz="1700" dirty="0"/>
          </a:p>
        </p:txBody>
      </p:sp>
      <p:sp>
        <p:nvSpPr>
          <p:cNvPr id="7" name="Text 5"/>
          <p:cNvSpPr txBox="1"/>
          <p:nvPr/>
        </p:nvSpPr>
        <p:spPr>
          <a:xfrm>
            <a:off x="804672" y="3611880"/>
            <a:ext cx="3002280" cy="868680"/>
          </a:xfrm>
          <a:prstGeom prst="rect">
            <a:avLst/>
          </a:prstGeom>
          <a:noFill/>
          <a:ln/>
        </p:spPr>
        <p:txBody>
          <a:bodyPr wrap="square" lIns="0" tIns="0" rIns="0" bIns="0" rtlCol="0" anchor="t"/>
          <a:lstStyle/>
          <a:p>
            <a:pPr indent="0" marL="0">
              <a:lnSpc>
                <a:spcPts val="1700"/>
              </a:lnSpc>
              <a:buNone/>
            </a:pPr>
            <a:r>
              <a:rPr lang="en-US" sz="1250" dirty="0">
                <a:solidFill>
                  <a:srgbClr val="B9CEDE"/>
                </a:solidFill>
                <a:latin typeface="Calibri" pitchFamily="34" charset="0"/>
                <a:ea typeface="Calibri" pitchFamily="34" charset="-122"/>
                <a:cs typeface="Calibri" pitchFamily="34" charset="-120"/>
              </a:rPr>
              <a:t>Where the system settles. What eigenvalue analysis alone can tell you.</a:t>
            </a:r>
            <a:endParaRPr lang="en-US" sz="1250" dirty="0"/>
          </a:p>
        </p:txBody>
      </p:sp>
      <p:sp>
        <p:nvSpPr>
          <p:cNvPr id="8" name="Shape 6"/>
          <p:cNvSpPr/>
          <p:nvPr/>
        </p:nvSpPr>
        <p:spPr>
          <a:xfrm>
            <a:off x="4337304" y="2880360"/>
            <a:ext cx="3514344" cy="1783080"/>
          </a:xfrm>
          <a:prstGeom prst="roundRect">
            <a:avLst>
              <a:gd name="adj" fmla="val 2564"/>
            </a:avLst>
          </a:prstGeom>
          <a:solidFill>
            <a:srgbClr val="1E3057"/>
          </a:solidFill>
          <a:ln w="12700">
            <a:solidFill>
              <a:srgbClr val="1E3057"/>
            </a:solidFill>
            <a:prstDash val="solid"/>
          </a:ln>
        </p:spPr>
      </p:sp>
      <p:sp>
        <p:nvSpPr>
          <p:cNvPr id="9" name="Text 7"/>
          <p:cNvSpPr txBox="1"/>
          <p:nvPr/>
        </p:nvSpPr>
        <p:spPr>
          <a:xfrm>
            <a:off x="4593336" y="3127248"/>
            <a:ext cx="300228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Non-normal structure</a:t>
            </a:r>
            <a:endParaRPr lang="en-US" sz="1700" dirty="0"/>
          </a:p>
        </p:txBody>
      </p:sp>
      <p:sp>
        <p:nvSpPr>
          <p:cNvPr id="10" name="Text 8"/>
          <p:cNvSpPr txBox="1"/>
          <p:nvPr/>
        </p:nvSpPr>
        <p:spPr>
          <a:xfrm>
            <a:off x="4593336" y="3611880"/>
            <a:ext cx="3002280" cy="868680"/>
          </a:xfrm>
          <a:prstGeom prst="rect">
            <a:avLst/>
          </a:prstGeom>
          <a:noFill/>
          <a:ln/>
        </p:spPr>
        <p:txBody>
          <a:bodyPr wrap="square" lIns="0" tIns="0" rIns="0" bIns="0" rtlCol="0" anchor="t"/>
          <a:lstStyle/>
          <a:p>
            <a:pPr indent="0" marL="0">
              <a:lnSpc>
                <a:spcPts val="1700"/>
              </a:lnSpc>
              <a:buNone/>
            </a:pPr>
            <a:r>
              <a:rPr lang="en-US" sz="1250" dirty="0">
                <a:solidFill>
                  <a:srgbClr val="B9CEDE"/>
                </a:solidFill>
                <a:latin typeface="Calibri" pitchFamily="34" charset="0"/>
                <a:ea typeface="Calibri" pitchFamily="34" charset="-122"/>
                <a:cs typeface="Calibri" pitchFamily="34" charset="-120"/>
              </a:rPr>
              <a:t>Everything before that. Transient gain, optimal perturbations, directional coupling.</a:t>
            </a:r>
            <a:endParaRPr lang="en-US" sz="1250" dirty="0"/>
          </a:p>
        </p:txBody>
      </p:sp>
      <p:sp>
        <p:nvSpPr>
          <p:cNvPr id="11" name="Shape 9"/>
          <p:cNvSpPr/>
          <p:nvPr/>
        </p:nvSpPr>
        <p:spPr>
          <a:xfrm>
            <a:off x="8125968" y="2880360"/>
            <a:ext cx="3514344" cy="1783080"/>
          </a:xfrm>
          <a:prstGeom prst="roundRect">
            <a:avLst>
              <a:gd name="adj" fmla="val 2564"/>
            </a:avLst>
          </a:prstGeom>
          <a:solidFill>
            <a:srgbClr val="1E3057"/>
          </a:solidFill>
          <a:ln w="12700">
            <a:solidFill>
              <a:srgbClr val="1E3057"/>
            </a:solidFill>
            <a:prstDash val="solid"/>
          </a:ln>
        </p:spPr>
      </p:sp>
      <p:sp>
        <p:nvSpPr>
          <p:cNvPr id="12" name="Text 10"/>
          <p:cNvSpPr txBox="1"/>
          <p:nvPr/>
        </p:nvSpPr>
        <p:spPr>
          <a:xfrm>
            <a:off x="8382000" y="3127248"/>
            <a:ext cx="3002280" cy="457200"/>
          </a:xfrm>
          <a:prstGeom prst="rect">
            <a:avLst/>
          </a:prstGeom>
          <a:noFill/>
          <a:ln/>
        </p:spPr>
        <p:txBody>
          <a:bodyPr wrap="square" lIns="0" tIns="0" rIns="0" bIns="0" rtlCol="0" anchor="ctr"/>
          <a:lstStyle/>
          <a:p>
            <a:pPr indent="0" marL="0">
              <a:buNone/>
            </a:pPr>
            <a:r>
              <a:rPr lang="en-US" sz="1700" b="1" dirty="0">
                <a:solidFill>
                  <a:srgbClr val="D9A441"/>
                </a:solidFill>
                <a:latin typeface="Cambria" pitchFamily="34" charset="0"/>
                <a:ea typeface="Cambria" pitchFamily="34" charset="-122"/>
                <a:cs typeface="Cambria" pitchFamily="34" charset="-120"/>
              </a:rPr>
              <a:t>The gap between them</a:t>
            </a:r>
            <a:endParaRPr lang="en-US" sz="1700" dirty="0"/>
          </a:p>
        </p:txBody>
      </p:sp>
      <p:sp>
        <p:nvSpPr>
          <p:cNvPr id="13" name="Text 11"/>
          <p:cNvSpPr txBox="1"/>
          <p:nvPr/>
        </p:nvSpPr>
        <p:spPr>
          <a:xfrm>
            <a:off x="8382000" y="3611880"/>
            <a:ext cx="3002280" cy="868680"/>
          </a:xfrm>
          <a:prstGeom prst="rect">
            <a:avLst/>
          </a:prstGeom>
          <a:noFill/>
          <a:ln/>
        </p:spPr>
        <p:txBody>
          <a:bodyPr wrap="square" lIns="0" tIns="0" rIns="0" bIns="0" rtlCol="0" anchor="t"/>
          <a:lstStyle/>
          <a:p>
            <a:pPr indent="0" marL="0">
              <a:lnSpc>
                <a:spcPts val="1700"/>
              </a:lnSpc>
              <a:buNone/>
            </a:pPr>
            <a:r>
              <a:rPr lang="en-US" sz="1250" dirty="0">
                <a:solidFill>
                  <a:srgbClr val="B9CEDE"/>
                </a:solidFill>
                <a:latin typeface="Calibri" pitchFamily="34" charset="0"/>
                <a:ea typeface="Calibri" pitchFamily="34" charset="-122"/>
                <a:cs typeface="Calibri" pitchFamily="34" charset="-120"/>
              </a:rPr>
              <a:t>Measurable, on real data, and the subject of this dissertation.</a:t>
            </a:r>
            <a:endParaRPr lang="en-US" sz="1250" dirty="0"/>
          </a:p>
        </p:txBody>
      </p:sp>
      <p:sp>
        <p:nvSpPr>
          <p:cNvPr id="14" name="Text 12"/>
          <p:cNvSpPr txBox="1"/>
          <p:nvPr/>
        </p:nvSpPr>
        <p:spPr>
          <a:xfrm>
            <a:off x="548640" y="4983480"/>
            <a:ext cx="10424160" cy="822960"/>
          </a:xfrm>
          <a:prstGeom prst="rect">
            <a:avLst/>
          </a:prstGeom>
          <a:noFill/>
          <a:ln/>
        </p:spPr>
        <p:txBody>
          <a:bodyPr wrap="square" lIns="0" tIns="0" rIns="0" bIns="0" rtlCol="0" anchor="t"/>
          <a:lstStyle/>
          <a:p>
            <a:pPr algn="l" indent="0" marL="0">
              <a:lnSpc>
                <a:spcPts val="2000"/>
              </a:lnSpc>
              <a:buNone/>
            </a:pPr>
            <a:r>
              <a:rPr lang="en-US" sz="1500" i="1" dirty="0">
                <a:solidFill>
                  <a:srgbClr val="FFFFFF"/>
                </a:solidFill>
                <a:latin typeface="Calibri" pitchFamily="34" charset="0"/>
                <a:ea typeface="Calibri" pitchFamily="34" charset="-122"/>
                <a:cs typeface="Calibri" pitchFamily="34" charset="-120"/>
              </a:rPr>
              <a:t>The working claim: specific wiring geometry — not overall E/I ratio, not degree distribution — governs how this circuit amplifies, stabilises, and disinhibits.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THE DATA</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One matrix, built from Hippocampome v1.0</a:t>
            </a:r>
            <a:endParaRPr lang="en-US" sz="2700" dirty="0"/>
          </a:p>
        </p:txBody>
      </p:sp>
      <p:sp>
        <p:nvSpPr>
          <p:cNvPr id="4" name="Text 2"/>
          <p:cNvSpPr txBox="1"/>
          <p:nvPr/>
        </p:nvSpPr>
        <p:spPr>
          <a:xfrm>
            <a:off x="548640" y="1353312"/>
            <a:ext cx="11091672" cy="365760"/>
          </a:xfrm>
          <a:prstGeom prst="rect">
            <a:avLst/>
          </a:prstGeom>
          <a:noFill/>
          <a:ln/>
        </p:spPr>
        <p:txBody>
          <a:bodyPr wrap="square" lIns="0" tIns="0" rIns="0" bIns="0" rtlCol="0" anchor="t"/>
          <a:lstStyle/>
          <a:p>
            <a:pPr algn="l" indent="0" marL="0">
              <a:lnSpc>
                <a:spcPts val="2000"/>
              </a:lnSpc>
              <a:buNone/>
            </a:pPr>
            <a:r>
              <a:rPr lang="en-US" sz="1500" b="1" dirty="0">
                <a:solidFill>
                  <a:srgbClr val="3D5A80"/>
                </a:solidFill>
                <a:latin typeface="Cambria" pitchFamily="34" charset="0"/>
                <a:ea typeface="Cambria" pitchFamily="34" charset="-122"/>
                <a:cs typeface="Cambria" pitchFamily="34" charset="-120"/>
              </a:rPr>
              <a:t>m_ij  =  q_i · c_ij · g_ij · (V_ref − V_rev) · τ_ij · κ_j        working form:  m_ij = w_ij · κ_j</a:t>
            </a:r>
            <a:endParaRPr lang="en-US" sz="1500" dirty="0"/>
          </a:p>
        </p:txBody>
      </p:sp>
      <p:sp>
        <p:nvSpPr>
          <p:cNvPr id="5" name="Text 3"/>
          <p:cNvSpPr txBox="1"/>
          <p:nvPr/>
        </p:nvSpPr>
        <p:spPr>
          <a:xfrm>
            <a:off x="548640" y="1847088"/>
            <a:ext cx="2532888" cy="713232"/>
          </a:xfrm>
          <a:prstGeom prst="rect">
            <a:avLst/>
          </a:prstGeom>
          <a:noFill/>
          <a:ln/>
        </p:spPr>
        <p:txBody>
          <a:bodyPr wrap="square" lIns="0" tIns="0" rIns="0" bIns="0" rtlCol="0" anchor="ctr"/>
          <a:lstStyle/>
          <a:p>
            <a:pPr algn="l" indent="0" marL="0">
              <a:buNone/>
            </a:pPr>
            <a:r>
              <a:rPr lang="en-US" sz="3800" b="1" dirty="0">
                <a:solidFill>
                  <a:srgbClr val="C1553B"/>
                </a:solidFill>
                <a:latin typeface="Cambria" pitchFamily="34" charset="0"/>
                <a:ea typeface="Cambria" pitchFamily="34" charset="-122"/>
                <a:cs typeface="Cambria" pitchFamily="34" charset="-120"/>
              </a:rPr>
              <a:t>85</a:t>
            </a:r>
            <a:endParaRPr lang="en-US" sz="3800" dirty="0"/>
          </a:p>
        </p:txBody>
      </p:sp>
      <p:sp>
        <p:nvSpPr>
          <p:cNvPr id="6" name="Text 4"/>
          <p:cNvSpPr txBox="1"/>
          <p:nvPr/>
        </p:nvSpPr>
        <p:spPr>
          <a:xfrm>
            <a:off x="548640" y="2542032"/>
            <a:ext cx="2532888"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neuron types</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32 excitatory · 53 inhibitory</a:t>
            </a:r>
            <a:endParaRPr lang="en-US" sz="1100" dirty="0"/>
          </a:p>
        </p:txBody>
      </p:sp>
      <p:sp>
        <p:nvSpPr>
          <p:cNvPr id="7" name="Text 5"/>
          <p:cNvSpPr txBox="1"/>
          <p:nvPr/>
        </p:nvSpPr>
        <p:spPr>
          <a:xfrm>
            <a:off x="3401568" y="1847088"/>
            <a:ext cx="2532888" cy="713232"/>
          </a:xfrm>
          <a:prstGeom prst="rect">
            <a:avLst/>
          </a:prstGeom>
          <a:noFill/>
          <a:ln/>
        </p:spPr>
        <p:txBody>
          <a:bodyPr wrap="square" lIns="0" tIns="0" rIns="0" bIns="0" rtlCol="0" anchor="ctr"/>
          <a:lstStyle/>
          <a:p>
            <a:pPr algn="l" indent="0" marL="0">
              <a:buNone/>
            </a:pPr>
            <a:r>
              <a:rPr lang="en-US" sz="3800" b="1" dirty="0">
                <a:solidFill>
                  <a:srgbClr val="3D5A80"/>
                </a:solidFill>
                <a:latin typeface="Cambria" pitchFamily="34" charset="0"/>
                <a:ea typeface="Cambria" pitchFamily="34" charset="-122"/>
                <a:cs typeface="Cambria" pitchFamily="34" charset="-120"/>
              </a:rPr>
              <a:t>1,570</a:t>
            </a:r>
            <a:endParaRPr lang="en-US" sz="3800" dirty="0"/>
          </a:p>
        </p:txBody>
      </p:sp>
      <p:sp>
        <p:nvSpPr>
          <p:cNvPr id="8" name="Text 6"/>
          <p:cNvSpPr txBox="1"/>
          <p:nvPr/>
        </p:nvSpPr>
        <p:spPr>
          <a:xfrm>
            <a:off x="3401568" y="2542032"/>
            <a:ext cx="2532888"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directed edges</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1,641 netlist rows, 8 regions</a:t>
            </a:r>
            <a:endParaRPr lang="en-US" sz="1100" dirty="0"/>
          </a:p>
        </p:txBody>
      </p:sp>
      <p:sp>
        <p:nvSpPr>
          <p:cNvPr id="9" name="Text 7"/>
          <p:cNvSpPr txBox="1"/>
          <p:nvPr/>
        </p:nvSpPr>
        <p:spPr>
          <a:xfrm>
            <a:off x="6254496" y="1847088"/>
            <a:ext cx="2532888" cy="713232"/>
          </a:xfrm>
          <a:prstGeom prst="rect">
            <a:avLst/>
          </a:prstGeom>
          <a:noFill/>
          <a:ln/>
        </p:spPr>
        <p:txBody>
          <a:bodyPr wrap="square" lIns="0" tIns="0" rIns="0" bIns="0" rtlCol="0" anchor="ctr"/>
          <a:lstStyle/>
          <a:p>
            <a:pPr algn="l" indent="0" marL="0">
              <a:buNone/>
            </a:pPr>
            <a:r>
              <a:rPr lang="en-US" sz="3800" b="1" dirty="0">
                <a:solidFill>
                  <a:srgbClr val="3D5A80"/>
                </a:solidFill>
                <a:latin typeface="Cambria" pitchFamily="34" charset="0"/>
                <a:ea typeface="Cambria" pitchFamily="34" charset="-122"/>
                <a:cs typeface="Cambria" pitchFamily="34" charset="-120"/>
              </a:rPr>
              <a:t>0.220</a:t>
            </a:r>
            <a:endParaRPr lang="en-US" sz="3800" dirty="0"/>
          </a:p>
        </p:txBody>
      </p:sp>
      <p:sp>
        <p:nvSpPr>
          <p:cNvPr id="10" name="Text 8"/>
          <p:cNvSpPr txBox="1"/>
          <p:nvPr/>
        </p:nvSpPr>
        <p:spPr>
          <a:xfrm>
            <a:off x="6254496" y="2542032"/>
            <a:ext cx="2532888"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off-diagonal density</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422 reciprocal dyads</a:t>
            </a:r>
            <a:endParaRPr lang="en-US" sz="1100" dirty="0"/>
          </a:p>
        </p:txBody>
      </p:sp>
      <p:sp>
        <p:nvSpPr>
          <p:cNvPr id="11" name="Text 9"/>
          <p:cNvSpPr txBox="1"/>
          <p:nvPr/>
        </p:nvSpPr>
        <p:spPr>
          <a:xfrm>
            <a:off x="9107424" y="1847088"/>
            <a:ext cx="2532888" cy="713232"/>
          </a:xfrm>
          <a:prstGeom prst="rect">
            <a:avLst/>
          </a:prstGeom>
          <a:noFill/>
          <a:ln/>
        </p:spPr>
        <p:txBody>
          <a:bodyPr wrap="square" lIns="0" tIns="0" rIns="0" bIns="0" rtlCol="0" anchor="ctr"/>
          <a:lstStyle/>
          <a:p>
            <a:pPr algn="l" indent="0" marL="0">
              <a:buNone/>
            </a:pPr>
            <a:r>
              <a:rPr lang="en-US" sz="3800" b="1" dirty="0">
                <a:solidFill>
                  <a:srgbClr val="1F7A8C"/>
                </a:solidFill>
                <a:latin typeface="Cambria" pitchFamily="34" charset="0"/>
                <a:ea typeface="Cambria" pitchFamily="34" charset="-122"/>
                <a:cs typeface="Cambria" pitchFamily="34" charset="-120"/>
              </a:rPr>
              <a:t>71 / 85</a:t>
            </a:r>
            <a:endParaRPr lang="en-US" sz="3800" dirty="0"/>
          </a:p>
        </p:txBody>
      </p:sp>
      <p:sp>
        <p:nvSpPr>
          <p:cNvPr id="12" name="Text 10"/>
          <p:cNvSpPr txBox="1"/>
          <p:nvPr/>
        </p:nvSpPr>
        <p:spPr>
          <a:xfrm>
            <a:off x="9107424" y="2542032"/>
            <a:ext cx="2532888"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types with a non-zero</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within-type diagonal</a:t>
            </a:r>
            <a:endParaRPr lang="en-US" sz="1100" dirty="0"/>
          </a:p>
        </p:txBody>
      </p:sp>
      <p:sp>
        <p:nvSpPr>
          <p:cNvPr id="13" name="Shape 11"/>
          <p:cNvSpPr/>
          <p:nvPr/>
        </p:nvSpPr>
        <p:spPr>
          <a:xfrm>
            <a:off x="548640" y="3310128"/>
            <a:ext cx="11091672" cy="1051560"/>
          </a:xfrm>
          <a:prstGeom prst="roundRect">
            <a:avLst>
              <a:gd name="adj" fmla="val 4348"/>
            </a:avLst>
          </a:prstGeom>
          <a:solidFill>
            <a:srgbClr val="F1F4F8"/>
          </a:solidFill>
          <a:ln w="12700">
            <a:solidFill>
              <a:srgbClr val="F1F4F8"/>
            </a:solidFill>
            <a:prstDash val="solid"/>
          </a:ln>
        </p:spPr>
      </p:sp>
      <p:sp>
        <p:nvSpPr>
          <p:cNvPr id="14" name="Text 12"/>
          <p:cNvSpPr txBox="1"/>
          <p:nvPr/>
        </p:nvSpPr>
        <p:spPr>
          <a:xfrm>
            <a:off x="804672" y="3429000"/>
            <a:ext cx="10579608" cy="274320"/>
          </a:xfrm>
          <a:prstGeom prst="rect">
            <a:avLst/>
          </a:prstGeom>
          <a:noFill/>
          <a:ln/>
        </p:spPr>
        <p:txBody>
          <a:bodyPr wrap="square" lIns="0" tIns="0" rIns="0" bIns="0" rtlCol="0" anchor="ctr"/>
          <a:lstStyle/>
          <a:p>
            <a:pPr indent="0" marL="0">
              <a:buNone/>
            </a:pPr>
            <a:r>
              <a:rPr lang="en-US" sz="1200" b="1" dirty="0">
                <a:solidFill>
                  <a:srgbClr val="1A1F2B"/>
                </a:solidFill>
                <a:latin typeface="Calibri" pitchFamily="34" charset="0"/>
                <a:ea typeface="Calibri" pitchFamily="34" charset="-122"/>
                <a:cs typeface="Calibri" pitchFamily="34" charset="-120"/>
              </a:rPr>
              <a:t>Asserted at load, so the pipeline fails loudly if the source data changes</a:t>
            </a:r>
            <a:endParaRPr lang="en-US" sz="1200" dirty="0"/>
          </a:p>
        </p:txBody>
      </p:sp>
      <p:sp>
        <p:nvSpPr>
          <p:cNvPr id="15" name="Text 13"/>
          <p:cNvSpPr txBox="1"/>
          <p:nvPr/>
        </p:nvSpPr>
        <p:spPr>
          <a:xfrm>
            <a:off x="804672" y="3703320"/>
            <a:ext cx="10579608" cy="548640"/>
          </a:xfrm>
          <a:prstGeom prst="rect">
            <a:avLst/>
          </a:prstGeom>
          <a:noFill/>
          <a:ln/>
        </p:spPr>
        <p:txBody>
          <a:bodyPr wrap="square" lIns="0" tIns="0" rIns="0" bIns="0" rtlCol="0" anchor="t"/>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m_ij = w_ij · κ_j exactly, with one κ_j per postsynaptic type   ·   the sign of m_ij follows the presynaptic type’s E/I class for every edge — Dale’s law holds with no exceptions   ·   no duplicate (pre, post) pairs</a:t>
            </a:r>
            <a:endParaRPr lang="en-US" sz="1200" dirty="0"/>
          </a:p>
        </p:txBody>
      </p:sp>
      <p:sp>
        <p:nvSpPr>
          <p:cNvPr id="16" name="Text 14"/>
          <p:cNvSpPr txBox="1"/>
          <p:nvPr/>
        </p:nvSpPr>
        <p:spPr>
          <a:xfrm>
            <a:off x="548640" y="4526280"/>
            <a:ext cx="11091672" cy="640080"/>
          </a:xfrm>
          <a:prstGeom prst="rect">
            <a:avLst/>
          </a:prstGeom>
          <a:noFill/>
          <a:ln/>
        </p:spPr>
        <p:txBody>
          <a:bodyPr wrap="square" lIns="0" tIns="0" rIns="0" bIns="0" rtlCol="0" anchor="t"/>
          <a:lstStyle/>
          <a:p>
            <a:pPr algn="l" indent="0" marL="0">
              <a:lnSpc>
                <a:spcPts val="1700"/>
              </a:lnSpc>
              <a:buNone/>
            </a:pPr>
            <a:r>
              <a:rPr lang="en-US" sz="1300" dirty="0">
                <a:solidFill>
                  <a:srgbClr val="1A1F2B"/>
                </a:solidFill>
                <a:latin typeface="Calibri" pitchFamily="34" charset="0"/>
                <a:ea typeface="Calibri" pitchFamily="34" charset="-122"/>
                <a:cs typeface="Calibri" pitchFamily="34" charset="-120"/>
              </a:rPr>
              <a:t>The diagonal is not autaptic. It is coupling between distinct cells of the same type — a stochastic-block-model diagonal. That distinction drives the twin-node unrolling in Stage 3 and the "self-connections are not the leak" rule in Stage 6.</a:t>
            </a:r>
            <a:endParaRPr lang="en-US" sz="1300" dirty="0"/>
          </a:p>
        </p:txBody>
      </p:sp>
      <p:pic>
        <p:nvPicPr>
          <p:cNvPr id="17" name="Image 0" descr="/mnt/user-data/uploads/graph_subnetworks/figures/05_weight_distributions.png">    </p:cNvPr>
          <p:cNvPicPr>
            <a:picLocks noChangeAspect="1"/>
          </p:cNvPicPr>
          <p:nvPr/>
        </p:nvPicPr>
        <p:blipFill>
          <a:blip r:embed="rId1"/>
          <a:srcRect l="0" r="0" t="0" b="0"/>
          <a:stretch/>
        </p:blipFill>
        <p:spPr>
          <a:xfrm>
            <a:off x="2103120" y="5074920"/>
            <a:ext cx="7955280" cy="1234440"/>
          </a:xfrm>
          <a:prstGeom prst="rect">
            <a:avLst/>
          </a:prstGeom>
        </p:spPr>
      </p:pic>
      <p:sp>
        <p:nvSpPr>
          <p:cNvPr id="18" name="Text 15"/>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Weight distributions: |m_ij| spans roughly eight orders of magnitude, which is why medians and log scales are used throughout.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Six stages, one matrix</a:t>
            </a:r>
            <a:endParaRPr lang="en-US" sz="2700" dirty="0"/>
          </a:p>
        </p:txBody>
      </p:sp>
      <p:sp>
        <p:nvSpPr>
          <p:cNvPr id="4" name="Shape 2"/>
          <p:cNvSpPr/>
          <p:nvPr/>
        </p:nvSpPr>
        <p:spPr>
          <a:xfrm>
            <a:off x="548640" y="1417320"/>
            <a:ext cx="3502152" cy="1755648"/>
          </a:xfrm>
          <a:prstGeom prst="roundRect">
            <a:avLst>
              <a:gd name="adj" fmla="val 2604"/>
            </a:avLst>
          </a:prstGeom>
          <a:solidFill>
            <a:srgbClr val="F1F4F8"/>
          </a:solidFill>
          <a:ln w="12700">
            <a:solidFill>
              <a:srgbClr val="F1F4F8"/>
            </a:solidFill>
            <a:prstDash val="solid"/>
          </a:ln>
        </p:spPr>
      </p:sp>
      <p:sp>
        <p:nvSpPr>
          <p:cNvPr id="5" name="Shape 3"/>
          <p:cNvSpPr/>
          <p:nvPr/>
        </p:nvSpPr>
        <p:spPr>
          <a:xfrm>
            <a:off x="749808" y="1600200"/>
            <a:ext cx="384048" cy="384048"/>
          </a:xfrm>
          <a:prstGeom prst="ellipse">
            <a:avLst/>
          </a:prstGeom>
          <a:solidFill>
            <a:srgbClr val="C1553B"/>
          </a:solidFill>
          <a:ln w="12700">
            <a:solidFill>
              <a:srgbClr val="C1553B"/>
            </a:solidFill>
            <a:prstDash val="solid"/>
          </a:ln>
        </p:spPr>
      </p:sp>
      <p:sp>
        <p:nvSpPr>
          <p:cNvPr id="6" name="Text 4"/>
          <p:cNvSpPr txBox="1"/>
          <p:nvPr/>
        </p:nvSpPr>
        <p:spPr>
          <a:xfrm>
            <a:off x="749808"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243584" y="1600200"/>
            <a:ext cx="260604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E→E backbone</a:t>
            </a:r>
            <a:endParaRPr lang="en-US" sz="1350" dirty="0"/>
          </a:p>
        </p:txBody>
      </p:sp>
      <p:sp>
        <p:nvSpPr>
          <p:cNvPr id="8" name="Text 6"/>
          <p:cNvSpPr txBox="1"/>
          <p:nvPr/>
        </p:nvSpPr>
        <p:spPr>
          <a:xfrm>
            <a:off x="749808" y="2075688"/>
            <a:ext cx="3099816" cy="932688"/>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Is the excitatory subnetwork feedforward? Seven path methods plus a feedback-arc ordering.</a:t>
            </a:r>
            <a:endParaRPr lang="en-US" sz="1100" dirty="0"/>
          </a:p>
        </p:txBody>
      </p:sp>
      <p:sp>
        <p:nvSpPr>
          <p:cNvPr id="9" name="Shape 7"/>
          <p:cNvSpPr/>
          <p:nvPr/>
        </p:nvSpPr>
        <p:spPr>
          <a:xfrm>
            <a:off x="4343400" y="1417320"/>
            <a:ext cx="3502152" cy="1755648"/>
          </a:xfrm>
          <a:prstGeom prst="roundRect">
            <a:avLst>
              <a:gd name="adj" fmla="val 2604"/>
            </a:avLst>
          </a:prstGeom>
          <a:solidFill>
            <a:srgbClr val="F1F4F8"/>
          </a:solidFill>
          <a:ln w="12700">
            <a:solidFill>
              <a:srgbClr val="F1F4F8"/>
            </a:solidFill>
            <a:prstDash val="solid"/>
          </a:ln>
        </p:spPr>
      </p:sp>
      <p:sp>
        <p:nvSpPr>
          <p:cNvPr id="10" name="Shape 8"/>
          <p:cNvSpPr/>
          <p:nvPr/>
        </p:nvSpPr>
        <p:spPr>
          <a:xfrm>
            <a:off x="4544568" y="1600200"/>
            <a:ext cx="384048" cy="384048"/>
          </a:xfrm>
          <a:prstGeom prst="ellipse">
            <a:avLst/>
          </a:prstGeom>
          <a:solidFill>
            <a:srgbClr val="1F7A8C"/>
          </a:solidFill>
          <a:ln w="12700">
            <a:solidFill>
              <a:srgbClr val="1F7A8C"/>
            </a:solidFill>
            <a:prstDash val="solid"/>
          </a:ln>
        </p:spPr>
      </p:sp>
      <p:sp>
        <p:nvSpPr>
          <p:cNvPr id="11" name="Text 9"/>
          <p:cNvSpPr txBox="1"/>
          <p:nvPr/>
        </p:nvSpPr>
        <p:spPr>
          <a:xfrm>
            <a:off x="4544568"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5038344" y="1600200"/>
            <a:ext cx="260604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Inhibition</a:t>
            </a:r>
            <a:endParaRPr lang="en-US" sz="1350" dirty="0"/>
          </a:p>
        </p:txBody>
      </p:sp>
      <p:sp>
        <p:nvSpPr>
          <p:cNvPr id="13" name="Text 11"/>
          <p:cNvSpPr txBox="1"/>
          <p:nvPr/>
        </p:nvSpPr>
        <p:spPr>
          <a:xfrm>
            <a:off x="4544568" y="2075688"/>
            <a:ext cx="3099816" cy="932688"/>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What does inhibition do to stability? Block fractures, Schur complements, ablations.</a:t>
            </a:r>
            <a:endParaRPr lang="en-US" sz="1100" dirty="0"/>
          </a:p>
        </p:txBody>
      </p:sp>
      <p:sp>
        <p:nvSpPr>
          <p:cNvPr id="14" name="Shape 12"/>
          <p:cNvSpPr/>
          <p:nvPr/>
        </p:nvSpPr>
        <p:spPr>
          <a:xfrm>
            <a:off x="8138160" y="1417320"/>
            <a:ext cx="3502152" cy="1755648"/>
          </a:xfrm>
          <a:prstGeom prst="roundRect">
            <a:avLst>
              <a:gd name="adj" fmla="val 2604"/>
            </a:avLst>
          </a:prstGeom>
          <a:solidFill>
            <a:srgbClr val="F1F4F8"/>
          </a:solidFill>
          <a:ln w="12700">
            <a:solidFill>
              <a:srgbClr val="F1F4F8"/>
            </a:solidFill>
            <a:prstDash val="solid"/>
          </a:ln>
        </p:spPr>
      </p:sp>
      <p:sp>
        <p:nvSpPr>
          <p:cNvPr id="15" name="Shape 13"/>
          <p:cNvSpPr/>
          <p:nvPr/>
        </p:nvSpPr>
        <p:spPr>
          <a:xfrm>
            <a:off x="8339328" y="1600200"/>
            <a:ext cx="384048" cy="384048"/>
          </a:xfrm>
          <a:prstGeom prst="ellipse">
            <a:avLst/>
          </a:prstGeom>
          <a:solidFill>
            <a:srgbClr val="3D5A80"/>
          </a:solidFill>
          <a:ln w="12700">
            <a:solidFill>
              <a:srgbClr val="3D5A80"/>
            </a:solidFill>
            <a:prstDash val="solid"/>
          </a:ln>
        </p:spPr>
      </p:sp>
      <p:sp>
        <p:nvSpPr>
          <p:cNvPr id="16" name="Text 14"/>
          <p:cNvSpPr txBox="1"/>
          <p:nvPr/>
        </p:nvSpPr>
        <p:spPr>
          <a:xfrm>
            <a:off x="8339328"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8833104" y="1600200"/>
            <a:ext cx="260604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Motifs</a:t>
            </a:r>
            <a:endParaRPr lang="en-US" sz="1350" dirty="0"/>
          </a:p>
        </p:txBody>
      </p:sp>
      <p:sp>
        <p:nvSpPr>
          <p:cNvPr id="18" name="Text 16"/>
          <p:cNvSpPr txBox="1"/>
          <p:nvPr/>
        </p:nvSpPr>
        <p:spPr>
          <a:xfrm>
            <a:off x="8339328" y="2075688"/>
            <a:ext cx="3099816" cy="932688"/>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Which three-node patterns are structurally real? Census, unrolling, two null ensembles.</a:t>
            </a:r>
            <a:endParaRPr lang="en-US" sz="1100" dirty="0"/>
          </a:p>
        </p:txBody>
      </p:sp>
      <p:sp>
        <p:nvSpPr>
          <p:cNvPr id="19" name="Shape 17"/>
          <p:cNvSpPr/>
          <p:nvPr/>
        </p:nvSpPr>
        <p:spPr>
          <a:xfrm>
            <a:off x="548640" y="3447288"/>
            <a:ext cx="3502152" cy="1755648"/>
          </a:xfrm>
          <a:prstGeom prst="roundRect">
            <a:avLst>
              <a:gd name="adj" fmla="val 2604"/>
            </a:avLst>
          </a:prstGeom>
          <a:solidFill>
            <a:srgbClr val="F1F4F8"/>
          </a:solidFill>
          <a:ln w="12700">
            <a:solidFill>
              <a:srgbClr val="F1F4F8"/>
            </a:solidFill>
            <a:prstDash val="solid"/>
          </a:ln>
        </p:spPr>
      </p:sp>
      <p:sp>
        <p:nvSpPr>
          <p:cNvPr id="20" name="Shape 18"/>
          <p:cNvSpPr/>
          <p:nvPr/>
        </p:nvSpPr>
        <p:spPr>
          <a:xfrm>
            <a:off x="749808" y="3630168"/>
            <a:ext cx="384048" cy="384048"/>
          </a:xfrm>
          <a:prstGeom prst="ellipse">
            <a:avLst/>
          </a:prstGeom>
          <a:solidFill>
            <a:srgbClr val="3D5A80"/>
          </a:solidFill>
          <a:ln w="12700">
            <a:solidFill>
              <a:srgbClr val="3D5A80"/>
            </a:solidFill>
            <a:prstDash val="solid"/>
          </a:ln>
        </p:spPr>
      </p:sp>
      <p:sp>
        <p:nvSpPr>
          <p:cNvPr id="21" name="Text 19"/>
          <p:cNvSpPr txBox="1"/>
          <p:nvPr/>
        </p:nvSpPr>
        <p:spPr>
          <a:xfrm>
            <a:off x="749808" y="3630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1243584" y="3630168"/>
            <a:ext cx="260604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GSN</a:t>
            </a:r>
            <a:endParaRPr lang="en-US" sz="1350" dirty="0"/>
          </a:p>
        </p:txBody>
      </p:sp>
      <p:sp>
        <p:nvSpPr>
          <p:cNvPr id="23" name="Text 21"/>
          <p:cNvSpPr txBox="1"/>
          <p:nvPr/>
        </p:nvSpPr>
        <p:spPr>
          <a:xfrm>
            <a:off x="749808" y="4105656"/>
            <a:ext cx="3099816" cy="932688"/>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Do local substructures predict global dynamics? Orbit counts into a graph network.</a:t>
            </a:r>
            <a:endParaRPr lang="en-US" sz="1100" dirty="0"/>
          </a:p>
        </p:txBody>
      </p:sp>
      <p:sp>
        <p:nvSpPr>
          <p:cNvPr id="24" name="Shape 22"/>
          <p:cNvSpPr/>
          <p:nvPr/>
        </p:nvSpPr>
        <p:spPr>
          <a:xfrm>
            <a:off x="4343400" y="3447288"/>
            <a:ext cx="3502152" cy="1755648"/>
          </a:xfrm>
          <a:prstGeom prst="roundRect">
            <a:avLst>
              <a:gd name="adj" fmla="val 2604"/>
            </a:avLst>
          </a:prstGeom>
          <a:solidFill>
            <a:srgbClr val="F1F4F8"/>
          </a:solidFill>
          <a:ln w="12700">
            <a:solidFill>
              <a:srgbClr val="F1F4F8"/>
            </a:solidFill>
            <a:prstDash val="solid"/>
          </a:ln>
        </p:spPr>
      </p:sp>
      <p:sp>
        <p:nvSpPr>
          <p:cNvPr id="25" name="Shape 23"/>
          <p:cNvSpPr/>
          <p:nvPr/>
        </p:nvSpPr>
        <p:spPr>
          <a:xfrm>
            <a:off x="4544568" y="3630168"/>
            <a:ext cx="384048" cy="384048"/>
          </a:xfrm>
          <a:prstGeom prst="ellipse">
            <a:avLst/>
          </a:prstGeom>
          <a:solidFill>
            <a:srgbClr val="1F7A8C"/>
          </a:solidFill>
          <a:ln w="12700">
            <a:solidFill>
              <a:srgbClr val="1F7A8C"/>
            </a:solidFill>
            <a:prstDash val="solid"/>
          </a:ln>
        </p:spPr>
      </p:sp>
      <p:sp>
        <p:nvSpPr>
          <p:cNvPr id="26" name="Text 24"/>
          <p:cNvSpPr txBox="1"/>
          <p:nvPr/>
        </p:nvSpPr>
        <p:spPr>
          <a:xfrm>
            <a:off x="4544568" y="3630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5038344" y="3630168"/>
            <a:ext cx="260604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Eigen / Schur</a:t>
            </a:r>
            <a:endParaRPr lang="en-US" sz="1350" dirty="0"/>
          </a:p>
        </p:txBody>
      </p:sp>
      <p:sp>
        <p:nvSpPr>
          <p:cNvPr id="28" name="Text 26"/>
          <p:cNvSpPr txBox="1"/>
          <p:nvPr/>
        </p:nvSpPr>
        <p:spPr>
          <a:xfrm>
            <a:off x="4544568" y="4105656"/>
            <a:ext cx="3099816" cy="932688"/>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Where do the modes live and how do they couple? Schur cascade, propagation, greedy trees.</a:t>
            </a:r>
            <a:endParaRPr lang="en-US" sz="1100" dirty="0"/>
          </a:p>
        </p:txBody>
      </p:sp>
      <p:sp>
        <p:nvSpPr>
          <p:cNvPr id="29" name="Shape 27"/>
          <p:cNvSpPr/>
          <p:nvPr/>
        </p:nvSpPr>
        <p:spPr>
          <a:xfrm>
            <a:off x="8138160" y="3447288"/>
            <a:ext cx="3502152" cy="1755648"/>
          </a:xfrm>
          <a:prstGeom prst="roundRect">
            <a:avLst>
              <a:gd name="adj" fmla="val 2604"/>
            </a:avLst>
          </a:prstGeom>
          <a:solidFill>
            <a:srgbClr val="F1F4F8"/>
          </a:solidFill>
          <a:ln w="12700">
            <a:solidFill>
              <a:srgbClr val="F1F4F8"/>
            </a:solidFill>
            <a:prstDash val="solid"/>
          </a:ln>
        </p:spPr>
      </p:sp>
      <p:sp>
        <p:nvSpPr>
          <p:cNvPr id="30" name="Shape 28"/>
          <p:cNvSpPr/>
          <p:nvPr/>
        </p:nvSpPr>
        <p:spPr>
          <a:xfrm>
            <a:off x="8339328" y="3630168"/>
            <a:ext cx="384048" cy="384048"/>
          </a:xfrm>
          <a:prstGeom prst="ellipse">
            <a:avLst/>
          </a:prstGeom>
          <a:solidFill>
            <a:srgbClr val="C1553B"/>
          </a:solidFill>
          <a:ln w="12700">
            <a:solidFill>
              <a:srgbClr val="C1553B"/>
            </a:solidFill>
            <a:prstDash val="solid"/>
          </a:ln>
        </p:spPr>
      </p:sp>
      <p:sp>
        <p:nvSpPr>
          <p:cNvPr id="31" name="Text 29"/>
          <p:cNvSpPr txBox="1"/>
          <p:nvPr/>
        </p:nvSpPr>
        <p:spPr>
          <a:xfrm>
            <a:off x="8339328" y="3630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8833104" y="3630168"/>
            <a:ext cx="260604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Jacobian</a:t>
            </a:r>
            <a:endParaRPr lang="en-US" sz="1350" dirty="0"/>
          </a:p>
        </p:txBody>
      </p:sp>
      <p:sp>
        <p:nvSpPr>
          <p:cNvPr id="33" name="Text 31"/>
          <p:cNvSpPr txBox="1"/>
          <p:nvPr/>
        </p:nvSpPr>
        <p:spPr>
          <a:xfrm>
            <a:off x="8339328" y="4105656"/>
            <a:ext cx="3099816" cy="932688"/>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Restate it in continuous time and measure the transient. Abscissas, pseudospectra, Kreiss.</a:t>
            </a:r>
            <a:endParaRPr lang="en-US" sz="1100" dirty="0"/>
          </a:p>
        </p:txBody>
      </p:sp>
      <p:sp>
        <p:nvSpPr>
          <p:cNvPr id="34" name="Shape 32"/>
          <p:cNvSpPr/>
          <p:nvPr/>
        </p:nvSpPr>
        <p:spPr>
          <a:xfrm>
            <a:off x="548640" y="5321808"/>
            <a:ext cx="11091672" cy="932688"/>
          </a:xfrm>
          <a:prstGeom prst="roundRect">
            <a:avLst>
              <a:gd name="adj" fmla="val 4902"/>
            </a:avLst>
          </a:prstGeom>
          <a:solidFill>
            <a:srgbClr val="17253F"/>
          </a:solidFill>
          <a:ln w="12700">
            <a:solidFill>
              <a:srgbClr val="17253F"/>
            </a:solidFill>
            <a:prstDash val="solid"/>
          </a:ln>
        </p:spPr>
      </p:sp>
      <p:sp>
        <p:nvSpPr>
          <p:cNvPr id="35" name="Text 33"/>
          <p:cNvSpPr txBox="1"/>
          <p:nvPr/>
        </p:nvSpPr>
        <p:spPr>
          <a:xfrm>
            <a:off x="822960" y="5431536"/>
            <a:ext cx="4937760" cy="292608"/>
          </a:xfrm>
          <a:prstGeom prst="rect">
            <a:avLst/>
          </a:prstGeom>
          <a:noFill/>
          <a:ln/>
        </p:spPr>
        <p:txBody>
          <a:bodyPr wrap="square" lIns="0" tIns="0" rIns="0" bIns="0" rtlCol="0" anchor="ctr"/>
          <a:lstStyle/>
          <a:p>
            <a:pPr indent="0" marL="0">
              <a:buNone/>
            </a:pPr>
            <a:r>
              <a:rPr lang="en-US" sz="1300" b="1" dirty="0">
                <a:solidFill>
                  <a:srgbClr val="D9A441"/>
                </a:solidFill>
                <a:latin typeface="Calibri" pitchFamily="34" charset="0"/>
                <a:ea typeface="Calibri" pitchFamily="34" charset="-122"/>
                <a:cs typeface="Calibri" pitchFamily="34" charset="-120"/>
              </a:rPr>
              <a:t>Stage 00 — Preprocessing runs underneath all six</a:t>
            </a:r>
            <a:endParaRPr lang="en-US" sz="1300" dirty="0"/>
          </a:p>
        </p:txBody>
      </p:sp>
      <p:sp>
        <p:nvSpPr>
          <p:cNvPr id="36" name="Text 34"/>
          <p:cNvSpPr txBox="1"/>
          <p:nvPr/>
        </p:nvSpPr>
        <p:spPr>
          <a:xfrm>
            <a:off x="822960" y="5724144"/>
            <a:ext cx="10543032" cy="384048"/>
          </a:xfrm>
          <a:prstGeom prst="rect">
            <a:avLst/>
          </a:prstGeom>
          <a:noFill/>
          <a:ln/>
        </p:spPr>
        <p:txBody>
          <a:bodyPr wrap="square" lIns="0" tIns="0" rIns="0" bIns="0" rtlCol="0" anchor="t"/>
          <a:lstStyle/>
          <a:p>
            <a:pPr indent="0" marL="0">
              <a:buNone/>
            </a:pPr>
            <a:r>
              <a:rPr lang="en-US" sz="1200" dirty="0">
                <a:solidFill>
                  <a:srgbClr val="B9CEDE"/>
                </a:solidFill>
                <a:latin typeface="Calibri" pitchFamily="34" charset="0"/>
                <a:ea typeface="Calibri" pitchFamily="34" charset="-122"/>
                <a:cs typeface="Calibri" pitchFamily="34" charset="-120"/>
              </a:rPr>
              <a:t>Orientation decides causation. Scale decides whether the question is well-posed. Ordering decides what "feedforward" means.</a:t>
            </a:r>
            <a:endParaRPr lang="en-US" sz="1200" dirty="0"/>
          </a:p>
        </p:txBody>
      </p:sp>
      <p:sp>
        <p:nvSpPr>
          <p:cNvPr id="37" name="Text 35"/>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Repositories: AscoliLab (EE_backbone, inhib_modulation, motif_analysis, tarjan_reorder, schur_decomp, jacobian_analysis, non-normal_matrices) and graph_subnetworks (GSN).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417320"/>
            <a:ext cx="1051560" cy="1051560"/>
          </a:xfrm>
          <a:prstGeom prst="ellipse">
            <a:avLst/>
          </a:prstGeom>
          <a:solidFill>
            <a:srgbClr val="D9A441"/>
          </a:solidFill>
          <a:ln w="12700">
            <a:solidFill>
              <a:srgbClr val="D9A441"/>
            </a:solidFill>
            <a:prstDash val="solid"/>
          </a:ln>
        </p:spPr>
      </p:sp>
      <p:sp>
        <p:nvSpPr>
          <p:cNvPr id="3" name="Text 1"/>
          <p:cNvSpPr txBox="1"/>
          <p:nvPr/>
        </p:nvSpPr>
        <p:spPr>
          <a:xfrm>
            <a:off x="548640" y="1417320"/>
            <a:ext cx="1051560" cy="10515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00</a:t>
            </a:r>
            <a:endParaRPr lang="en-US" sz="4000" dirty="0"/>
          </a:p>
        </p:txBody>
      </p:sp>
      <p:sp>
        <p:nvSpPr>
          <p:cNvPr id="4" name="Text 2"/>
          <p:cNvSpPr txBox="1"/>
          <p:nvPr/>
        </p:nvSpPr>
        <p:spPr>
          <a:xfrm>
            <a:off x="548640" y="777240"/>
            <a:ext cx="11091672" cy="274320"/>
          </a:xfrm>
          <a:prstGeom prst="rect">
            <a:avLst/>
          </a:prstGeom>
          <a:noFill/>
          <a:ln/>
        </p:spPr>
        <p:txBody>
          <a:bodyPr wrap="square" lIns="0" tIns="0" rIns="0" bIns="0" rtlCol="0" anchor="ctr"/>
          <a:lstStyle/>
          <a:p>
            <a:pPr indent="0" marL="0">
              <a:buNone/>
            </a:pPr>
            <a:r>
              <a:rPr lang="en-US" sz="1000" b="1" spc="200" kern="0" dirty="0">
                <a:solidFill>
                  <a:srgbClr val="B9CEDE"/>
                </a:solidFill>
                <a:latin typeface="Calibri" pitchFamily="34" charset="0"/>
                <a:ea typeface="Calibri" pitchFamily="34" charset="-122"/>
                <a:cs typeface="Calibri" pitchFamily="34" charset="-120"/>
              </a:rPr>
              <a:t>STAGE 00</a:t>
            </a:r>
            <a:endParaRPr lang="en-US" sz="1000" dirty="0"/>
          </a:p>
        </p:txBody>
      </p:sp>
      <p:sp>
        <p:nvSpPr>
          <p:cNvPr id="5" name="Text 3"/>
          <p:cNvSpPr txBox="1"/>
          <p:nvPr/>
        </p:nvSpPr>
        <p:spPr>
          <a:xfrm>
            <a:off x="1874520" y="1371600"/>
            <a:ext cx="9765792" cy="11430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Preprocessing is not setup. It is the result.</a:t>
            </a:r>
            <a:endParaRPr lang="en-US" sz="3200" dirty="0"/>
          </a:p>
        </p:txBody>
      </p:sp>
      <p:sp>
        <p:nvSpPr>
          <p:cNvPr id="6" name="Text 4"/>
          <p:cNvSpPr txBox="1"/>
          <p:nvPr/>
        </p:nvSpPr>
        <p:spPr>
          <a:xfrm>
            <a:off x="548640" y="3063240"/>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QUESTION</a:t>
            </a:r>
            <a:endParaRPr lang="en-US" sz="950" dirty="0"/>
          </a:p>
        </p:txBody>
      </p:sp>
      <p:sp>
        <p:nvSpPr>
          <p:cNvPr id="7" name="Text 5"/>
          <p:cNvSpPr txBox="1"/>
          <p:nvPr/>
        </p:nvSpPr>
        <p:spPr>
          <a:xfrm>
            <a:off x="1874520" y="3026664"/>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Does the pipeline compute what it claims to compute — on the matrix it claims to be holding?</a:t>
            </a:r>
            <a:endParaRPr lang="en-US" sz="1450" dirty="0"/>
          </a:p>
        </p:txBody>
      </p:sp>
      <p:sp>
        <p:nvSpPr>
          <p:cNvPr id="8" name="Text 6"/>
          <p:cNvSpPr txBox="1"/>
          <p:nvPr/>
        </p:nvSpPr>
        <p:spPr>
          <a:xfrm>
            <a:off x="548640" y="4123944"/>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METHOD</a:t>
            </a:r>
            <a:endParaRPr lang="en-US" sz="950" dirty="0"/>
          </a:p>
        </p:txBody>
      </p:sp>
      <p:sp>
        <p:nvSpPr>
          <p:cNvPr id="9" name="Text 7"/>
          <p:cNvSpPr txBox="1"/>
          <p:nvPr/>
        </p:nvSpPr>
        <p:spPr>
          <a:xfrm>
            <a:off x="1874520" y="4087368"/>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Three contracts, each checked in code rather than remembered: orientation (M[post, pre]), scale (spectral-radius normalisation), and ordering (shared permutations only).</a:t>
            </a:r>
            <a:endParaRPr lang="en-US" sz="1450" dirty="0"/>
          </a:p>
        </p:txBody>
      </p:sp>
      <p:sp>
        <p:nvSpPr>
          <p:cNvPr id="10" name="Text 8"/>
          <p:cNvSpPr txBox="1"/>
          <p:nvPr/>
        </p:nvSpPr>
        <p:spPr>
          <a:xfrm>
            <a:off x="548640" y="5184648"/>
            <a:ext cx="1234440" cy="310896"/>
          </a:xfrm>
          <a:prstGeom prst="rect">
            <a:avLst/>
          </a:prstGeom>
          <a:noFill/>
          <a:ln/>
        </p:spPr>
        <p:txBody>
          <a:bodyPr wrap="square" lIns="0" tIns="0" rIns="0" bIns="0" rtlCol="0" anchor="t"/>
          <a:lstStyle/>
          <a:p>
            <a:pPr indent="0" marL="0">
              <a:buNone/>
            </a:pPr>
            <a:r>
              <a:rPr lang="en-US" sz="950" b="1" spc="150" kern="0" dirty="0">
                <a:solidFill>
                  <a:srgbClr val="D9A441"/>
                </a:solidFill>
                <a:latin typeface="Calibri" pitchFamily="34" charset="0"/>
                <a:ea typeface="Calibri" pitchFamily="34" charset="-122"/>
                <a:cs typeface="Calibri" pitchFamily="34" charset="-120"/>
              </a:rPr>
              <a:t>FINDING</a:t>
            </a:r>
            <a:endParaRPr lang="en-US" sz="950" dirty="0"/>
          </a:p>
        </p:txBody>
      </p:sp>
      <p:sp>
        <p:nvSpPr>
          <p:cNvPr id="11" name="Text 9"/>
          <p:cNvSpPr txBox="1"/>
          <p:nvPr/>
        </p:nvSpPr>
        <p:spPr>
          <a:xfrm>
            <a:off x="1874520" y="5148072"/>
            <a:ext cx="9765792" cy="960120"/>
          </a:xfrm>
          <a:prstGeom prst="rect">
            <a:avLst/>
          </a:prstGeom>
          <a:noFill/>
          <a:ln/>
        </p:spPr>
        <p:txBody>
          <a:bodyPr wrap="square" lIns="0" tIns="0" rIns="0" bIns="0" rtlCol="0" anchor="t"/>
          <a:lstStyle/>
          <a:p>
            <a:pPr indent="0" marL="0">
              <a:lnSpc>
                <a:spcPts val="2000"/>
              </a:lnSpc>
              <a:buNone/>
            </a:pPr>
            <a:r>
              <a:rPr lang="en-US" sz="1450" b="1" dirty="0">
                <a:solidFill>
                  <a:srgbClr val="FFFFFF"/>
                </a:solidFill>
                <a:latin typeface="Calibri" pitchFamily="34" charset="0"/>
                <a:ea typeface="Calibri" pitchFamily="34" charset="-122"/>
                <a:cs typeface="Calibri" pitchFamily="34" charset="-120"/>
              </a:rPr>
              <a:t>A transposed run is invisible to every structural diagnostic in the pipeline. It reads as a scientific result, not as a bug — which is exactly why it needs an assertion, not a convention.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00 · ORIENTATION</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The transpose: what the file is, and what the maths needs</a:t>
            </a:r>
            <a:endParaRPr lang="en-US" sz="2700" dirty="0"/>
          </a:p>
        </p:txBody>
      </p:sp>
      <p:sp>
        <p:nvSpPr>
          <p:cNvPr id="4" name="Shape 2"/>
          <p:cNvSpPr/>
          <p:nvPr/>
        </p:nvSpPr>
        <p:spPr>
          <a:xfrm>
            <a:off x="11247120" y="402336"/>
            <a:ext cx="512064" cy="512064"/>
          </a:xfrm>
          <a:prstGeom prst="ellipse">
            <a:avLst/>
          </a:prstGeom>
          <a:solidFill>
            <a:srgbClr val="D9A441"/>
          </a:solidFill>
          <a:ln w="12700">
            <a:solidFill>
              <a:srgbClr val="D9A441"/>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00</a:t>
            </a:r>
            <a:endParaRPr lang="en-US" sz="2000" dirty="0"/>
          </a:p>
        </p:txBody>
      </p:sp>
      <p:sp>
        <p:nvSpPr>
          <p:cNvPr id="6" name="Shape 4"/>
          <p:cNvSpPr/>
          <p:nvPr/>
        </p:nvSpPr>
        <p:spPr>
          <a:xfrm>
            <a:off x="548640" y="1417320"/>
            <a:ext cx="5362956" cy="1783080"/>
          </a:xfrm>
          <a:prstGeom prst="roundRect">
            <a:avLst>
              <a:gd name="adj" fmla="val 2564"/>
            </a:avLst>
          </a:prstGeom>
          <a:solidFill>
            <a:srgbClr val="F1F4F8"/>
          </a:solidFill>
          <a:ln w="12700">
            <a:solidFill>
              <a:srgbClr val="F1F4F8"/>
            </a:solidFill>
            <a:prstDash val="solid"/>
          </a:ln>
        </p:spPr>
      </p:sp>
      <p:sp>
        <p:nvSpPr>
          <p:cNvPr id="7" name="Text 5"/>
          <p:cNvSpPr txBox="1"/>
          <p:nvPr/>
        </p:nvSpPr>
        <p:spPr>
          <a:xfrm>
            <a:off x="804672" y="1572768"/>
            <a:ext cx="4850892" cy="310896"/>
          </a:xfrm>
          <a:prstGeom prst="rect">
            <a:avLst/>
          </a:prstGeom>
          <a:noFill/>
          <a:ln/>
        </p:spPr>
        <p:txBody>
          <a:bodyPr wrap="square" lIns="0" tIns="0" rIns="0" bIns="0" rtlCol="0" anchor="ctr"/>
          <a:lstStyle/>
          <a:p>
            <a:pPr indent="0" marL="0">
              <a:buNone/>
            </a:pPr>
            <a:r>
              <a:rPr lang="en-US" sz="1700" b="1" dirty="0">
                <a:solidFill>
                  <a:srgbClr val="C1553B"/>
                </a:solidFill>
                <a:latin typeface="Cambria" pitchFamily="34" charset="0"/>
                <a:ea typeface="Cambria" pitchFamily="34" charset="-122"/>
                <a:cs typeface="Cambria" pitchFamily="34" charset="-120"/>
              </a:rPr>
              <a:t>On disk</a:t>
            </a:r>
            <a:endParaRPr lang="en-US" sz="1700" dirty="0"/>
          </a:p>
        </p:txBody>
      </p:sp>
      <p:sp>
        <p:nvSpPr>
          <p:cNvPr id="8" name="Text 6"/>
          <p:cNvSpPr txBox="1"/>
          <p:nvPr/>
        </p:nvSpPr>
        <p:spPr>
          <a:xfrm>
            <a:off x="804672" y="1938528"/>
            <a:ext cx="4850892" cy="1463040"/>
          </a:xfrm>
          <a:prstGeom prst="rect">
            <a:avLst/>
          </a:prstGeom>
          <a:noFill/>
          <a:ln/>
        </p:spPr>
        <p:txBody>
          <a:bodyPr wrap="square" lIns="0" tIns="0" rIns="0" bIns="0" rtlCol="0" anchor="t"/>
          <a:lstStyle/>
          <a:p>
            <a:pPr indent="0" marL="0">
              <a:lnSpc>
                <a:spcPts val="1800"/>
              </a:lnSpc>
              <a:buNone/>
            </a:pPr>
            <a:r>
              <a:rPr lang="en-US" sz="1300" dirty="0">
                <a:solidFill>
                  <a:srgbClr val="1A1F2B"/>
                </a:solidFill>
                <a:latin typeface="Calibri" pitchFamily="34" charset="0"/>
                <a:ea typeface="Calibri" pitchFamily="34" charset="-122"/>
                <a:cs typeface="Calibri" pitchFamily="34" charset="-120"/>
              </a:rPr>
              <a:t>Every mij_matrix.csv in the repository is M[pre, post] — rows are the source cell type, columns the target. That is how the netlist pivots, and it is the natural table to read a row as "what this cell sends".</a:t>
            </a:r>
            <a:endParaRPr lang="en-US" sz="1300" dirty="0"/>
          </a:p>
        </p:txBody>
      </p:sp>
      <p:sp>
        <p:nvSpPr>
          <p:cNvPr id="9" name="Shape 7"/>
          <p:cNvSpPr/>
          <p:nvPr/>
        </p:nvSpPr>
        <p:spPr>
          <a:xfrm>
            <a:off x="6277356" y="1417320"/>
            <a:ext cx="5362956" cy="1783080"/>
          </a:xfrm>
          <a:prstGeom prst="roundRect">
            <a:avLst>
              <a:gd name="adj" fmla="val 2564"/>
            </a:avLst>
          </a:prstGeom>
          <a:solidFill>
            <a:srgbClr val="F1F4F8"/>
          </a:solidFill>
          <a:ln w="12700">
            <a:solidFill>
              <a:srgbClr val="F1F4F8"/>
            </a:solidFill>
            <a:prstDash val="solid"/>
          </a:ln>
        </p:spPr>
      </p:sp>
      <p:sp>
        <p:nvSpPr>
          <p:cNvPr id="10" name="Text 8"/>
          <p:cNvSpPr txBox="1"/>
          <p:nvPr/>
        </p:nvSpPr>
        <p:spPr>
          <a:xfrm>
            <a:off x="6533388" y="1572768"/>
            <a:ext cx="4850892" cy="310896"/>
          </a:xfrm>
          <a:prstGeom prst="rect">
            <a:avLst/>
          </a:prstGeom>
          <a:noFill/>
          <a:ln/>
        </p:spPr>
        <p:txBody>
          <a:bodyPr wrap="square" lIns="0" tIns="0" rIns="0" bIns="0" rtlCol="0" anchor="ctr"/>
          <a:lstStyle/>
          <a:p>
            <a:pPr indent="0" marL="0">
              <a:buNone/>
            </a:pPr>
            <a:r>
              <a:rPr lang="en-US" sz="1700" b="1" dirty="0">
                <a:solidFill>
                  <a:srgbClr val="1F7A8C"/>
                </a:solidFill>
                <a:latin typeface="Cambria" pitchFamily="34" charset="0"/>
                <a:ea typeface="Cambria" pitchFamily="34" charset="-122"/>
                <a:cs typeface="Cambria" pitchFamily="34" charset="-120"/>
              </a:rPr>
              <a:t>In the analysis</a:t>
            </a:r>
            <a:endParaRPr lang="en-US" sz="1700" dirty="0"/>
          </a:p>
        </p:txBody>
      </p:sp>
      <p:sp>
        <p:nvSpPr>
          <p:cNvPr id="11" name="Text 9"/>
          <p:cNvSpPr txBox="1"/>
          <p:nvPr/>
        </p:nvSpPr>
        <p:spPr>
          <a:xfrm>
            <a:off x="6533388" y="1938528"/>
            <a:ext cx="4850892" cy="1463040"/>
          </a:xfrm>
          <a:prstGeom prst="rect">
            <a:avLst/>
          </a:prstGeom>
          <a:noFill/>
          <a:ln/>
        </p:spPr>
        <p:txBody>
          <a:bodyPr wrap="square" lIns="0" tIns="0" rIns="0" bIns="0" rtlCol="0" anchor="t"/>
          <a:lstStyle/>
          <a:p>
            <a:pPr indent="0" marL="0">
              <a:lnSpc>
                <a:spcPts val="1800"/>
              </a:lnSpc>
              <a:buNone/>
            </a:pPr>
            <a:r>
              <a:rPr lang="en-US" sz="1300" dirty="0">
                <a:solidFill>
                  <a:srgbClr val="1A1F2B"/>
                </a:solidFill>
                <a:latin typeface="Calibri" pitchFamily="34" charset="0"/>
                <a:ea typeface="Calibri" pitchFamily="34" charset="-122"/>
                <a:cs typeface="Calibri" pitchFamily="34" charset="-120"/>
              </a:rPr>
              <a:t>Every function that reads M[i, j] as "the influence of j on i" needs M[post, pre]:  x[t+1] = M x[t],  dV/dt = A V,  scipy.linalg.schur, numpy.linalg.eig, expm, controllability Gramians, NetworkX edge construction.</a:t>
            </a:r>
            <a:endParaRPr lang="en-US" sz="1300" dirty="0"/>
          </a:p>
        </p:txBody>
      </p:sp>
      <p:sp>
        <p:nvSpPr>
          <p:cNvPr id="12" name="Shape 10"/>
          <p:cNvSpPr/>
          <p:nvPr/>
        </p:nvSpPr>
        <p:spPr>
          <a:xfrm>
            <a:off x="548640" y="3401568"/>
            <a:ext cx="11091672" cy="960120"/>
          </a:xfrm>
          <a:prstGeom prst="roundRect">
            <a:avLst>
              <a:gd name="adj" fmla="val 4762"/>
            </a:avLst>
          </a:prstGeom>
          <a:solidFill>
            <a:srgbClr val="14213D"/>
          </a:solidFill>
          <a:ln w="12700">
            <a:solidFill>
              <a:srgbClr val="14213D"/>
            </a:solidFill>
            <a:prstDash val="solid"/>
          </a:ln>
        </p:spPr>
      </p:sp>
      <p:sp>
        <p:nvSpPr>
          <p:cNvPr id="13" name="Text 11"/>
          <p:cNvSpPr txBox="1"/>
          <p:nvPr/>
        </p:nvSpPr>
        <p:spPr>
          <a:xfrm>
            <a:off x="822960" y="3566160"/>
            <a:ext cx="10543032"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rule:  if a function interprets M[i, j] as the influence of cell j on cell i, it needs M[post, pre].</a:t>
            </a:r>
            <a:endParaRPr lang="en-US" sz="1600" dirty="0"/>
          </a:p>
        </p:txBody>
      </p:sp>
      <p:sp>
        <p:nvSpPr>
          <p:cNvPr id="14" name="Text 12"/>
          <p:cNvSpPr txBox="1"/>
          <p:nvPr/>
        </p:nvSpPr>
        <p:spPr>
          <a:xfrm>
            <a:off x="822960" y="3913632"/>
            <a:ext cx="10543032" cy="310896"/>
          </a:xfrm>
          <a:prstGeom prst="rect">
            <a:avLst/>
          </a:prstGeom>
          <a:noFill/>
          <a:ln/>
        </p:spPr>
        <p:txBody>
          <a:bodyPr wrap="square" lIns="0" tIns="0" rIns="0" bIns="0" rtlCol="0" anchor="ctr"/>
          <a:lstStyle/>
          <a:p>
            <a:pPr indent="0" marL="0">
              <a:buNone/>
            </a:pPr>
            <a:r>
              <a:rPr lang="en-US" sz="1250" dirty="0">
                <a:solidFill>
                  <a:srgbClr val="B9CEDE"/>
                </a:solidFill>
                <a:latin typeface="Calibri" pitchFamily="34" charset="0"/>
                <a:ea typeface="Calibri" pitchFamily="34" charset="-122"/>
                <a:cs typeface="Calibri" pitchFamily="34" charset="-120"/>
              </a:rPr>
              <a:t>Rows are postsynaptic targets. Columns are presynaptic sources. Feedforward edges then land below the diagonal under a successful ordering.</a:t>
            </a:r>
            <a:endParaRPr lang="en-US" sz="1250" dirty="0"/>
          </a:p>
        </p:txBody>
      </p:sp>
      <p:sp>
        <p:nvSpPr>
          <p:cNvPr id="15" name="Text 13"/>
          <p:cNvSpPr txBox="1"/>
          <p:nvPr/>
        </p:nvSpPr>
        <p:spPr>
          <a:xfrm>
            <a:off x="548640" y="4553712"/>
            <a:ext cx="11091672" cy="685800"/>
          </a:xfrm>
          <a:prstGeom prst="rect">
            <a:avLst/>
          </a:prstGeom>
          <a:noFill/>
          <a:ln/>
        </p:spPr>
        <p:txBody>
          <a:bodyPr wrap="square" lIns="0" tIns="0" rIns="0" bIns="0" rtlCol="0" anchor="t"/>
          <a:lstStyle/>
          <a:p>
            <a:pPr algn="l" indent="0" marL="0">
              <a:lnSpc>
                <a:spcPts val="1800"/>
              </a:lnSpc>
              <a:buNone/>
            </a:pPr>
            <a:r>
              <a:rPr lang="en-US" sz="1400" dirty="0">
                <a:solidFill>
                  <a:srgbClr val="1A1F2B"/>
                </a:solidFill>
                <a:latin typeface="Calibri" pitchFamily="34" charset="0"/>
                <a:ea typeface="Calibri" pitchFamily="34" charset="-122"/>
                <a:cs typeface="Calibri" pitchFamily="34" charset="-120"/>
              </a:rPr>
              <a:t>Verified, not assumed. Reconstructing M[post, pre] from the 1,641-row netlist and differencing against the CSV gives residual 1.414 as stored and 3.0 × 10⁻¹⁸ transposed. mij_matrix.csv is presynaptic-rows / postsynaptic-columns, and the loader’s transpose is the right one.</a:t>
            </a:r>
            <a:endParaRPr lang="en-US" sz="1400" dirty="0"/>
          </a:p>
        </p:txBody>
      </p:sp>
      <p:sp>
        <p:nvSpPr>
          <p:cNvPr id="16" name="Shape 14"/>
          <p:cNvSpPr/>
          <p:nvPr/>
        </p:nvSpPr>
        <p:spPr>
          <a:xfrm>
            <a:off x="548640" y="5285232"/>
            <a:ext cx="3526536" cy="868680"/>
          </a:xfrm>
          <a:prstGeom prst="roundRect">
            <a:avLst>
              <a:gd name="adj" fmla="val 5263"/>
            </a:avLst>
          </a:prstGeom>
          <a:solidFill>
            <a:srgbClr val="F1F4F8"/>
          </a:solidFill>
          <a:ln w="12700">
            <a:solidFill>
              <a:srgbClr val="F1F4F8"/>
            </a:solidFill>
            <a:prstDash val="solid"/>
          </a:ln>
        </p:spPr>
      </p:sp>
      <p:sp>
        <p:nvSpPr>
          <p:cNvPr id="17" name="Text 15"/>
          <p:cNvSpPr txBox="1"/>
          <p:nvPr/>
        </p:nvSpPr>
        <p:spPr>
          <a:xfrm>
            <a:off x="749808" y="5376672"/>
            <a:ext cx="3124200" cy="256032"/>
          </a:xfrm>
          <a:prstGeom prst="rect">
            <a:avLst/>
          </a:prstGeom>
          <a:noFill/>
          <a:ln/>
        </p:spPr>
        <p:txBody>
          <a:bodyPr wrap="square" lIns="0" tIns="0" rIns="0" bIns="0" rtlCol="0" anchor="ctr"/>
          <a:lstStyle/>
          <a:p>
            <a:pPr indent="0" marL="0">
              <a:buNone/>
            </a:pPr>
            <a:r>
              <a:rPr lang="en-US" sz="1150" b="1" dirty="0">
                <a:solidFill>
                  <a:srgbClr val="1F7A8C"/>
                </a:solidFill>
                <a:latin typeface="Calibri" pitchFamily="34" charset="0"/>
                <a:ea typeface="Calibri" pitchFamily="34" charset="-122"/>
                <a:cs typeface="Calibri" pitchFamily="34" charset="-120"/>
              </a:rPr>
              <a:t>Loaders that transpose for you</a:t>
            </a:r>
            <a:endParaRPr lang="en-US" sz="1150" dirty="0"/>
          </a:p>
        </p:txBody>
      </p:sp>
      <p:sp>
        <p:nvSpPr>
          <p:cNvPr id="18" name="Text 16"/>
          <p:cNvSpPr txBox="1"/>
          <p:nvPr/>
        </p:nvSpPr>
        <p:spPr>
          <a:xfrm>
            <a:off x="749808" y="5632704"/>
            <a:ext cx="3124200" cy="475488"/>
          </a:xfrm>
          <a:prstGeom prst="rect">
            <a:avLst/>
          </a:prstGeom>
          <a:noFill/>
          <a:ln/>
        </p:spPr>
        <p:txBody>
          <a:bodyPr wrap="square" lIns="0" tIns="0" rIns="0" bIns="0" rtlCol="0" anchor="t"/>
          <a:lstStyle/>
          <a:p>
            <a:pPr indent="0" marL="0">
              <a:lnSpc>
                <a:spcPts val="1300"/>
              </a:lnSpc>
              <a:buNone/>
            </a:pPr>
            <a:r>
              <a:rPr lang="en-US" sz="1000" dirty="0">
                <a:solidFill>
                  <a:srgbClr val="6B7280"/>
                </a:solidFill>
                <a:latin typeface="Calibri" pitchFamily="34" charset="0"/>
                <a:ea typeface="Calibri" pitchFamily="34" charset="-122"/>
                <a:cs typeface="Calibri" pitchFamily="34" charset="-120"/>
              </a:rPr>
              <a:t>load_mij_data, load_source_receiver_matrix, load_inputs, prepare_schur_model, load_connectivity</a:t>
            </a:r>
            <a:endParaRPr lang="en-US" sz="1000" dirty="0"/>
          </a:p>
        </p:txBody>
      </p:sp>
      <p:sp>
        <p:nvSpPr>
          <p:cNvPr id="19" name="Shape 17"/>
          <p:cNvSpPr/>
          <p:nvPr/>
        </p:nvSpPr>
        <p:spPr>
          <a:xfrm>
            <a:off x="4331208" y="5285232"/>
            <a:ext cx="3526536" cy="868680"/>
          </a:xfrm>
          <a:prstGeom prst="roundRect">
            <a:avLst>
              <a:gd name="adj" fmla="val 5263"/>
            </a:avLst>
          </a:prstGeom>
          <a:solidFill>
            <a:srgbClr val="F1F4F8"/>
          </a:solidFill>
          <a:ln w="12700">
            <a:solidFill>
              <a:srgbClr val="F1F4F8"/>
            </a:solidFill>
            <a:prstDash val="solid"/>
          </a:ln>
        </p:spPr>
      </p:sp>
      <p:sp>
        <p:nvSpPr>
          <p:cNvPr id="20" name="Text 18"/>
          <p:cNvSpPr txBox="1"/>
          <p:nvPr/>
        </p:nvSpPr>
        <p:spPr>
          <a:xfrm>
            <a:off x="4532376" y="5376672"/>
            <a:ext cx="3124200" cy="256032"/>
          </a:xfrm>
          <a:prstGeom prst="rect">
            <a:avLst/>
          </a:prstGeom>
          <a:noFill/>
          <a:ln/>
        </p:spPr>
        <p:txBody>
          <a:bodyPr wrap="square" lIns="0" tIns="0" rIns="0" bIns="0" rtlCol="0" anchor="ctr"/>
          <a:lstStyle/>
          <a:p>
            <a:pPr indent="0" marL="0">
              <a:buNone/>
            </a:pPr>
            <a:r>
              <a:rPr lang="en-US" sz="1150" b="1" dirty="0">
                <a:solidFill>
                  <a:srgbClr val="3D5A80"/>
                </a:solidFill>
                <a:latin typeface="Calibri" pitchFamily="34" charset="0"/>
                <a:ea typeface="Calibri" pitchFamily="34" charset="-122"/>
                <a:cs typeface="Calibri" pitchFamily="34" charset="-120"/>
              </a:rPr>
              <a:t>Loaders that hand back the raw frame</a:t>
            </a:r>
            <a:endParaRPr lang="en-US" sz="1150" dirty="0"/>
          </a:p>
        </p:txBody>
      </p:sp>
      <p:sp>
        <p:nvSpPr>
          <p:cNvPr id="21" name="Text 19"/>
          <p:cNvSpPr txBox="1"/>
          <p:nvPr/>
        </p:nvSpPr>
        <p:spPr>
          <a:xfrm>
            <a:off x="4532376" y="5632704"/>
            <a:ext cx="3124200" cy="475488"/>
          </a:xfrm>
          <a:prstGeom prst="rect">
            <a:avLst/>
          </a:prstGeom>
          <a:noFill/>
          <a:ln/>
        </p:spPr>
        <p:txBody>
          <a:bodyPr wrap="square" lIns="0" tIns="0" rIns="0" bIns="0" rtlCol="0" anchor="t"/>
          <a:lstStyle/>
          <a:p>
            <a:pPr indent="0" marL="0">
              <a:lnSpc>
                <a:spcPts val="1300"/>
              </a:lnSpc>
              <a:buNone/>
            </a:pPr>
            <a:r>
              <a:rPr lang="en-US" sz="1000" dirty="0">
                <a:solidFill>
                  <a:srgbClr val="6B7280"/>
                </a:solidFill>
                <a:latin typeface="Calibri" pitchFamily="34" charset="0"/>
                <a:ea typeface="Calibri" pitchFamily="34" charset="-122"/>
                <a:cs typeface="Calibri" pitchFamily="34" charset="-120"/>
              </a:rPr>
              <a:t>load_mij_matrix (schur_core), load_connectivity_matrix, load_schur_blocks, load_matrix (EE backbone)</a:t>
            </a:r>
            <a:endParaRPr lang="en-US" sz="1000" dirty="0"/>
          </a:p>
        </p:txBody>
      </p:sp>
      <p:sp>
        <p:nvSpPr>
          <p:cNvPr id="22" name="Shape 20"/>
          <p:cNvSpPr/>
          <p:nvPr/>
        </p:nvSpPr>
        <p:spPr>
          <a:xfrm>
            <a:off x="8113776" y="5285232"/>
            <a:ext cx="3526536" cy="868680"/>
          </a:xfrm>
          <a:prstGeom prst="roundRect">
            <a:avLst>
              <a:gd name="adj" fmla="val 5263"/>
            </a:avLst>
          </a:prstGeom>
          <a:solidFill>
            <a:srgbClr val="F1F4F8"/>
          </a:solidFill>
          <a:ln w="12700">
            <a:solidFill>
              <a:srgbClr val="F1F4F8"/>
            </a:solidFill>
            <a:prstDash val="solid"/>
          </a:ln>
        </p:spPr>
      </p:sp>
      <p:sp>
        <p:nvSpPr>
          <p:cNvPr id="23" name="Text 21"/>
          <p:cNvSpPr txBox="1"/>
          <p:nvPr/>
        </p:nvSpPr>
        <p:spPr>
          <a:xfrm>
            <a:off x="8314944" y="5376672"/>
            <a:ext cx="3124200" cy="256032"/>
          </a:xfrm>
          <a:prstGeom prst="rect">
            <a:avLst/>
          </a:prstGeom>
          <a:noFill/>
          <a:ln/>
        </p:spPr>
        <p:txBody>
          <a:bodyPr wrap="square" lIns="0" tIns="0" rIns="0" bIns="0" rtlCol="0" anchor="ctr"/>
          <a:lstStyle/>
          <a:p>
            <a:pPr indent="0" marL="0">
              <a:buNone/>
            </a:pPr>
            <a:r>
              <a:rPr lang="en-US" sz="1150" b="1" dirty="0">
                <a:solidFill>
                  <a:srgbClr val="C1553B"/>
                </a:solidFill>
                <a:latin typeface="Calibri" pitchFamily="34" charset="0"/>
                <a:ea typeface="Calibri" pitchFamily="34" charset="-122"/>
                <a:cs typeface="Calibri" pitchFamily="34" charset="-120"/>
              </a:rPr>
              <a:t>Functions with no loader in front of them</a:t>
            </a:r>
            <a:endParaRPr lang="en-US" sz="1150" dirty="0"/>
          </a:p>
        </p:txBody>
      </p:sp>
      <p:sp>
        <p:nvSpPr>
          <p:cNvPr id="24" name="Text 22"/>
          <p:cNvSpPr txBox="1"/>
          <p:nvPr/>
        </p:nvSpPr>
        <p:spPr>
          <a:xfrm>
            <a:off x="8314944" y="5632704"/>
            <a:ext cx="3124200" cy="475488"/>
          </a:xfrm>
          <a:prstGeom prst="rect">
            <a:avLst/>
          </a:prstGeom>
          <a:noFill/>
          <a:ln/>
        </p:spPr>
        <p:txBody>
          <a:bodyPr wrap="square" lIns="0" tIns="0" rIns="0" bIns="0" rtlCol="0" anchor="t"/>
          <a:lstStyle/>
          <a:p>
            <a:pPr indent="0" marL="0">
              <a:lnSpc>
                <a:spcPts val="1300"/>
              </a:lnSpc>
              <a:buNone/>
            </a:pPr>
            <a:r>
              <a:rPr lang="en-US" sz="1000" dirty="0">
                <a:solidFill>
                  <a:srgbClr val="6B7280"/>
                </a:solidFill>
                <a:latin typeface="Calibri" pitchFamily="34" charset="0"/>
                <a:ea typeface="Calibri" pitchFamily="34" charset="-122"/>
                <a:cs typeface="Calibri" pitchFamily="34" charset="-120"/>
              </a:rPr>
              <a:t>around sixty across six modules that assume M[post, pre] and cannot check it</a:t>
            </a:r>
            <a:endParaRPr lang="en-US" sz="1000" dirty="0"/>
          </a:p>
        </p:txBody>
      </p:sp>
      <p:sp>
        <p:nvSpPr>
          <p:cNvPr id="25" name="Text 23"/>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docs/TRANSPOSE_WARNINGS.md §A, §F · tarjan_reorder/ORIENTATION_AUDIT.md · NOTEBOOK_REVIEW_vs_Borst_Leibold_2023.md Part D1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00 · ORIENTATION</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Orientation is checked, not remembered</a:t>
            </a:r>
            <a:endParaRPr lang="en-US" sz="2700" dirty="0"/>
          </a:p>
        </p:txBody>
      </p:sp>
      <p:sp>
        <p:nvSpPr>
          <p:cNvPr id="4" name="Shape 2"/>
          <p:cNvSpPr/>
          <p:nvPr/>
        </p:nvSpPr>
        <p:spPr>
          <a:xfrm>
            <a:off x="11247120" y="402336"/>
            <a:ext cx="512064" cy="512064"/>
          </a:xfrm>
          <a:prstGeom prst="ellipse">
            <a:avLst/>
          </a:prstGeom>
          <a:solidFill>
            <a:srgbClr val="D9A441"/>
          </a:solidFill>
          <a:ln w="12700">
            <a:solidFill>
              <a:srgbClr val="D9A441"/>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00</a:t>
            </a:r>
            <a:endParaRPr lang="en-US" sz="2000" dirty="0"/>
          </a:p>
        </p:txBody>
      </p:sp>
      <p:sp>
        <p:nvSpPr>
          <p:cNvPr id="6" name="Text 4"/>
          <p:cNvSpPr txBox="1"/>
          <p:nvPr/>
        </p:nvSpPr>
        <p:spPr>
          <a:xfrm>
            <a:off x="548640" y="1371600"/>
            <a:ext cx="11091672" cy="685800"/>
          </a:xfrm>
          <a:prstGeom prst="rect">
            <a:avLst/>
          </a:prstGeom>
          <a:noFill/>
          <a:ln/>
        </p:spPr>
        <p:txBody>
          <a:bodyPr wrap="square" lIns="0" tIns="0" rIns="0" bIns="0" rtlCol="0" anchor="t"/>
          <a:lstStyle/>
          <a:p>
            <a:pPr algn="l" indent="0" marL="0">
              <a:lnSpc>
                <a:spcPts val="1800"/>
              </a:lnSpc>
              <a:buNone/>
            </a:pPr>
            <a:r>
              <a:rPr lang="en-US" sz="1400" dirty="0">
                <a:solidFill>
                  <a:srgbClr val="1A1F2B"/>
                </a:solidFill>
                <a:latin typeface="Calibri" pitchFamily="34" charset="0"/>
                <a:ea typeface="Calibri" pitchFamily="34" charset="-122"/>
                <a:cs typeface="Calibri" pitchFamily="34" charset="-120"/>
              </a:rPr>
              <a:t>E/I identity in this dataset comes from the sign of outgoing weights — so the block sign pattern is itself an orientation oracle. On these data the separation is total, which makes it a decisive test rather than a heuristic.</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3776472"/>
                <a:gridCol w="3657600"/>
                <a:gridCol w="365760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Block (source → receiver)</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M[post, pre]  — correct</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M[pre, post]  — flipped</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E → E</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100% positive  (n = 382)</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100% positive  (n = 382)</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E → I</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100% positive  (n = 352)</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 positive  (n = 171)</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I → E</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 positive  (n = 171)</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100% positive  (n = 352)</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I → I</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 positive  (n = 736)</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 positive  (n = 736)</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4160520"/>
            <a:ext cx="11091672" cy="685800"/>
          </a:xfrm>
          <a:prstGeom prst="rect">
            <a:avLst/>
          </a:prstGeom>
          <a:noFill/>
          <a:ln/>
        </p:spPr>
        <p:txBody>
          <a:bodyPr wrap="square" lIns="0" tIns="0" rIns="0" bIns="0" rtlCol="0" anchor="t"/>
          <a:lstStyle/>
          <a:p>
            <a:pPr algn="l" indent="0" marL="0">
              <a:lnSpc>
                <a:spcPts val="1800"/>
              </a:lnSpc>
              <a:buNone/>
            </a:pPr>
            <a:r>
              <a:rPr lang="en-US" sz="1400" dirty="0">
                <a:solidFill>
                  <a:srgbClr val="1A1F2B"/>
                </a:solidFill>
                <a:latin typeface="Calibri" pitchFamily="34" charset="0"/>
                <a:ea typeface="Calibri" pitchFamily="34" charset="-122"/>
                <a:cs typeface="Calibri" pitchFamily="34" charset="-120"/>
              </a:rPr>
              <a:t>The two off-diagonal blocks swap completely. There is no tolerance to tune, no netlist reconstruction, and no residual threshold — if E→I is not overwhelmingly positive and I→E overwhelmingly negative, the matrix is transposed.</a:t>
            </a:r>
            <a:endParaRPr lang="en-US" sz="1400" dirty="0"/>
          </a:p>
        </p:txBody>
      </p:sp>
      <p:sp>
        <p:nvSpPr>
          <p:cNvPr id="9" name="Shape 6"/>
          <p:cNvSpPr/>
          <p:nvPr/>
        </p:nvSpPr>
        <p:spPr>
          <a:xfrm>
            <a:off x="548640" y="4919472"/>
            <a:ext cx="11091672" cy="1207008"/>
          </a:xfrm>
          <a:prstGeom prst="roundRect">
            <a:avLst>
              <a:gd name="adj" fmla="val 3788"/>
            </a:avLst>
          </a:prstGeom>
          <a:solidFill>
            <a:srgbClr val="F1F4F8"/>
          </a:solidFill>
          <a:ln w="12700">
            <a:solidFill>
              <a:srgbClr val="F1F4F8"/>
            </a:solidFill>
            <a:prstDash val="solid"/>
          </a:ln>
        </p:spPr>
      </p:sp>
      <p:sp>
        <p:nvSpPr>
          <p:cNvPr id="10" name="Text 7"/>
          <p:cNvSpPr txBox="1"/>
          <p:nvPr/>
        </p:nvSpPr>
        <p:spPr>
          <a:xfrm>
            <a:off x="804672" y="5047488"/>
            <a:ext cx="10579608" cy="292608"/>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assert_post_pre(M, classes)  — runs at every loader boundary in jacobian_analysis</a:t>
            </a:r>
            <a:endParaRPr lang="en-US" sz="1300" dirty="0"/>
          </a:p>
        </p:txBody>
      </p:sp>
      <p:sp>
        <p:nvSpPr>
          <p:cNvPr id="11" name="Text 8"/>
          <p:cNvSpPr txBox="1"/>
          <p:nvPr/>
        </p:nvSpPr>
        <p:spPr>
          <a:xfrm>
            <a:off x="804672" y="5358384"/>
            <a:ext cx="10579608" cy="658368"/>
          </a:xfrm>
          <a:prstGeom prst="rect">
            <a:avLst/>
          </a:prstGeom>
          <a:noFill/>
          <a:ln/>
        </p:spPr>
        <p:txBody>
          <a:bodyPr wrap="square" lIns="0" tIns="0" rIns="0" bIns="0" rtlCol="0" anchor="t"/>
          <a:lstStyle/>
          <a:p>
            <a:pPr indent="0" marL="0">
              <a:lnSpc>
                <a:spcPts val="1700"/>
              </a:lnSpc>
              <a:buNone/>
            </a:pPr>
            <a:r>
              <a:rPr lang="en-US" sz="1250" dirty="0">
                <a:solidFill>
                  <a:srgbClr val="1A1F2B"/>
                </a:solidFill>
                <a:latin typeface="Calibri" pitchFamily="34" charset="0"/>
                <a:ea typeface="Calibri" pitchFamily="34" charset="-122"/>
                <a:cs typeface="Calibri" pitchFamily="34" charset="-120"/>
              </a:rPr>
              <a:t>It costs microseconds and converts the convention from something to remember into something that fails loudly. It needs only the matrix and the class labels, so it also works on motif blocks, submatrices, and anything downstream that still carries E/I labels — where the netlist-residual test cannot reach.</a:t>
            </a:r>
            <a:endParaRPr lang="en-US" sz="1250" dirty="0"/>
          </a:p>
        </p:txBody>
      </p:sp>
      <p:sp>
        <p:nvSpPr>
          <p:cNvPr id="12" name="Text 9"/>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Proposed repo-wide in docs/orientation_convention_proposal.md; implemented in jacobian_analysis/jacobian_core.py.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00 · ORIENTATION</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Where the transpose hides</a:t>
            </a:r>
            <a:endParaRPr lang="en-US" sz="2700" dirty="0"/>
          </a:p>
        </p:txBody>
      </p:sp>
      <p:sp>
        <p:nvSpPr>
          <p:cNvPr id="4" name="Shape 2"/>
          <p:cNvSpPr/>
          <p:nvPr/>
        </p:nvSpPr>
        <p:spPr>
          <a:xfrm>
            <a:off x="11247120" y="402336"/>
            <a:ext cx="512064" cy="512064"/>
          </a:xfrm>
          <a:prstGeom prst="ellipse">
            <a:avLst/>
          </a:prstGeom>
          <a:solidFill>
            <a:srgbClr val="D9A441"/>
          </a:solidFill>
          <a:ln w="12700">
            <a:solidFill>
              <a:srgbClr val="D9A441"/>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00</a:t>
            </a:r>
            <a:endParaRPr lang="en-US" sz="2000" dirty="0"/>
          </a:p>
        </p:txBody>
      </p:sp>
      <p:sp>
        <p:nvSpPr>
          <p:cNvPr id="6" name="Shape 4"/>
          <p:cNvSpPr/>
          <p:nvPr/>
        </p:nvSpPr>
        <p:spPr>
          <a:xfrm>
            <a:off x="548640" y="1389888"/>
            <a:ext cx="3514344" cy="2331720"/>
          </a:xfrm>
          <a:prstGeom prst="roundRect">
            <a:avLst>
              <a:gd name="adj" fmla="val 1961"/>
            </a:avLst>
          </a:prstGeom>
          <a:solidFill>
            <a:srgbClr val="F1F4F8"/>
          </a:solidFill>
          <a:ln w="12700">
            <a:solidFill>
              <a:srgbClr val="F1F4F8"/>
            </a:solidFill>
            <a:prstDash val="solid"/>
          </a:ln>
        </p:spPr>
      </p:sp>
      <p:sp>
        <p:nvSpPr>
          <p:cNvPr id="7" name="Shape 5"/>
          <p:cNvSpPr/>
          <p:nvPr/>
        </p:nvSpPr>
        <p:spPr>
          <a:xfrm>
            <a:off x="786384" y="1591056"/>
            <a:ext cx="310896" cy="310896"/>
          </a:xfrm>
          <a:prstGeom prst="ellipse">
            <a:avLst/>
          </a:prstGeom>
          <a:solidFill>
            <a:srgbClr val="C1553B"/>
          </a:solidFill>
          <a:ln w="12700">
            <a:solidFill>
              <a:srgbClr val="C1553B"/>
            </a:solidFill>
            <a:prstDash val="solid"/>
          </a:ln>
        </p:spPr>
      </p:sp>
      <p:sp>
        <p:nvSpPr>
          <p:cNvPr id="8" name="Text 6"/>
          <p:cNvSpPr txBox="1"/>
          <p:nvPr/>
        </p:nvSpPr>
        <p:spPr>
          <a:xfrm>
            <a:off x="1188720" y="1572768"/>
            <a:ext cx="2636520" cy="365760"/>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Invisible defaults</a:t>
            </a:r>
            <a:endParaRPr lang="en-US" sz="1350" dirty="0"/>
          </a:p>
        </p:txBody>
      </p:sp>
      <p:sp>
        <p:nvSpPr>
          <p:cNvPr id="9" name="Text 7"/>
          <p:cNvSpPr txBox="1"/>
          <p:nvPr/>
        </p:nvSpPr>
        <p:spPr>
          <a:xfrm>
            <a:off x="786384" y="2029968"/>
            <a:ext cx="3038856" cy="1554480"/>
          </a:xfrm>
          <a:prstGeom prst="rect">
            <a:avLst/>
          </a:prstGeom>
          <a:noFill/>
          <a:ln/>
        </p:spPr>
        <p:txBody>
          <a:bodyPr wrap="square" lIns="0" tIns="0" rIns="0" bIns="0" rtlCol="0" anchor="t"/>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schur_decomp(m, transpose=True) expects [pre, post] and flips for you. Hand it an already-transposed matrix and it silently double-flips back. Every mode, loading and routing statement downstream reverses, with no error and no warning.</a:t>
            </a:r>
            <a:endParaRPr lang="en-US" sz="1150" dirty="0"/>
          </a:p>
        </p:txBody>
      </p:sp>
      <p:sp>
        <p:nvSpPr>
          <p:cNvPr id="10" name="Shape 8"/>
          <p:cNvSpPr/>
          <p:nvPr/>
        </p:nvSpPr>
        <p:spPr>
          <a:xfrm>
            <a:off x="4337304" y="1389888"/>
            <a:ext cx="3514344" cy="2331720"/>
          </a:xfrm>
          <a:prstGeom prst="roundRect">
            <a:avLst>
              <a:gd name="adj" fmla="val 1961"/>
            </a:avLst>
          </a:prstGeom>
          <a:solidFill>
            <a:srgbClr val="F1F4F8"/>
          </a:solidFill>
          <a:ln w="12700">
            <a:solidFill>
              <a:srgbClr val="F1F4F8"/>
            </a:solidFill>
            <a:prstDash val="solid"/>
          </a:ln>
        </p:spPr>
      </p:sp>
      <p:sp>
        <p:nvSpPr>
          <p:cNvPr id="11" name="Shape 9"/>
          <p:cNvSpPr/>
          <p:nvPr/>
        </p:nvSpPr>
        <p:spPr>
          <a:xfrm>
            <a:off x="4575048" y="1591056"/>
            <a:ext cx="310896" cy="310896"/>
          </a:xfrm>
          <a:prstGeom prst="ellipse">
            <a:avLst/>
          </a:prstGeom>
          <a:solidFill>
            <a:srgbClr val="3D5A80"/>
          </a:solidFill>
          <a:ln w="12700">
            <a:solidFill>
              <a:srgbClr val="3D5A80"/>
            </a:solidFill>
            <a:prstDash val="solid"/>
          </a:ln>
        </p:spPr>
      </p:sp>
      <p:sp>
        <p:nvSpPr>
          <p:cNvPr id="12" name="Text 10"/>
          <p:cNvSpPr txBox="1"/>
          <p:nvPr/>
        </p:nvSpPr>
        <p:spPr>
          <a:xfrm>
            <a:off x="4977384" y="1572768"/>
            <a:ext cx="2636520" cy="365760"/>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Two functions, one name</a:t>
            </a:r>
            <a:endParaRPr lang="en-US" sz="1350" dirty="0"/>
          </a:p>
        </p:txBody>
      </p:sp>
      <p:sp>
        <p:nvSpPr>
          <p:cNvPr id="13" name="Text 11"/>
          <p:cNvSpPr txBox="1"/>
          <p:nvPr/>
        </p:nvSpPr>
        <p:spPr>
          <a:xfrm>
            <a:off x="4575048" y="2029968"/>
            <a:ext cx="3038856" cy="1554480"/>
          </a:xfrm>
          <a:prstGeom prst="rect">
            <a:avLst/>
          </a:prstGeom>
          <a:noFill/>
          <a:ln/>
        </p:spPr>
        <p:txBody>
          <a:bodyPr wrap="square" lIns="0" tIns="0" rIns="0" bIns="0" rtlCol="0" anchor="t"/>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load_mij_matrix in schur_core_script.py returns the raw [pre, post] frame. load_mij_matrix in connectivity_methods.py returns a transposed, ρ-normalised J[post, pre]. Both are imported by name in notebooks.</a:t>
            </a:r>
            <a:endParaRPr lang="en-US" sz="1150" dirty="0"/>
          </a:p>
        </p:txBody>
      </p:sp>
      <p:sp>
        <p:nvSpPr>
          <p:cNvPr id="14" name="Shape 12"/>
          <p:cNvSpPr/>
          <p:nvPr/>
        </p:nvSpPr>
        <p:spPr>
          <a:xfrm>
            <a:off x="8125968" y="1389888"/>
            <a:ext cx="3514344" cy="2331720"/>
          </a:xfrm>
          <a:prstGeom prst="roundRect">
            <a:avLst>
              <a:gd name="adj" fmla="val 1961"/>
            </a:avLst>
          </a:prstGeom>
          <a:solidFill>
            <a:srgbClr val="F1F4F8"/>
          </a:solidFill>
          <a:ln w="12700">
            <a:solidFill>
              <a:srgbClr val="F1F4F8"/>
            </a:solidFill>
            <a:prstDash val="solid"/>
          </a:ln>
        </p:spPr>
      </p:sp>
      <p:sp>
        <p:nvSpPr>
          <p:cNvPr id="15" name="Shape 13"/>
          <p:cNvSpPr/>
          <p:nvPr/>
        </p:nvSpPr>
        <p:spPr>
          <a:xfrm>
            <a:off x="8363712" y="1591056"/>
            <a:ext cx="310896" cy="310896"/>
          </a:xfrm>
          <a:prstGeom prst="ellipse">
            <a:avLst/>
          </a:prstGeom>
          <a:solidFill>
            <a:srgbClr val="1F7A8C"/>
          </a:solidFill>
          <a:ln w="12700">
            <a:solidFill>
              <a:srgbClr val="1F7A8C"/>
            </a:solidFill>
            <a:prstDash val="solid"/>
          </a:ln>
        </p:spPr>
      </p:sp>
      <p:sp>
        <p:nvSpPr>
          <p:cNvPr id="16" name="Text 14"/>
          <p:cNvSpPr txBox="1"/>
          <p:nvPr/>
        </p:nvSpPr>
        <p:spPr>
          <a:xfrm>
            <a:off x="8766048" y="1572768"/>
            <a:ext cx="2636520" cy="365760"/>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One word apart</a:t>
            </a:r>
            <a:endParaRPr lang="en-US" sz="1350" dirty="0"/>
          </a:p>
        </p:txBody>
      </p:sp>
      <p:sp>
        <p:nvSpPr>
          <p:cNvPr id="17" name="Text 15"/>
          <p:cNvSpPr txBox="1"/>
          <p:nvPr/>
        </p:nvSpPr>
        <p:spPr>
          <a:xfrm>
            <a:off x="8363712" y="2029968"/>
            <a:ext cx="3038856" cy="1554480"/>
          </a:xfrm>
          <a:prstGeom prst="rect">
            <a:avLst/>
          </a:prstGeom>
          <a:noFill/>
          <a:ln/>
        </p:spPr>
        <p:txBody>
          <a:bodyPr wrap="square" lIns="0" tIns="0" rIns="0" bIns="0" rtlCol="0" anchor="t"/>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normalized_J_receiver_by_sender.csv is [post, pre] — do not transpose. normalized_mij_sender_by_receiver.csv is [pre, post] — must transpose. Same directory, duplicated across five output folders.</a:t>
            </a:r>
            <a:endParaRPr lang="en-US" sz="1150" dirty="0"/>
          </a:p>
        </p:txBody>
      </p:sp>
      <p:sp>
        <p:nvSpPr>
          <p:cNvPr id="18" name="Shape 16"/>
          <p:cNvSpPr/>
          <p:nvPr/>
        </p:nvSpPr>
        <p:spPr>
          <a:xfrm>
            <a:off x="548640" y="3931920"/>
            <a:ext cx="11091672" cy="1600200"/>
          </a:xfrm>
          <a:prstGeom prst="roundRect">
            <a:avLst>
              <a:gd name="adj" fmla="val 2857"/>
            </a:avLst>
          </a:prstGeom>
          <a:solidFill>
            <a:srgbClr val="14213D"/>
          </a:solidFill>
          <a:ln w="12700">
            <a:solidFill>
              <a:srgbClr val="14213D"/>
            </a:solidFill>
            <a:prstDash val="solid"/>
          </a:ln>
        </p:spPr>
      </p:sp>
      <p:sp>
        <p:nvSpPr>
          <p:cNvPr id="19" name="Text 17"/>
          <p:cNvSpPr txBox="1"/>
          <p:nvPr/>
        </p:nvSpPr>
        <p:spPr>
          <a:xfrm>
            <a:off x="841248" y="4078224"/>
            <a:ext cx="10506456" cy="310896"/>
          </a:xfrm>
          <a:prstGeom prst="rect">
            <a:avLst/>
          </a:prstGeom>
          <a:noFill/>
          <a:ln/>
        </p:spPr>
        <p:txBody>
          <a:bodyPr wrap="square" lIns="0" tIns="0" rIns="0" bIns="0" rtlCol="0" anchor="ctr"/>
          <a:lstStyle/>
          <a:p>
            <a:pPr indent="0" marL="0">
              <a:buNone/>
            </a:pPr>
            <a:r>
              <a:rPr lang="en-US" sz="1700" b="1" dirty="0">
                <a:solidFill>
                  <a:srgbClr val="D9A441"/>
                </a:solidFill>
                <a:latin typeface="Cambria" pitchFamily="34" charset="0"/>
                <a:ea typeface="Cambria" pitchFamily="34" charset="-122"/>
                <a:cs typeface="Cambria" pitchFamily="34" charset="-120"/>
              </a:rPr>
              <a:t>What a flipped run actually looks like</a:t>
            </a:r>
            <a:endParaRPr lang="en-US" sz="1700" dirty="0"/>
          </a:p>
        </p:txBody>
      </p:sp>
      <p:sp>
        <p:nvSpPr>
          <p:cNvPr id="20" name="Text 18"/>
          <p:cNvSpPr txBox="1"/>
          <p:nvPr/>
        </p:nvSpPr>
        <p:spPr>
          <a:xfrm>
            <a:off x="841248" y="4443984"/>
            <a:ext cx="10506456" cy="914400"/>
          </a:xfrm>
          <a:prstGeom prst="rect">
            <a:avLst/>
          </a:prstGeom>
          <a:noFill/>
          <a:ln/>
        </p:spPr>
        <p:txBody>
          <a:bodyPr wrap="square" lIns="0" tIns="0" rIns="0" bIns="0" rtlCol="0" anchor="t"/>
          <a:lstStyle/>
          <a:p>
            <a:pPr indent="0" marL="0">
              <a:lnSpc>
                <a:spcPts val="2000"/>
              </a:lnSpc>
              <a:buNone/>
            </a:pPr>
            <a:r>
              <a:rPr lang="en-US" sz="1400" dirty="0">
                <a:solidFill>
                  <a:srgbClr val="B9CEDE"/>
                </a:solidFill>
                <a:latin typeface="Calibri" pitchFamily="34" charset="0"/>
                <a:ea typeface="Calibri" pitchFamily="34" charset="-122"/>
                <a:cs typeface="Calibri" pitchFamily="34" charset="-120"/>
              </a:rPr>
              <a:t>Recurrency, order index, feedforward fraction and bandwidth are all identical — the reversed permutation is exactly as good. The only symptoms are a reversed cell order and the silent disappearance of the trisynaptic paths. Both read as a scientific result rather than as a bug.</a:t>
            </a:r>
            <a:endParaRPr lang="en-US" sz="1400" dirty="0"/>
          </a:p>
        </p:txBody>
      </p:sp>
      <p:sp>
        <p:nvSpPr>
          <p:cNvPr id="21" name="Text 19"/>
          <p:cNvSpPr txBox="1"/>
          <p:nvPr/>
        </p:nvSpPr>
        <p:spPr>
          <a:xfrm>
            <a:off x="548640" y="5669280"/>
            <a:ext cx="11091672" cy="685800"/>
          </a:xfrm>
          <a:prstGeom prst="rect">
            <a:avLst/>
          </a:prstGeom>
          <a:noFill/>
          <a:ln/>
        </p:spPr>
        <p:txBody>
          <a:bodyPr wrap="square" lIns="0" tIns="0" rIns="0" bIns="0" rtlCol="0" anchor="t"/>
          <a:lstStyle/>
          <a:p>
            <a:pPr algn="l" indent="0" marL="0">
              <a:lnSpc>
                <a:spcPts val="1700"/>
              </a:lnSpc>
              <a:buNone/>
            </a:pPr>
            <a:r>
              <a:rPr lang="en-US" sz="1300" dirty="0">
                <a:solidFill>
                  <a:srgbClr val="1A1F2B"/>
                </a:solidFill>
                <a:latin typeface="Calibri" pitchFamily="34" charset="0"/>
                <a:ea typeface="Calibri" pitchFamily="34" charset="-122"/>
                <a:cs typeface="Calibri" pitchFamily="34" charset="-120"/>
              </a:rPr>
              <a:t>Fixed: load_inputs() now records the selected orientation’s residual against the netlist and raises before analysis if they disagree beyond 1e-10. Asserting that one of the two orientations matched was not enough — it never asserted that the selected one was the match.</a:t>
            </a:r>
            <a:endParaRPr lang="en-US" sz="1300" dirty="0"/>
          </a:p>
        </p:txBody>
      </p:sp>
      <p:sp>
        <p:nvSpPr>
          <p:cNvPr id="22" name="Text 20"/>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docs/TRANSPOSE_WARNINGS.md §B–§D · NOTEBOOK_REVIEW Part A2 [FIXED 2026-09-05]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00 · NAMING</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Two vocabularies, four identical strings</a:t>
            </a:r>
            <a:endParaRPr lang="en-US" sz="2700" dirty="0"/>
          </a:p>
        </p:txBody>
      </p:sp>
      <p:sp>
        <p:nvSpPr>
          <p:cNvPr id="4" name="Shape 2"/>
          <p:cNvSpPr/>
          <p:nvPr/>
        </p:nvSpPr>
        <p:spPr>
          <a:xfrm>
            <a:off x="11247120" y="402336"/>
            <a:ext cx="512064" cy="512064"/>
          </a:xfrm>
          <a:prstGeom prst="ellipse">
            <a:avLst/>
          </a:prstGeom>
          <a:solidFill>
            <a:srgbClr val="D9A441"/>
          </a:solidFill>
          <a:ln w="12700">
            <a:solidFill>
              <a:srgbClr val="D9A441"/>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00</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743200"/>
                <a:gridCol w="1828800"/>
                <a:gridCol w="6519672"/>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Sense</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Notation</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Means</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84048">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Arrow / biological</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300" dirty="0">
                          <a:solidFill>
                            <a:srgbClr val="1A1F2B"/>
                          </a:solidFill>
                          <a:latin typeface="Calibri" pitchFamily="34" charset="0"/>
                          <a:ea typeface="Calibri" pitchFamily="34" charset="-122"/>
                          <a:cs typeface="Calibri" pitchFamily="34" charset="-120"/>
                        </a:rPr>
                        <a:t>E_to_I</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300" dirty="0">
                          <a:solidFill>
                            <a:srgbClr val="1A1F2B"/>
                          </a:solidFill>
                          <a:latin typeface="Calibri" pitchFamily="34" charset="0"/>
                          <a:ea typeface="Calibri" pitchFamily="34" charset="-122"/>
                          <a:cs typeface="Calibri" pitchFamily="34" charset="-120"/>
                        </a:rPr>
                        <a:t>E source → I receiver  (rows I, columns E of a [post, pre] matrix)</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84048">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Partition / algebraic</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latin typeface="Calibri" pitchFamily="34" charset="0"/>
                          <a:ea typeface="Calibri" pitchFamily="34" charset="-122"/>
                          <a:cs typeface="Calibri" pitchFamily="34" charset="-120"/>
                        </a:rPr>
                        <a:t>M[E, I]</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latin typeface="Calibri" pitchFamily="34" charset="0"/>
                          <a:ea typeface="Calibri" pitchFamily="34" charset="-122"/>
                          <a:cs typeface="Calibri" pitchFamily="34" charset="-120"/>
                        </a:rPr>
                        <a:t>M[E rows, I columns]  =  I source → E receiver</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2651760"/>
            <a:ext cx="11091672" cy="731520"/>
          </a:xfrm>
          <a:prstGeom prst="rect">
            <a:avLst/>
          </a:prstGeom>
          <a:noFill/>
          <a:ln/>
        </p:spPr>
        <p:txBody>
          <a:bodyPr wrap="square" lIns="0" tIns="0" rIns="0" bIns="0" rtlCol="0" anchor="t"/>
          <a:lstStyle/>
          <a:p>
            <a:pPr algn="l" indent="0" marL="0">
              <a:lnSpc>
                <a:spcPts val="1800"/>
              </a:lnSpc>
              <a:buNone/>
            </a:pPr>
            <a:r>
              <a:rPr lang="en-US" sz="1400" dirty="0">
                <a:solidFill>
                  <a:srgbClr val="1A1F2B"/>
                </a:solidFill>
                <a:latin typeface="Calibri" pitchFamily="34" charset="0"/>
                <a:ea typeface="Calibri" pitchFamily="34" charset="-122"/>
                <a:cs typeface="Calibri" pitchFamily="34" charset="-120"/>
              </a:rPr>
              <a:t>Both are internally consistent and no current output is wrong — but inhibitory_modulation.py can emit both in one notebook run. Cell 10 of notebook 02 prints a block column in the arrow sense while summarize_blocks prints a name column in the partition sense: adjacent tables, same four strings, opposite meanings.</a:t>
            </a:r>
            <a:endParaRPr lang="en-US" sz="1400" dirty="0"/>
          </a:p>
        </p:txBody>
      </p:sp>
      <p:sp>
        <p:nvSpPr>
          <p:cNvPr id="8" name="Text 5"/>
          <p:cNvSpPr txBox="1"/>
          <p:nvPr/>
        </p:nvSpPr>
        <p:spPr>
          <a:xfrm>
            <a:off x="548640" y="3429000"/>
            <a:ext cx="11091672" cy="777240"/>
          </a:xfrm>
          <a:prstGeom prst="rect">
            <a:avLst/>
          </a:prstGeom>
          <a:noFill/>
          <a:ln/>
        </p:spPr>
        <p:txBody>
          <a:bodyPr wrap="square" lIns="0" tIns="0" rIns="0" bIns="0" rtlCol="0" anchor="t"/>
          <a:lstStyle/>
          <a:p>
            <a:pPr algn="l" indent="0" marL="0">
              <a:lnSpc>
                <a:spcPts val="1800"/>
              </a:lnSpc>
              <a:buNone/>
            </a:pPr>
            <a:r>
              <a:rPr lang="en-US" sz="1400" dirty="0">
                <a:solidFill>
                  <a:srgbClr val="3D5A80"/>
                </a:solidFill>
                <a:latin typeface="Calibri" pitchFamily="34" charset="0"/>
                <a:ea typeface="Calibri" pitchFamily="34" charset="-122"/>
                <a:cs typeface="Calibri" pitchFamily="34" charset="-120"/>
              </a:rPr>
              <a:t>Resolution: never write a bare EI again. Arrow names (E_to_I) for anything a human reads — dict keys, table values, plot labels. Bracket names (M[E,I]) for locals inside a formula. Bracket notation reads as row-then-column and cannot be mistaken for an arrow, so a mixed table becomes a visible mismatch rather than a silent one.</a:t>
            </a:r>
            <a:endParaRPr lang="en-US" sz="1400" dirty="0"/>
          </a:p>
        </p:txBody>
      </p:sp>
      <p:sp>
        <p:nvSpPr>
          <p:cNvPr id="9" name="Shape 6"/>
          <p:cNvSpPr/>
          <p:nvPr/>
        </p:nvSpPr>
        <p:spPr>
          <a:xfrm>
            <a:off x="548640" y="4315968"/>
            <a:ext cx="11091672" cy="1783080"/>
          </a:xfrm>
          <a:prstGeom prst="roundRect">
            <a:avLst>
              <a:gd name="adj" fmla="val 2564"/>
            </a:avLst>
          </a:prstGeom>
          <a:solidFill>
            <a:srgbClr val="F1F4F8"/>
          </a:solidFill>
          <a:ln w="12700">
            <a:solidFill>
              <a:srgbClr val="F1F4F8"/>
            </a:solidFill>
            <a:prstDash val="solid"/>
          </a:ln>
        </p:spPr>
      </p:sp>
      <p:sp>
        <p:nvSpPr>
          <p:cNvPr id="10" name="Text 7"/>
          <p:cNvSpPr txBox="1"/>
          <p:nvPr/>
        </p:nvSpPr>
        <p:spPr>
          <a:xfrm>
            <a:off x="822960" y="4443984"/>
            <a:ext cx="10543032" cy="292608"/>
          </a:xfrm>
          <a:prstGeom prst="rect">
            <a:avLst/>
          </a:prstGeom>
          <a:noFill/>
          <a:ln/>
        </p:spPr>
        <p:txBody>
          <a:bodyPr wrap="square" lIns="0" tIns="0" rIns="0" bIns="0"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Orientation-sensitive settings that involve no .T at all</a:t>
            </a:r>
            <a:endParaRPr lang="en-US" sz="1300" dirty="0"/>
          </a:p>
        </p:txBody>
      </p:sp>
      <p:sp>
        <p:nvSpPr>
          <p:cNvPr id="11" name="Text 8"/>
          <p:cNvSpPr txBox="1"/>
          <p:nvPr/>
        </p:nvSpPr>
        <p:spPr>
          <a:xfrm>
            <a:off x="822960" y="4754880"/>
            <a:ext cx="10543032" cy="1325880"/>
          </a:xfrm>
          <a:prstGeom prst="rect">
            <a:avLst/>
          </a:prstGeom>
          <a:noFill/>
          <a:ln/>
        </p:spPr>
        <p:txBody>
          <a:bodyPr wrap="square" lIns="0" tIns="0" rIns="0" bIns="0" rtlCol="0" anchor="t"/>
          <a:lstStyle/>
          <a:p>
            <a:pPr marL="203200" indent="-203200">
              <a:lnSpc>
                <a:spcPts val="1500"/>
              </a:lnSpc>
              <a:spcAft>
                <a:spcPts val="300"/>
              </a:spcAft>
              <a:buSzPct val="100000"/>
              <a:buChar char="•"/>
            </a:pPr>
            <a:r>
              <a:rPr lang="en-US" sz="1150" dirty="0">
                <a:solidFill>
                  <a:srgbClr val="6B7280"/>
                </a:solidFill>
                <a:latin typeface="Calibri" pitchFamily="34" charset="0"/>
                <a:ea typeface="Calibri" pitchFamily="34" charset="-122"/>
                <a:cs typeface="Calibri" pitchFamily="34" charset="-120"/>
              </a:rPr>
              <a:t>column_l1 normalises out-strength in M[post, pre] and in-strength in M[pre, post]. spectral_radius is transpose-invariant and is the safe default.</a:t>
            </a:r>
            <a:endParaRPr lang="en-US" sz="1150" dirty="0"/>
          </a:p>
          <a:p>
            <a:pPr marL="203200" indent="-203200">
              <a:lnSpc>
                <a:spcPts val="1500"/>
              </a:lnSpc>
              <a:spcAft>
                <a:spcPts val="300"/>
              </a:spcAft>
              <a:buSzPct val="100000"/>
              <a:buChar char="•"/>
            </a:pPr>
            <a:r>
              <a:rPr lang="en-US" sz="1150" dirty="0">
                <a:solidFill>
                  <a:srgbClr val="6B7280"/>
                </a:solidFill>
                <a:latin typeface="Calibri" pitchFamily="34" charset="0"/>
                <a:ea typeface="Calibri" pitchFamily="34" charset="-122"/>
                <a:cs typeface="Calibri" pitchFamily="34" charset="-120"/>
              </a:rPr>
              <a:t>np.sum(axis=0) versus axis=1 silently swaps a source’s outgoing strength for a target’s incoming strength. Live in five modules.</a:t>
            </a:r>
            <a:endParaRPr lang="en-US" sz="1150" dirty="0"/>
          </a:p>
          <a:p>
            <a:pPr marL="203200" indent="-203200">
              <a:lnSpc>
                <a:spcPts val="1500"/>
              </a:lnSpc>
              <a:spcAft>
                <a:spcPts val="300"/>
              </a:spcAft>
              <a:buSzPct val="100000"/>
              <a:buChar char="•"/>
            </a:pPr>
            <a:r>
              <a:rPr lang="en-US" sz="1150" dirty="0">
                <a:solidFill>
                  <a:srgbClr val="6B7280"/>
                </a:solidFill>
                <a:latin typeface="Calibri" pitchFamily="34" charset="0"/>
                <a:ea typeface="Calibri" pitchFamily="34" charset="-122"/>
                <a:cs typeface="Calibri" pitchFamily="34" charset="-120"/>
              </a:rPr>
              <a:t>infer_ei_from_signed_rows reads rows of the untransposed frame as outgoing. Hand it M[post, pre] and every E/I label inverts.</a:t>
            </a:r>
            <a:endParaRPr lang="en-US" sz="1150" dirty="0"/>
          </a:p>
          <a:p>
            <a:pPr marL="203200" indent="-203200">
              <a:lnSpc>
                <a:spcPts val="1500"/>
              </a:lnSpc>
              <a:spcAft>
                <a:spcPts val="300"/>
              </a:spcAft>
              <a:buSzPct val="100000"/>
              <a:buChar char="•"/>
            </a:pPr>
            <a:r>
              <a:rPr lang="en-US" sz="1150" dirty="0">
                <a:solidFill>
                  <a:srgbClr val="6B7280"/>
                </a:solidFill>
                <a:latin typeface="Calibri" pitchFamily="34" charset="0"/>
                <a:ea typeface="Calibri" pitchFamily="34" charset="-122"/>
                <a:cs typeface="Calibri" pitchFamily="34" charset="-120"/>
              </a:rPr>
              <a:t>motif_analysis builds its motif ids from a [pre, post] matrix. Counts and eigenvalues survive; the id vocabulary does not — those tables do not join against tarjan_reorder or inhib_modulation without remapping.</a:t>
            </a:r>
            <a:endParaRPr lang="en-US" sz="1150" dirty="0"/>
          </a:p>
        </p:txBody>
      </p:sp>
      <p:sp>
        <p:nvSpPr>
          <p:cNvPr id="12" name="Text 9"/>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docs/TRANSPOSE_WARNINGS.md §D–§E · docs/orientation_convention_proposal.md item 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00 · SCALE</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Normalisation: five jobs, five different rules</a:t>
            </a:r>
            <a:endParaRPr lang="en-US" sz="2700" dirty="0"/>
          </a:p>
        </p:txBody>
      </p:sp>
      <p:sp>
        <p:nvSpPr>
          <p:cNvPr id="4" name="Shape 2"/>
          <p:cNvSpPr/>
          <p:nvPr/>
        </p:nvSpPr>
        <p:spPr>
          <a:xfrm>
            <a:off x="11247120" y="402336"/>
            <a:ext cx="512064" cy="512064"/>
          </a:xfrm>
          <a:prstGeom prst="ellipse">
            <a:avLst/>
          </a:prstGeom>
          <a:solidFill>
            <a:srgbClr val="D9A441"/>
          </a:solidFill>
          <a:ln w="12700">
            <a:solidFill>
              <a:srgbClr val="D9A441"/>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00</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1672" cy="914400"/>
        </p:xfrm>
        <a:graphic>
          <a:graphicData uri="http://schemas.openxmlformats.org/drawingml/2006/table">
            <a:tbl>
              <a:tblPr/>
              <a:tblGrid>
                <a:gridCol w="4023360"/>
                <a:gridCol w="3383280"/>
                <a:gridCol w="3685032"/>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Transform</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Why this one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29184">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Schur modes, propagation, linear systems</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ρ(M) = 0.95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matched and stable across with-self / no-self variants</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9184">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Inhibitory stable-response analyses</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ρ(M) = 0.85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keeps resolvent, Neumann and Gramian calculations in range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Jacobian</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ρ(W) = 0.95, applied to W and never to J</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scaling J rescales the leak and silently changes τ</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9184">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Neural-mass target for GSN</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S = α·Mᵀ / ρ(Mᵀ),  α = 0.9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the linear map must be contractive or there is no fixed point</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Orbit-count features</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log1p, then z-score per feature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heavy-tailed counts; monotone, so injectivity is preserved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9184">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Coupling as a feature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sign(x) · log1p(|x|)</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keeps Dale’s sign and puts E and I on one scale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315968"/>
            <a:ext cx="5349240" cy="1234440"/>
          </a:xfrm>
          <a:prstGeom prst="roundRect">
            <a:avLst>
              <a:gd name="adj" fmla="val 3704"/>
            </a:avLst>
          </a:prstGeom>
          <a:solidFill>
            <a:srgbClr val="F1F4F8"/>
          </a:solidFill>
          <a:ln w="12700">
            <a:solidFill>
              <a:srgbClr val="F1F4F8"/>
            </a:solidFill>
            <a:prstDash val="solid"/>
          </a:ln>
        </p:spPr>
      </p:sp>
      <p:sp>
        <p:nvSpPr>
          <p:cNvPr id="8" name="Text 5"/>
          <p:cNvSpPr txBox="1"/>
          <p:nvPr/>
        </p:nvSpPr>
        <p:spPr>
          <a:xfrm>
            <a:off x="804672" y="4434840"/>
            <a:ext cx="4846320" cy="292608"/>
          </a:xfrm>
          <a:prstGeom prst="rect">
            <a:avLst/>
          </a:prstGeom>
          <a:noFill/>
          <a:ln/>
        </p:spPr>
        <p:txBody>
          <a:bodyPr wrap="square" lIns="0" tIns="0" rIns="0" bIns="0" rtlCol="0" anchor="ctr"/>
          <a:lstStyle/>
          <a:p>
            <a:pPr indent="0" marL="0">
              <a:buNone/>
            </a:pPr>
            <a:r>
              <a:rPr lang="en-US" sz="1300" b="1" dirty="0">
                <a:solidFill>
                  <a:srgbClr val="C1553B"/>
                </a:solidFill>
                <a:latin typeface="Calibri" pitchFamily="34" charset="0"/>
                <a:ea typeface="Calibri" pitchFamily="34" charset="-122"/>
                <a:cs typeface="Calibri" pitchFamily="34" charset="-120"/>
              </a:rPr>
              <a:t>Nothing here is analysable at native scale</a:t>
            </a:r>
            <a:endParaRPr lang="en-US" sz="1300" dirty="0"/>
          </a:p>
        </p:txBody>
      </p:sp>
      <p:sp>
        <p:nvSpPr>
          <p:cNvPr id="9" name="Text 6"/>
          <p:cNvSpPr txBox="1"/>
          <p:nvPr/>
        </p:nvSpPr>
        <p:spPr>
          <a:xfrm>
            <a:off x="804672" y="4727448"/>
            <a:ext cx="4846320" cy="731520"/>
          </a:xfrm>
          <a:prstGeom prst="rect">
            <a:avLst/>
          </a:prstGeom>
          <a:noFill/>
          <a:ln/>
        </p:spPr>
        <p:txBody>
          <a:bodyPr wrap="square" lIns="0" tIns="0" rIns="0" bIns="0" rtlCol="0" anchor="t"/>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Raw ρ(M) = 26,213.  The weight-normalisation scale in the E/I backbone notebook is ≈ 23,940, the 95th-percentile |w|. Spectral-radius normalisation changes absolute weight scale, so magnitudes are reported as normalised dynamics, not raw synaptic strength.</a:t>
            </a:r>
            <a:endParaRPr lang="en-US" sz="1150" dirty="0"/>
          </a:p>
        </p:txBody>
      </p:sp>
      <p:sp>
        <p:nvSpPr>
          <p:cNvPr id="10" name="Shape 7"/>
          <p:cNvSpPr/>
          <p:nvPr/>
        </p:nvSpPr>
        <p:spPr>
          <a:xfrm>
            <a:off x="6291072" y="4315968"/>
            <a:ext cx="5349240" cy="1234440"/>
          </a:xfrm>
          <a:prstGeom prst="roundRect">
            <a:avLst>
              <a:gd name="adj" fmla="val 3704"/>
            </a:avLst>
          </a:prstGeom>
          <a:solidFill>
            <a:srgbClr val="F1F4F8"/>
          </a:solidFill>
          <a:ln w="12700">
            <a:solidFill>
              <a:srgbClr val="F1F4F8"/>
            </a:solidFill>
            <a:prstDash val="solid"/>
          </a:ln>
        </p:spPr>
      </p:sp>
      <p:sp>
        <p:nvSpPr>
          <p:cNvPr id="11" name="Text 8"/>
          <p:cNvSpPr txBox="1"/>
          <p:nvPr/>
        </p:nvSpPr>
        <p:spPr>
          <a:xfrm>
            <a:off x="6547104" y="4434840"/>
            <a:ext cx="4846320" cy="292608"/>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Only spectral-radius normalisation is transpose-invariant</a:t>
            </a:r>
            <a:endParaRPr lang="en-US" sz="1300" dirty="0"/>
          </a:p>
        </p:txBody>
      </p:sp>
      <p:sp>
        <p:nvSpPr>
          <p:cNvPr id="12" name="Text 9"/>
          <p:cNvSpPr txBox="1"/>
          <p:nvPr/>
        </p:nvSpPr>
        <p:spPr>
          <a:xfrm>
            <a:off x="6547104" y="4727448"/>
            <a:ext cx="4846320" cy="731520"/>
          </a:xfrm>
          <a:prstGeom prst="rect">
            <a:avLst/>
          </a:prstGeom>
          <a:noFill/>
          <a:ln/>
        </p:spPr>
        <p:txBody>
          <a:bodyPr wrap="square" lIns="0" tIns="0" rIns="0" bIns="0" rtlCol="0" anchor="t"/>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row_l1 and column_l1 swap meaning under transposition, and prepare_left_action_schur normalises before it transposes — harmless for spectral radius, meaning-changing for either L1 mode. Choosing ρ removes one whole class of orientation bug.</a:t>
            </a:r>
            <a:endParaRPr lang="en-US" sz="1150" dirty="0"/>
          </a:p>
        </p:txBody>
      </p:sp>
      <p:sp>
        <p:nvSpPr>
          <p:cNvPr id="13" name="Text 10"/>
          <p:cNvSpPr txBox="1"/>
          <p:nvPr/>
        </p:nvSpPr>
        <p:spPr>
          <a:xfrm>
            <a:off x="548640" y="5650992"/>
            <a:ext cx="11091672" cy="640080"/>
          </a:xfrm>
          <a:prstGeom prst="rect">
            <a:avLst/>
          </a:prstGeom>
          <a:noFill/>
          <a:ln/>
        </p:spPr>
        <p:txBody>
          <a:bodyPr wrap="square" lIns="0" tIns="0" rIns="0" bIns="0" rtlCol="0" anchor="t"/>
          <a:lstStyle/>
          <a:p>
            <a:pPr algn="l" indent="0" marL="0">
              <a:lnSpc>
                <a:spcPts val="1700"/>
              </a:lnSpc>
              <a:buNone/>
            </a:pPr>
            <a:r>
              <a:rPr lang="en-US" sz="1250" i="1" dirty="0">
                <a:solidFill>
                  <a:srgbClr val="1A1F2B"/>
                </a:solidFill>
                <a:latin typeface="Calibri" pitchFamily="34" charset="0"/>
                <a:ea typeface="Calibri" pitchFamily="34" charset="-122"/>
                <a:cs typeface="Calibri" pitchFamily="34" charset="-120"/>
              </a:rPr>
              <a:t>The counting analogue, from the motif work: a count answers what is there, a share answers what it is made of, and a ratio against a null answers what is surprising. Those routinely give opposite answers on the same data, so every result names the question first and the normalisation second.</a:t>
            </a:r>
            <a:endParaRPr lang="en-US" sz="1250" dirty="0"/>
          </a:p>
        </p:txBody>
      </p:sp>
      <p:sp>
        <p:nvSpPr>
          <p:cNvPr id="14" name="Text 11"/>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schur_decomp/README.md · jacobian_analysis/README.md · graph_subnetworks/motif_protocol_briefing.md §5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00 · ORDERING</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Nine ways to order a matrix, and what each one optimises</a:t>
            </a:r>
            <a:endParaRPr lang="en-US" sz="2700" dirty="0"/>
          </a:p>
        </p:txBody>
      </p:sp>
      <p:sp>
        <p:nvSpPr>
          <p:cNvPr id="4" name="Shape 2"/>
          <p:cNvSpPr/>
          <p:nvPr/>
        </p:nvSpPr>
        <p:spPr>
          <a:xfrm>
            <a:off x="11247120" y="402336"/>
            <a:ext cx="512064" cy="512064"/>
          </a:xfrm>
          <a:prstGeom prst="ellipse">
            <a:avLst/>
          </a:prstGeom>
          <a:solidFill>
            <a:srgbClr val="D9A441"/>
          </a:solidFill>
          <a:ln w="12700">
            <a:solidFill>
              <a:srgbClr val="D9A441"/>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00</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606040"/>
                <a:gridCol w="4526280"/>
                <a:gridCol w="3959352"/>
              </a:tblGrid>
              <a:tr h="27432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Method</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Objective it actually serves</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Reverse Cuthill–McKee</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symmetrises to abs(M) + abs(Mᵀ), then minimises bandwidth</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compactness around the diagonal; direction deliberately discarded</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Laplacian Fiedler</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second eigenvector of the normalised Laplacian, same symmetrisation</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spectral bisection; direction deliberately discarded</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PageRank</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ranks by incoming directed weight, sorted ascending</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importance, not feedforwardness — yet best on recurrency here</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Tarjan SCC condensation</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condenses SCCs, then topologically sorts them</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refuses to order within an SCC — a no-op on a single-component graph</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Tarjan DFS finishing order</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reverse depth-first finishing order, sources first</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a position for every node, including nodes inside a cycle</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Modified Tarjan</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adjacent-swap descent on (N_upper, Σ|M′_ij|(j−i)) inside each SCC</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upper-triangle count first, then weighted index length</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Anatomical</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fixed order from the known trisynaptic direction</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the reference an inferred order should be checked against</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Feedback-arc local search</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best-insertion local search with iterated perturbation, multi-start</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directly minimises backward edges or weight — NP-hard, so heuristic</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Scrambled</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random shared permutation</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050" dirty="0">
                          <a:solidFill>
                            <a:srgbClr val="1A1F2B"/>
                          </a:solidFill>
                          <a:latin typeface="Calibri" pitchFamily="34" charset="0"/>
                          <a:ea typeface="Calibri" pitchFamily="34" charset="-122"/>
                          <a:cs typeface="Calibri" pitchFamily="34" charset="-120"/>
                        </a:rPr>
                        <a:t>the null baseline every other row is scored against</a:t>
                      </a:r>
                      <a:endParaRPr lang="en-US" sz="10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bl>
          </a:graphicData>
        </a:graphic>
      </p:graphicFrame>
      <p:sp>
        <p:nvSpPr>
          <p:cNvPr id="7" name="Shape 4"/>
          <p:cNvSpPr/>
          <p:nvPr/>
        </p:nvSpPr>
        <p:spPr>
          <a:xfrm>
            <a:off x="548640" y="4791456"/>
            <a:ext cx="5349240" cy="1325880"/>
          </a:xfrm>
          <a:prstGeom prst="roundRect">
            <a:avLst>
              <a:gd name="adj" fmla="val 3448"/>
            </a:avLst>
          </a:prstGeom>
          <a:solidFill>
            <a:srgbClr val="F1F4F8"/>
          </a:solidFill>
          <a:ln w="12700">
            <a:solidFill>
              <a:srgbClr val="F1F4F8"/>
            </a:solidFill>
            <a:prstDash val="solid"/>
          </a:ln>
        </p:spPr>
      </p:sp>
      <p:sp>
        <p:nvSpPr>
          <p:cNvPr id="8" name="Text 5"/>
          <p:cNvSpPr txBox="1"/>
          <p:nvPr/>
        </p:nvSpPr>
        <p:spPr>
          <a:xfrm>
            <a:off x="804672" y="4892040"/>
            <a:ext cx="4846320" cy="292608"/>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Only shared permutations are meaningful</a:t>
            </a:r>
            <a:endParaRPr lang="en-US" sz="1300" dirty="0"/>
          </a:p>
        </p:txBody>
      </p:sp>
      <p:sp>
        <p:nvSpPr>
          <p:cNvPr id="9" name="Text 6"/>
          <p:cNvSpPr txBox="1"/>
          <p:nvPr/>
        </p:nvSpPr>
        <p:spPr>
          <a:xfrm>
            <a:off x="804672" y="5193792"/>
            <a:ext cx="4846320" cy="868680"/>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M′ = PᵀMP. Permuting rows independently of columns renames cells inconsistently, so it is not an ordering of the connectome at all. Under M[post, pre] a successful ordering puts feedforward edges strictly below the diagonal; upper-triangle mass is recurrency and the first subdiagonal is the serial chain.</a:t>
            </a:r>
            <a:endParaRPr lang="en-US" sz="1100" dirty="0"/>
          </a:p>
        </p:txBody>
      </p:sp>
      <p:sp>
        <p:nvSpPr>
          <p:cNvPr id="10" name="Shape 7"/>
          <p:cNvSpPr/>
          <p:nvPr/>
        </p:nvSpPr>
        <p:spPr>
          <a:xfrm>
            <a:off x="6291072" y="4791456"/>
            <a:ext cx="5349240" cy="1325880"/>
          </a:xfrm>
          <a:prstGeom prst="roundRect">
            <a:avLst>
              <a:gd name="adj" fmla="val 3448"/>
            </a:avLst>
          </a:prstGeom>
          <a:solidFill>
            <a:srgbClr val="F1F4F8"/>
          </a:solidFill>
          <a:ln w="12700">
            <a:solidFill>
              <a:srgbClr val="F1F4F8"/>
            </a:solidFill>
            <a:prstDash val="solid"/>
          </a:ln>
        </p:spPr>
      </p:sp>
      <p:sp>
        <p:nvSpPr>
          <p:cNvPr id="11" name="Text 8"/>
          <p:cNvSpPr txBox="1"/>
          <p:nvPr/>
        </p:nvSpPr>
        <p:spPr>
          <a:xfrm>
            <a:off x="6547104" y="4892040"/>
            <a:ext cx="4846320" cy="292608"/>
          </a:xfrm>
          <a:prstGeom prst="rect">
            <a:avLst/>
          </a:prstGeom>
          <a:noFill/>
          <a:ln/>
        </p:spPr>
        <p:txBody>
          <a:bodyPr wrap="square" lIns="0" tIns="0" rIns="0" bIns="0" rtlCol="0" anchor="ctr"/>
          <a:lstStyle/>
          <a:p>
            <a:pPr indent="0" marL="0">
              <a:buNone/>
            </a:pPr>
            <a:r>
              <a:rPr lang="en-US" sz="1300" b="1" dirty="0">
                <a:solidFill>
                  <a:srgbClr val="C1553B"/>
                </a:solidFill>
                <a:latin typeface="Calibri" pitchFamily="34" charset="0"/>
                <a:ea typeface="Calibri" pitchFamily="34" charset="-122"/>
                <a:cs typeface="Calibri" pitchFamily="34" charset="-120"/>
              </a:rPr>
              <a:t>Two objectives, and here they are close to opposite</a:t>
            </a:r>
            <a:endParaRPr lang="en-US" sz="1300" dirty="0"/>
          </a:p>
        </p:txBody>
      </p:sp>
      <p:sp>
        <p:nvSpPr>
          <p:cNvPr id="12" name="Text 9"/>
          <p:cNvSpPr txBox="1"/>
          <p:nvPr/>
        </p:nvSpPr>
        <p:spPr>
          <a:xfrm>
            <a:off x="6547104" y="5193792"/>
            <a:ext cx="4846320" cy="868680"/>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Recurrency is the backward-edge count relative to a reference; order index is the fraction of entries on the first subdiagonal. Optimising one does not optimise the other, and the ranking of methods flips depending on which is being scored — which is why the two are never collapsed into a single rank.</a:t>
            </a:r>
            <a:endParaRPr lang="en-US" sz="1100" dirty="0"/>
          </a:p>
        </p:txBody>
      </p:sp>
      <p:sp>
        <p:nvSpPr>
          <p:cNvPr id="13" name="Text 10"/>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tarjan_reorder/01, 02 · matrix_reordering_paper_analysis_script.py · Borst A, Leibold C (2023) J Neurosci 43(20):3599–3610, Figs. 5–7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00 · ORDERING</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What those methods return on this matrix</a:t>
            </a:r>
            <a:endParaRPr lang="en-US" sz="2700" dirty="0"/>
          </a:p>
        </p:txBody>
      </p:sp>
      <p:sp>
        <p:nvSpPr>
          <p:cNvPr id="4" name="Shape 2"/>
          <p:cNvSpPr/>
          <p:nvPr/>
        </p:nvSpPr>
        <p:spPr>
          <a:xfrm>
            <a:off x="11247120" y="402336"/>
            <a:ext cx="512064" cy="512064"/>
          </a:xfrm>
          <a:prstGeom prst="ellipse">
            <a:avLst/>
          </a:prstGeom>
          <a:solidFill>
            <a:srgbClr val="D9A441"/>
          </a:solidFill>
          <a:ln w="12700">
            <a:solidFill>
              <a:srgbClr val="D9A441"/>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00</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3108960"/>
                <a:gridCol w="1554480"/>
                <a:gridCol w="1371600"/>
              </a:tblGrid>
              <a:tr h="32461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Method (85-cell connectome)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Recurrency ratio</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Order index</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2461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PageRank</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0.697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0.262</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461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Modified Tarjan</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0.790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0.583</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Laplacian Fiedler</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0.807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0.464</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461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Anatomical</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0.830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0.714</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Reverse Cuthill–McKee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0.887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0.643</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461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Tarjan DFS finishing order</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0.920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0.940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Original  =  Tarjan SCC condensation</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0.702</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bl>
          </a:graphicData>
        </a:graphic>
      </p:graphicFrame>
      <p:pic>
        <p:nvPicPr>
          <p:cNvPr id="7" name="Image 0" descr="/mnt/user-data/uploads/AscoliLab/tarjan_reorder/Claude outputs/paper_fig7_top_row.png">    </p:cNvPr>
          <p:cNvPicPr>
            <a:picLocks noChangeAspect="1"/>
          </p:cNvPicPr>
          <p:nvPr/>
        </p:nvPicPr>
        <p:blipFill>
          <a:blip r:embed="rId1"/>
          <a:srcRect l="0" r="0" t="0" b="0"/>
          <a:stretch/>
        </p:blipFill>
        <p:spPr>
          <a:xfrm>
            <a:off x="6812280" y="1371600"/>
            <a:ext cx="4279392" cy="2788920"/>
          </a:xfrm>
          <a:prstGeom prst="rect">
            <a:avLst/>
          </a:prstGeom>
        </p:spPr>
      </p:pic>
      <p:sp>
        <p:nvSpPr>
          <p:cNvPr id="8" name="Text 4"/>
          <p:cNvSpPr txBox="1"/>
          <p:nvPr/>
        </p:nvSpPr>
        <p:spPr>
          <a:xfrm>
            <a:off x="6812280" y="4206240"/>
            <a:ext cx="4279392" cy="36576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Figure 7 top row, recreated: the same realisation the summary curves measure.</a:t>
            </a:r>
            <a:endParaRPr lang="en-US" sz="1000" dirty="0"/>
          </a:p>
        </p:txBody>
      </p:sp>
      <p:sp>
        <p:nvSpPr>
          <p:cNvPr id="9" name="Text 5"/>
          <p:cNvSpPr txBox="1"/>
          <p:nvPr/>
        </p:nvSpPr>
        <p:spPr>
          <a:xfrm>
            <a:off x="548640" y="4617720"/>
            <a:ext cx="11091672" cy="1600200"/>
          </a:xfrm>
          <a:prstGeom prst="rect">
            <a:avLst/>
          </a:prstGeom>
          <a:noFill/>
          <a:ln/>
        </p:spPr>
        <p:txBody>
          <a:bodyPr wrap="square" lIns="0" tIns="0" rIns="0" bIns="0" rtlCol="0" anchor="t"/>
          <a:lstStyle/>
          <a:p>
            <a:pPr marL="203200" indent="-203200">
              <a:lnSpc>
                <a:spcPts val="1500"/>
              </a:lnSpc>
              <a:spcAft>
                <a:spcPts val="400"/>
              </a:spcAft>
              <a:buSzPct val="100000"/>
              <a:buChar char="•"/>
            </a:pPr>
            <a:r>
              <a:rPr lang="en-US" sz="1150" dirty="0">
                <a:solidFill>
                  <a:srgbClr val="1A1F2B"/>
                </a:solidFill>
                <a:latin typeface="Calibri" pitchFamily="34" charset="0"/>
                <a:ea typeface="Calibri" pitchFamily="34" charset="-122"/>
                <a:cs typeface="Calibri" pitchFamily="34" charset="-120"/>
              </a:rPr>
              <a:t>"Tarjan" in Borst &amp; Leibold is a depth-first search, not an SCC condensation. The 85-cell graph is a single SCC with alphabetical labels, so condensation returns the input order untouched — which is why Tarjan SCC and Original report byte-identical metrics.</a:t>
            </a:r>
            <a:endParaRPr lang="en-US" sz="1150" dirty="0"/>
          </a:p>
          <a:p>
            <a:pPr marL="203200" indent="-203200">
              <a:lnSpc>
                <a:spcPts val="1500"/>
              </a:lnSpc>
              <a:spcAft>
                <a:spcPts val="400"/>
              </a:spcAft>
              <a:buSzPct val="100000"/>
              <a:buChar char="•"/>
            </a:pPr>
            <a:r>
              <a:rPr lang="en-US" sz="1150" dirty="0">
                <a:solidFill>
                  <a:srgbClr val="1A1F2B"/>
                </a:solidFill>
                <a:latin typeface="Calibri" pitchFamily="34" charset="0"/>
                <a:ea typeface="Calibri" pitchFamily="34" charset="-122"/>
                <a:cs typeface="Calibri" pitchFamily="34" charset="-120"/>
              </a:rPr>
              <a:t>A feedback-arc local search beats every implemented method: 445 backward edges (ratio 0.475) against PageRank’s 653, and 99.52% of |weight| placed below the diagonal against modified Tarjan’s 53.3%.</a:t>
            </a:r>
            <a:endParaRPr lang="en-US" sz="1150" dirty="0"/>
          </a:p>
          <a:p>
            <a:pPr marL="203200" indent="-203200">
              <a:lnSpc>
                <a:spcPts val="1500"/>
              </a:lnSpc>
              <a:spcAft>
                <a:spcPts val="400"/>
              </a:spcAft>
              <a:buSzPct val="100000"/>
              <a:buChar char="•"/>
            </a:pPr>
            <a:r>
              <a:rPr lang="en-US" sz="1150" dirty="0">
                <a:solidFill>
                  <a:srgbClr val="1A1F2B"/>
                </a:solidFill>
                <a:latin typeface="Calibri" pitchFamily="34" charset="0"/>
                <a:ea typeface="Calibri" pitchFamily="34" charset="-122"/>
                <a:cs typeface="Calibri" pitchFamily="34" charset="-120"/>
              </a:rPr>
              <a:t>That reverses both null-test conclusions in notebook 01. With the optimiser, weighted feedforward reads z = +3.15 rather than "not unusual", and the backward-edge ratio goes the wrong way at z = +1.81. Twelve nulls, indicative only — redo at 100 before quoting.</a:t>
            </a:r>
            <a:endParaRPr lang="en-US" sz="1150" dirty="0"/>
          </a:p>
          <a:p>
            <a:pPr marL="203200" indent="-203200">
              <a:lnSpc>
                <a:spcPts val="1500"/>
              </a:lnSpc>
              <a:spcAft>
                <a:spcPts val="400"/>
              </a:spcAft>
              <a:buSzPct val="100000"/>
              <a:buChar char="•"/>
            </a:pPr>
            <a:r>
              <a:rPr lang="en-US" sz="1150" dirty="0">
                <a:solidFill>
                  <a:srgbClr val="1A1F2B"/>
                </a:solidFill>
                <a:latin typeface="Calibri" pitchFamily="34" charset="0"/>
                <a:ea typeface="Calibri" pitchFamily="34" charset="-122"/>
                <a:cs typeface="Calibri" pitchFamily="34" charset="-120"/>
              </a:rPr>
              <a:t>The order index is saturated and should not be used as a discriminator: at density 0.220 a plain greedy walk finds a simple path through 81 of 85 cells, so ≥ 0.952 is available with no optimisation at all.</a:t>
            </a:r>
            <a:endParaRPr lang="en-US" sz="1150" dirty="0"/>
          </a:p>
        </p:txBody>
      </p:sp>
      <p:sp>
        <p:nvSpPr>
          <p:cNvPr id="10" name="Text 6"/>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tarjan_reorder/NOTEBOOK_REVIEW_vs_Borst_Leibold_2023.md Parts D2, D3, D5 · optimal_orders.csv</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417320"/>
            <a:ext cx="1051560" cy="1051560"/>
          </a:xfrm>
          <a:prstGeom prst="ellipse">
            <a:avLst/>
          </a:prstGeom>
          <a:solidFill>
            <a:srgbClr val="C1553B"/>
          </a:solidFill>
          <a:ln w="12700">
            <a:solidFill>
              <a:srgbClr val="C1553B"/>
            </a:solidFill>
            <a:prstDash val="solid"/>
          </a:ln>
        </p:spPr>
      </p:sp>
      <p:sp>
        <p:nvSpPr>
          <p:cNvPr id="3" name="Text 1"/>
          <p:cNvSpPr txBox="1"/>
          <p:nvPr/>
        </p:nvSpPr>
        <p:spPr>
          <a:xfrm>
            <a:off x="548640" y="1417320"/>
            <a:ext cx="1051560" cy="10515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01</a:t>
            </a:r>
            <a:endParaRPr lang="en-US" sz="4000" dirty="0"/>
          </a:p>
        </p:txBody>
      </p:sp>
      <p:sp>
        <p:nvSpPr>
          <p:cNvPr id="4" name="Text 2"/>
          <p:cNvSpPr txBox="1"/>
          <p:nvPr/>
        </p:nvSpPr>
        <p:spPr>
          <a:xfrm>
            <a:off x="548640" y="777240"/>
            <a:ext cx="11091672" cy="274320"/>
          </a:xfrm>
          <a:prstGeom prst="rect">
            <a:avLst/>
          </a:prstGeom>
          <a:noFill/>
          <a:ln/>
        </p:spPr>
        <p:txBody>
          <a:bodyPr wrap="square" lIns="0" tIns="0" rIns="0" bIns="0" rtlCol="0" anchor="ctr"/>
          <a:lstStyle/>
          <a:p>
            <a:pPr indent="0" marL="0">
              <a:buNone/>
            </a:pPr>
            <a:r>
              <a:rPr lang="en-US" sz="1000" b="1" spc="200" kern="0" dirty="0">
                <a:solidFill>
                  <a:srgbClr val="B9CEDE"/>
                </a:solidFill>
                <a:latin typeface="Calibri" pitchFamily="34" charset="0"/>
                <a:ea typeface="Calibri" pitchFamily="34" charset="-122"/>
                <a:cs typeface="Calibri" pitchFamily="34" charset="-120"/>
              </a:rPr>
              <a:t>STAGE 01</a:t>
            </a:r>
            <a:endParaRPr lang="en-US" sz="1000" dirty="0"/>
          </a:p>
        </p:txBody>
      </p:sp>
      <p:sp>
        <p:nvSpPr>
          <p:cNvPr id="5" name="Text 3"/>
          <p:cNvSpPr txBox="1"/>
          <p:nvPr/>
        </p:nvSpPr>
        <p:spPr>
          <a:xfrm>
            <a:off x="1874520" y="1371600"/>
            <a:ext cx="9765792" cy="11430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excitatory backbone</a:t>
            </a:r>
            <a:endParaRPr lang="en-US" sz="3200" dirty="0"/>
          </a:p>
        </p:txBody>
      </p:sp>
      <p:sp>
        <p:nvSpPr>
          <p:cNvPr id="6" name="Text 4"/>
          <p:cNvSpPr txBox="1"/>
          <p:nvPr/>
        </p:nvSpPr>
        <p:spPr>
          <a:xfrm>
            <a:off x="548640" y="3063240"/>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QUESTION</a:t>
            </a:r>
            <a:endParaRPr lang="en-US" sz="950" dirty="0"/>
          </a:p>
        </p:txBody>
      </p:sp>
      <p:sp>
        <p:nvSpPr>
          <p:cNvPr id="7" name="Text 5"/>
          <p:cNvSpPr txBox="1"/>
          <p:nvPr/>
        </p:nvSpPr>
        <p:spPr>
          <a:xfrm>
            <a:off x="1874520" y="3026664"/>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Is the excitatory-to-excitatory subnetwork feedforward at the neuron-type level, and along which path does signal actually travel?</a:t>
            </a:r>
            <a:endParaRPr lang="en-US" sz="1450" dirty="0"/>
          </a:p>
        </p:txBody>
      </p:sp>
      <p:sp>
        <p:nvSpPr>
          <p:cNvPr id="8" name="Text 6"/>
          <p:cNvSpPr txBox="1"/>
          <p:nvPr/>
        </p:nvSpPr>
        <p:spPr>
          <a:xfrm>
            <a:off x="548640" y="4123944"/>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METHOD</a:t>
            </a:r>
            <a:endParaRPr lang="en-US" sz="950" dirty="0"/>
          </a:p>
        </p:txBody>
      </p:sp>
      <p:sp>
        <p:nvSpPr>
          <p:cNvPr id="9" name="Text 7"/>
          <p:cNvSpPr txBox="1"/>
          <p:nvPr/>
        </p:nvSpPr>
        <p:spPr>
          <a:xfrm>
            <a:off x="1874520" y="4087368"/>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Seven backbone constructions over the 32-node E→E graph — greedy, maximum spanning tree, branch-and-bound, bitmask/beam DP, two MILP formulations — plus a feedback-arc-minimising global ordering scored against a 2,000-draw permutation null.</a:t>
            </a:r>
            <a:endParaRPr lang="en-US" sz="1450" dirty="0"/>
          </a:p>
        </p:txBody>
      </p:sp>
      <p:sp>
        <p:nvSpPr>
          <p:cNvPr id="10" name="Text 8"/>
          <p:cNvSpPr txBox="1"/>
          <p:nvPr/>
        </p:nvSpPr>
        <p:spPr>
          <a:xfrm>
            <a:off x="548640" y="5184648"/>
            <a:ext cx="1234440" cy="310896"/>
          </a:xfrm>
          <a:prstGeom prst="rect">
            <a:avLst/>
          </a:prstGeom>
          <a:noFill/>
          <a:ln/>
        </p:spPr>
        <p:txBody>
          <a:bodyPr wrap="square" lIns="0" tIns="0" rIns="0" bIns="0" rtlCol="0" anchor="t"/>
          <a:lstStyle/>
          <a:p>
            <a:pPr indent="0" marL="0">
              <a:buNone/>
            </a:pPr>
            <a:r>
              <a:rPr lang="en-US" sz="950" b="1" spc="150" kern="0" dirty="0">
                <a:solidFill>
                  <a:srgbClr val="D9A441"/>
                </a:solidFill>
                <a:latin typeface="Calibri" pitchFamily="34" charset="0"/>
                <a:ea typeface="Calibri" pitchFamily="34" charset="-122"/>
                <a:cs typeface="Calibri" pitchFamily="34" charset="-120"/>
              </a:rPr>
              <a:t>FINDING</a:t>
            </a:r>
            <a:endParaRPr lang="en-US" sz="950" dirty="0"/>
          </a:p>
        </p:txBody>
      </p:sp>
      <p:sp>
        <p:nvSpPr>
          <p:cNvPr id="11" name="Text 9"/>
          <p:cNvSpPr txBox="1"/>
          <p:nvPr/>
        </p:nvSpPr>
        <p:spPr>
          <a:xfrm>
            <a:off x="1874520" y="5148072"/>
            <a:ext cx="9765792" cy="960120"/>
          </a:xfrm>
          <a:prstGeom prst="rect">
            <a:avLst/>
          </a:prstGeom>
          <a:noFill/>
          <a:ln/>
        </p:spPr>
        <p:txBody>
          <a:bodyPr wrap="square" lIns="0" tIns="0" rIns="0" bIns="0" rtlCol="0" anchor="t"/>
          <a:lstStyle/>
          <a:p>
            <a:pPr indent="0" marL="0">
              <a:lnSpc>
                <a:spcPts val="2000"/>
              </a:lnSpc>
              <a:buNone/>
            </a:pPr>
            <a:r>
              <a:rPr lang="en-US" sz="1450" b="1" dirty="0">
                <a:solidFill>
                  <a:srgbClr val="FFFFFF"/>
                </a:solidFill>
                <a:latin typeface="Calibri" pitchFamily="34" charset="0"/>
                <a:ea typeface="Calibri" pitchFamily="34" charset="-122"/>
                <a:cs typeface="Calibri" pitchFamily="34" charset="-120"/>
              </a:rPr>
              <a:t>94.96% of positive E→E edge weight points forward under the recovered ordering, against a chance expectation near 50%. The subnetwork is close to feedforward despite being a single strongly connected component.</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01 · PATH METHODS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Seven ways to build a backbone, compared on the same graph</a:t>
            </a:r>
            <a:endParaRPr lang="en-US" sz="2700" dirty="0"/>
          </a:p>
        </p:txBody>
      </p:sp>
      <p:sp>
        <p:nvSpPr>
          <p:cNvPr id="4" name="Shape 2"/>
          <p:cNvSpPr/>
          <p:nvPr/>
        </p:nvSpPr>
        <p:spPr>
          <a:xfrm>
            <a:off x="11247120" y="402336"/>
            <a:ext cx="512064" cy="512064"/>
          </a:xfrm>
          <a:prstGeom prst="ellipse">
            <a:avLst/>
          </a:prstGeom>
          <a:solidFill>
            <a:srgbClr val="C1553B"/>
          </a:solidFill>
          <a:ln w="12700">
            <a:solidFill>
              <a:srgbClr val="C1553B"/>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548640" y="1353312"/>
            <a:ext cx="11091672" cy="502920"/>
          </a:xfrm>
          <a:prstGeom prst="rect">
            <a:avLst/>
          </a:prstGeom>
          <a:noFill/>
          <a:ln/>
        </p:spPr>
        <p:txBody>
          <a:bodyPr wrap="square" lIns="0" tIns="0" rIns="0" bIns="0" rtlCol="0" anchor="t"/>
          <a:lstStyle/>
          <a:p>
            <a:pPr algn="l" indent="0" marL="0">
              <a:lnSpc>
                <a:spcPts val="1800"/>
              </a:lnSpc>
              <a:buNone/>
            </a:pPr>
            <a:r>
              <a:rPr lang="en-US" sz="1350" dirty="0">
                <a:solidFill>
                  <a:srgbClr val="1A1F2B"/>
                </a:solidFill>
                <a:latin typeface="Calibri" pitchFamily="34" charset="0"/>
                <a:ea typeface="Calibri" pitchFamily="34" charset="-122"/>
                <a:cs typeface="Calibri" pitchFamily="34" charset="-120"/>
              </a:rPr>
              <a:t>32 excitatory types, 355 positive directed E→E transitions, diagonal ignored. Six methods select a path from each seed; the seventh selects a global ordering and scores every edge rather than one walk.</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4690872"/>
                <a:gridCol w="1920240"/>
                <a:gridCol w="1554480"/>
                <a:gridCol w="1463040"/>
                <a:gridCol w="146304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Mean path weight</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Mean length</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milp_subtour_elimination</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227,745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241,065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28.47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241,901</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maximum_weight_asymmetric_hamiltonian_path</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204,189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222,249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31.00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223,059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branch_and_bound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177,627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171,725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25.72</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232,244</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greedy_tree_path</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125,314</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121,527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16.69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195,127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dynamic_programming (beam, width 5,000)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109,772</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105,454</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4.47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150,350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maximum_spanning_tree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95,745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109,051</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5.47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114,610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434840"/>
            <a:ext cx="11091672" cy="1691640"/>
          </a:xfrm>
          <a:prstGeom prst="roundRect">
            <a:avLst>
              <a:gd name="adj" fmla="val 2703"/>
            </a:avLst>
          </a:prstGeom>
          <a:solidFill>
            <a:srgbClr val="FBEFEA"/>
          </a:solidFill>
          <a:ln w="12700">
            <a:solidFill>
              <a:srgbClr val="FBEFEA"/>
            </a:solidFill>
            <a:prstDash val="solid"/>
          </a:ln>
        </p:spPr>
      </p:sp>
      <p:sp>
        <p:nvSpPr>
          <p:cNvPr id="9" name="Text 6"/>
          <p:cNvSpPr txBox="1"/>
          <p:nvPr/>
        </p:nvSpPr>
        <p:spPr>
          <a:xfrm>
            <a:off x="841248" y="4572000"/>
            <a:ext cx="10506456" cy="292608"/>
          </a:xfrm>
          <a:prstGeom prst="rect">
            <a:avLst/>
          </a:prstGeom>
          <a:noFill/>
          <a:ln/>
        </p:spPr>
        <p:txBody>
          <a:bodyPr wrap="square" lIns="0" tIns="0" rIns="0" bIns="0" rtlCol="0" anchor="ctr"/>
          <a:lstStyle/>
          <a:p>
            <a:pPr indent="0" marL="0">
              <a:buNone/>
            </a:pPr>
            <a:r>
              <a:rPr lang="en-US" sz="1350" b="1" dirty="0">
                <a:solidFill>
                  <a:srgbClr val="C1553B"/>
                </a:solidFill>
                <a:latin typeface="Calibri" pitchFamily="34" charset="0"/>
                <a:ea typeface="Calibri" pitchFamily="34" charset="-122"/>
                <a:cs typeface="Calibri" pitchFamily="34" charset="-120"/>
              </a:rPr>
              <a:t>Results above predate two solver fixes and are being regenerated</a:t>
            </a:r>
            <a:endParaRPr lang="en-US" sz="1350" dirty="0"/>
          </a:p>
        </p:txBody>
      </p:sp>
      <p:sp>
        <p:nvSpPr>
          <p:cNvPr id="10" name="Text 7"/>
          <p:cNvSpPr txBox="1"/>
          <p:nvPr/>
        </p:nvSpPr>
        <p:spPr>
          <a:xfrm>
            <a:off x="841248" y="4901184"/>
            <a:ext cx="10506456" cy="1143000"/>
          </a:xfrm>
          <a:prstGeom prst="rect">
            <a:avLst/>
          </a:prstGeom>
          <a:noFill/>
          <a:ln/>
        </p:spPr>
        <p:txBody>
          <a:bodyPr wrap="square" lIns="0" tIns="0" rIns="0" bIns="0" rtlCol="0" anchor="t"/>
          <a:lstStyle/>
          <a:p>
            <a:pPr marL="203200" indent="-203200">
              <a:lnSpc>
                <a:spcPts val="1500"/>
              </a:lnSpc>
              <a:spcAft>
                <a:spcPts val="200"/>
              </a:spcAft>
              <a:buSzPct val="100000"/>
              <a:buChar char="•"/>
            </a:pPr>
            <a:r>
              <a:rPr lang="en-US" sz="1150" dirty="0">
                <a:solidFill>
                  <a:srgbClr val="6B7280"/>
                </a:solidFill>
                <a:latin typeface="Calibri" pitchFamily="34" charset="0"/>
                <a:ea typeface="Calibri" pitchFamily="34" charset="-122"/>
                <a:cs typeface="Calibri" pitchFamily="34" charset="-120"/>
              </a:rPr>
              <a:t>The branch-and-bound optimistic bound was not admissible and could prune the optimum. Scores rose after the fix; it is exact only when bb_status == "complete".</a:t>
            </a:r>
            <a:endParaRPr lang="en-US" sz="1150" dirty="0"/>
          </a:p>
          <a:p>
            <a:pPr marL="203200" indent="-203200">
              <a:lnSpc>
                <a:spcPts val="1500"/>
              </a:lnSpc>
              <a:spcAft>
                <a:spcPts val="200"/>
              </a:spcAft>
              <a:buSzPct val="100000"/>
              <a:buChar char="•"/>
            </a:pPr>
            <a:r>
              <a:rPr lang="en-US" sz="1150" dirty="0">
                <a:solidFill>
                  <a:srgbClr val="6B7280"/>
                </a:solidFill>
                <a:latin typeface="Calibri" pitchFamily="34" charset="0"/>
                <a:ea typeface="Calibri" pitchFamily="34" charset="-122"/>
                <a:cs typeface="Calibri" pitchFamily="34" charset="-120"/>
              </a:rPr>
              <a:t>MILP optimality was read from pulp.LpStatus, which reports "Optimal" both when CBC proves optimality and when it stops on the time limit holding an incumbent. Optimality is now certified per seed from problem.sol_status.</a:t>
            </a:r>
            <a:endParaRPr lang="en-US" sz="1150" dirty="0"/>
          </a:p>
          <a:p>
            <a:pPr marL="203200" indent="-203200">
              <a:lnSpc>
                <a:spcPts val="1500"/>
              </a:lnSpc>
              <a:spcAft>
                <a:spcPts val="200"/>
              </a:spcAft>
              <a:buSzPct val="100000"/>
              <a:buChar char="•"/>
            </a:pPr>
            <a:r>
              <a:rPr lang="en-US" sz="1150" dirty="0">
                <a:solidFill>
                  <a:srgbClr val="6B7280"/>
                </a:solidFill>
                <a:latin typeface="Calibri" pitchFamily="34" charset="0"/>
                <a:ea typeface="Calibri" pitchFamily="34" charset="-122"/>
                <a:cs typeface="Calibri" pitchFamily="34" charset="-120"/>
              </a:rPr>
              <a:t>The one negative benchmark gap — SUB CA1 Projecting Pyramidal — was an unproven incumbent, not evidence that the two MILP formulations answer different questions. The gap column now carries a gap_is_certified flag and raises if any method beats a proven optimum.</a:t>
            </a:r>
            <a:endParaRPr lang="en-US" sz="1150" dirty="0"/>
          </a:p>
        </p:txBody>
      </p:sp>
      <p:sp>
        <p:nvSpPr>
          <p:cNvPr id="11" name="Text 8"/>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EE_backbone/ee_backbone_method_comparison.ipynb · docs/method_citations_and_verification.md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01 · ORDERING</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The excitatory subnetwork is close to feedforward</a:t>
            </a:r>
            <a:endParaRPr lang="en-US" sz="2700" dirty="0"/>
          </a:p>
        </p:txBody>
      </p:sp>
      <p:sp>
        <p:nvSpPr>
          <p:cNvPr id="4" name="Shape 2"/>
          <p:cNvSpPr/>
          <p:nvPr/>
        </p:nvSpPr>
        <p:spPr>
          <a:xfrm>
            <a:off x="11247120" y="402336"/>
            <a:ext cx="512064" cy="512064"/>
          </a:xfrm>
          <a:prstGeom prst="ellipse">
            <a:avLst/>
          </a:prstGeom>
          <a:solidFill>
            <a:srgbClr val="C1553B"/>
          </a:solidFill>
          <a:ln w="12700">
            <a:solidFill>
              <a:srgbClr val="C1553B"/>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548640" y="1353312"/>
            <a:ext cx="2926080" cy="713232"/>
          </a:xfrm>
          <a:prstGeom prst="rect">
            <a:avLst/>
          </a:prstGeom>
          <a:noFill/>
          <a:ln/>
        </p:spPr>
        <p:txBody>
          <a:bodyPr wrap="square" lIns="0" tIns="0" rIns="0" bIns="0" rtlCol="0" anchor="ctr"/>
          <a:lstStyle/>
          <a:p>
            <a:pPr algn="l" indent="0" marL="0">
              <a:buNone/>
            </a:pPr>
            <a:r>
              <a:rPr lang="en-US" sz="3800" b="1" dirty="0">
                <a:solidFill>
                  <a:srgbClr val="C1553B"/>
                </a:solidFill>
                <a:latin typeface="Cambria" pitchFamily="34" charset="0"/>
                <a:ea typeface="Cambria" pitchFamily="34" charset="-122"/>
                <a:cs typeface="Cambria" pitchFamily="34" charset="-120"/>
              </a:rPr>
              <a:t>0.9496</a:t>
            </a:r>
            <a:endParaRPr lang="en-US" sz="3800" dirty="0"/>
          </a:p>
        </p:txBody>
      </p:sp>
      <p:sp>
        <p:nvSpPr>
          <p:cNvPr id="7" name="Text 5"/>
          <p:cNvSpPr txBox="1"/>
          <p:nvPr/>
        </p:nvSpPr>
        <p:spPr>
          <a:xfrm>
            <a:off x="548640" y="2048256"/>
            <a:ext cx="292608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forward-weight fraction under the</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feedback-arc-minimising ordering</a:t>
            </a:r>
            <a:endParaRPr lang="en-US" sz="1100" dirty="0"/>
          </a:p>
        </p:txBody>
      </p:sp>
      <p:sp>
        <p:nvSpPr>
          <p:cNvPr id="8" name="Text 6"/>
          <p:cNvSpPr txBox="1"/>
          <p:nvPr/>
        </p:nvSpPr>
        <p:spPr>
          <a:xfrm>
            <a:off x="3749040" y="1353312"/>
            <a:ext cx="2926080" cy="713232"/>
          </a:xfrm>
          <a:prstGeom prst="rect">
            <a:avLst/>
          </a:prstGeom>
          <a:noFill/>
          <a:ln/>
        </p:spPr>
        <p:txBody>
          <a:bodyPr wrap="square" lIns="0" tIns="0" rIns="0" bIns="0" rtlCol="0" anchor="ctr"/>
          <a:lstStyle/>
          <a:p>
            <a:pPr algn="l" indent="0" marL="0">
              <a:buNone/>
            </a:pPr>
            <a:r>
              <a:rPr lang="en-US" sz="3800" b="1" dirty="0">
                <a:solidFill>
                  <a:srgbClr val="6B7280"/>
                </a:solidFill>
                <a:latin typeface="Cambria" pitchFamily="34" charset="0"/>
                <a:ea typeface="Cambria" pitchFamily="34" charset="-122"/>
                <a:cs typeface="Cambria" pitchFamily="34" charset="-120"/>
              </a:rPr>
              <a:t>0.486</a:t>
            </a:r>
            <a:endParaRPr lang="en-US" sz="3800" dirty="0"/>
          </a:p>
        </p:txBody>
      </p:sp>
      <p:sp>
        <p:nvSpPr>
          <p:cNvPr id="9" name="Text 7"/>
          <p:cNvSpPr txBox="1"/>
          <p:nvPr/>
        </p:nvSpPr>
        <p:spPr>
          <a:xfrm>
            <a:off x="3749040" y="2048256"/>
            <a:ext cx="292608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permutation null mean</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(sd 0.124, n = 2,000)</a:t>
            </a:r>
            <a:endParaRPr lang="en-US" sz="1100" dirty="0"/>
          </a:p>
        </p:txBody>
      </p:sp>
      <p:sp>
        <p:nvSpPr>
          <p:cNvPr id="10" name="Text 8"/>
          <p:cNvSpPr txBox="1"/>
          <p:nvPr/>
        </p:nvSpPr>
        <p:spPr>
          <a:xfrm>
            <a:off x="6949440" y="1353312"/>
            <a:ext cx="2926080" cy="713232"/>
          </a:xfrm>
          <a:prstGeom prst="rect">
            <a:avLst/>
          </a:prstGeom>
          <a:noFill/>
          <a:ln/>
        </p:spPr>
        <p:txBody>
          <a:bodyPr wrap="square" lIns="0" tIns="0" rIns="0" bIns="0" rtlCol="0" anchor="ctr"/>
          <a:lstStyle/>
          <a:p>
            <a:pPr algn="l" indent="0" marL="0">
              <a:buNone/>
            </a:pPr>
            <a:r>
              <a:rPr lang="en-US" sz="3800" b="1" dirty="0">
                <a:solidFill>
                  <a:srgbClr val="3D5A80"/>
                </a:solidFill>
                <a:latin typeface="Cambria" pitchFamily="34" charset="0"/>
                <a:ea typeface="Cambria" pitchFamily="34" charset="-122"/>
                <a:cs typeface="Cambria" pitchFamily="34" charset="-120"/>
              </a:rPr>
              <a:t>&lt; 0.005</a:t>
            </a:r>
            <a:endParaRPr lang="en-US" sz="3800" dirty="0"/>
          </a:p>
        </p:txBody>
      </p:sp>
      <p:sp>
        <p:nvSpPr>
          <p:cNvPr id="11" name="Text 9"/>
          <p:cNvSpPr txBox="1"/>
          <p:nvPr/>
        </p:nvSpPr>
        <p:spPr>
          <a:xfrm>
            <a:off x="6949440" y="2048256"/>
            <a:ext cx="292608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empirical p</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best of 2,000 random orders: 0.815</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6309360" cy="914400"/>
        </p:xfrm>
        <a:graphic>
          <a:graphicData uri="http://schemas.openxmlformats.org/drawingml/2006/table">
            <a:tbl>
              <a:tblPr/>
              <a:tblGrid>
                <a:gridCol w="4206240"/>
                <a:gridCol w="2103120"/>
              </a:tblGrid>
              <a:tr h="347472">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Quantity</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Strongly connected components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1  (all 32 types)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Positive edges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355</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Forward / feedback edges under the ordering</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208  /  147</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Forward / feedback edge weight</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748,421  /  39,719</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13" name="Shape 10"/>
          <p:cNvSpPr/>
          <p:nvPr/>
        </p:nvSpPr>
        <p:spPr>
          <a:xfrm>
            <a:off x="7132320" y="2880360"/>
            <a:ext cx="4507992" cy="1737360"/>
          </a:xfrm>
          <a:prstGeom prst="roundRect">
            <a:avLst>
              <a:gd name="adj" fmla="val 2632"/>
            </a:avLst>
          </a:prstGeom>
          <a:solidFill>
            <a:srgbClr val="F1F4F8"/>
          </a:solidFill>
          <a:ln w="12700">
            <a:solidFill>
              <a:srgbClr val="F1F4F8"/>
            </a:solidFill>
            <a:prstDash val="solid"/>
          </a:ln>
        </p:spPr>
      </p:sp>
      <p:sp>
        <p:nvSpPr>
          <p:cNvPr id="14" name="Text 11"/>
          <p:cNvSpPr txBox="1"/>
          <p:nvPr/>
        </p:nvSpPr>
        <p:spPr>
          <a:xfrm>
            <a:off x="7388352" y="3017520"/>
            <a:ext cx="3995928" cy="502920"/>
          </a:xfrm>
          <a:prstGeom prst="rect">
            <a:avLst/>
          </a:prstGeom>
          <a:noFill/>
          <a:ln/>
        </p:spPr>
        <p:txBody>
          <a:bodyPr wrap="square" lIns="0" tIns="0" rIns="0" bIns="0" rtlCol="0" anchor="t"/>
          <a:lstStyle/>
          <a:p>
            <a:pPr indent="0" marL="0">
              <a:buNone/>
            </a:pPr>
            <a:r>
              <a:rPr lang="en-US" sz="1300" b="1" dirty="0">
                <a:solidFill>
                  <a:srgbClr val="1A1F2B"/>
                </a:solidFill>
                <a:latin typeface="Calibri" pitchFamily="34" charset="0"/>
                <a:ea typeface="Calibri" pitchFamily="34" charset="-122"/>
                <a:cs typeface="Calibri" pitchFamily="34" charset="-120"/>
              </a:rPr>
              <a:t>Recurrence is carried by a small fraction of the weight</a:t>
            </a:r>
            <a:endParaRPr lang="en-US" sz="1300" dirty="0"/>
          </a:p>
        </p:txBody>
      </p:sp>
      <p:sp>
        <p:nvSpPr>
          <p:cNvPr id="15" name="Text 12"/>
          <p:cNvSpPr txBox="1"/>
          <p:nvPr/>
        </p:nvSpPr>
        <p:spPr>
          <a:xfrm>
            <a:off x="7388352" y="3529584"/>
            <a:ext cx="3995928" cy="960120"/>
          </a:xfrm>
          <a:prstGeom prst="rect">
            <a:avLst/>
          </a:prstGeom>
          <a:noFill/>
          <a:ln/>
        </p:spPr>
        <p:txBody>
          <a:bodyPr wrap="square" lIns="0" tIns="0" rIns="0" bIns="0" rtlCol="0" anchor="t"/>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A single SCC means every type is reachable from every other. That is compatible with near-feedforward flow, because the return edges exist but carry roughly 5% of the weight.</a:t>
            </a:r>
            <a:endParaRPr lang="en-US" sz="1200" dirty="0"/>
          </a:p>
        </p:txBody>
      </p:sp>
      <p:sp>
        <p:nvSpPr>
          <p:cNvPr id="16" name="Shape 13"/>
          <p:cNvSpPr/>
          <p:nvPr/>
        </p:nvSpPr>
        <p:spPr>
          <a:xfrm>
            <a:off x="548640" y="4846320"/>
            <a:ext cx="11091672" cy="1280160"/>
          </a:xfrm>
          <a:prstGeom prst="roundRect">
            <a:avLst>
              <a:gd name="adj" fmla="val 3571"/>
            </a:avLst>
          </a:prstGeom>
          <a:solidFill>
            <a:srgbClr val="EDF3F6"/>
          </a:solidFill>
          <a:ln w="12700">
            <a:solidFill>
              <a:srgbClr val="EDF3F6"/>
            </a:solidFill>
            <a:prstDash val="solid"/>
          </a:ln>
        </p:spPr>
      </p:sp>
      <p:sp>
        <p:nvSpPr>
          <p:cNvPr id="17" name="Text 14"/>
          <p:cNvSpPr txBox="1"/>
          <p:nvPr/>
        </p:nvSpPr>
        <p:spPr>
          <a:xfrm>
            <a:off x="841248" y="4974336"/>
            <a:ext cx="10506456" cy="292608"/>
          </a:xfrm>
          <a:prstGeom prst="rect">
            <a:avLst/>
          </a:prstGeom>
          <a:noFill/>
          <a:ln/>
        </p:spPr>
        <p:txBody>
          <a:bodyPr wrap="square" lIns="0" tIns="0" rIns="0" bIns="0" rtlCol="0" anchor="ctr"/>
          <a:lstStyle/>
          <a:p>
            <a:pPr indent="0" marL="0">
              <a:buNone/>
            </a:pPr>
            <a:r>
              <a:rPr lang="en-US" sz="1350" b="1" dirty="0">
                <a:solidFill>
                  <a:srgbClr val="1F7A8C"/>
                </a:solidFill>
                <a:latin typeface="Calibri" pitchFamily="34" charset="0"/>
                <a:ea typeface="Calibri" pitchFamily="34" charset="-122"/>
                <a:cs typeface="Calibri" pitchFamily="34" charset="-120"/>
              </a:rPr>
              <a:t>The recovered order is anatomical, and nothing anatomical was supplied</a:t>
            </a:r>
            <a:endParaRPr lang="en-US" sz="1350" dirty="0"/>
          </a:p>
        </p:txBody>
      </p:sp>
      <p:sp>
        <p:nvSpPr>
          <p:cNvPr id="18" name="Text 15"/>
          <p:cNvSpPr txBox="1"/>
          <p:nvPr/>
        </p:nvSpPr>
        <p:spPr>
          <a:xfrm>
            <a:off x="841248" y="5285232"/>
            <a:ext cx="10506456" cy="777240"/>
          </a:xfrm>
          <a:prstGeom prst="rect">
            <a:avLst/>
          </a:prstGeom>
          <a:noFill/>
          <a:ln/>
        </p:spPr>
        <p:txBody>
          <a:bodyPr wrap="square" lIns="0" tIns="0" rIns="0" bIns="0" rtlCol="0" anchor="t"/>
          <a:lstStyle/>
          <a:p>
            <a:pPr indent="0" marL="0">
              <a:lnSpc>
                <a:spcPts val="1700"/>
              </a:lnSpc>
              <a:buNone/>
            </a:pPr>
            <a:r>
              <a:rPr lang="en-US" sz="1250" dirty="0">
                <a:solidFill>
                  <a:srgbClr val="1A1F2B"/>
                </a:solidFill>
                <a:latin typeface="Calibri" pitchFamily="34" charset="0"/>
                <a:ea typeface="Calibri" pitchFamily="34" charset="-122"/>
                <a:cs typeface="Calibri" pitchFamily="34" charset="-120"/>
              </a:rPr>
              <a:t>It opens in superficial entorhinal layers, passes through CA3 and CA2 into CA1, and ends in subiculum and deep entorhinal layers — the expected direction of flow through the hippocampal formation. That fell out of maximising forward edge weight. The ordering is written to backbone_ordering.csv and consumed as the backbone coordinate by the E/I notebook.</a:t>
            </a:r>
            <a:endParaRPr lang="en-US" sz="1250" dirty="0"/>
          </a:p>
        </p:txBody>
      </p:sp>
      <p:sp>
        <p:nvSpPr>
          <p:cNvPr id="19" name="Text 16"/>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EE_backbone/ee_backbone_ordering.py (feedback-arc ordering, Vahidi 2025) · ordering_metrics.csv, ordering_permutation_null.csv</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01 · DYNAMICS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Inhibition along the backbone coordinate</a:t>
            </a:r>
            <a:endParaRPr lang="en-US" sz="2700" dirty="0"/>
          </a:p>
        </p:txBody>
      </p:sp>
      <p:sp>
        <p:nvSpPr>
          <p:cNvPr id="4" name="Shape 2"/>
          <p:cNvSpPr/>
          <p:nvPr/>
        </p:nvSpPr>
        <p:spPr>
          <a:xfrm>
            <a:off x="11247120" y="402336"/>
            <a:ext cx="512064" cy="512064"/>
          </a:xfrm>
          <a:prstGeom prst="ellipse">
            <a:avLst/>
          </a:prstGeom>
          <a:solidFill>
            <a:srgbClr val="C1553B"/>
          </a:solidFill>
          <a:ln w="12700">
            <a:solidFill>
              <a:srgbClr val="C1553B"/>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548640" y="1325880"/>
            <a:ext cx="2743200" cy="713232"/>
          </a:xfrm>
          <a:prstGeom prst="rect">
            <a:avLst/>
          </a:prstGeom>
          <a:noFill/>
          <a:ln/>
        </p:spPr>
        <p:txBody>
          <a:bodyPr wrap="square" lIns="0" tIns="0" rIns="0" bIns="0" rtlCol="0" anchor="ctr"/>
          <a:lstStyle/>
          <a:p>
            <a:pPr algn="l" indent="0" marL="0">
              <a:buNone/>
            </a:pPr>
            <a:r>
              <a:rPr lang="en-US" sz="3800" b="1" dirty="0">
                <a:solidFill>
                  <a:srgbClr val="3D5A80"/>
                </a:solidFill>
                <a:latin typeface="Cambria" pitchFamily="34" charset="0"/>
                <a:ea typeface="Cambria" pitchFamily="34" charset="-122"/>
                <a:cs typeface="Cambria" pitchFamily="34" charset="-120"/>
              </a:rPr>
              <a:t>−0.61</a:t>
            </a:r>
            <a:endParaRPr lang="en-US" sz="3800" dirty="0"/>
          </a:p>
        </p:txBody>
      </p:sp>
      <p:sp>
        <p:nvSpPr>
          <p:cNvPr id="7" name="Text 5"/>
          <p:cNvSpPr txBox="1"/>
          <p:nvPr/>
        </p:nvSpPr>
        <p:spPr>
          <a:xfrm>
            <a:off x="548640" y="2020824"/>
            <a:ext cx="274320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spectral abscissa at g = 2  (−0.42 at g = 0)</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stable at every gain tested</a:t>
            </a:r>
            <a:endParaRPr lang="en-US" sz="1100" dirty="0"/>
          </a:p>
        </p:txBody>
      </p:sp>
      <p:sp>
        <p:nvSpPr>
          <p:cNvPr id="8" name="Text 6"/>
          <p:cNvSpPr txBox="1"/>
          <p:nvPr/>
        </p:nvSpPr>
        <p:spPr>
          <a:xfrm>
            <a:off x="3566160" y="1325880"/>
            <a:ext cx="2743200" cy="713232"/>
          </a:xfrm>
          <a:prstGeom prst="rect">
            <a:avLst/>
          </a:prstGeom>
          <a:noFill/>
          <a:ln/>
        </p:spPr>
        <p:txBody>
          <a:bodyPr wrap="square" lIns="0" tIns="0" rIns="0" bIns="0" rtlCol="0" anchor="ctr"/>
          <a:lstStyle/>
          <a:p>
            <a:pPr algn="l" indent="0" marL="0">
              <a:buNone/>
            </a:pPr>
            <a:r>
              <a:rPr lang="en-US" sz="3800" b="1" dirty="0">
                <a:solidFill>
                  <a:srgbClr val="C1553B"/>
                </a:solidFill>
                <a:latin typeface="Cambria" pitchFamily="34" charset="0"/>
                <a:ea typeface="Cambria" pitchFamily="34" charset="-122"/>
                <a:cs typeface="Cambria" pitchFamily="34" charset="-120"/>
              </a:rPr>
              <a:t>+27.20</a:t>
            </a:r>
            <a:endParaRPr lang="en-US" sz="3800" dirty="0"/>
          </a:p>
        </p:txBody>
      </p:sp>
      <p:sp>
        <p:nvSpPr>
          <p:cNvPr id="9" name="Text 7"/>
          <p:cNvSpPr txBox="1"/>
          <p:nvPr/>
        </p:nvSpPr>
        <p:spPr>
          <a:xfrm>
            <a:off x="3566160" y="2020824"/>
            <a:ext cx="274320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numerical abscissa</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gap of ≈ 27.6 from the spectrum</a:t>
            </a:r>
            <a:endParaRPr lang="en-US" sz="1100" dirty="0"/>
          </a:p>
        </p:txBody>
      </p:sp>
      <p:sp>
        <p:nvSpPr>
          <p:cNvPr id="10" name="Text 8"/>
          <p:cNvSpPr txBox="1"/>
          <p:nvPr/>
        </p:nvSpPr>
        <p:spPr>
          <a:xfrm>
            <a:off x="6583680" y="1325880"/>
            <a:ext cx="2743200" cy="713232"/>
          </a:xfrm>
          <a:prstGeom prst="rect">
            <a:avLst/>
          </a:prstGeom>
          <a:noFill/>
          <a:ln/>
        </p:spPr>
        <p:txBody>
          <a:bodyPr wrap="square" lIns="0" tIns="0" rIns="0" bIns="0" rtlCol="0" anchor="ctr"/>
          <a:lstStyle/>
          <a:p>
            <a:pPr algn="l" indent="0" marL="0">
              <a:buNone/>
            </a:pPr>
            <a:r>
              <a:rPr lang="en-US" sz="3800" b="1" dirty="0">
                <a:solidFill>
                  <a:srgbClr val="1F7A8C"/>
                </a:solidFill>
                <a:latin typeface="Cambria" pitchFamily="34" charset="0"/>
                <a:ea typeface="Cambria" pitchFamily="34" charset="-122"/>
                <a:cs typeface="Cambria" pitchFamily="34" charset="-120"/>
              </a:rPr>
              <a:t>285 / 578</a:t>
            </a:r>
            <a:endParaRPr lang="en-US" sz="3800" dirty="0"/>
          </a:p>
        </p:txBody>
      </p:sp>
      <p:sp>
        <p:nvSpPr>
          <p:cNvPr id="11" name="Text 9"/>
          <p:cNvSpPr txBox="1"/>
          <p:nvPr/>
        </p:nvSpPr>
        <p:spPr>
          <a:xfrm>
            <a:off x="6583680" y="2020824"/>
            <a:ext cx="274320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feedforward / feedback</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inhibitory edges vs the ordering</a:t>
            </a:r>
            <a:endParaRPr lang="en-US" sz="1100" dirty="0"/>
          </a:p>
        </p:txBody>
      </p:sp>
      <p:pic>
        <p:nvPicPr>
          <p:cNvPr id="12" name="Image 0" descr="/mnt/user-data/uploads/AscoliLab/inhib_modulation/outputs/01_inhibitory_modulation_backbone_workflow/inhibitory_strength_sweep.png">    </p:cNvPr>
          <p:cNvPicPr>
            <a:picLocks noChangeAspect="1"/>
          </p:cNvPicPr>
          <p:nvPr/>
        </p:nvPicPr>
        <p:blipFill>
          <a:blip r:embed="rId1"/>
          <a:srcRect l="0" r="0" t="0" b="0"/>
          <a:stretch/>
        </p:blipFill>
        <p:spPr>
          <a:xfrm>
            <a:off x="9006840" y="1371600"/>
            <a:ext cx="2606040" cy="1463040"/>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91672" cy="914400"/>
        </p:xfrm>
        <a:graphic>
          <a:graphicData uri="http://schemas.openxmlformats.org/drawingml/2006/table">
            <a:tbl>
              <a:tblPr/>
              <a:tblGrid>
                <a:gridCol w="3685032"/>
                <a:gridCol w="2194560"/>
                <a:gridCol w="2743200"/>
                <a:gridCol w="2468880"/>
              </a:tblGrid>
              <a:tr h="3657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Inhibitory edge class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Mean |w|</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Mean |displacement|</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Median displacement</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Feedforward (285 edges)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0.00748</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10.5</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Feedback (578 edges)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0.00444</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21.8</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−13</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4069080"/>
            <a:ext cx="11091672" cy="731520"/>
          </a:xfrm>
          <a:prstGeom prst="rect">
            <a:avLst/>
          </a:prstGeom>
          <a:noFill/>
          <a:ln/>
        </p:spPr>
        <p:txBody>
          <a:bodyPr wrap="square" lIns="0" tIns="0" rIns="0" bIns="0" rtlCol="0" anchor="t"/>
          <a:lstStyle/>
          <a:p>
            <a:pPr algn="l" indent="0" marL="0">
              <a:lnSpc>
                <a:spcPts val="1800"/>
              </a:lnSpc>
              <a:buNone/>
            </a:pPr>
            <a:r>
              <a:rPr lang="en-US" sz="1350" dirty="0">
                <a:solidFill>
                  <a:srgbClr val="1A1F2B"/>
                </a:solidFill>
                <a:latin typeface="Calibri" pitchFamily="34" charset="0"/>
                <a:ea typeface="Calibri" pitchFamily="34" charset="-122"/>
                <a:cs typeface="Calibri" pitchFamily="34" charset="-120"/>
              </a:rPr>
              <a:t>Strong local feedforward inhibition alongside weak long-range feedback inhibition is consistent with the hippocampal–entorhinal microcircuit literature, and is checkable against it. The abscissa gap — not G_max alone — is the quantitative signature of non-normality, and it is what Stage 6 takes up in continuous time.</a:t>
            </a:r>
            <a:endParaRPr lang="en-US" sz="1350" dirty="0"/>
          </a:p>
        </p:txBody>
      </p:sp>
      <p:sp>
        <p:nvSpPr>
          <p:cNvPr id="15" name="Shape 11"/>
          <p:cNvSpPr/>
          <p:nvPr/>
        </p:nvSpPr>
        <p:spPr>
          <a:xfrm>
            <a:off x="548640" y="4864608"/>
            <a:ext cx="11091672" cy="1261872"/>
          </a:xfrm>
          <a:prstGeom prst="roundRect">
            <a:avLst>
              <a:gd name="adj" fmla="val 3623"/>
            </a:avLst>
          </a:prstGeom>
          <a:solidFill>
            <a:srgbClr val="FBEFEA"/>
          </a:solidFill>
          <a:ln w="12700">
            <a:solidFill>
              <a:srgbClr val="FBEFEA"/>
            </a:solidFill>
            <a:prstDash val="solid"/>
          </a:ln>
        </p:spPr>
      </p:sp>
      <p:sp>
        <p:nvSpPr>
          <p:cNvPr id="16" name="Text 12"/>
          <p:cNvSpPr txBox="1"/>
          <p:nvPr/>
        </p:nvSpPr>
        <p:spPr>
          <a:xfrm>
            <a:off x="841248" y="4983480"/>
            <a:ext cx="10506456" cy="292608"/>
          </a:xfrm>
          <a:prstGeom prst="rect">
            <a:avLst/>
          </a:prstGeom>
          <a:noFill/>
          <a:ln/>
        </p:spPr>
        <p:txBody>
          <a:bodyPr wrap="square" lIns="0" tIns="0" rIns="0" bIns="0" rtlCol="0" anchor="ctr"/>
          <a:lstStyle/>
          <a:p>
            <a:pPr indent="0" marL="0">
              <a:buNone/>
            </a:pPr>
            <a:r>
              <a:rPr lang="en-US" sz="1300" b="1" dirty="0">
                <a:solidFill>
                  <a:srgbClr val="C1553B"/>
                </a:solidFill>
                <a:latin typeface="Calibri" pitchFamily="34" charset="0"/>
                <a:ea typeface="Calibri" pitchFamily="34" charset="-122"/>
                <a:cs typeface="Calibri" pitchFamily="34" charset="-120"/>
              </a:rPr>
              <a:t>The placement null is negative, and that is reported as such</a:t>
            </a:r>
            <a:endParaRPr lang="en-US" sz="1300" dirty="0"/>
          </a:p>
        </p:txBody>
      </p:sp>
      <p:sp>
        <p:nvSpPr>
          <p:cNvPr id="17" name="Text 13"/>
          <p:cNvSpPr txBox="1"/>
          <p:nvPr/>
        </p:nvSpPr>
        <p:spPr>
          <a:xfrm>
            <a:off x="841248" y="5285232"/>
            <a:ext cx="10506456" cy="777240"/>
          </a:xfrm>
          <a:prstGeom prst="rect">
            <a:avLst/>
          </a:prstGeom>
          <a:noFill/>
          <a:ln/>
        </p:spPr>
        <p:txBody>
          <a:bodyPr wrap="square" lIns="0" tIns="0" rIns="0" bIns="0" rtlCol="0" anchor="t"/>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Observed terminal peak 0.10749 sits at the 22.4th percentile of a 500-draw null (empirical p = 0.226 / 0.776): inhibitory target placement is not distinguishable from chance on this statistic. Inference is by empirical p, not z — the null is skewed (−2.54), and at the previous N = 25 default the z spanned −0.2 to +34. The null preserves each source’s out-degree and weight multiset but not target in-degree, so it is a first-order placement null; a strength-preserving randomisation is the stronger comparison.</a:t>
            </a:r>
            <a:endParaRPr lang="en-US" sz="1150" dirty="0"/>
          </a:p>
        </p:txBody>
      </p:sp>
      <p:sp>
        <p:nvSpPr>
          <p:cNvPr id="18" name="Text 14"/>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EE_backbone/ei_backbone_analysis.ipynb · Milisav et al. (2024) Nature Computational Science, on strength-preserving nulls.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417320"/>
            <a:ext cx="1051560" cy="1051560"/>
          </a:xfrm>
          <a:prstGeom prst="ellipse">
            <a:avLst/>
          </a:prstGeom>
          <a:solidFill>
            <a:srgbClr val="1F7A8C"/>
          </a:solidFill>
          <a:ln w="12700">
            <a:solidFill>
              <a:srgbClr val="1F7A8C"/>
            </a:solidFill>
            <a:prstDash val="solid"/>
          </a:ln>
        </p:spPr>
      </p:sp>
      <p:sp>
        <p:nvSpPr>
          <p:cNvPr id="3" name="Text 1"/>
          <p:cNvSpPr txBox="1"/>
          <p:nvPr/>
        </p:nvSpPr>
        <p:spPr>
          <a:xfrm>
            <a:off x="548640" y="1417320"/>
            <a:ext cx="1051560" cy="10515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02</a:t>
            </a:r>
            <a:endParaRPr lang="en-US" sz="4000" dirty="0"/>
          </a:p>
        </p:txBody>
      </p:sp>
      <p:sp>
        <p:nvSpPr>
          <p:cNvPr id="4" name="Text 2"/>
          <p:cNvSpPr txBox="1"/>
          <p:nvPr/>
        </p:nvSpPr>
        <p:spPr>
          <a:xfrm>
            <a:off x="548640" y="777240"/>
            <a:ext cx="11091672" cy="274320"/>
          </a:xfrm>
          <a:prstGeom prst="rect">
            <a:avLst/>
          </a:prstGeom>
          <a:noFill/>
          <a:ln/>
        </p:spPr>
        <p:txBody>
          <a:bodyPr wrap="square" lIns="0" tIns="0" rIns="0" bIns="0" rtlCol="0" anchor="ctr"/>
          <a:lstStyle/>
          <a:p>
            <a:pPr indent="0" marL="0">
              <a:buNone/>
            </a:pPr>
            <a:r>
              <a:rPr lang="en-US" sz="1000" b="1" spc="200" kern="0" dirty="0">
                <a:solidFill>
                  <a:srgbClr val="B9CEDE"/>
                </a:solidFill>
                <a:latin typeface="Calibri" pitchFamily="34" charset="0"/>
                <a:ea typeface="Calibri" pitchFamily="34" charset="-122"/>
                <a:cs typeface="Calibri" pitchFamily="34" charset="-120"/>
              </a:rPr>
              <a:t>STAGE 02</a:t>
            </a:r>
            <a:endParaRPr lang="en-US" sz="1000" dirty="0"/>
          </a:p>
        </p:txBody>
      </p:sp>
      <p:sp>
        <p:nvSpPr>
          <p:cNvPr id="5" name="Text 3"/>
          <p:cNvSpPr txBox="1"/>
          <p:nvPr/>
        </p:nvSpPr>
        <p:spPr>
          <a:xfrm>
            <a:off x="1874520" y="1371600"/>
            <a:ext cx="9765792" cy="11430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Inhibition and disinhibition</a:t>
            </a:r>
            <a:endParaRPr lang="en-US" sz="3200" dirty="0"/>
          </a:p>
        </p:txBody>
      </p:sp>
      <p:sp>
        <p:nvSpPr>
          <p:cNvPr id="6" name="Text 4"/>
          <p:cNvSpPr txBox="1"/>
          <p:nvPr/>
        </p:nvSpPr>
        <p:spPr>
          <a:xfrm>
            <a:off x="548640" y="3063240"/>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QUESTION</a:t>
            </a:r>
            <a:endParaRPr lang="en-US" sz="950" dirty="0"/>
          </a:p>
        </p:txBody>
      </p:sp>
      <p:sp>
        <p:nvSpPr>
          <p:cNvPr id="7" name="Text 5"/>
          <p:cNvSpPr txBox="1"/>
          <p:nvPr/>
        </p:nvSpPr>
        <p:spPr>
          <a:xfrm>
            <a:off x="1874520" y="3026664"/>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What does inhibition actually do to this network’s stability — and is it the direct inhibitory edges that matter, or the chains through them?</a:t>
            </a:r>
            <a:endParaRPr lang="en-US" sz="1450" dirty="0"/>
          </a:p>
        </p:txBody>
      </p:sp>
      <p:sp>
        <p:nvSpPr>
          <p:cNvPr id="8" name="Text 6"/>
          <p:cNvSpPr txBox="1"/>
          <p:nvPr/>
        </p:nvSpPr>
        <p:spPr>
          <a:xfrm>
            <a:off x="548640" y="4123944"/>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METHOD</a:t>
            </a:r>
            <a:endParaRPr lang="en-US" sz="950" dirty="0"/>
          </a:p>
        </p:txBody>
      </p:sp>
      <p:sp>
        <p:nvSpPr>
          <p:cNvPr id="9" name="Text 7"/>
          <p:cNvSpPr txBox="1"/>
          <p:nvPr/>
        </p:nvSpPr>
        <p:spPr>
          <a:xfrm>
            <a:off x="1874520" y="4087368"/>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Coarse block fractures (EE / EI / IE / II / self), the inhibitory Schur complement with a Neumann-depth expansion, motif enrichment against a degree-preserving null, and node-, edge- and motif-level ablations, all run in matched with-self and no-self variants.</a:t>
            </a:r>
            <a:endParaRPr lang="en-US" sz="1450" dirty="0"/>
          </a:p>
        </p:txBody>
      </p:sp>
      <p:sp>
        <p:nvSpPr>
          <p:cNvPr id="10" name="Text 8"/>
          <p:cNvSpPr txBox="1"/>
          <p:nvPr/>
        </p:nvSpPr>
        <p:spPr>
          <a:xfrm>
            <a:off x="548640" y="5184648"/>
            <a:ext cx="1234440" cy="310896"/>
          </a:xfrm>
          <a:prstGeom prst="rect">
            <a:avLst/>
          </a:prstGeom>
          <a:noFill/>
          <a:ln/>
        </p:spPr>
        <p:txBody>
          <a:bodyPr wrap="square" lIns="0" tIns="0" rIns="0" bIns="0" rtlCol="0" anchor="t"/>
          <a:lstStyle/>
          <a:p>
            <a:pPr indent="0" marL="0">
              <a:buNone/>
            </a:pPr>
            <a:r>
              <a:rPr lang="en-US" sz="950" b="1" spc="150" kern="0" dirty="0">
                <a:solidFill>
                  <a:srgbClr val="D9A441"/>
                </a:solidFill>
                <a:latin typeface="Calibri" pitchFamily="34" charset="0"/>
                <a:ea typeface="Calibri" pitchFamily="34" charset="-122"/>
                <a:cs typeface="Calibri" pitchFamily="34" charset="-120"/>
              </a:rPr>
              <a:t>FINDING</a:t>
            </a:r>
            <a:endParaRPr lang="en-US" sz="950" dirty="0"/>
          </a:p>
        </p:txBody>
      </p:sp>
      <p:sp>
        <p:nvSpPr>
          <p:cNvPr id="11" name="Text 9"/>
          <p:cNvSpPr txBox="1"/>
          <p:nvPr/>
        </p:nvSpPr>
        <p:spPr>
          <a:xfrm>
            <a:off x="1874520" y="5148072"/>
            <a:ext cx="9765792" cy="960120"/>
          </a:xfrm>
          <a:prstGeom prst="rect">
            <a:avLst/>
          </a:prstGeom>
          <a:noFill/>
          <a:ln/>
        </p:spPr>
        <p:txBody>
          <a:bodyPr wrap="square" lIns="0" tIns="0" rIns="0" bIns="0" rtlCol="0" anchor="t"/>
          <a:lstStyle/>
          <a:p>
            <a:pPr indent="0" marL="0">
              <a:lnSpc>
                <a:spcPts val="2000"/>
              </a:lnSpc>
              <a:buNone/>
            </a:pPr>
            <a:r>
              <a:rPr lang="en-US" sz="1450" b="1" dirty="0">
                <a:solidFill>
                  <a:srgbClr val="FFFFFF"/>
                </a:solidFill>
                <a:latin typeface="Calibri" pitchFamily="34" charset="0"/>
                <a:ea typeface="Calibri" pitchFamily="34" charset="-122"/>
                <a:cs typeface="Calibri" pitchFamily="34" charset="-120"/>
              </a:rPr>
              <a:t>E→E carries the excitatory growth mode; cross-E/I coupling is stabilising. Inhibitory feedback pulls the effective excitatory dynamics back to target from either starting point, and the enriched motif is a disinhibitory chain, not a direct inhibitory edge.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02 · BLOCK FRACTURES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Which block carries the instability</a:t>
            </a:r>
            <a:endParaRPr lang="en-US" sz="2700" dirty="0"/>
          </a:p>
        </p:txBody>
      </p:sp>
      <p:sp>
        <p:nvSpPr>
          <p:cNvPr id="4" name="Shape 2"/>
          <p:cNvSpPr/>
          <p:nvPr/>
        </p:nvSpPr>
        <p:spPr>
          <a:xfrm>
            <a:off x="11247120" y="402336"/>
            <a:ext cx="512064" cy="512064"/>
          </a:xfrm>
          <a:prstGeom prst="ellipse">
            <a:avLst/>
          </a:prstGeom>
          <a:solidFill>
            <a:srgbClr val="1F7A8C"/>
          </a:solidFill>
          <a:ln w="12700">
            <a:solidFill>
              <a:srgbClr val="1F7A8C"/>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6" name="Text 4"/>
          <p:cNvSpPr txBox="1"/>
          <p:nvPr/>
        </p:nvSpPr>
        <p:spPr>
          <a:xfrm>
            <a:off x="548640" y="1335024"/>
            <a:ext cx="11091672" cy="320040"/>
          </a:xfrm>
          <a:prstGeom prst="rect">
            <a:avLst/>
          </a:prstGeom>
          <a:noFill/>
          <a:ln/>
        </p:spPr>
        <p:txBody>
          <a:bodyPr wrap="square" lIns="0" tIns="0" rIns="0" bIns="0" rtlCol="0" anchor="t"/>
          <a:lstStyle/>
          <a:p>
            <a:pPr algn="l" indent="0" marL="0">
              <a:lnSpc>
                <a:spcPts val="1800"/>
              </a:lnSpc>
              <a:buNone/>
            </a:pPr>
            <a:r>
              <a:rPr lang="en-US" sz="1350" dirty="0">
                <a:solidFill>
                  <a:srgbClr val="1A1F2B"/>
                </a:solidFill>
                <a:latin typeface="Calibri" pitchFamily="34" charset="0"/>
                <a:ea typeface="Calibri" pitchFamily="34" charset="-122"/>
                <a:cs typeface="Calibri" pitchFamily="34" charset="-120"/>
              </a:rPr>
              <a:t>Both variants normalised to a dominant real eigenvalue of 0.85, then one block removed at a time.</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834640"/>
                <a:gridCol w="1737360"/>
                <a:gridCol w="1737360"/>
                <a:gridCol w="4782312"/>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Block removed</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with_self</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no_self</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Reading</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420624">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E → E</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250" dirty="0">
                          <a:solidFill>
                            <a:srgbClr val="1A1F2B"/>
                          </a:solidFill>
                          <a:latin typeface="Calibri" pitchFamily="34" charset="0"/>
                          <a:ea typeface="Calibri" pitchFamily="34" charset="-122"/>
                          <a:cs typeface="Calibri" pitchFamily="34" charset="-120"/>
                        </a:rPr>
                        <a:t>0.85 → 0.063</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250" dirty="0">
                          <a:solidFill>
                            <a:srgbClr val="1A1F2B"/>
                          </a:solidFill>
                          <a:latin typeface="Calibri" pitchFamily="34" charset="0"/>
                          <a:ea typeface="Calibri" pitchFamily="34" charset="-122"/>
                          <a:cs typeface="Calibri" pitchFamily="34" charset="-120"/>
                        </a:rPr>
                        <a:t>0.85 → 0.099</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carries essentially the whole excitatory growth mode</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420624">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I → I</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F2B"/>
                          </a:solidFill>
                          <a:latin typeface="Calibri" pitchFamily="34" charset="0"/>
                          <a:ea typeface="Calibri" pitchFamily="34" charset="-122"/>
                          <a:cs typeface="Calibri" pitchFamily="34" charset="-120"/>
                        </a:rPr>
                        <a:t>0.85 → 0.844</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F2B"/>
                          </a:solidFill>
                          <a:latin typeface="Calibri" pitchFamily="34" charset="0"/>
                          <a:ea typeface="Calibri" pitchFamily="34" charset="-122"/>
                          <a:cs typeface="Calibri" pitchFamily="34" charset="-120"/>
                        </a:rPr>
                        <a:t>0.85 → 0.838</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nearly inert at the level of the dominant eigenvalue</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420624">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Cross E/I  (E→I and I→E)</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250" dirty="0">
                          <a:solidFill>
                            <a:srgbClr val="1A1F2B"/>
                          </a:solidFill>
                          <a:latin typeface="Calibri" pitchFamily="34" charset="0"/>
                          <a:ea typeface="Calibri" pitchFamily="34" charset="-122"/>
                          <a:cs typeface="Calibri" pitchFamily="34" charset="-120"/>
                        </a:rPr>
                        <a:t>0.85 → 0.886</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250" dirty="0">
                          <a:solidFill>
                            <a:srgbClr val="1A1F2B"/>
                          </a:solidFill>
                          <a:latin typeface="Calibri" pitchFamily="34" charset="0"/>
                          <a:ea typeface="Calibri" pitchFamily="34" charset="-122"/>
                          <a:cs typeface="Calibri" pitchFamily="34" charset="-120"/>
                        </a:rPr>
                        <a:t>0.85 → 0.996</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removal destabilises — the cross terms are stabilising</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bl>
          </a:graphicData>
        </a:graphic>
      </p:graphicFrame>
      <p:pic>
        <p:nvPicPr>
          <p:cNvPr id="8" name="Image 0" descr="/mnt/user-data/uploads/AscoliLab/inhib_modulation/outputs/02_inhibitory_modulation_analysis/block_removal_delta_dominant_real_by_variant.png">    </p:cNvPr>
          <p:cNvPicPr>
            <a:picLocks noChangeAspect="1"/>
          </p:cNvPicPr>
          <p:nvPr/>
        </p:nvPicPr>
        <p:blipFill>
          <a:blip r:embed="rId1"/>
          <a:srcRect l="0" r="0" t="0" b="0"/>
          <a:stretch/>
        </p:blipFill>
        <p:spPr>
          <a:xfrm>
            <a:off x="548640" y="3547872"/>
            <a:ext cx="5394960" cy="2194560"/>
          </a:xfrm>
          <a:prstGeom prst="rect">
            <a:avLst/>
          </a:prstGeom>
        </p:spPr>
      </p:pic>
      <p:sp>
        <p:nvSpPr>
          <p:cNvPr id="9" name="Shape 5"/>
          <p:cNvSpPr/>
          <p:nvPr/>
        </p:nvSpPr>
        <p:spPr>
          <a:xfrm>
            <a:off x="6172200" y="3547872"/>
            <a:ext cx="5468112" cy="2194560"/>
          </a:xfrm>
          <a:prstGeom prst="roundRect">
            <a:avLst>
              <a:gd name="adj" fmla="val 2083"/>
            </a:avLst>
          </a:prstGeom>
          <a:solidFill>
            <a:srgbClr val="F1F4F8"/>
          </a:solidFill>
          <a:ln w="12700">
            <a:solidFill>
              <a:srgbClr val="F1F4F8"/>
            </a:solidFill>
            <a:prstDash val="solid"/>
          </a:ln>
        </p:spPr>
      </p:sp>
      <p:sp>
        <p:nvSpPr>
          <p:cNvPr id="10" name="Text 6"/>
          <p:cNvSpPr txBox="1"/>
          <p:nvPr/>
        </p:nvSpPr>
        <p:spPr>
          <a:xfrm>
            <a:off x="6428232" y="3675888"/>
            <a:ext cx="4956048" cy="310896"/>
          </a:xfrm>
          <a:prstGeom prst="rect">
            <a:avLst/>
          </a:prstGeom>
          <a:noFill/>
          <a:ln/>
        </p:spPr>
        <p:txBody>
          <a:bodyPr wrap="square" lIns="0" tIns="0" rIns="0" bIns="0" rtlCol="0" anchor="ctr"/>
          <a:lstStyle/>
          <a:p>
            <a:pPr indent="0" marL="0">
              <a:buNone/>
            </a:pPr>
            <a:r>
              <a:rPr lang="en-US" sz="1600" b="1" dirty="0">
                <a:solidFill>
                  <a:srgbClr val="1F7A8C"/>
                </a:solidFill>
                <a:latin typeface="Cambria" pitchFamily="34" charset="0"/>
                <a:ea typeface="Cambria" pitchFamily="34" charset="-122"/>
                <a:cs typeface="Cambria" pitchFamily="34" charset="-120"/>
              </a:rPr>
              <a:t>The paradox worth stating to a committee</a:t>
            </a:r>
            <a:endParaRPr lang="en-US" sz="1600" dirty="0"/>
          </a:p>
        </p:txBody>
      </p:sp>
      <p:sp>
        <p:nvSpPr>
          <p:cNvPr id="11" name="Text 7"/>
          <p:cNvSpPr txBox="1"/>
          <p:nvPr/>
        </p:nvSpPr>
        <p:spPr>
          <a:xfrm>
            <a:off x="6428232" y="4041648"/>
            <a:ext cx="4956048" cy="1600200"/>
          </a:xfrm>
          <a:prstGeom prst="rect">
            <a:avLst/>
          </a:prstGeom>
          <a:noFill/>
          <a:ln/>
        </p:spPr>
        <p:txBody>
          <a:bodyPr wrap="square" lIns="0" tIns="0" rIns="0" bIns="0" rtlCol="0" anchor="t"/>
          <a:lstStyle/>
          <a:p>
            <a:pPr indent="0" marL="0">
              <a:lnSpc>
                <a:spcPts val="1700"/>
              </a:lnSpc>
              <a:buNone/>
            </a:pPr>
            <a:r>
              <a:rPr lang="en-US" sz="1200" dirty="0">
                <a:solidFill>
                  <a:srgbClr val="1A1F2B"/>
                </a:solidFill>
                <a:latin typeface="Calibri" pitchFamily="34" charset="0"/>
                <a:ea typeface="Calibri" pitchFamily="34" charset="-122"/>
                <a:cs typeface="Calibri" pitchFamily="34" charset="-120"/>
              </a:rPr>
              <a:t>The E→I block carries almost all of the matrix norm, and yet inhibitory feedback shows up in the spectrum as weak. Massive E→I weight with a very light I→E return produces small inhibitory feedback eigenvalues — the influence is real but it is transient and directional, not spectral.</a:t>
            </a:r>
            <a:endParaRPr lang="en-US" sz="1200" dirty="0"/>
          </a:p>
          <a:p>
            <a:pPr indent="0" marL="0">
              <a:lnSpc>
                <a:spcPts val="1700"/>
              </a:lnSpc>
              <a:buNone/>
            </a:pPr>
            <a:endParaRPr lang="en-US" sz="1200" dirty="0"/>
          </a:p>
          <a:p>
            <a:pPr indent="0" marL="0">
              <a:lnSpc>
                <a:spcPts val="1700"/>
              </a:lnSpc>
              <a:buNone/>
            </a:pPr>
            <a:r>
              <a:rPr lang="en-US" sz="1200" dirty="0">
                <a:solidFill>
                  <a:srgbClr val="1A1F2B"/>
                </a:solidFill>
                <a:latin typeface="Calibri" pitchFamily="34" charset="0"/>
                <a:ea typeface="Calibri" pitchFamily="34" charset="-122"/>
                <a:cs typeface="Calibri" pitchFamily="34" charset="-120"/>
              </a:rPr>
              <a:t>That is the same geometry Stage 6 measures directly as an abscissa gap. It is also why block removal, not eigenvalue inspection, is the diagnostic that separates these blocks.</a:t>
            </a:r>
            <a:endParaRPr lang="en-US" sz="1200" dirty="0"/>
          </a:p>
        </p:txBody>
      </p:sp>
      <p:sp>
        <p:nvSpPr>
          <p:cNvPr id="12" name="Text 8"/>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inhib_modulation/notebooks/02_inhibitory_modulation_analysis.ipynb · schur_decomp/07_inhibitory_modulation.ipynb</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02 · SCHUR COMPLEMENT</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Inhibitory feedback returns excitation to target</a:t>
            </a:r>
            <a:endParaRPr lang="en-US" sz="2700" dirty="0"/>
          </a:p>
        </p:txBody>
      </p:sp>
      <p:sp>
        <p:nvSpPr>
          <p:cNvPr id="4" name="Shape 2"/>
          <p:cNvSpPr/>
          <p:nvPr/>
        </p:nvSpPr>
        <p:spPr>
          <a:xfrm>
            <a:off x="11247120" y="402336"/>
            <a:ext cx="512064" cy="512064"/>
          </a:xfrm>
          <a:prstGeom prst="ellipse">
            <a:avLst/>
          </a:prstGeom>
          <a:solidFill>
            <a:srgbClr val="1F7A8C"/>
          </a:solidFill>
          <a:ln w="12700">
            <a:solidFill>
              <a:srgbClr val="1F7A8C"/>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6" name="Text 4"/>
          <p:cNvSpPr txBox="1"/>
          <p:nvPr/>
        </p:nvSpPr>
        <p:spPr>
          <a:xfrm>
            <a:off x="548640" y="1335024"/>
            <a:ext cx="11091672" cy="365760"/>
          </a:xfrm>
          <a:prstGeom prst="rect">
            <a:avLst/>
          </a:prstGeom>
          <a:noFill/>
          <a:ln/>
        </p:spPr>
        <p:txBody>
          <a:bodyPr wrap="square" lIns="0" tIns="0" rIns="0" bIns="0" rtlCol="0" anchor="t"/>
          <a:lstStyle/>
          <a:p>
            <a:pPr algn="l" indent="0" marL="0">
              <a:lnSpc>
                <a:spcPts val="1800"/>
              </a:lnSpc>
              <a:buNone/>
            </a:pPr>
            <a:r>
              <a:rPr lang="en-US" sz="1400" b="1" dirty="0">
                <a:solidFill>
                  <a:srgbClr val="3D5A80"/>
                </a:solidFill>
                <a:latin typeface="Cambria" pitchFamily="34" charset="0"/>
                <a:ea typeface="Cambria" pitchFamily="34" charset="-122"/>
                <a:cs typeface="Cambria" pitchFamily="34" charset="-120"/>
              </a:rPr>
              <a:t>M_eff_E  =  M[E,E]  +  M[E,I] · (I − M[I,I])⁻¹ · M[I,E]        — partition notation: M[E,I] is I source onto E receiver</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2743200"/>
                <a:gridCol w="4206240"/>
                <a:gridCol w="4142232"/>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Variant</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ρ(M[E,E])  — excitatory block alone</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ρ(M_eff_E)  — after inhibitory feedback</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402336">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with_self</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0.886</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0.850</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402336">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no_self</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0.996</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0.850</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3218688"/>
            <a:ext cx="11091672" cy="658368"/>
          </a:xfrm>
          <a:prstGeom prst="rect">
            <a:avLst/>
          </a:prstGeom>
          <a:noFill/>
          <a:ln/>
        </p:spPr>
        <p:txBody>
          <a:bodyPr wrap="square" lIns="0" tIns="0" rIns="0" bIns="0" rtlCol="0" anchor="t"/>
          <a:lstStyle/>
          <a:p>
            <a:pPr algn="l" indent="0" marL="0">
              <a:lnSpc>
                <a:spcPts val="1800"/>
              </a:lnSpc>
              <a:buNone/>
            </a:pPr>
            <a:r>
              <a:rPr lang="en-US" sz="1350" dirty="0">
                <a:solidFill>
                  <a:srgbClr val="1A1F2B"/>
                </a:solidFill>
                <a:latin typeface="Calibri" pitchFamily="34" charset="0"/>
                <a:ea typeface="Calibri" pitchFamily="34" charset="-122"/>
                <a:cs typeface="Calibri" pitchFamily="34" charset="-120"/>
              </a:rPr>
              <a:t>From either starting point — a mildly supercritical excitatory block with self-connections, or one sitting at the edge of instability without them — the effective excitatory dynamics land on the same target. Inhibition is not trimming a little off the top; it is what sets the operating point.</a:t>
            </a:r>
            <a:endParaRPr lang="en-US" sz="1350" dirty="0"/>
          </a:p>
        </p:txBody>
      </p:sp>
      <p:sp>
        <p:nvSpPr>
          <p:cNvPr id="9" name="Shape 6"/>
          <p:cNvSpPr/>
          <p:nvPr/>
        </p:nvSpPr>
        <p:spPr>
          <a:xfrm>
            <a:off x="548640" y="3931920"/>
            <a:ext cx="5349240" cy="2194560"/>
          </a:xfrm>
          <a:prstGeom prst="roundRect">
            <a:avLst>
              <a:gd name="adj" fmla="val 2083"/>
            </a:avLst>
          </a:prstGeom>
          <a:solidFill>
            <a:srgbClr val="F1F4F8"/>
          </a:solidFill>
          <a:ln w="12700">
            <a:solidFill>
              <a:srgbClr val="F1F4F8"/>
            </a:solidFill>
            <a:prstDash val="solid"/>
          </a:ln>
        </p:spPr>
      </p:sp>
      <p:sp>
        <p:nvSpPr>
          <p:cNvPr id="10" name="Text 7"/>
          <p:cNvSpPr txBox="1"/>
          <p:nvPr/>
        </p:nvSpPr>
        <p:spPr>
          <a:xfrm>
            <a:off x="804672" y="4059936"/>
            <a:ext cx="4846320" cy="31089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Why the Neumann expansion earns its place</a:t>
            </a:r>
            <a:endParaRPr lang="en-US" sz="1350" dirty="0"/>
          </a:p>
        </p:txBody>
      </p:sp>
      <p:sp>
        <p:nvSpPr>
          <p:cNvPr id="11" name="Text 8"/>
          <p:cNvSpPr txBox="1"/>
          <p:nvPr/>
        </p:nvSpPr>
        <p:spPr>
          <a:xfrm>
            <a:off x="804672" y="4389120"/>
            <a:ext cx="4846320" cy="1627632"/>
          </a:xfrm>
          <a:prstGeom prst="rect">
            <a:avLst/>
          </a:prstGeom>
          <a:noFill/>
          <a:ln/>
        </p:spPr>
        <p:txBody>
          <a:bodyPr wrap="square" lIns="0" tIns="0" rIns="0" bIns="0" rtlCol="0" anchor="t"/>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Expanding (I − M[I,I])⁻¹ = Σ M[I,I]ᵏ makes the inhibitory chain depth explicit and interpretable:</a:t>
            </a:r>
            <a:endParaRPr lang="en-US" sz="1100" dirty="0"/>
          </a:p>
          <a:p>
            <a:pPr indent="0" marL="0">
              <a:lnSpc>
                <a:spcPts val="1400"/>
              </a:lnSpc>
              <a:buNone/>
            </a:pPr>
            <a:endParaRPr lang="en-US" sz="1100" dirty="0"/>
          </a:p>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k = 0   direct inhibition, E ← I</a:t>
            </a:r>
            <a:endParaRPr lang="en-US" sz="1100" dirty="0"/>
          </a:p>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k = 1   disinhibition, E ← I ← I</a:t>
            </a:r>
            <a:endParaRPr lang="en-US" sz="1100" dirty="0"/>
          </a:p>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k ≥ 2   longer inhibitory relays</a:t>
            </a:r>
            <a:endParaRPr lang="en-US" sz="1100" dirty="0"/>
          </a:p>
          <a:p>
            <a:pPr indent="0" marL="0">
              <a:lnSpc>
                <a:spcPts val="1400"/>
              </a:lnSpc>
              <a:buNone/>
            </a:pPr>
            <a:endParaRPr lang="en-US" sz="1100" dirty="0"/>
          </a:p>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The retained order is selected per variant by an explicit model-selection rule rather than fixed in advance, so chain depth is a reported result and not an assumption.</a:t>
            </a:r>
            <a:endParaRPr lang="en-US" sz="1100" dirty="0"/>
          </a:p>
        </p:txBody>
      </p:sp>
      <p:sp>
        <p:nvSpPr>
          <p:cNvPr id="12" name="Shape 9"/>
          <p:cNvSpPr/>
          <p:nvPr/>
        </p:nvSpPr>
        <p:spPr>
          <a:xfrm>
            <a:off x="6172200" y="3931920"/>
            <a:ext cx="5468112" cy="2194560"/>
          </a:xfrm>
          <a:prstGeom prst="roundRect">
            <a:avLst>
              <a:gd name="adj" fmla="val 2083"/>
            </a:avLst>
          </a:prstGeom>
          <a:solidFill>
            <a:srgbClr val="EDF3F6"/>
          </a:solidFill>
          <a:ln w="12700">
            <a:solidFill>
              <a:srgbClr val="EDF3F6"/>
            </a:solidFill>
            <a:prstDash val="solid"/>
          </a:ln>
        </p:spPr>
      </p:sp>
      <p:sp>
        <p:nvSpPr>
          <p:cNvPr id="13" name="Text 10"/>
          <p:cNvSpPr txBox="1"/>
          <p:nvPr/>
        </p:nvSpPr>
        <p:spPr>
          <a:xfrm>
            <a:off x="6428232" y="4059936"/>
            <a:ext cx="4956048" cy="310896"/>
          </a:xfrm>
          <a:prstGeom prst="rect">
            <a:avLst/>
          </a:prstGeom>
          <a:noFill/>
          <a:ln/>
        </p:spPr>
        <p:txBody>
          <a:bodyPr wrap="square" lIns="0" tIns="0" rIns="0" bIns="0" rtlCol="0" anchor="ctr"/>
          <a:lstStyle/>
          <a:p>
            <a:pPr indent="0" marL="0">
              <a:buNone/>
            </a:pPr>
            <a:r>
              <a:rPr lang="en-US" sz="1350" b="1" dirty="0">
                <a:solidFill>
                  <a:srgbClr val="1F7A8C"/>
                </a:solidFill>
                <a:latin typeface="Calibri" pitchFamily="34" charset="0"/>
                <a:ea typeface="Calibri" pitchFamily="34" charset="-122"/>
                <a:cs typeface="Calibri" pitchFamily="34" charset="-120"/>
              </a:rPr>
              <a:t>Matched-variant discipline</a:t>
            </a:r>
            <a:endParaRPr lang="en-US" sz="1350" dirty="0"/>
          </a:p>
        </p:txBody>
      </p:sp>
      <p:sp>
        <p:nvSpPr>
          <p:cNvPr id="14" name="Text 11"/>
          <p:cNvSpPr txBox="1"/>
          <p:nvPr/>
        </p:nvSpPr>
        <p:spPr>
          <a:xfrm>
            <a:off x="6428232" y="4389120"/>
            <a:ext cx="4956048" cy="1627632"/>
          </a:xfrm>
          <a:prstGeom prst="rect">
            <a:avLst/>
          </a:prstGeom>
          <a:noFill/>
          <a:ln/>
        </p:spPr>
        <p:txBody>
          <a:bodyPr wrap="square" lIns="0" tIns="0" rIns="0" bIns="0" rtlCol="0" anchor="t"/>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with_self and no_self are normalised independently before comparison. That isolates the effect of removing the diagonal, but it means every with/without statement is about matched normalised dynamics — not about raw diagonal mass.</a:t>
            </a:r>
            <a:endParaRPr lang="en-US" sz="1100" dirty="0"/>
          </a:p>
          <a:p>
            <a:pPr indent="0" marL="0">
              <a:lnSpc>
                <a:spcPts val="1400"/>
              </a:lnSpc>
              <a:buNone/>
            </a:pPr>
            <a:endParaRPr lang="en-US" sz="1100" dirty="0"/>
          </a:p>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Stated as an interpretation caution in the project README rather than left for a reader to infer, because the no-self variant systematically looks more dramatic on every downstream measure precisely because normalisation redistributes influence into off-diagonal pathways.</a:t>
            </a:r>
            <a:endParaRPr lang="en-US" sz="1100" dirty="0"/>
          </a:p>
        </p:txBody>
      </p:sp>
      <p:sp>
        <p:nvSpPr>
          <p:cNvPr id="15" name="Text 12"/>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schur_decomp/README.md §5 · inhibitory_schur_modulation_script.py (schur_effective_E, neumann_ii_model_selection)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02 · DISINHIBITION</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The enriched motif is a chain, not an edge</a:t>
            </a:r>
            <a:endParaRPr lang="en-US" sz="2700" dirty="0"/>
          </a:p>
        </p:txBody>
      </p:sp>
      <p:sp>
        <p:nvSpPr>
          <p:cNvPr id="4" name="Shape 2"/>
          <p:cNvSpPr/>
          <p:nvPr/>
        </p:nvSpPr>
        <p:spPr>
          <a:xfrm>
            <a:off x="11247120" y="402336"/>
            <a:ext cx="512064" cy="512064"/>
          </a:xfrm>
          <a:prstGeom prst="ellipse">
            <a:avLst/>
          </a:prstGeom>
          <a:solidFill>
            <a:srgbClr val="1F7A8C"/>
          </a:solidFill>
          <a:ln w="12700">
            <a:solidFill>
              <a:srgbClr val="1F7A8C"/>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6766560" cy="914400"/>
        </p:xfrm>
        <a:graphic>
          <a:graphicData uri="http://schemas.openxmlformats.org/drawingml/2006/table">
            <a:tbl>
              <a:tblPr/>
              <a:tblGrid>
                <a:gridCol w="2926080"/>
                <a:gridCol w="1920240"/>
                <a:gridCol w="192024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Motif class</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z, with self-connections</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z, no self-connections</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84048">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E → I → I → E  loop</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51.96</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51.60</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84048">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Disinhibitory  I → I → E</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27.53</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latin typeface="Calibri" pitchFamily="34" charset="0"/>
                          <a:ea typeface="Calibri" pitchFamily="34" charset="-122"/>
                          <a:cs typeface="Calibri" pitchFamily="34" charset="-120"/>
                        </a:rPr>
                        <a:t>28.03</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7" name="Shape 4"/>
          <p:cNvSpPr/>
          <p:nvPr/>
        </p:nvSpPr>
        <p:spPr>
          <a:xfrm>
            <a:off x="7452360" y="1353312"/>
            <a:ext cx="3639312" cy="1152144"/>
          </a:xfrm>
          <a:prstGeom prst="roundRect">
            <a:avLst>
              <a:gd name="adj" fmla="val 3968"/>
            </a:avLst>
          </a:prstGeom>
          <a:solidFill>
            <a:srgbClr val="EDF3F6"/>
          </a:solidFill>
          <a:ln w="12700">
            <a:solidFill>
              <a:srgbClr val="EDF3F6"/>
            </a:solidFill>
            <a:prstDash val="solid"/>
          </a:ln>
        </p:spPr>
      </p:sp>
      <p:sp>
        <p:nvSpPr>
          <p:cNvPr id="8" name="Text 5"/>
          <p:cNvSpPr txBox="1"/>
          <p:nvPr/>
        </p:nvSpPr>
        <p:spPr>
          <a:xfrm>
            <a:off x="7708392" y="1444752"/>
            <a:ext cx="3127248" cy="274320"/>
          </a:xfrm>
          <a:prstGeom prst="rect">
            <a:avLst/>
          </a:prstGeom>
          <a:noFill/>
          <a:ln/>
        </p:spPr>
        <p:txBody>
          <a:bodyPr wrap="square" lIns="0" tIns="0" rIns="0" bIns="0" rtlCol="0" anchor="ctr"/>
          <a:lstStyle/>
          <a:p>
            <a:pPr indent="0" marL="0">
              <a:buNone/>
            </a:pPr>
            <a:r>
              <a:rPr lang="en-US" sz="1200" b="1" dirty="0">
                <a:solidFill>
                  <a:srgbClr val="1F7A8C"/>
                </a:solidFill>
                <a:latin typeface="Calibri" pitchFamily="34" charset="0"/>
                <a:ea typeface="Calibri" pitchFamily="34" charset="-122"/>
                <a:cs typeface="Calibri" pitchFamily="34" charset="-120"/>
              </a:rPr>
              <a:t>Top disinhibitory sources</a:t>
            </a:r>
            <a:endParaRPr lang="en-US" sz="1200" dirty="0"/>
          </a:p>
        </p:txBody>
      </p:sp>
      <p:sp>
        <p:nvSpPr>
          <p:cNvPr id="9" name="Text 6"/>
          <p:cNvSpPr txBox="1"/>
          <p:nvPr/>
        </p:nvSpPr>
        <p:spPr>
          <a:xfrm>
            <a:off x="7708392" y="1719072"/>
            <a:ext cx="3127248" cy="713232"/>
          </a:xfrm>
          <a:prstGeom prst="rect">
            <a:avLst/>
          </a:prstGeom>
          <a:noFill/>
          <a:ln/>
        </p:spPr>
        <p:txBody>
          <a:bodyPr wrap="square" lIns="0" tIns="0" rIns="0" bIns="0" rtlCol="0" anchor="t"/>
          <a:lstStyle/>
          <a:p>
            <a:pPr indent="0" marL="0">
              <a:lnSpc>
                <a:spcPts val="1500"/>
              </a:lnSpc>
              <a:buNone/>
            </a:pPr>
            <a:r>
              <a:rPr lang="en-US" sz="1100" dirty="0">
                <a:solidFill>
                  <a:srgbClr val="1A1F2B"/>
                </a:solidFill>
                <a:latin typeface="Calibri" pitchFamily="34" charset="0"/>
                <a:ea typeface="Calibri" pitchFamily="34" charset="-122"/>
                <a:cs typeface="Calibri" pitchFamily="34" charset="-120"/>
              </a:rPr>
              <a:t>CA1 Perforant Path Associated</a:t>
            </a:r>
            <a:endParaRPr lang="en-US" sz="1100" dirty="0"/>
          </a:p>
          <a:p>
            <a:pPr indent="0" marL="0">
              <a:lnSpc>
                <a:spcPts val="1500"/>
              </a:lnSpc>
              <a:buNone/>
            </a:pPr>
            <a:r>
              <a:rPr lang="en-US" sz="1100" dirty="0">
                <a:solidFill>
                  <a:srgbClr val="1A1F2B"/>
                </a:solidFill>
                <a:latin typeface="Calibri" pitchFamily="34" charset="0"/>
                <a:ea typeface="Calibri" pitchFamily="34" charset="-122"/>
                <a:cs typeface="Calibri" pitchFamily="34" charset="-120"/>
              </a:rPr>
              <a:t>MEC LIII Superficial Multipolar Interneuron</a:t>
            </a:r>
            <a:endParaRPr lang="en-US" sz="1100" dirty="0"/>
          </a:p>
          <a:p>
            <a:pPr indent="0" marL="0">
              <a:lnSpc>
                <a:spcPts val="1500"/>
              </a:lnSpc>
              <a:buNone/>
            </a:pPr>
            <a:r>
              <a:rPr lang="en-US" sz="1100" dirty="0">
                <a:solidFill>
                  <a:srgbClr val="1A1F2B"/>
                </a:solidFill>
                <a:latin typeface="Calibri" pitchFamily="34" charset="0"/>
                <a:ea typeface="Calibri" pitchFamily="34" charset="-122"/>
                <a:cs typeface="Calibri" pitchFamily="34" charset="-120"/>
              </a:rPr>
              <a:t>DG AIPRIM</a:t>
            </a:r>
            <a:endParaRPr lang="en-US" sz="1100" dirty="0"/>
          </a:p>
        </p:txBody>
      </p:sp>
      <p:pic>
        <p:nvPicPr>
          <p:cNvPr id="10" name="Image 0" descr="/mnt/user-data/uploads/AscoliLab/inhib_modulation/outputs/02_inhibitory_modulation_analysis/top_disinhibitory_sources_by_variant.png">    </p:cNvPr>
          <p:cNvPicPr>
            <a:picLocks noChangeAspect="1"/>
          </p:cNvPicPr>
          <p:nvPr/>
        </p:nvPicPr>
        <p:blipFill>
          <a:blip r:embed="rId1"/>
          <a:srcRect l="0" r="0" t="0" b="0"/>
          <a:stretch/>
        </p:blipFill>
        <p:spPr>
          <a:xfrm>
            <a:off x="548640" y="2697480"/>
            <a:ext cx="5394960" cy="2423160"/>
          </a:xfrm>
          <a:prstGeom prst="rect">
            <a:avLst/>
          </a:prstGeom>
        </p:spPr>
      </p:pic>
      <p:pic>
        <p:nvPicPr>
          <p:cNvPr id="11" name="Image 1" descr="/mnt/user-data/uploads/AscoliLab/inhib_modulation/outputs/02_inhibitory_modulation_analysis/motif_enrichment_and_stability_by_variant.png">    </p:cNvPr>
          <p:cNvPicPr>
            <a:picLocks noChangeAspect="1"/>
          </p:cNvPicPr>
          <p:nvPr/>
        </p:nvPicPr>
        <p:blipFill>
          <a:blip r:embed="rId2"/>
          <a:srcRect l="0" r="0" t="0" b="0"/>
          <a:stretch/>
        </p:blipFill>
        <p:spPr>
          <a:xfrm>
            <a:off x="6172200" y="3017520"/>
            <a:ext cx="5468112" cy="1828800"/>
          </a:xfrm>
          <a:prstGeom prst="rect">
            <a:avLst/>
          </a:prstGeom>
        </p:spPr>
      </p:pic>
      <p:sp>
        <p:nvSpPr>
          <p:cNvPr id="12" name="Text 7"/>
          <p:cNvSpPr txBox="1"/>
          <p:nvPr/>
        </p:nvSpPr>
        <p:spPr>
          <a:xfrm>
            <a:off x="548640" y="5257800"/>
            <a:ext cx="11091672" cy="868680"/>
          </a:xfrm>
          <a:prstGeom prst="rect">
            <a:avLst/>
          </a:prstGeom>
          <a:noFill/>
          <a:ln/>
        </p:spPr>
        <p:txBody>
          <a:bodyPr wrap="square" lIns="0" tIns="0" rIns="0" bIns="0" rtlCol="0" anchor="t"/>
          <a:lstStyle/>
          <a:p>
            <a:pPr algn="l" indent="0" marL="0">
              <a:lnSpc>
                <a:spcPts val="1800"/>
              </a:lnSpc>
              <a:buNone/>
            </a:pPr>
            <a:r>
              <a:rPr lang="en-US" sz="1350" dirty="0">
                <a:solidFill>
                  <a:srgbClr val="1A1F2B"/>
                </a:solidFill>
                <a:latin typeface="Calibri" pitchFamily="34" charset="0"/>
                <a:ea typeface="Calibri" pitchFamily="34" charset="-122"/>
                <a:cs typeface="Calibri" pitchFamily="34" charset="-120"/>
              </a:rPr>
              <a:t>Enrichment is stable across variants and the source ranking barely moves, which is the strongest evidence in this stage that the effect is structural rather than a normalisation artefact. The reading: disinhibitory relays are the mechanism by which inhibition sets the excitatory operating point, and the same cells appear as the top-loading contributors to the leading Schur modes in Stage 5.</a:t>
            </a:r>
            <a:endParaRPr lang="en-US" sz="1350" dirty="0"/>
          </a:p>
        </p:txBody>
      </p:sp>
      <p:sp>
        <p:nvSpPr>
          <p:cNvPr id="13" name="Text 8"/>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inhib_modulation/outputs/02_inhibitory_modulation_analysis/ · top_disinhibitory_sources_by_variant.csv, motif_enrichment_by_variant.csv</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417320"/>
            <a:ext cx="1051560" cy="1051560"/>
          </a:xfrm>
          <a:prstGeom prst="ellipse">
            <a:avLst/>
          </a:prstGeom>
          <a:solidFill>
            <a:srgbClr val="3D5A80"/>
          </a:solidFill>
          <a:ln w="12700">
            <a:solidFill>
              <a:srgbClr val="3D5A80"/>
            </a:solidFill>
            <a:prstDash val="solid"/>
          </a:ln>
        </p:spPr>
      </p:sp>
      <p:sp>
        <p:nvSpPr>
          <p:cNvPr id="3" name="Text 1"/>
          <p:cNvSpPr txBox="1"/>
          <p:nvPr/>
        </p:nvSpPr>
        <p:spPr>
          <a:xfrm>
            <a:off x="548640" y="1417320"/>
            <a:ext cx="1051560" cy="10515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03</a:t>
            </a:r>
            <a:endParaRPr lang="en-US" sz="4000" dirty="0"/>
          </a:p>
        </p:txBody>
      </p:sp>
      <p:sp>
        <p:nvSpPr>
          <p:cNvPr id="4" name="Text 2"/>
          <p:cNvSpPr txBox="1"/>
          <p:nvPr/>
        </p:nvSpPr>
        <p:spPr>
          <a:xfrm>
            <a:off x="548640" y="777240"/>
            <a:ext cx="11091672" cy="274320"/>
          </a:xfrm>
          <a:prstGeom prst="rect">
            <a:avLst/>
          </a:prstGeom>
          <a:noFill/>
          <a:ln/>
        </p:spPr>
        <p:txBody>
          <a:bodyPr wrap="square" lIns="0" tIns="0" rIns="0" bIns="0" rtlCol="0" anchor="ctr"/>
          <a:lstStyle/>
          <a:p>
            <a:pPr indent="0" marL="0">
              <a:buNone/>
            </a:pPr>
            <a:r>
              <a:rPr lang="en-US" sz="1000" b="1" spc="200" kern="0" dirty="0">
                <a:solidFill>
                  <a:srgbClr val="B9CEDE"/>
                </a:solidFill>
                <a:latin typeface="Calibri" pitchFamily="34" charset="0"/>
                <a:ea typeface="Calibri" pitchFamily="34" charset="-122"/>
                <a:cs typeface="Calibri" pitchFamily="34" charset="-120"/>
              </a:rPr>
              <a:t>STAGE 03</a:t>
            </a:r>
            <a:endParaRPr lang="en-US" sz="1000" dirty="0"/>
          </a:p>
        </p:txBody>
      </p:sp>
      <p:sp>
        <p:nvSpPr>
          <p:cNvPr id="5" name="Text 3"/>
          <p:cNvSpPr txBox="1"/>
          <p:nvPr/>
        </p:nvSpPr>
        <p:spPr>
          <a:xfrm>
            <a:off x="1874520" y="1371600"/>
            <a:ext cx="9765792" cy="11430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Motif enumeration and analysis</a:t>
            </a:r>
            <a:endParaRPr lang="en-US" sz="3200" dirty="0"/>
          </a:p>
        </p:txBody>
      </p:sp>
      <p:sp>
        <p:nvSpPr>
          <p:cNvPr id="6" name="Text 4"/>
          <p:cNvSpPr txBox="1"/>
          <p:nvPr/>
        </p:nvSpPr>
        <p:spPr>
          <a:xfrm>
            <a:off x="548640" y="3063240"/>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QUESTION</a:t>
            </a:r>
            <a:endParaRPr lang="en-US" sz="950" dirty="0"/>
          </a:p>
        </p:txBody>
      </p:sp>
      <p:sp>
        <p:nvSpPr>
          <p:cNvPr id="7" name="Text 5"/>
          <p:cNvSpPr txBox="1"/>
          <p:nvPr/>
        </p:nvSpPr>
        <p:spPr>
          <a:xfrm>
            <a:off x="1874520" y="3026664"/>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Which three-node patterns are actually over-represented once degree and reciprocity are held fixed — and where do they sit anatomically?</a:t>
            </a:r>
            <a:endParaRPr lang="en-US" sz="1450" dirty="0"/>
          </a:p>
        </p:txBody>
      </p:sp>
      <p:sp>
        <p:nvSpPr>
          <p:cNvPr id="8" name="Text 6"/>
          <p:cNvSpPr txBox="1"/>
          <p:nvPr/>
        </p:nvSpPr>
        <p:spPr>
          <a:xfrm>
            <a:off x="548640" y="4123944"/>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METHOD</a:t>
            </a:r>
            <a:endParaRPr lang="en-US" sz="950" dirty="0"/>
          </a:p>
        </p:txBody>
      </p:sp>
      <p:sp>
        <p:nvSpPr>
          <p:cNvPr id="9" name="Text 7"/>
          <p:cNvSpPr txBox="1"/>
          <p:nvPr/>
        </p:nvSpPr>
        <p:spPr>
          <a:xfrm>
            <a:off x="1874520" y="4087368"/>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The 13 Davis–Holland–Leinhardt directed triad classes, validated against Rees et al. (2016); twin-node unrolling of the within-type diagonal; exact orbit counting by lookup table; two null ensembles, one classical and one conservative.</a:t>
            </a:r>
            <a:endParaRPr lang="en-US" sz="1450" dirty="0"/>
          </a:p>
        </p:txBody>
      </p:sp>
      <p:sp>
        <p:nvSpPr>
          <p:cNvPr id="10" name="Text 8"/>
          <p:cNvSpPr txBox="1"/>
          <p:nvPr/>
        </p:nvSpPr>
        <p:spPr>
          <a:xfrm>
            <a:off x="548640" y="5184648"/>
            <a:ext cx="1234440" cy="310896"/>
          </a:xfrm>
          <a:prstGeom prst="rect">
            <a:avLst/>
          </a:prstGeom>
          <a:noFill/>
          <a:ln/>
        </p:spPr>
        <p:txBody>
          <a:bodyPr wrap="square" lIns="0" tIns="0" rIns="0" bIns="0" rtlCol="0" anchor="t"/>
          <a:lstStyle/>
          <a:p>
            <a:pPr indent="0" marL="0">
              <a:buNone/>
            </a:pPr>
            <a:r>
              <a:rPr lang="en-US" sz="950" b="1" spc="150" kern="0" dirty="0">
                <a:solidFill>
                  <a:srgbClr val="D9A441"/>
                </a:solidFill>
                <a:latin typeface="Calibri" pitchFamily="34" charset="0"/>
                <a:ea typeface="Calibri" pitchFamily="34" charset="-122"/>
                <a:cs typeface="Calibri" pitchFamily="34" charset="-120"/>
              </a:rPr>
              <a:t>FINDING</a:t>
            </a:r>
            <a:endParaRPr lang="en-US" sz="950" dirty="0"/>
          </a:p>
        </p:txBody>
      </p:sp>
      <p:sp>
        <p:nvSpPr>
          <p:cNvPr id="11" name="Text 9"/>
          <p:cNvSpPr txBox="1"/>
          <p:nvPr/>
        </p:nvSpPr>
        <p:spPr>
          <a:xfrm>
            <a:off x="1874520" y="5148072"/>
            <a:ext cx="9765792" cy="960120"/>
          </a:xfrm>
          <a:prstGeom prst="rect">
            <a:avLst/>
          </a:prstGeom>
          <a:noFill/>
          <a:ln/>
        </p:spPr>
        <p:txBody>
          <a:bodyPr wrap="square" lIns="0" tIns="0" rIns="0" bIns="0" rtlCol="0" anchor="t"/>
          <a:lstStyle/>
          <a:p>
            <a:pPr indent="0" marL="0">
              <a:lnSpc>
                <a:spcPts val="2000"/>
              </a:lnSpc>
              <a:buNone/>
            </a:pPr>
            <a:r>
              <a:rPr lang="en-US" sz="1450" b="1" dirty="0">
                <a:solidFill>
                  <a:srgbClr val="FFFFFF"/>
                </a:solidFill>
                <a:latin typeface="Calibri" pitchFamily="34" charset="0"/>
                <a:ea typeface="Calibri" pitchFamily="34" charset="-122"/>
                <a:cs typeface="Calibri" pitchFamily="34" charset="-120"/>
              </a:rPr>
              <a:t>The connectome is strongly transitive and cycle-averse. The fully reciprocal triangle is enriched 7.7× (z = +62) while the open reciprocal class 201 is suppressed to 0.11× — reciprocity clusters into closed triangles rather than spreading into chains.</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03 · VOCABULARY</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Thirteen classes, and what to do with the diagonal</a:t>
            </a:r>
            <a:endParaRPr lang="en-US" sz="2700" dirty="0"/>
          </a:p>
        </p:txBody>
      </p:sp>
      <p:sp>
        <p:nvSpPr>
          <p:cNvPr id="4" name="Shape 2"/>
          <p:cNvSpPr/>
          <p:nvPr/>
        </p:nvSpPr>
        <p:spPr>
          <a:xfrm>
            <a:off x="11247120" y="402336"/>
            <a:ext cx="512064" cy="512064"/>
          </a:xfrm>
          <a:prstGeom prst="ellipse">
            <a:avLst/>
          </a:prstGeom>
          <a:solidFill>
            <a:srgbClr val="3D5A80"/>
          </a:solidFill>
          <a:ln w="12700">
            <a:solidFill>
              <a:srgbClr val="3D5A80"/>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6" name="Text 4"/>
          <p:cNvSpPr txBox="1"/>
          <p:nvPr/>
        </p:nvSpPr>
        <p:spPr>
          <a:xfrm>
            <a:off x="548640" y="1353312"/>
            <a:ext cx="11091672" cy="3246120"/>
          </a:xfrm>
          <a:prstGeom prst="rect">
            <a:avLst/>
          </a:prstGeom>
          <a:noFill/>
          <a:ln/>
        </p:spPr>
        <p:txBody>
          <a:bodyPr wrap="square" lIns="0" tIns="0" rIns="0" bIns="0" rtlCol="0" anchor="t"/>
          <a:lstStyle/>
          <a:p>
            <a:pPr marL="203200" indent="-203200">
              <a:lnSpc>
                <a:spcPts val="1700"/>
              </a:lnSpc>
              <a:spcAft>
                <a:spcPts val="1000"/>
              </a:spcAft>
              <a:buSzPct val="100000"/>
              <a:buChar char="•"/>
            </a:pPr>
            <a:r>
              <a:rPr lang="en-US" sz="1300" dirty="0">
                <a:solidFill>
                  <a:srgbClr val="1A1F2B"/>
                </a:solidFill>
                <a:latin typeface="Calibri" pitchFamily="34" charset="0"/>
                <a:ea typeface="Calibri" pitchFamily="34" charset="-122"/>
                <a:cs typeface="Calibri" pitchFamily="34" charset="-120"/>
              </a:rPr>
              <a:t>The vocabulary is the 13 connected DHL triad classes. Validated against Rees et al. (2016) — same Hippocampome data, 122 types: their superpatterns A–M map exactly onto the 13 classes (A=021U, B=021C, C=021D, D=111D, E=030T, F=111U, G=030C, H=120D, I=201, J=120C, K=120U, L=210, M=300), and their data-independent combinatorics reproduce exactly — 86 connected + 18 disconnected E/I patterns, F→8 variants, G→4 variants.</a:t>
            </a:r>
            <a:endParaRPr lang="en-US" sz="1300" dirty="0"/>
          </a:p>
          <a:p>
            <a:pPr marL="203200" indent="-203200">
              <a:lnSpc>
                <a:spcPts val="1700"/>
              </a:lnSpc>
              <a:spcAft>
                <a:spcPts val="1000"/>
              </a:spcAft>
              <a:buSzPct val="100000"/>
              <a:buChar char="•"/>
            </a:pPr>
            <a:r>
              <a:rPr lang="en-US" sz="1300" dirty="0">
                <a:solidFill>
                  <a:srgbClr val="1A1F2B"/>
                </a:solidFill>
                <a:latin typeface="Calibri" pitchFamily="34" charset="0"/>
                <a:ea typeface="Calibri" pitchFamily="34" charset="-122"/>
                <a:cs typeface="Calibri" pitchFamily="34" charset="-120"/>
              </a:rPr>
              <a:t>The diagonal is not autaptic, so it cannot simply be dropped. Triads are defined over three distinct nodes: a self-loop contributes nothing to a census, and the within-type structure of 71 of 85 types would vanish silently.</a:t>
            </a:r>
            <a:endParaRPr lang="en-US" sz="1300" dirty="0"/>
          </a:p>
          <a:p>
            <a:pPr marL="203200" indent="-203200">
              <a:lnSpc>
                <a:spcPts val="1700"/>
              </a:lnSpc>
              <a:spcAft>
                <a:spcPts val="1000"/>
              </a:spcAft>
              <a:buSzPct val="100000"/>
              <a:buChar char="•"/>
            </a:pPr>
            <a:r>
              <a:rPr lang="en-US" sz="1300" dirty="0">
                <a:solidFill>
                  <a:srgbClr val="1A1F2B"/>
                </a:solidFill>
                <a:latin typeface="Calibri" pitchFamily="34" charset="0"/>
                <a:ea typeface="Calibri" pitchFamily="34" charset="-122"/>
                <a:cs typeface="Calibri" pitchFamily="34" charset="-120"/>
              </a:rPr>
              <a:t>Unrolling: split each self-connected type into two exchangeable instances joined by a reciprocal dyad carrying the within-type weight in both directions. Each twin inherits the type’s full external connectivity. Result: 156 instances, 5,562 edges, zero self-loops.</a:t>
            </a:r>
            <a:endParaRPr lang="en-US" sz="1300" dirty="0"/>
          </a:p>
          <a:p>
            <a:pPr marL="203200" indent="-203200">
              <a:lnSpc>
                <a:spcPts val="1700"/>
              </a:lnSpc>
              <a:spcAft>
                <a:spcPts val="1000"/>
              </a:spcAft>
              <a:buSzPct val="100000"/>
              <a:buChar char="•"/>
            </a:pPr>
            <a:r>
              <a:rPr lang="en-US" sz="1300" dirty="0">
                <a:solidFill>
                  <a:srgbClr val="1A1F2B"/>
                </a:solidFill>
                <a:latin typeface="Calibri" pitchFamily="34" charset="0"/>
                <a:ea typeface="Calibri" pitchFamily="34" charset="-122"/>
                <a:cs typeface="Calibri" pitchFamily="34" charset="-120"/>
              </a:rPr>
              <a:t>Orbit counting by a 64-pattern lookup table over all node triples, not VF2 subgraph isomorphism search. Every 3-node subset carries one of 64 directed adjacency patterns; a precomputed table gives its class and each position’s orbit. Exact, no automorphism correction, 0.4 s instead of 30 s, validated against networkx.triadic_census on all 13 classes.</a:t>
            </a:r>
            <a:endParaRPr lang="en-US" sz="1300" dirty="0"/>
          </a:p>
        </p:txBody>
      </p:sp>
      <p:sp>
        <p:nvSpPr>
          <p:cNvPr id="7" name="Shape 5"/>
          <p:cNvSpPr/>
          <p:nvPr/>
        </p:nvSpPr>
        <p:spPr>
          <a:xfrm>
            <a:off x="548640" y="4663440"/>
            <a:ext cx="11091672" cy="1444752"/>
          </a:xfrm>
          <a:prstGeom prst="roundRect">
            <a:avLst>
              <a:gd name="adj" fmla="val 3165"/>
            </a:avLst>
          </a:prstGeom>
          <a:solidFill>
            <a:srgbClr val="FBEFEA"/>
          </a:solidFill>
          <a:ln w="12700">
            <a:solidFill>
              <a:srgbClr val="FBEFEA"/>
            </a:solidFill>
            <a:prstDash val="solid"/>
          </a:ln>
        </p:spPr>
      </p:sp>
      <p:sp>
        <p:nvSpPr>
          <p:cNvPr id="8" name="Text 6"/>
          <p:cNvSpPr txBox="1"/>
          <p:nvPr/>
        </p:nvSpPr>
        <p:spPr>
          <a:xfrm>
            <a:off x="841248" y="4791456"/>
            <a:ext cx="10506456" cy="292608"/>
          </a:xfrm>
          <a:prstGeom prst="rect">
            <a:avLst/>
          </a:prstGeom>
          <a:noFill/>
          <a:ln/>
        </p:spPr>
        <p:txBody>
          <a:bodyPr wrap="square" lIns="0" tIns="0" rIns="0" bIns="0" rtlCol="0" anchor="ctr"/>
          <a:lstStyle/>
          <a:p>
            <a:pPr indent="0" marL="0">
              <a:buNone/>
            </a:pPr>
            <a:r>
              <a:rPr lang="en-US" sz="1350" b="1" dirty="0">
                <a:solidFill>
                  <a:srgbClr val="C1553B"/>
                </a:solidFill>
                <a:latin typeface="Calibri" pitchFamily="34" charset="0"/>
                <a:ea typeface="Calibri" pitchFamily="34" charset="-122"/>
                <a:cs typeface="Calibri" pitchFamily="34" charset="-120"/>
              </a:rPr>
              <a:t>A bug the rewrite retired</a:t>
            </a:r>
            <a:endParaRPr lang="en-US" sz="1350" dirty="0"/>
          </a:p>
        </p:txBody>
      </p:sp>
      <p:sp>
        <p:nvSpPr>
          <p:cNvPr id="9" name="Text 7"/>
          <p:cNvSpPr txBox="1"/>
          <p:nvPr/>
        </p:nvSpPr>
        <p:spPr>
          <a:xfrm>
            <a:off x="841248" y="5102352"/>
            <a:ext cx="10506456" cy="914400"/>
          </a:xfrm>
          <a:prstGeom prst="rect">
            <a:avLst/>
          </a:prstGeom>
          <a:noFill/>
          <a:ln/>
        </p:spPr>
        <p:txBody>
          <a:bodyPr wrap="square" lIns="0" tIns="0" rIns="0" bIns="0" rtlCol="0" anchor="t"/>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VF2’s subgraph_isomorphisms_iter emits one mapping per automorphism, so raw orbit counts were inflated by |Aut| — 6× for class 300, 3× for 030C, 2× for several others. The vertex-disambiguation figure δ is invariant under that rescaling, so it never moved, but the orbit-frequency chart was distorted until the counts were divided per column and cross-checked against nx.triadic_census. The lookup-table implementation removes the failure mode rather than correcting for it.</a:t>
            </a:r>
            <a:endParaRPr lang="en-US" sz="1200" dirty="0"/>
          </a:p>
        </p:txBody>
      </p:sp>
      <p:sp>
        <p:nvSpPr>
          <p:cNvPr id="10" name="Text 8"/>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graph_subnetworks/gsn_connectome.py · Rees et al. (2016) eNeuro 3(6) ENEURO.0205-16.2016 · Davis &amp; Leinhardt (1972); Holland &amp; Leinhardt (1970)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03 · COUNTING</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Which denominator, and why it changes the answer</a:t>
            </a:r>
            <a:endParaRPr lang="en-US" sz="2700" dirty="0"/>
          </a:p>
        </p:txBody>
      </p:sp>
      <p:sp>
        <p:nvSpPr>
          <p:cNvPr id="4" name="Shape 2"/>
          <p:cNvSpPr/>
          <p:nvPr/>
        </p:nvSpPr>
        <p:spPr>
          <a:xfrm>
            <a:off x="11247120" y="402336"/>
            <a:ext cx="512064" cy="512064"/>
          </a:xfrm>
          <a:prstGeom prst="ellipse">
            <a:avLst/>
          </a:prstGeom>
          <a:solidFill>
            <a:srgbClr val="3D5A80"/>
          </a:solidFill>
          <a:ln w="12700">
            <a:solidFill>
              <a:srgbClr val="3D5A80"/>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6" name="Text 4"/>
          <p:cNvSpPr txBox="1"/>
          <p:nvPr/>
        </p:nvSpPr>
        <p:spPr>
          <a:xfrm>
            <a:off x="548640" y="1335024"/>
            <a:ext cx="11091672" cy="822960"/>
          </a:xfrm>
          <a:prstGeom prst="rect">
            <a:avLst/>
          </a:prstGeom>
          <a:noFill/>
          <a:ln/>
        </p:spPr>
        <p:txBody>
          <a:bodyPr wrap="square" lIns="0" tIns="0" rIns="0" bIns="0" rtlCol="0" anchor="t"/>
          <a:lstStyle/>
          <a:p>
            <a:pPr algn="l" indent="0" marL="0">
              <a:lnSpc>
                <a:spcPts val="1800"/>
              </a:lnSpc>
              <a:buNone/>
            </a:pPr>
            <a:r>
              <a:rPr lang="en-US" sz="1350" dirty="0">
                <a:solidFill>
                  <a:srgbClr val="1A1F2B"/>
                </a:solidFill>
                <a:latin typeface="Calibri" pitchFamily="34" charset="0"/>
                <a:ea typeface="Calibri" pitchFamily="34" charset="-122"/>
                <a:cs typeface="Calibri" pitchFamily="34" charset="-120"/>
              </a:rPr>
              <a:t>The instance graph multiply-counts: a triple of three twinned types appears 2³ = 8 times with an identical pattern. That is correct for the model — each instance genuinely occupies those orbits — and wrong for description, because it weights twinned triples eightfold for a reason that is our construction, not biology. For counting, every triad is reduced to the multiset of cell types it involves.</a:t>
            </a:r>
            <a:endParaRPr lang="en-US" sz="1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5943600" cy="914400"/>
        </p:xfrm>
        <a:graphic>
          <a:graphicData uri="http://schemas.openxmlformats.org/drawingml/2006/table">
            <a:tbl>
              <a:tblPr/>
              <a:tblGrid>
                <a:gridCol w="4297680"/>
                <a:gridCol w="1645920"/>
              </a:tblGrid>
              <a:tr h="347472">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Level</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Triads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Connected triads on the instance graph</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119,342</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Distinct cell-type triads, cross-type (3 distinct types)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18,572</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Distinct cell-type triads, within-type (twin pair + 1)</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1,941</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Total distinct cell-type triads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20,513</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8" name="Shape 5"/>
          <p:cNvSpPr/>
          <p:nvPr/>
        </p:nvSpPr>
        <p:spPr>
          <a:xfrm>
            <a:off x="6720840" y="2286000"/>
            <a:ext cx="4370832" cy="1737360"/>
          </a:xfrm>
          <a:prstGeom prst="roundRect">
            <a:avLst>
              <a:gd name="adj" fmla="val 2632"/>
            </a:avLst>
          </a:prstGeom>
          <a:solidFill>
            <a:srgbClr val="EDF3F6"/>
          </a:solidFill>
          <a:ln w="12700">
            <a:solidFill>
              <a:srgbClr val="EDF3F6"/>
            </a:solidFill>
            <a:prstDash val="solid"/>
          </a:ln>
        </p:spPr>
      </p:sp>
      <p:sp>
        <p:nvSpPr>
          <p:cNvPr id="9" name="Text 6"/>
          <p:cNvSpPr txBox="1"/>
          <p:nvPr/>
        </p:nvSpPr>
        <p:spPr>
          <a:xfrm>
            <a:off x="6976872" y="2414016"/>
            <a:ext cx="3858768" cy="292608"/>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The check that this is right</a:t>
            </a:r>
            <a:endParaRPr lang="en-US" sz="1300" dirty="0"/>
          </a:p>
        </p:txBody>
      </p:sp>
      <p:sp>
        <p:nvSpPr>
          <p:cNvPr id="10" name="Text 7"/>
          <p:cNvSpPr txBox="1"/>
          <p:nvPr/>
        </p:nvSpPr>
        <p:spPr>
          <a:xfrm>
            <a:off x="6976872" y="2724912"/>
            <a:ext cx="3858768" cy="1188720"/>
          </a:xfrm>
          <a:prstGeom prst="rect">
            <a:avLst/>
          </a:prstGeom>
          <a:noFill/>
          <a:ln/>
        </p:spPr>
        <p:txBody>
          <a:bodyPr wrap="square" lIns="0" tIns="0" rIns="0" bIns="0" rtlCol="0" anchor="t"/>
          <a:lstStyle/>
          <a:p>
            <a:pPr indent="0" marL="0">
              <a:lnSpc>
                <a:spcPts val="1600"/>
              </a:lnSpc>
              <a:buNone/>
            </a:pPr>
            <a:r>
              <a:rPr lang="en-US" sz="1200" dirty="0">
                <a:solidFill>
                  <a:srgbClr val="1A1F2B"/>
                </a:solidFill>
                <a:latin typeface="Calibri" pitchFamily="34" charset="0"/>
                <a:ea typeface="Calibri" pitchFamily="34" charset="-122"/>
                <a:cs typeface="Calibri" pitchFamily="34" charset="-120"/>
              </a:rPr>
              <a:t>The deduplicated cross-type census equals the triad census of the 85-node type graph exactly, class by class. The 1,941 within-type triads are the residue a type-graph census cannot see at all — there, they are self-loops.</a:t>
            </a:r>
            <a:endParaRPr lang="en-US" sz="1200" dirty="0"/>
          </a:p>
        </p:txBody>
      </p:sp>
      <p:pic>
        <p:nvPicPr>
          <p:cNvPr id="11" name="Image 0" descr="/mnt/user-data/uploads/graph_subnetworks/figures/06_triad_census.png">    </p:cNvPr>
          <p:cNvPicPr>
            <a:picLocks noChangeAspect="1"/>
          </p:cNvPicPr>
          <p:nvPr/>
        </p:nvPicPr>
        <p:blipFill>
          <a:blip r:embed="rId1"/>
          <a:srcRect l="0" r="0" t="0" b="0"/>
          <a:stretch/>
        </p:blipFill>
        <p:spPr>
          <a:xfrm>
            <a:off x="548640" y="4160520"/>
            <a:ext cx="5943600" cy="1920240"/>
          </a:xfrm>
          <a:prstGeom prst="rect">
            <a:avLst/>
          </a:prstGeom>
        </p:spPr>
      </p:pic>
      <p:sp>
        <p:nvSpPr>
          <p:cNvPr id="12" name="Shape 8"/>
          <p:cNvSpPr/>
          <p:nvPr/>
        </p:nvSpPr>
        <p:spPr>
          <a:xfrm>
            <a:off x="6720840" y="4160520"/>
            <a:ext cx="4370832" cy="1920240"/>
          </a:xfrm>
          <a:prstGeom prst="roundRect">
            <a:avLst>
              <a:gd name="adj" fmla="val 2381"/>
            </a:avLst>
          </a:prstGeom>
          <a:solidFill>
            <a:srgbClr val="F1F4F8"/>
          </a:solidFill>
          <a:ln w="12700">
            <a:solidFill>
              <a:srgbClr val="F1F4F8"/>
            </a:solidFill>
            <a:prstDash val="solid"/>
          </a:ln>
        </p:spPr>
      </p:sp>
      <p:sp>
        <p:nvSpPr>
          <p:cNvPr id="13" name="Text 9"/>
          <p:cNvSpPr txBox="1"/>
          <p:nvPr/>
        </p:nvSpPr>
        <p:spPr>
          <a:xfrm>
            <a:off x="6976872" y="4279392"/>
            <a:ext cx="3858768" cy="274320"/>
          </a:xfrm>
          <a:prstGeom prst="rect">
            <a:avLst/>
          </a:prstGeom>
          <a:noFill/>
          <a:ln/>
        </p:spPr>
        <p:txBody>
          <a:bodyPr wrap="square" lIns="0" tIns="0" rIns="0" bIns="0" rtlCol="0" anchor="ctr"/>
          <a:lstStyle/>
          <a:p>
            <a:pPr indent="0" marL="0">
              <a:buNone/>
            </a:pPr>
            <a:r>
              <a:rPr lang="en-US" sz="1300" b="1" dirty="0">
                <a:solidFill>
                  <a:srgbClr val="1A1F2B"/>
                </a:solidFill>
                <a:latin typeface="Calibri" pitchFamily="34" charset="0"/>
                <a:ea typeface="Calibri" pitchFamily="34" charset="-122"/>
                <a:cs typeface="Calibri" pitchFamily="34" charset="-120"/>
              </a:rPr>
              <a:t>Vocabulary composition</a:t>
            </a:r>
            <a:endParaRPr lang="en-US" sz="1300" dirty="0"/>
          </a:p>
        </p:txBody>
      </p:sp>
      <p:sp>
        <p:nvSpPr>
          <p:cNvPr id="14" name="Text 10"/>
          <p:cNvSpPr txBox="1"/>
          <p:nvPr/>
        </p:nvSpPr>
        <p:spPr>
          <a:xfrm>
            <a:off x="6976872" y="4572000"/>
            <a:ext cx="3858768" cy="1371600"/>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Four classes carry more than half of it: 111U 16.5%, 021D 13.7%, 030T 11.0%, 120D 10.8%. The pure 3-cycle 030C is nearly absent — 16 triads, 0.08%.</a:t>
            </a:r>
            <a:endParaRPr lang="en-US" sz="1100" dirty="0"/>
          </a:p>
          <a:p>
            <a:pPr indent="0" marL="0">
              <a:lnSpc>
                <a:spcPts val="1500"/>
              </a:lnSpc>
              <a:buNone/>
            </a:pPr>
            <a:endParaRPr lang="en-US" sz="1100" dirty="0"/>
          </a:p>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Unrolling adds structure constrained to three classes, because the third cell must treat both twins identically: 120U (636), 120D (549), 300 (756).</a:t>
            </a:r>
            <a:endParaRPr lang="en-US" sz="1100" dirty="0"/>
          </a:p>
        </p:txBody>
      </p:sp>
      <p:sp>
        <p:nvSpPr>
          <p:cNvPr id="15" name="Text 11"/>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graph_subnetworks/motif_characterization.ipynb · motif_tables/triad_census.csv, within_type_triads.csv</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03 · SIGNIFICANCE</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Two nulls, and one that would have lied</a:t>
            </a:r>
            <a:endParaRPr lang="en-US" sz="2700" dirty="0"/>
          </a:p>
        </p:txBody>
      </p:sp>
      <p:sp>
        <p:nvSpPr>
          <p:cNvPr id="4" name="Shape 2"/>
          <p:cNvSpPr/>
          <p:nvPr/>
        </p:nvSpPr>
        <p:spPr>
          <a:xfrm>
            <a:off x="11247120" y="402336"/>
            <a:ext cx="512064" cy="512064"/>
          </a:xfrm>
          <a:prstGeom prst="ellipse">
            <a:avLst/>
          </a:prstGeom>
          <a:solidFill>
            <a:srgbClr val="3D5A80"/>
          </a:solidFill>
          <a:ln w="12700">
            <a:solidFill>
              <a:srgbClr val="3D5A80"/>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6309360" cy="914400"/>
        </p:xfrm>
        <a:graphic>
          <a:graphicData uri="http://schemas.openxmlformats.org/drawingml/2006/table">
            <a:tbl>
              <a:tblPr/>
              <a:tblGrid>
                <a:gridCol w="2743200"/>
                <a:gridCol w="1005840"/>
                <a:gridCol w="1005840"/>
                <a:gridCol w="777240"/>
                <a:gridCol w="77724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Observed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Expected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Fold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z</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300  fully reciprocal triangle</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978</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127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7.7×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120D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1,666</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568</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030T  feed-forward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2,249</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1,516</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405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3,617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0.11×</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A1F2B"/>
                          </a:solidFill>
                          <a:latin typeface="Calibri" pitchFamily="34" charset="0"/>
                          <a:ea typeface="Calibri" pitchFamily="34" charset="-122"/>
                          <a:cs typeface="Calibri" pitchFamily="34" charset="-120"/>
                        </a:rPr>
                        <a:t>111D</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1,022</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3,857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0.27×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bl>
          </a:graphicData>
        </a:graphic>
      </p:graphicFrame>
      <p:pic>
        <p:nvPicPr>
          <p:cNvPr id="7" name="Image 0" descr="/mnt/user-data/uploads/graph_subnetworks/figures/07_motif_significance.png">    </p:cNvPr>
          <p:cNvPicPr>
            <a:picLocks noChangeAspect="1"/>
          </p:cNvPicPr>
          <p:nvPr/>
        </p:nvPicPr>
        <p:blipFill>
          <a:blip r:embed="rId1"/>
          <a:srcRect l="0" r="0" t="0" b="0"/>
          <a:stretch/>
        </p:blipFill>
        <p:spPr>
          <a:xfrm>
            <a:off x="6903720" y="1353312"/>
            <a:ext cx="4187952" cy="1463040"/>
          </a:xfrm>
          <a:prstGeom prst="rect">
            <a:avLst/>
          </a:prstGeom>
        </p:spPr>
      </p:pic>
      <p:sp>
        <p:nvSpPr>
          <p:cNvPr id="8" name="Shape 4"/>
          <p:cNvSpPr/>
          <p:nvPr/>
        </p:nvSpPr>
        <p:spPr>
          <a:xfrm>
            <a:off x="6903720" y="2971800"/>
            <a:ext cx="4187952" cy="1005840"/>
          </a:xfrm>
          <a:prstGeom prst="roundRect">
            <a:avLst>
              <a:gd name="adj" fmla="val 4545"/>
            </a:avLst>
          </a:prstGeom>
          <a:solidFill>
            <a:srgbClr val="FBEFEA"/>
          </a:solidFill>
          <a:ln w="12700">
            <a:solidFill>
              <a:srgbClr val="FBEFEA"/>
            </a:solidFill>
            <a:prstDash val="solid"/>
          </a:ln>
        </p:spPr>
      </p:sp>
      <p:sp>
        <p:nvSpPr>
          <p:cNvPr id="9" name="Text 5"/>
          <p:cNvSpPr txBox="1"/>
          <p:nvPr/>
        </p:nvSpPr>
        <p:spPr>
          <a:xfrm>
            <a:off x="7159752" y="3072384"/>
            <a:ext cx="3675888" cy="274320"/>
          </a:xfrm>
          <a:prstGeom prst="rect">
            <a:avLst/>
          </a:prstGeom>
          <a:noFill/>
          <a:ln/>
        </p:spPr>
        <p:txBody>
          <a:bodyPr wrap="square" lIns="0" tIns="0" rIns="0" bIns="0" rtlCol="0" anchor="ctr"/>
          <a:lstStyle/>
          <a:p>
            <a:pPr indent="0" marL="0">
              <a:buNone/>
            </a:pPr>
            <a:r>
              <a:rPr lang="en-US" sz="1200" b="1" dirty="0">
                <a:solidFill>
                  <a:srgbClr val="C1553B"/>
                </a:solidFill>
                <a:latin typeface="Calibri" pitchFamily="34" charset="0"/>
                <a:ea typeface="Calibri" pitchFamily="34" charset="-122"/>
                <a:cs typeface="Calibri" pitchFamily="34" charset="-120"/>
              </a:rPr>
              <a:t>networkx.directed_edge_swap is not usable here</a:t>
            </a:r>
            <a:endParaRPr lang="en-US" sz="1200" dirty="0"/>
          </a:p>
        </p:txBody>
      </p:sp>
      <p:sp>
        <p:nvSpPr>
          <p:cNvPr id="10" name="Text 6"/>
          <p:cNvSpPr txBox="1"/>
          <p:nvPr/>
        </p:nvSpPr>
        <p:spPr>
          <a:xfrm>
            <a:off x="7159752" y="3346704"/>
            <a:ext cx="3675888" cy="548640"/>
          </a:xfrm>
          <a:prstGeom prst="rect">
            <a:avLst/>
          </a:prstGeom>
          <a:noFill/>
          <a:ln/>
        </p:spPr>
        <p:txBody>
          <a:bodyPr wrap="square" lIns="0" tIns="0" rIns="0" bIns="0" rtlCol="0" anchor="t"/>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It preserves degrees but destroys about 60% of the 422 mutual dyads. As a null it would report enormous, entirely spurious enrichment for every reciprocal motif.</a:t>
            </a:r>
            <a:endParaRPr lang="en-US" sz="1100" dirty="0"/>
          </a:p>
        </p:txBody>
      </p:sp>
      <p:sp>
        <p:nvSpPr>
          <p:cNvPr id="11" name="Text 7"/>
          <p:cNvSpPr txBox="1"/>
          <p:nvPr/>
        </p:nvSpPr>
        <p:spPr>
          <a:xfrm>
            <a:off x="548640" y="4160520"/>
            <a:ext cx="11091672" cy="1417320"/>
          </a:xfrm>
          <a:prstGeom prst="rect">
            <a:avLst/>
          </a:prstGeom>
          <a:noFill/>
          <a:ln/>
        </p:spPr>
        <p:txBody>
          <a:bodyPr wrap="square" lIns="0" tIns="0" rIns="0" bIns="0" rtlCol="0" anchor="t"/>
          <a:lstStyle/>
          <a:p>
            <a:pPr marL="203200" indent="-203200">
              <a:lnSpc>
                <a:spcPts val="1700"/>
              </a:lnSpc>
              <a:spcAft>
                <a:spcPts val="600"/>
              </a:spcAft>
              <a:buSzPct val="100000"/>
              <a:buChar char="•"/>
            </a:pPr>
            <a:r>
              <a:rPr lang="en-US" sz="1250" dirty="0">
                <a:solidFill>
                  <a:srgbClr val="1A1F2B"/>
                </a:solidFill>
                <a:latin typeface="Calibri" pitchFamily="34" charset="0"/>
                <a:ea typeface="Calibri" pitchFamily="34" charset="-122"/>
                <a:cs typeface="Calibri" pitchFamily="34" charset="-120"/>
              </a:rPr>
              <a:t>U|MAN — the classical triad-census null. The counts of mutual, asymmetric and null dyads are held fixed; degrees are free.</a:t>
            </a:r>
            <a:endParaRPr lang="en-US" sz="1250" dirty="0"/>
          </a:p>
          <a:p>
            <a:pPr marL="203200" indent="-203200">
              <a:lnSpc>
                <a:spcPts val="1700"/>
              </a:lnSpc>
              <a:spcAft>
                <a:spcPts val="600"/>
              </a:spcAft>
              <a:buSzPct val="100000"/>
              <a:buChar char="•"/>
            </a:pPr>
            <a:r>
              <a:rPr lang="en-US" sz="1250" dirty="0">
                <a:solidFill>
                  <a:srgbClr val="1A1F2B"/>
                </a:solidFill>
                <a:latin typeface="Calibri" pitchFamily="34" charset="0"/>
                <a:ea typeface="Calibri" pitchFamily="34" charset="-122"/>
                <a:cs typeface="Calibri" pitchFamily="34" charset="-120"/>
              </a:rPr>
              <a:t>Degree- and dyad-preserving rewiring — every type’s in-degree, out-degree and the M/A/N dyad counts are all held fixed. Swaps are applied separately to mutual dyads and asymmetric edges and rejected if one would convert into the other. What survives this is genuine three-node structure.</a:t>
            </a:r>
            <a:endParaRPr lang="en-US" sz="1250" dirty="0"/>
          </a:p>
          <a:p>
            <a:pPr marL="203200" indent="-203200">
              <a:lnSpc>
                <a:spcPts val="1700"/>
              </a:lnSpc>
              <a:spcAft>
                <a:spcPts val="600"/>
              </a:spcAft>
              <a:buSzPct val="100000"/>
              <a:buChar char="•"/>
            </a:pPr>
            <a:r>
              <a:rPr lang="en-US" sz="1250" dirty="0">
                <a:solidFill>
                  <a:srgbClr val="1A1F2B"/>
                </a:solidFill>
                <a:latin typeface="Calibri" pitchFamily="34" charset="0"/>
                <a:ea typeface="Calibri" pitchFamily="34" charset="-122"/>
                <a:cs typeface="Calibri" pitchFamily="34" charset="-120"/>
              </a:rPr>
              <a:t>Both a z-score and a fold change are reported for every class, because they answer different questions: z says how far the observation sits from the null spread and grows with ensemble precision, fold change is the effect size. The cyclic class 030C shows the gap — z = −4.5 sounds decisive, but the counts are 16 observed against 56 expected.</a:t>
            </a:r>
            <a:endParaRPr lang="en-US" sz="1250" dirty="0"/>
          </a:p>
        </p:txBody>
      </p:sp>
      <p:sp>
        <p:nvSpPr>
          <p:cNvPr id="12" name="Text 8"/>
          <p:cNvSpPr txBox="1"/>
          <p:nvPr/>
        </p:nvSpPr>
        <p:spPr>
          <a:xfrm>
            <a:off x="548640" y="5650992"/>
            <a:ext cx="11091672" cy="548640"/>
          </a:xfrm>
          <a:prstGeom prst="rect">
            <a:avLst/>
          </a:prstGeom>
          <a:noFill/>
          <a:ln/>
        </p:spPr>
        <p:txBody>
          <a:bodyPr wrap="square" lIns="0" tIns="0" rIns="0" bIns="0" rtlCol="0" anchor="t"/>
          <a:lstStyle/>
          <a:p>
            <a:pPr algn="l" indent="0" marL="0">
              <a:lnSpc>
                <a:spcPts val="1700"/>
              </a:lnSpc>
              <a:buNone/>
            </a:pPr>
            <a:r>
              <a:rPr lang="en-US" sz="1300" i="1" dirty="0">
                <a:solidFill>
                  <a:srgbClr val="3D5A80"/>
                </a:solidFill>
                <a:latin typeface="Calibri" pitchFamily="34" charset="0"/>
                <a:ea typeface="Calibri" pitchFamily="34" charset="-122"/>
                <a:cs typeface="Calibri" pitchFamily="34" charset="-120"/>
              </a:rPr>
              <a:t>Reading: reciprocity clusters into closed triangles rather than spreading into open chains. Raw counts would have said the opposite, because the most common class is the most common for degree reasons.</a:t>
            </a:r>
            <a:endParaRPr lang="en-US" sz="1300" dirty="0"/>
          </a:p>
        </p:txBody>
      </p:sp>
      <p:sp>
        <p:nvSpPr>
          <p:cNvPr id="13" name="Text 9"/>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graph_subnetworks/motif_tables/motif_significance.csv · 400 null samples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03 · GEOGRAPHY AND COMPOSITION</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Where the motifs are, and who is in them</a:t>
            </a:r>
            <a:endParaRPr lang="en-US" sz="2700" dirty="0"/>
          </a:p>
        </p:txBody>
      </p:sp>
      <p:sp>
        <p:nvSpPr>
          <p:cNvPr id="4" name="Shape 2"/>
          <p:cNvSpPr/>
          <p:nvPr/>
        </p:nvSpPr>
        <p:spPr>
          <a:xfrm>
            <a:off x="11247120" y="402336"/>
            <a:ext cx="512064" cy="512064"/>
          </a:xfrm>
          <a:prstGeom prst="ellipse">
            <a:avLst/>
          </a:prstGeom>
          <a:solidFill>
            <a:srgbClr val="3D5A80"/>
          </a:solidFill>
          <a:ln w="12700">
            <a:solidFill>
              <a:srgbClr val="3D5A80"/>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6" name="Text 4"/>
          <p:cNvSpPr txBox="1"/>
          <p:nvPr/>
        </p:nvSpPr>
        <p:spPr>
          <a:xfrm>
            <a:off x="548640" y="1316736"/>
            <a:ext cx="2651760" cy="713232"/>
          </a:xfrm>
          <a:prstGeom prst="rect">
            <a:avLst/>
          </a:prstGeom>
          <a:noFill/>
          <a:ln/>
        </p:spPr>
        <p:txBody>
          <a:bodyPr wrap="square" lIns="0" tIns="0" rIns="0" bIns="0" rtlCol="0" anchor="ctr"/>
          <a:lstStyle/>
          <a:p>
            <a:pPr algn="l" indent="0" marL="0">
              <a:buNone/>
            </a:pPr>
            <a:r>
              <a:rPr lang="en-US" sz="3800" b="1" dirty="0">
                <a:solidFill>
                  <a:srgbClr val="3D5A80"/>
                </a:solidFill>
                <a:latin typeface="Cambria" pitchFamily="34" charset="0"/>
                <a:ea typeface="Cambria" pitchFamily="34" charset="-122"/>
                <a:cs typeface="Cambria" pitchFamily="34" charset="-120"/>
              </a:rPr>
              <a:t>24.2%</a:t>
            </a:r>
            <a:endParaRPr lang="en-US" sz="3800" dirty="0"/>
          </a:p>
        </p:txBody>
      </p:sp>
      <p:sp>
        <p:nvSpPr>
          <p:cNvPr id="7" name="Text 5"/>
          <p:cNvSpPr txBox="1"/>
          <p:nvPr/>
        </p:nvSpPr>
        <p:spPr>
          <a:xfrm>
            <a:off x="548640" y="2011680"/>
            <a:ext cx="265176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of triads sit entirely</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inside one region</a:t>
            </a:r>
            <a:endParaRPr lang="en-US" sz="1100" dirty="0"/>
          </a:p>
        </p:txBody>
      </p:sp>
      <p:sp>
        <p:nvSpPr>
          <p:cNvPr id="8" name="Text 6"/>
          <p:cNvSpPr txBox="1"/>
          <p:nvPr/>
        </p:nvSpPr>
        <p:spPr>
          <a:xfrm>
            <a:off x="3383280" y="1316736"/>
            <a:ext cx="2651760" cy="713232"/>
          </a:xfrm>
          <a:prstGeom prst="rect">
            <a:avLst/>
          </a:prstGeom>
          <a:noFill/>
          <a:ln/>
        </p:spPr>
        <p:txBody>
          <a:bodyPr wrap="square" lIns="0" tIns="0" rIns="0" bIns="0" rtlCol="0" anchor="ctr"/>
          <a:lstStyle/>
          <a:p>
            <a:pPr algn="l" indent="0" marL="0">
              <a:buNone/>
            </a:pPr>
            <a:r>
              <a:rPr lang="en-US" sz="3800" b="1" dirty="0">
                <a:solidFill>
                  <a:srgbClr val="1F7A8C"/>
                </a:solidFill>
                <a:latin typeface="Cambria" pitchFamily="34" charset="0"/>
                <a:ea typeface="Cambria" pitchFamily="34" charset="-122"/>
                <a:cs typeface="Cambria" pitchFamily="34" charset="-120"/>
              </a:rPr>
              <a:t>66%</a:t>
            </a:r>
            <a:endParaRPr lang="en-US" sz="3800" dirty="0"/>
          </a:p>
        </p:txBody>
      </p:sp>
      <p:sp>
        <p:nvSpPr>
          <p:cNvPr id="9" name="Text 7"/>
          <p:cNvSpPr txBox="1"/>
          <p:nvPr/>
        </p:nvSpPr>
        <p:spPr>
          <a:xfrm>
            <a:off x="3383280" y="2011680"/>
            <a:ext cx="265176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of class 300 triads are</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single-region — reciprocity is local</a:t>
            </a:r>
            <a:endParaRPr lang="en-US" sz="1100" dirty="0"/>
          </a:p>
        </p:txBody>
      </p:sp>
      <p:sp>
        <p:nvSpPr>
          <p:cNvPr id="10" name="Text 8"/>
          <p:cNvSpPr txBox="1"/>
          <p:nvPr/>
        </p:nvSpPr>
        <p:spPr>
          <a:xfrm>
            <a:off x="6217920" y="1316736"/>
            <a:ext cx="2651760" cy="713232"/>
          </a:xfrm>
          <a:prstGeom prst="rect">
            <a:avLst/>
          </a:prstGeom>
          <a:noFill/>
          <a:ln/>
        </p:spPr>
        <p:txBody>
          <a:bodyPr wrap="square" lIns="0" tIns="0" rIns="0" bIns="0" rtlCol="0" anchor="ctr"/>
          <a:lstStyle/>
          <a:p>
            <a:pPr algn="l" indent="0" marL="0">
              <a:buNone/>
            </a:pPr>
            <a:r>
              <a:rPr lang="en-US" sz="3800" b="1" dirty="0">
                <a:solidFill>
                  <a:srgbClr val="C1553B"/>
                </a:solidFill>
                <a:latin typeface="Cambria" pitchFamily="34" charset="0"/>
                <a:ea typeface="Cambria" pitchFamily="34" charset="-122"/>
                <a:cs typeface="Cambria" pitchFamily="34" charset="-120"/>
              </a:rPr>
              <a:t>85 / 86</a:t>
            </a:r>
            <a:endParaRPr lang="en-US" sz="3800" dirty="0"/>
          </a:p>
        </p:txBody>
      </p:sp>
      <p:sp>
        <p:nvSpPr>
          <p:cNvPr id="11" name="Text 9"/>
          <p:cNvSpPr txBox="1"/>
          <p:nvPr/>
        </p:nvSpPr>
        <p:spPr>
          <a:xfrm>
            <a:off x="6217920" y="2011680"/>
            <a:ext cx="2651760" cy="566928"/>
          </a:xfrm>
          <a:prstGeom prst="rect">
            <a:avLst/>
          </a:prstGeom>
          <a:noFill/>
          <a:ln/>
        </p:spPr>
        <p:txBody>
          <a:bodyPr wrap="square" lIns="0" tIns="0" rIns="0" bIns="0" rtlCol="0" anchor="t"/>
          <a:lstStyle/>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Dale-consistent coloured</a:t>
            </a:r>
            <a:endParaRPr lang="en-US" sz="1100" dirty="0"/>
          </a:p>
          <a:p>
            <a:pPr algn="l" indent="0" marL="0">
              <a:lnSpc>
                <a:spcPts val="1400"/>
              </a:lnSpc>
              <a:buNone/>
            </a:pPr>
            <a:r>
              <a:rPr lang="en-US" sz="1100" dirty="0">
                <a:solidFill>
                  <a:srgbClr val="6B7280"/>
                </a:solidFill>
                <a:latin typeface="Calibri" pitchFamily="34" charset="0"/>
                <a:ea typeface="Calibri" pitchFamily="34" charset="-122"/>
                <a:cs typeface="Calibri" pitchFamily="34" charset="-120"/>
              </a:rPr>
              <a:t>patterns that actually occur</a:t>
            </a:r>
            <a:endParaRPr lang="en-US" sz="1100" dirty="0"/>
          </a:p>
        </p:txBody>
      </p:sp>
      <p:pic>
        <p:nvPicPr>
          <p:cNvPr id="12" name="Image 0" descr="/mnt/user-data/uploads/graph_subnetworks/figures/12_ei_composition.png">    </p:cNvPr>
          <p:cNvPicPr>
            <a:picLocks noChangeAspect="1"/>
          </p:cNvPicPr>
          <p:nvPr/>
        </p:nvPicPr>
        <p:blipFill>
          <a:blip r:embed="rId1"/>
          <a:srcRect l="0" r="0" t="0" b="0"/>
          <a:stretch/>
        </p:blipFill>
        <p:spPr>
          <a:xfrm>
            <a:off x="8732520" y="1417320"/>
            <a:ext cx="2926080" cy="960120"/>
          </a:xfrm>
          <a:prstGeom prst="rect">
            <a:avLst/>
          </a:prstGeom>
        </p:spPr>
      </p:pic>
      <p:sp>
        <p:nvSpPr>
          <p:cNvPr id="13" name="Text 10"/>
          <p:cNvSpPr txBox="1"/>
          <p:nvPr/>
        </p:nvSpPr>
        <p:spPr>
          <a:xfrm>
            <a:off x="548640" y="2606040"/>
            <a:ext cx="8138160" cy="2651760"/>
          </a:xfrm>
          <a:prstGeom prst="rect">
            <a:avLst/>
          </a:prstGeom>
          <a:noFill/>
          <a:ln/>
        </p:spPr>
        <p:txBody>
          <a:bodyPr wrap="square" lIns="0" tIns="0" rIns="0" bIns="0" rtlCol="0" anchor="t"/>
          <a:lstStyle/>
          <a:p>
            <a:pPr marL="203200" indent="-203200">
              <a:lnSpc>
                <a:spcPts val="1700"/>
              </a:lnSpc>
              <a:spcAft>
                <a:spcPts val="800"/>
              </a:spcAft>
              <a:buSzPct val="100000"/>
              <a:buChar char="•"/>
            </a:pPr>
            <a:r>
              <a:rPr lang="en-US" sz="1250" dirty="0">
                <a:solidFill>
                  <a:srgbClr val="1A1F2B"/>
                </a:solidFill>
                <a:latin typeface="Calibri" pitchFamily="34" charset="0"/>
                <a:ea typeface="Calibri" pitchFamily="34" charset="-122"/>
                <a:cs typeface="Calibri" pitchFamily="34" charset="-120"/>
              </a:rPr>
              <a:t>Open two-edge classes are the cross-region ones — 021C, 111U and 021D each span two or three regions more than 94% of the time. Long-range structure here is made of two-edge motifs, not triangles.</a:t>
            </a:r>
            <a:endParaRPr lang="en-US" sz="1250" dirty="0"/>
          </a:p>
          <a:p>
            <a:pPr marL="203200" indent="-203200">
              <a:lnSpc>
                <a:spcPts val="1700"/>
              </a:lnSpc>
              <a:spcAft>
                <a:spcPts val="800"/>
              </a:spcAft>
              <a:buSzPct val="100000"/>
              <a:buChar char="•"/>
            </a:pPr>
            <a:r>
              <a:rPr lang="en-US" sz="1250" dirty="0">
                <a:solidFill>
                  <a:srgbClr val="1A1F2B"/>
                </a:solidFill>
                <a:latin typeface="Calibri" pitchFamily="34" charset="0"/>
                <a:ea typeface="Calibri" pitchFamily="34" charset="-122"/>
                <a:cs typeface="Calibri" pitchFamily="34" charset="-120"/>
              </a:rPr>
              <a:t>E/I composition is 1E2I 35.6%, 3I 32.0%, 2E1I 21.3%, 3E 11.1% — close to what the 32E / 53I inventory alone predicts. Reporting that composition on its own would be true and uninformative.</a:t>
            </a:r>
            <a:endParaRPr lang="en-US" sz="1250" dirty="0"/>
          </a:p>
          <a:p>
            <a:pPr marL="203200" indent="-203200">
              <a:lnSpc>
                <a:spcPts val="1700"/>
              </a:lnSpc>
              <a:spcAft>
                <a:spcPts val="800"/>
              </a:spcAft>
              <a:buSzPct val="100000"/>
              <a:buChar char="•"/>
            </a:pPr>
            <a:r>
              <a:rPr lang="en-US" sz="1250" dirty="0">
                <a:solidFill>
                  <a:srgbClr val="1A1F2B"/>
                </a:solidFill>
                <a:latin typeface="Calibri" pitchFamily="34" charset="0"/>
                <a:ea typeface="Calibri" pitchFamily="34" charset="-122"/>
                <a:cs typeface="Calibri" pitchFamily="34" charset="-120"/>
              </a:rPr>
              <a:t>Placement is what the inventory does not predict. Hold the graph fixed and permute E/I labels over cell types — rewiring instead would change topology and labelling at once, and the two effects could not be separated. All-excitatory triads are then specifically over-represented in the reciprocal classes: 201 z = +13, 300 z = +9, 210 z = +7, 111D z = +6. The recurrent excitatory core is structural.</a:t>
            </a:r>
            <a:endParaRPr lang="en-US" sz="1250" dirty="0"/>
          </a:p>
          <a:p>
            <a:pPr marL="203200" indent="-203200">
              <a:lnSpc>
                <a:spcPts val="1700"/>
              </a:lnSpc>
              <a:spcAft>
                <a:spcPts val="800"/>
              </a:spcAft>
              <a:buSzPct val="100000"/>
              <a:buChar char="•"/>
            </a:pPr>
            <a:r>
              <a:rPr lang="en-US" sz="1250" dirty="0">
                <a:solidFill>
                  <a:srgbClr val="1A1F2B"/>
                </a:solidFill>
                <a:latin typeface="Calibri" pitchFamily="34" charset="0"/>
                <a:ea typeface="Calibri" pitchFamily="34" charset="-122"/>
                <a:cs typeface="Calibri" pitchFamily="34" charset="-120"/>
              </a:rPr>
              <a:t>The single absent coloured pattern is the purely inhibitory 3-cycle I1 → I2 → I3 → I1. E/I colouring adds no vertex disambiguation: δ stays at 0.9529, and the four tied type pairs are ones Hippocampome separates on molecular markers rather than connectivity.</a:t>
            </a:r>
            <a:endParaRPr lang="en-US" sz="1250" dirty="0"/>
          </a:p>
        </p:txBody>
      </p:sp>
      <p:pic>
        <p:nvPicPr>
          <p:cNvPr id="14" name="Image 1" descr="/mnt/user-data/uploads/graph_subnetworks/figures/08_motifs_per_region.png">    </p:cNvPr>
          <p:cNvPicPr>
            <a:picLocks noChangeAspect="1"/>
          </p:cNvPicPr>
          <p:nvPr/>
        </p:nvPicPr>
        <p:blipFill>
          <a:blip r:embed="rId2"/>
          <a:srcRect l="0" r="0" t="0" b="0"/>
          <a:stretch/>
        </p:blipFill>
        <p:spPr>
          <a:xfrm>
            <a:off x="8796528" y="2606040"/>
            <a:ext cx="2834640" cy="1874520"/>
          </a:xfrm>
          <a:prstGeom prst="rect">
            <a:avLst/>
          </a:prstGeom>
        </p:spPr>
      </p:pic>
      <p:sp>
        <p:nvSpPr>
          <p:cNvPr id="15" name="Text 11"/>
          <p:cNvSpPr txBox="1"/>
          <p:nvPr/>
        </p:nvSpPr>
        <p:spPr>
          <a:xfrm>
            <a:off x="548640" y="5440680"/>
            <a:ext cx="11091672" cy="548640"/>
          </a:xfrm>
          <a:prstGeom prst="rect">
            <a:avLst/>
          </a:prstGeom>
          <a:noFill/>
          <a:ln/>
        </p:spPr>
        <p:txBody>
          <a:bodyPr wrap="square" lIns="0" tIns="0" rIns="0" bIns="0" rtlCol="0" anchor="t"/>
          <a:lstStyle/>
          <a:p>
            <a:pPr algn="l" indent="0" marL="0">
              <a:lnSpc>
                <a:spcPts val="1700"/>
              </a:lnSpc>
              <a:buNone/>
            </a:pPr>
            <a:r>
              <a:rPr lang="en-US" sz="1250" i="1" dirty="0">
                <a:solidFill>
                  <a:srgbClr val="6B7280"/>
                </a:solidFill>
                <a:latin typeface="Calibri" pitchFamily="34" charset="0"/>
                <a:ea typeface="Calibri" pitchFamily="34" charset="-122"/>
                <a:cs typeface="Calibri" pitchFamily="34" charset="-120"/>
              </a:rPr>
              <a:t>Every descriptive count here is on the binary adjacency; coupling magnitude enters only the weight-distribution figure. A weighted motif analysis is a separate question and is not claimed.</a:t>
            </a:r>
            <a:endParaRPr lang="en-US" sz="1250" dirty="0"/>
          </a:p>
        </p:txBody>
      </p:sp>
      <p:sp>
        <p:nvSpPr>
          <p:cNvPr id="16" name="Text 12"/>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graph_subnetworks/motif_tables/region_motif_enrichment.csv, ei_composition_per_class.csv, coloured_pattern_vocabulary.csv</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417320"/>
            <a:ext cx="1051560" cy="1051560"/>
          </a:xfrm>
          <a:prstGeom prst="ellipse">
            <a:avLst/>
          </a:prstGeom>
          <a:solidFill>
            <a:srgbClr val="3D5A80"/>
          </a:solidFill>
          <a:ln w="12700">
            <a:solidFill>
              <a:srgbClr val="3D5A80"/>
            </a:solidFill>
            <a:prstDash val="solid"/>
          </a:ln>
        </p:spPr>
      </p:sp>
      <p:sp>
        <p:nvSpPr>
          <p:cNvPr id="3" name="Text 1"/>
          <p:cNvSpPr txBox="1"/>
          <p:nvPr/>
        </p:nvSpPr>
        <p:spPr>
          <a:xfrm>
            <a:off x="548640" y="1417320"/>
            <a:ext cx="1051560" cy="10515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04</a:t>
            </a:r>
            <a:endParaRPr lang="en-US" sz="4000" dirty="0"/>
          </a:p>
        </p:txBody>
      </p:sp>
      <p:sp>
        <p:nvSpPr>
          <p:cNvPr id="4" name="Text 2"/>
          <p:cNvSpPr txBox="1"/>
          <p:nvPr/>
        </p:nvSpPr>
        <p:spPr>
          <a:xfrm>
            <a:off x="548640" y="777240"/>
            <a:ext cx="11091672" cy="274320"/>
          </a:xfrm>
          <a:prstGeom prst="rect">
            <a:avLst/>
          </a:prstGeom>
          <a:noFill/>
          <a:ln/>
        </p:spPr>
        <p:txBody>
          <a:bodyPr wrap="square" lIns="0" tIns="0" rIns="0" bIns="0" rtlCol="0" anchor="ctr"/>
          <a:lstStyle/>
          <a:p>
            <a:pPr indent="0" marL="0">
              <a:buNone/>
            </a:pPr>
            <a:r>
              <a:rPr lang="en-US" sz="1000" b="1" spc="200" kern="0" dirty="0">
                <a:solidFill>
                  <a:srgbClr val="B9CEDE"/>
                </a:solidFill>
                <a:latin typeface="Calibri" pitchFamily="34" charset="0"/>
                <a:ea typeface="Calibri" pitchFamily="34" charset="-122"/>
                <a:cs typeface="Calibri" pitchFamily="34" charset="-120"/>
              </a:rPr>
              <a:t>STAGE 04</a:t>
            </a:r>
            <a:endParaRPr lang="en-US" sz="1000" dirty="0"/>
          </a:p>
        </p:txBody>
      </p:sp>
      <p:sp>
        <p:nvSpPr>
          <p:cNvPr id="5" name="Text 3"/>
          <p:cNvSpPr txBox="1"/>
          <p:nvPr/>
        </p:nvSpPr>
        <p:spPr>
          <a:xfrm>
            <a:off x="1874520" y="1371600"/>
            <a:ext cx="9765792" cy="11430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Graph substructure networks</a:t>
            </a:r>
            <a:endParaRPr lang="en-US" sz="3200" dirty="0"/>
          </a:p>
        </p:txBody>
      </p:sp>
      <p:sp>
        <p:nvSpPr>
          <p:cNvPr id="6" name="Text 4"/>
          <p:cNvSpPr txBox="1"/>
          <p:nvPr/>
        </p:nvSpPr>
        <p:spPr>
          <a:xfrm>
            <a:off x="548640" y="3063240"/>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QUESTION</a:t>
            </a:r>
            <a:endParaRPr lang="en-US" sz="950" dirty="0"/>
          </a:p>
        </p:txBody>
      </p:sp>
      <p:sp>
        <p:nvSpPr>
          <p:cNvPr id="7" name="Text 5"/>
          <p:cNvSpPr txBox="1"/>
          <p:nvPr/>
        </p:nvSpPr>
        <p:spPr>
          <a:xfrm>
            <a:off x="1874520" y="3026664"/>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Do local subgraph counts carry information about a global dynamical observable that message passing alone cannot reach?</a:t>
            </a:r>
            <a:endParaRPr lang="en-US" sz="1450" dirty="0"/>
          </a:p>
        </p:txBody>
      </p:sp>
      <p:sp>
        <p:nvSpPr>
          <p:cNvPr id="8" name="Text 6"/>
          <p:cNvSpPr txBox="1"/>
          <p:nvPr/>
        </p:nvSpPr>
        <p:spPr>
          <a:xfrm>
            <a:off x="548640" y="4123944"/>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METHOD</a:t>
            </a:r>
            <a:endParaRPr lang="en-US" sz="950" dirty="0"/>
          </a:p>
        </p:txBody>
      </p:sp>
      <p:sp>
        <p:nvSpPr>
          <p:cNvPr id="9" name="Text 7"/>
          <p:cNvSpPr txBox="1"/>
          <p:nvPr/>
        </p:nvSpPr>
        <p:spPr>
          <a:xfrm>
            <a:off x="1874520" y="4087368"/>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Bouritsas et al. (2022): append triad-orbit counts to node and edge features so the network exceeds 1-WL expressivity. Target is the steady state of a linear neural-mass model under unit DG Granule drive; transductive node regression, splits drawn over cell types, ten repeats.</a:t>
            </a:r>
            <a:endParaRPr lang="en-US" sz="1450" dirty="0"/>
          </a:p>
        </p:txBody>
      </p:sp>
      <p:sp>
        <p:nvSpPr>
          <p:cNvPr id="10" name="Text 8"/>
          <p:cNvSpPr txBox="1"/>
          <p:nvPr/>
        </p:nvSpPr>
        <p:spPr>
          <a:xfrm>
            <a:off x="548640" y="5184648"/>
            <a:ext cx="1234440" cy="310896"/>
          </a:xfrm>
          <a:prstGeom prst="rect">
            <a:avLst/>
          </a:prstGeom>
          <a:noFill/>
          <a:ln/>
        </p:spPr>
        <p:txBody>
          <a:bodyPr wrap="square" lIns="0" tIns="0" rIns="0" bIns="0" rtlCol="0" anchor="t"/>
          <a:lstStyle/>
          <a:p>
            <a:pPr indent="0" marL="0">
              <a:buNone/>
            </a:pPr>
            <a:r>
              <a:rPr lang="en-US" sz="950" b="1" spc="150" kern="0" dirty="0">
                <a:solidFill>
                  <a:srgbClr val="D9A441"/>
                </a:solidFill>
                <a:latin typeface="Calibri" pitchFamily="34" charset="0"/>
                <a:ea typeface="Calibri" pitchFamily="34" charset="-122"/>
                <a:cs typeface="Calibri" pitchFamily="34" charset="-120"/>
              </a:rPr>
              <a:t>FINDING</a:t>
            </a:r>
            <a:endParaRPr lang="en-US" sz="950" dirty="0"/>
          </a:p>
        </p:txBody>
      </p:sp>
      <p:sp>
        <p:nvSpPr>
          <p:cNvPr id="11" name="Text 9"/>
          <p:cNvSpPr txBox="1"/>
          <p:nvPr/>
        </p:nvSpPr>
        <p:spPr>
          <a:xfrm>
            <a:off x="1874520" y="5148072"/>
            <a:ext cx="9765792" cy="960120"/>
          </a:xfrm>
          <a:prstGeom prst="rect">
            <a:avLst/>
          </a:prstGeom>
          <a:noFill/>
          <a:ln/>
        </p:spPr>
        <p:txBody>
          <a:bodyPr wrap="square" lIns="0" tIns="0" rIns="0" bIns="0" rtlCol="0" anchor="t"/>
          <a:lstStyle/>
          <a:p>
            <a:pPr indent="0" marL="0">
              <a:lnSpc>
                <a:spcPts val="2000"/>
              </a:lnSpc>
              <a:buNone/>
            </a:pPr>
            <a:r>
              <a:rPr lang="en-US" sz="1450" b="1" dirty="0">
                <a:solidFill>
                  <a:srgbClr val="FFFFFF"/>
                </a:solidFill>
                <a:latin typeface="Calibri" pitchFamily="34" charset="0"/>
                <a:ea typeface="Calibri" pitchFamily="34" charset="-122"/>
                <a:cs typeface="Calibri" pitchFamily="34" charset="-120"/>
              </a:rPr>
              <a:t>GSN-e reaches R² = 0.57 against 0.21 for a first-order MLP and 0.22 for a plain MPNN — but Spearman is flat at ≈ 0.72 across every model. The gain is in calibration, not in ranking, and reporting either metric alone would misstate it.</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04 · DESIGN</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Mapping the paper onto a connectome</a:t>
            </a:r>
            <a:endParaRPr lang="en-US" sz="2700" dirty="0"/>
          </a:p>
        </p:txBody>
      </p:sp>
      <p:sp>
        <p:nvSpPr>
          <p:cNvPr id="4" name="Shape 2"/>
          <p:cNvSpPr/>
          <p:nvPr/>
        </p:nvSpPr>
        <p:spPr>
          <a:xfrm>
            <a:off x="11247120" y="402336"/>
            <a:ext cx="512064" cy="512064"/>
          </a:xfrm>
          <a:prstGeom prst="ellipse">
            <a:avLst/>
          </a:prstGeom>
          <a:solidFill>
            <a:srgbClr val="3D5A80"/>
          </a:solidFill>
          <a:ln w="12700">
            <a:solidFill>
              <a:srgbClr val="3D5A80"/>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6" name="Shape 4"/>
          <p:cNvSpPr/>
          <p:nvPr/>
        </p:nvSpPr>
        <p:spPr>
          <a:xfrm>
            <a:off x="548640" y="1353312"/>
            <a:ext cx="6949440" cy="1115568"/>
          </a:xfrm>
          <a:prstGeom prst="roundRect">
            <a:avLst>
              <a:gd name="adj" fmla="val 4098"/>
            </a:avLst>
          </a:prstGeom>
          <a:solidFill>
            <a:srgbClr val="F1F4F8"/>
          </a:solidFill>
          <a:ln w="12700">
            <a:solidFill>
              <a:srgbClr val="F1F4F8"/>
            </a:solidFill>
            <a:prstDash val="solid"/>
          </a:ln>
        </p:spPr>
      </p:sp>
      <p:sp>
        <p:nvSpPr>
          <p:cNvPr id="7" name="Text 5"/>
          <p:cNvSpPr txBox="1"/>
          <p:nvPr/>
        </p:nvSpPr>
        <p:spPr>
          <a:xfrm>
            <a:off x="804672" y="1481328"/>
            <a:ext cx="6437376" cy="274320"/>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Substructure family H</a:t>
            </a:r>
            <a:endParaRPr lang="en-US" sz="1300" dirty="0"/>
          </a:p>
        </p:txBody>
      </p:sp>
      <p:sp>
        <p:nvSpPr>
          <p:cNvPr id="8" name="Text 6"/>
          <p:cNvSpPr txBox="1"/>
          <p:nvPr/>
        </p:nvSpPr>
        <p:spPr>
          <a:xfrm>
            <a:off x="804672" y="1755648"/>
            <a:ext cx="6437376" cy="621792"/>
          </a:xfrm>
          <a:prstGeom prst="rect">
            <a:avLst/>
          </a:prstGeom>
          <a:noFill/>
          <a:ln/>
        </p:spPr>
        <p:txBody>
          <a:bodyPr wrap="square" lIns="0" tIns="0" rIns="0" bIns="0" rtlCol="0" anchor="t"/>
          <a:lstStyle/>
          <a:p>
            <a:pPr indent="0" marL="0">
              <a:lnSpc>
                <a:spcPts val="1500"/>
              </a:lnSpc>
              <a:buNone/>
            </a:pPr>
            <a:r>
              <a:rPr lang="en-US" sz="1150" dirty="0">
                <a:solidFill>
                  <a:srgbClr val="1A1F2B"/>
                </a:solidFill>
                <a:latin typeface="Calibri" pitchFamily="34" charset="0"/>
                <a:ea typeface="Calibri" pitchFamily="34" charset="-122"/>
                <a:cs typeface="Calibri" pitchFamily="34" charset="-120"/>
              </a:rPr>
              <a:t>The 13 directed triad classes. 30 vertex-orbit features feed GSN-v; 30 edge-orbit features feed GSN-e.</a:t>
            </a:r>
            <a:endParaRPr lang="en-US" sz="1150" dirty="0"/>
          </a:p>
        </p:txBody>
      </p:sp>
      <p:sp>
        <p:nvSpPr>
          <p:cNvPr id="9" name="Shape 7"/>
          <p:cNvSpPr/>
          <p:nvPr/>
        </p:nvSpPr>
        <p:spPr>
          <a:xfrm>
            <a:off x="548640" y="2615184"/>
            <a:ext cx="6949440" cy="1115568"/>
          </a:xfrm>
          <a:prstGeom prst="roundRect">
            <a:avLst>
              <a:gd name="adj" fmla="val 4098"/>
            </a:avLst>
          </a:prstGeom>
          <a:solidFill>
            <a:srgbClr val="F1F4F8"/>
          </a:solidFill>
          <a:ln w="12700">
            <a:solidFill>
              <a:srgbClr val="F1F4F8"/>
            </a:solidFill>
            <a:prstDash val="solid"/>
          </a:ln>
        </p:spPr>
      </p:sp>
      <p:sp>
        <p:nvSpPr>
          <p:cNvPr id="10" name="Text 8"/>
          <p:cNvSpPr txBox="1"/>
          <p:nvPr/>
        </p:nvSpPr>
        <p:spPr>
          <a:xfrm>
            <a:off x="804672" y="2743200"/>
            <a:ext cx="6437376" cy="274320"/>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Target</a:t>
            </a:r>
            <a:endParaRPr lang="en-US" sz="1300" dirty="0"/>
          </a:p>
        </p:txBody>
      </p:sp>
      <p:sp>
        <p:nvSpPr>
          <p:cNvPr id="11" name="Text 9"/>
          <p:cNvSpPr txBox="1"/>
          <p:nvPr/>
        </p:nvSpPr>
        <p:spPr>
          <a:xfrm>
            <a:off x="804672" y="3017520"/>
            <a:ext cx="6437376" cy="621792"/>
          </a:xfrm>
          <a:prstGeom prst="rect">
            <a:avLst/>
          </a:prstGeom>
          <a:noFill/>
          <a:ln/>
        </p:spPr>
        <p:txBody>
          <a:bodyPr wrap="square" lIns="0" tIns="0" rIns="0" bIns="0" rtlCol="0" anchor="t"/>
          <a:lstStyle/>
          <a:p>
            <a:pPr indent="0" marL="0">
              <a:lnSpc>
                <a:spcPts val="1500"/>
              </a:lnSpc>
              <a:buNone/>
            </a:pPr>
            <a:r>
              <a:rPr lang="en-US" sz="1150" dirty="0">
                <a:solidFill>
                  <a:srgbClr val="1A1F2B"/>
                </a:solidFill>
                <a:latin typeface="Calibri" pitchFamily="34" charset="0"/>
                <a:ea typeface="Calibri" pitchFamily="34" charset="-122"/>
                <a:cs typeface="Calibri" pitchFamily="34" charset="-120"/>
              </a:rPr>
              <a:t>A global function of the whole coupling matrix — the steady state under a unit DG Granule drive. Chosen deliberately so a shallow message-passing network cannot reach it locally.</a:t>
            </a:r>
            <a:endParaRPr lang="en-US" sz="1150" dirty="0"/>
          </a:p>
        </p:txBody>
      </p:sp>
      <p:sp>
        <p:nvSpPr>
          <p:cNvPr id="12" name="Shape 10"/>
          <p:cNvSpPr/>
          <p:nvPr/>
        </p:nvSpPr>
        <p:spPr>
          <a:xfrm>
            <a:off x="548640" y="3877056"/>
            <a:ext cx="6949440" cy="1115568"/>
          </a:xfrm>
          <a:prstGeom prst="roundRect">
            <a:avLst>
              <a:gd name="adj" fmla="val 4098"/>
            </a:avLst>
          </a:prstGeom>
          <a:solidFill>
            <a:srgbClr val="F1F4F8"/>
          </a:solidFill>
          <a:ln w="12700">
            <a:solidFill>
              <a:srgbClr val="F1F4F8"/>
            </a:solidFill>
            <a:prstDash val="solid"/>
          </a:ln>
        </p:spPr>
      </p:sp>
      <p:sp>
        <p:nvSpPr>
          <p:cNvPr id="13" name="Text 11"/>
          <p:cNvSpPr txBox="1"/>
          <p:nvPr/>
        </p:nvSpPr>
        <p:spPr>
          <a:xfrm>
            <a:off x="804672" y="4005072"/>
            <a:ext cx="6437376" cy="274320"/>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Splits</a:t>
            </a:r>
            <a:endParaRPr lang="en-US" sz="1300" dirty="0"/>
          </a:p>
        </p:txBody>
      </p:sp>
      <p:sp>
        <p:nvSpPr>
          <p:cNvPr id="14" name="Text 12"/>
          <p:cNvSpPr txBox="1"/>
          <p:nvPr/>
        </p:nvSpPr>
        <p:spPr>
          <a:xfrm>
            <a:off x="804672" y="4279392"/>
            <a:ext cx="6437376" cy="621792"/>
          </a:xfrm>
          <a:prstGeom prst="rect">
            <a:avLst/>
          </a:prstGeom>
          <a:noFill/>
          <a:ln/>
        </p:spPr>
        <p:txBody>
          <a:bodyPr wrap="square" lIns="0" tIns="0" rIns="0" bIns="0" rtlCol="0" anchor="t"/>
          <a:lstStyle/>
          <a:p>
            <a:pPr indent="0" marL="0">
              <a:lnSpc>
                <a:spcPts val="1500"/>
              </a:lnSpc>
              <a:buNone/>
            </a:pPr>
            <a:r>
              <a:rPr lang="en-US" sz="1150" dirty="0">
                <a:solidFill>
                  <a:srgbClr val="1A1F2B"/>
                </a:solidFill>
                <a:latin typeface="Calibri" pitchFamily="34" charset="0"/>
                <a:ea typeface="Calibri" pitchFamily="34" charset="-122"/>
                <a:cs typeface="Calibri" pitchFamily="34" charset="-120"/>
              </a:rPr>
              <a:t>Over cell types, never over node instances. Twins are exchangeable and carry identical features by construction, so an instance-level split would put a type’s twin in train and its partner in test and the model would score by memorising.</a:t>
            </a:r>
            <a:endParaRPr lang="en-US" sz="1150" dirty="0"/>
          </a:p>
        </p:txBody>
      </p:sp>
      <p:sp>
        <p:nvSpPr>
          <p:cNvPr id="15" name="Shape 13"/>
          <p:cNvSpPr/>
          <p:nvPr/>
        </p:nvSpPr>
        <p:spPr>
          <a:xfrm>
            <a:off x="548640" y="5138928"/>
            <a:ext cx="6949440" cy="1115568"/>
          </a:xfrm>
          <a:prstGeom prst="roundRect">
            <a:avLst>
              <a:gd name="adj" fmla="val 4098"/>
            </a:avLst>
          </a:prstGeom>
          <a:solidFill>
            <a:srgbClr val="F1F4F8"/>
          </a:solidFill>
          <a:ln w="12700">
            <a:solidFill>
              <a:srgbClr val="F1F4F8"/>
            </a:solidFill>
            <a:prstDash val="solid"/>
          </a:ln>
        </p:spPr>
      </p:sp>
      <p:sp>
        <p:nvSpPr>
          <p:cNvPr id="16" name="Text 14"/>
          <p:cNvSpPr txBox="1"/>
          <p:nvPr/>
        </p:nvSpPr>
        <p:spPr>
          <a:xfrm>
            <a:off x="804672" y="5266944"/>
            <a:ext cx="6437376" cy="274320"/>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Baselines</a:t>
            </a:r>
            <a:endParaRPr lang="en-US" sz="1300" dirty="0"/>
          </a:p>
        </p:txBody>
      </p:sp>
      <p:sp>
        <p:nvSpPr>
          <p:cNvPr id="17" name="Text 15"/>
          <p:cNvSpPr txBox="1"/>
          <p:nvPr/>
        </p:nvSpPr>
        <p:spPr>
          <a:xfrm>
            <a:off x="804672" y="5541264"/>
            <a:ext cx="6437376" cy="621792"/>
          </a:xfrm>
          <a:prstGeom prst="rect">
            <a:avLst/>
          </a:prstGeom>
          <a:noFill/>
          <a:ln/>
        </p:spPr>
        <p:txBody>
          <a:bodyPr wrap="square" lIns="0" tIns="0" rIns="0" bIns="0" rtlCol="0" anchor="t"/>
          <a:lstStyle/>
          <a:p>
            <a:pPr indent="0" marL="0">
              <a:lnSpc>
                <a:spcPts val="1500"/>
              </a:lnSpc>
              <a:buNone/>
            </a:pPr>
            <a:r>
              <a:rPr lang="en-US" sz="1150" dirty="0">
                <a:solidFill>
                  <a:srgbClr val="1A1F2B"/>
                </a:solidFill>
                <a:latin typeface="Calibri" pitchFamily="34" charset="0"/>
                <a:ea typeface="Calibri" pitchFamily="34" charset="-122"/>
                <a:cs typeface="Calibri" pitchFamily="34" charset="-120"/>
              </a:rPr>
              <a:t>MLP on first-order features, the same MLP with orbit counts appended, and a plain MPNN — so the orbit contribution is separable from the message-passing contribution.</a:t>
            </a:r>
            <a:endParaRPr lang="en-US" sz="1150" dirty="0"/>
          </a:p>
        </p:txBody>
      </p:sp>
      <p:sp>
        <p:nvSpPr>
          <p:cNvPr id="18" name="Shape 16"/>
          <p:cNvSpPr/>
          <p:nvPr/>
        </p:nvSpPr>
        <p:spPr>
          <a:xfrm>
            <a:off x="7772400" y="1353312"/>
            <a:ext cx="3867912" cy="2377440"/>
          </a:xfrm>
          <a:prstGeom prst="roundRect">
            <a:avLst>
              <a:gd name="adj" fmla="val 1923"/>
            </a:avLst>
          </a:prstGeom>
          <a:solidFill>
            <a:srgbClr val="14213D"/>
          </a:solidFill>
          <a:ln w="12700">
            <a:solidFill>
              <a:srgbClr val="14213D"/>
            </a:solidFill>
            <a:prstDash val="solid"/>
          </a:ln>
        </p:spPr>
      </p:sp>
      <p:sp>
        <p:nvSpPr>
          <p:cNvPr id="19" name="Text 17"/>
          <p:cNvSpPr txBox="1"/>
          <p:nvPr/>
        </p:nvSpPr>
        <p:spPr>
          <a:xfrm>
            <a:off x="8028432" y="1481328"/>
            <a:ext cx="3355848" cy="457200"/>
          </a:xfrm>
          <a:prstGeom prst="rect">
            <a:avLst/>
          </a:prstGeom>
          <a:noFill/>
          <a:ln/>
        </p:spPr>
        <p:txBody>
          <a:bodyPr wrap="square" lIns="0" tIns="0" rIns="0" bIns="0" rtlCol="0" anchor="ctr"/>
          <a:lstStyle/>
          <a:p>
            <a:pPr indent="0" marL="0">
              <a:buNone/>
            </a:pPr>
            <a:r>
              <a:rPr lang="en-US" sz="2800" b="1" dirty="0">
                <a:solidFill>
                  <a:srgbClr val="D9A441"/>
                </a:solidFill>
                <a:latin typeface="Cambria" pitchFamily="34" charset="0"/>
                <a:ea typeface="Cambria" pitchFamily="34" charset="-122"/>
                <a:cs typeface="Cambria" pitchFamily="34" charset="-120"/>
              </a:rPr>
              <a:t>δ = 0.9529</a:t>
            </a:r>
            <a:endParaRPr lang="en-US" sz="2800" dirty="0"/>
          </a:p>
        </p:txBody>
      </p:sp>
      <p:sp>
        <p:nvSpPr>
          <p:cNvPr id="20" name="Text 18"/>
          <p:cNvSpPr txBox="1"/>
          <p:nvPr/>
        </p:nvSpPr>
        <p:spPr>
          <a:xfrm>
            <a:off x="8028432" y="1938528"/>
            <a:ext cx="3355848" cy="411480"/>
          </a:xfrm>
          <a:prstGeom prst="rect">
            <a:avLst/>
          </a:prstGeom>
          <a:noFill/>
          <a:ln/>
        </p:spPr>
        <p:txBody>
          <a:bodyPr wrap="square" lIns="0" tIns="0" rIns="0" bIns="0" rtlCol="0" anchor="t"/>
          <a:lstStyle/>
          <a:p>
            <a:pPr indent="0" marL="0">
              <a:lnSpc>
                <a:spcPts val="1500"/>
              </a:lnSpc>
              <a:buNone/>
            </a:pPr>
            <a:r>
              <a:rPr lang="en-US" sz="1150" dirty="0">
                <a:solidFill>
                  <a:srgbClr val="B9CEDE"/>
                </a:solidFill>
                <a:latin typeface="Calibri" pitchFamily="34" charset="0"/>
                <a:ea typeface="Calibri" pitchFamily="34" charset="-122"/>
                <a:cs typeface="Calibri" pitchFamily="34" charset="-120"/>
              </a:rPr>
              <a:t>vertex disambiguation — 81 of 85 orbit signatures are distinct</a:t>
            </a:r>
            <a:endParaRPr lang="en-US" sz="1150" dirty="0"/>
          </a:p>
        </p:txBody>
      </p:sp>
      <p:sp>
        <p:nvSpPr>
          <p:cNvPr id="21" name="Text 19"/>
          <p:cNvSpPr txBox="1"/>
          <p:nvPr/>
        </p:nvSpPr>
        <p:spPr>
          <a:xfrm>
            <a:off x="8028432" y="2395728"/>
            <a:ext cx="3355848" cy="1207008"/>
          </a:xfrm>
          <a:prstGeom prst="rect">
            <a:avLst/>
          </a:prstGeom>
          <a:noFill/>
          <a:ln/>
        </p:spPr>
        <p:txBody>
          <a:bodyPr wrap="square" lIns="0" tIns="0" rIns="0" bIns="0" rtlCol="0" anchor="t"/>
          <a:lstStyle/>
          <a:p>
            <a:pPr indent="0" marL="0">
              <a:lnSpc>
                <a:spcPts val="1400"/>
              </a:lnSpc>
              <a:buNone/>
            </a:pPr>
            <a:r>
              <a:rPr lang="en-US" sz="1100" dirty="0">
                <a:solidFill>
                  <a:srgbClr val="B9CEDE"/>
                </a:solidFill>
                <a:latin typeface="Calibri" pitchFamily="34" charset="0"/>
                <a:ea typeface="Calibri" pitchFamily="34" charset="-122"/>
                <a:cs typeface="Calibri" pitchFamily="34" charset="-120"/>
              </a:rPr>
              <a:t>The four ties are CA1 Basket / CA1 Basket CCK+, CA1 Bistratified / CA1 Ivy, CA3 Basket / CA3 Basket CCK+, and MEC LIII Superficial Multipolar / Trilayered — types Hippocampome separates on molecular markers, not connectivity. The tie is a property of the data, not a failure of the features.</a:t>
            </a:r>
            <a:endParaRPr lang="en-US" sz="1100" dirty="0"/>
          </a:p>
        </p:txBody>
      </p:sp>
      <p:sp>
        <p:nvSpPr>
          <p:cNvPr id="22" name="Shape 20"/>
          <p:cNvSpPr/>
          <p:nvPr/>
        </p:nvSpPr>
        <p:spPr>
          <a:xfrm>
            <a:off x="7772400" y="3877056"/>
            <a:ext cx="3867912" cy="2212848"/>
          </a:xfrm>
          <a:prstGeom prst="roundRect">
            <a:avLst>
              <a:gd name="adj" fmla="val 2066"/>
            </a:avLst>
          </a:prstGeom>
          <a:solidFill>
            <a:srgbClr val="EDF3F6"/>
          </a:solidFill>
          <a:ln w="12700">
            <a:solidFill>
              <a:srgbClr val="EDF3F6"/>
            </a:solidFill>
            <a:prstDash val="solid"/>
          </a:ln>
        </p:spPr>
      </p:sp>
      <p:sp>
        <p:nvSpPr>
          <p:cNvPr id="23" name="Text 21"/>
          <p:cNvSpPr txBox="1"/>
          <p:nvPr/>
        </p:nvSpPr>
        <p:spPr>
          <a:xfrm>
            <a:off x="8028432" y="4005072"/>
            <a:ext cx="3355848" cy="292608"/>
          </a:xfrm>
          <a:prstGeom prst="rect">
            <a:avLst/>
          </a:prstGeom>
          <a:noFill/>
          <a:ln/>
        </p:spPr>
        <p:txBody>
          <a:bodyPr wrap="square" lIns="0" tIns="0" rIns="0" bIns="0" rtlCol="0" anchor="ctr"/>
          <a:lstStyle/>
          <a:p>
            <a:pPr indent="0" marL="0">
              <a:buNone/>
            </a:pPr>
            <a:r>
              <a:rPr lang="en-US" sz="1250" b="1" dirty="0">
                <a:solidFill>
                  <a:srgbClr val="1F7A8C"/>
                </a:solidFill>
                <a:latin typeface="Calibri" pitchFamily="34" charset="0"/>
                <a:ea typeface="Calibri" pitchFamily="34" charset="-122"/>
                <a:cs typeface="Calibri" pitchFamily="34" charset="-120"/>
              </a:rPr>
              <a:t>Monotone transforms cost nothing</a:t>
            </a:r>
            <a:endParaRPr lang="en-US" sz="1250" dirty="0"/>
          </a:p>
        </p:txBody>
      </p:sp>
      <p:sp>
        <p:nvSpPr>
          <p:cNvPr id="24" name="Text 22"/>
          <p:cNvSpPr txBox="1"/>
          <p:nvPr/>
        </p:nvSpPr>
        <p:spPr>
          <a:xfrm>
            <a:off x="8028432" y="4315968"/>
            <a:ext cx="3355848" cy="1645920"/>
          </a:xfrm>
          <a:prstGeom prst="rect">
            <a:avLst/>
          </a:prstGeom>
          <a:noFill/>
          <a:ln/>
        </p:spPr>
        <p:txBody>
          <a:bodyPr wrap="square" lIns="0" tIns="0" rIns="0" bIns="0" rtlCol="0" anchor="t"/>
          <a:lstStyle/>
          <a:p>
            <a:pPr indent="0" marL="0">
              <a:lnSpc>
                <a:spcPts val="1400"/>
              </a:lnSpc>
              <a:buNone/>
            </a:pPr>
            <a:r>
              <a:rPr lang="en-US" sz="1100" dirty="0">
                <a:solidFill>
                  <a:srgbClr val="1A1F2B"/>
                </a:solidFill>
                <a:latin typeface="Calibri" pitchFamily="34" charset="0"/>
                <a:ea typeface="Calibri" pitchFamily="34" charset="-122"/>
                <a:cs typeface="Calibri" pitchFamily="34" charset="-120"/>
              </a:rPr>
              <a:t>Orbit counts go in as log1p then standardised per feature. Because log1p is strictly monotone and applied elementwise, distinct count vectors stay distinct — the injectivity that Theorem 3.3 relies on is preserved. The normalisation buys optimiser conditioning and costs nothing theoretically.</a:t>
            </a:r>
            <a:endParaRPr lang="en-US" sz="1100" dirty="0"/>
          </a:p>
          <a:p>
            <a:pPr indent="0" marL="0">
              <a:lnSpc>
                <a:spcPts val="1400"/>
              </a:lnSpc>
              <a:buNone/>
            </a:pPr>
            <a:endParaRPr lang="en-US" sz="1100" dirty="0"/>
          </a:p>
          <a:p>
            <a:pPr indent="0" marL="0">
              <a:lnSpc>
                <a:spcPts val="1400"/>
              </a:lnSpc>
              <a:buNone/>
            </a:pPr>
            <a:r>
              <a:rPr lang="en-US" sz="1100" dirty="0">
                <a:solidFill>
                  <a:srgbClr val="1A1F2B"/>
                </a:solidFill>
                <a:latin typeface="Calibri" pitchFamily="34" charset="0"/>
                <a:ea typeface="Calibri" pitchFamily="34" charset="-122"/>
                <a:cs typeface="Calibri" pitchFamily="34" charset="-120"/>
              </a:rPr>
              <a:t>Coupling enters as sign(x)·log1p(|x|), which keeps Dale’s sign and puts E and I on one scale across eight orders of magnitude.</a:t>
            </a:r>
            <a:endParaRPr lang="en-US" sz="1100" dirty="0"/>
          </a:p>
        </p:txBody>
      </p:sp>
      <p:sp>
        <p:nvSpPr>
          <p:cNvPr id="25" name="Text 23"/>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Bouritsas G, Frasca F, Zafeiriou S, Bronstein MM (2022) IEEE TPAMI 45(1):657–668 · graph_subnetworks/GSN_connectome_workflow.ipynb</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04 · RESULTS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Orbit counts help — in calibration, not in ranking</a:t>
            </a:r>
            <a:endParaRPr lang="en-US" sz="2700" dirty="0"/>
          </a:p>
        </p:txBody>
      </p:sp>
      <p:sp>
        <p:nvSpPr>
          <p:cNvPr id="4" name="Shape 2"/>
          <p:cNvSpPr/>
          <p:nvPr/>
        </p:nvSpPr>
        <p:spPr>
          <a:xfrm>
            <a:off x="11247120" y="402336"/>
            <a:ext cx="512064" cy="512064"/>
          </a:xfrm>
          <a:prstGeom prst="ellipse">
            <a:avLst/>
          </a:prstGeom>
          <a:solidFill>
            <a:srgbClr val="3D5A80"/>
          </a:solidFill>
          <a:ln w="12700">
            <a:solidFill>
              <a:srgbClr val="3D5A80"/>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223760" cy="914400"/>
        </p:xfrm>
        <a:graphic>
          <a:graphicData uri="http://schemas.openxmlformats.org/drawingml/2006/table">
            <a:tbl>
              <a:tblPr/>
              <a:tblGrid>
                <a:gridCol w="3383280"/>
                <a:gridCol w="2377440"/>
                <a:gridCol w="1463040"/>
              </a:tblGrid>
              <a:tr h="3657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Test R²  (mean ± sd, 10 splits)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Spearman</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MLP — first-order features only</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0.21 ± 0.53</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0.71</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MLP — first-order + orbit counts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0.44 ± 0.42</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0.74</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MPNN</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0.22 ± 0.94</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0.73</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GSN-v  (vertex orbits)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0.44 ± 0.29</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0.72</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GSN-e  (edge orbits)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0.57 ± 0.23</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50" dirty="0">
                          <a:solidFill>
                            <a:srgbClr val="1A1F2B"/>
                          </a:solidFill>
                          <a:latin typeface="Calibri" pitchFamily="34" charset="0"/>
                          <a:ea typeface="Calibri" pitchFamily="34" charset="-122"/>
                          <a:cs typeface="Calibri" pitchFamily="34" charset="-120"/>
                        </a:rPr>
                        <a:t>0.73</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bl>
          </a:graphicData>
        </a:graphic>
      </p:graphicFrame>
      <p:sp>
        <p:nvSpPr>
          <p:cNvPr id="7" name="Shape 4"/>
          <p:cNvSpPr/>
          <p:nvPr/>
        </p:nvSpPr>
        <p:spPr>
          <a:xfrm>
            <a:off x="7909560" y="1371600"/>
            <a:ext cx="3730752" cy="2194560"/>
          </a:xfrm>
          <a:prstGeom prst="roundRect">
            <a:avLst>
              <a:gd name="adj" fmla="val 2083"/>
            </a:avLst>
          </a:prstGeom>
          <a:solidFill>
            <a:srgbClr val="EDF3F6"/>
          </a:solidFill>
          <a:ln w="12700">
            <a:solidFill>
              <a:srgbClr val="EDF3F6"/>
            </a:solidFill>
            <a:prstDash val="solid"/>
          </a:ln>
        </p:spPr>
      </p:sp>
      <p:sp>
        <p:nvSpPr>
          <p:cNvPr id="8" name="Text 5"/>
          <p:cNvSpPr txBox="1"/>
          <p:nvPr/>
        </p:nvSpPr>
        <p:spPr>
          <a:xfrm>
            <a:off x="8165592" y="1499616"/>
            <a:ext cx="3218688" cy="292608"/>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Two metrics, deliberately</a:t>
            </a:r>
            <a:endParaRPr lang="en-US" sz="1300" dirty="0"/>
          </a:p>
        </p:txBody>
      </p:sp>
      <p:sp>
        <p:nvSpPr>
          <p:cNvPr id="9" name="Text 6"/>
          <p:cNvSpPr txBox="1"/>
          <p:nvPr/>
        </p:nvSpPr>
        <p:spPr>
          <a:xfrm>
            <a:off x="8165592" y="1810512"/>
            <a:ext cx="3218688" cy="1645920"/>
          </a:xfrm>
          <a:prstGeom prst="rect">
            <a:avLst/>
          </a:prstGeom>
          <a:noFill/>
          <a:ln/>
        </p:spPr>
        <p:txBody>
          <a:bodyPr wrap="square" lIns="0" tIns="0" rIns="0" bIns="0" rtlCol="0" anchor="t"/>
          <a:lstStyle/>
          <a:p>
            <a:pPr indent="0" marL="0">
              <a:lnSpc>
                <a:spcPts val="1500"/>
              </a:lnSpc>
              <a:buNone/>
            </a:pPr>
            <a:r>
              <a:rPr lang="en-US" sz="1150" dirty="0">
                <a:solidFill>
                  <a:srgbClr val="1A1F2B"/>
                </a:solidFill>
                <a:latin typeface="Calibri" pitchFamily="34" charset="0"/>
                <a:ea typeface="Calibri" pitchFamily="34" charset="-122"/>
                <a:cs typeface="Calibri" pitchFamily="34" charset="-120"/>
              </a:rPr>
              <a:t>R² is calibration; Spearman is ranking. Reporting R² alone would overstate the result. Reporting Spearman alone would erase it. Both are in the table because they disagree, and the disagreement is the finding: orbit counts sharpen the magnitude of the prediction while every model already orders the types about equally well.</a:t>
            </a:r>
            <a:endParaRPr lang="en-US" sz="1150" dirty="0"/>
          </a:p>
        </p:txBody>
      </p:sp>
      <p:sp>
        <p:nvSpPr>
          <p:cNvPr id="10" name="Text 7"/>
          <p:cNvSpPr txBox="1"/>
          <p:nvPr/>
        </p:nvSpPr>
        <p:spPr>
          <a:xfrm>
            <a:off x="548640" y="3246120"/>
            <a:ext cx="7223760" cy="594360"/>
          </a:xfrm>
          <a:prstGeom prst="rect">
            <a:avLst/>
          </a:prstGeom>
          <a:noFill/>
          <a:ln/>
        </p:spPr>
        <p:txBody>
          <a:bodyPr wrap="square" lIns="0" tIns="0" rIns="0" bIns="0" rtlCol="0" anchor="t"/>
          <a:lstStyle/>
          <a:p>
            <a:pPr algn="l" indent="0" marL="0">
              <a:lnSpc>
                <a:spcPts val="1800"/>
              </a:lnSpc>
              <a:buNone/>
            </a:pPr>
            <a:r>
              <a:rPr lang="en-US" sz="1350" dirty="0">
                <a:solidFill>
                  <a:srgbClr val="1A1F2B"/>
                </a:solidFill>
                <a:latin typeface="Calibri" pitchFamily="34" charset="0"/>
                <a:ea typeface="Calibri" pitchFamily="34" charset="-122"/>
                <a:cs typeface="Calibri" pitchFamily="34" charset="-120"/>
              </a:rPr>
              <a:t>Orbit counts help both with and without message passing, and GSN-e ≥ GSN-v as Theorem 3.3 predicts. The ordering of the five models is stable across splits even though individual R² values are not.</a:t>
            </a:r>
            <a:endParaRPr lang="en-US" sz="1350" dirty="0"/>
          </a:p>
        </p:txBody>
      </p:sp>
      <p:sp>
        <p:nvSpPr>
          <p:cNvPr id="11" name="Shape 8"/>
          <p:cNvSpPr/>
          <p:nvPr/>
        </p:nvSpPr>
        <p:spPr>
          <a:xfrm>
            <a:off x="548640" y="3977640"/>
            <a:ext cx="11091672" cy="2103120"/>
          </a:xfrm>
          <a:prstGeom prst="roundRect">
            <a:avLst>
              <a:gd name="adj" fmla="val 2174"/>
            </a:avLst>
          </a:prstGeom>
          <a:solidFill>
            <a:srgbClr val="FBEFEA"/>
          </a:solidFill>
          <a:ln w="12700">
            <a:solidFill>
              <a:srgbClr val="FBEFEA"/>
            </a:solidFill>
            <a:prstDash val="solid"/>
          </a:ln>
        </p:spPr>
      </p:sp>
      <p:sp>
        <p:nvSpPr>
          <p:cNvPr id="12" name="Text 9"/>
          <p:cNvSpPr txBox="1"/>
          <p:nvPr/>
        </p:nvSpPr>
        <p:spPr>
          <a:xfrm>
            <a:off x="841248" y="4114800"/>
            <a:ext cx="10506456" cy="292608"/>
          </a:xfrm>
          <a:prstGeom prst="rect">
            <a:avLst/>
          </a:prstGeom>
          <a:noFill/>
          <a:ln/>
        </p:spPr>
        <p:txBody>
          <a:bodyPr wrap="square" lIns="0" tIns="0" rIns="0" bIns="0" rtlCol="0" anchor="ctr"/>
          <a:lstStyle/>
          <a:p>
            <a:pPr indent="0" marL="0">
              <a:buNone/>
            </a:pPr>
            <a:r>
              <a:rPr lang="en-US" sz="1350" b="1" dirty="0">
                <a:solidFill>
                  <a:srgbClr val="C1553B"/>
                </a:solidFill>
                <a:latin typeface="Calibri" pitchFamily="34" charset="0"/>
                <a:ea typeface="Calibri" pitchFamily="34" charset="-122"/>
                <a:cs typeface="Calibri" pitchFamily="34" charset="-120"/>
              </a:rPr>
              <a:t>Caveats that belong on the same slide as the numbers</a:t>
            </a:r>
            <a:endParaRPr lang="en-US" sz="1350" dirty="0"/>
          </a:p>
        </p:txBody>
      </p:sp>
      <p:sp>
        <p:nvSpPr>
          <p:cNvPr id="13" name="Text 10"/>
          <p:cNvSpPr txBox="1"/>
          <p:nvPr/>
        </p:nvSpPr>
        <p:spPr>
          <a:xfrm>
            <a:off x="841248" y="4443984"/>
            <a:ext cx="10506456" cy="1554480"/>
          </a:xfrm>
          <a:prstGeom prst="rect">
            <a:avLst/>
          </a:prstGeom>
          <a:noFill/>
          <a:ln/>
        </p:spPr>
        <p:txBody>
          <a:bodyPr wrap="square" lIns="0" tIns="0" rIns="0" bIns="0" rtlCol="0" anchor="t"/>
          <a:lstStyle/>
          <a:p>
            <a:pPr marL="203200" indent="-203200">
              <a:lnSpc>
                <a:spcPts val="1500"/>
              </a:lnSpc>
              <a:spcAft>
                <a:spcPts val="400"/>
              </a:spcAft>
              <a:buSzPct val="100000"/>
              <a:buChar char="•"/>
            </a:pPr>
            <a:r>
              <a:rPr lang="en-US" sz="1150" dirty="0">
                <a:solidFill>
                  <a:srgbClr val="6B7280"/>
                </a:solidFill>
                <a:latin typeface="Calibri" pitchFamily="34" charset="0"/>
                <a:ea typeface="Calibri" pitchFamily="34" charset="-122"/>
                <a:cs typeface="Calibri" pitchFamily="34" charset="-120"/>
              </a:rPr>
              <a:t>The edge attribute already carries m_ij, which is most of what determines the dynamics — so the headroom for purely structural features is smaller here than in the paper’s unweighted benchmarks. Setting edge_attr to a constant is the cleaner test of topological expressivity and is the next experiment to run.</a:t>
            </a:r>
            <a:endParaRPr lang="en-US" sz="1150" dirty="0"/>
          </a:p>
          <a:p>
            <a:pPr marL="203200" indent="-203200">
              <a:lnSpc>
                <a:spcPts val="1500"/>
              </a:lnSpc>
              <a:spcAft>
                <a:spcPts val="400"/>
              </a:spcAft>
              <a:buSzPct val="100000"/>
              <a:buChar char="•"/>
            </a:pPr>
            <a:r>
              <a:rPr lang="en-US" sz="1150" dirty="0">
                <a:solidFill>
                  <a:srgbClr val="6B7280"/>
                </a:solidFill>
                <a:latin typeface="Calibri" pitchFamily="34" charset="0"/>
                <a:ea typeface="Calibri" pitchFamily="34" charset="-122"/>
                <a:cs typeface="Calibri" pitchFamily="34" charset="-120"/>
              </a:rPr>
              <a:t>The spectral normalisation α = 0.9 is a modelling choice, not a calibration: it makes the linear map contractive, and it is not derived from membrane time constants. Conclusions about the ordering of types under the neural-mass target are more defensible than conclusions about magnitudes.</a:t>
            </a:r>
            <a:endParaRPr lang="en-US" sz="1150" dirty="0"/>
          </a:p>
          <a:p>
            <a:pPr marL="203200" indent="-203200">
              <a:lnSpc>
                <a:spcPts val="1500"/>
              </a:lnSpc>
              <a:spcAft>
                <a:spcPts val="400"/>
              </a:spcAft>
              <a:buSzPct val="100000"/>
              <a:buChar char="•"/>
            </a:pPr>
            <a:r>
              <a:rPr lang="en-US" sz="1150" dirty="0">
                <a:solidFill>
                  <a:srgbClr val="6B7280"/>
                </a:solidFill>
                <a:latin typeface="Calibri" pitchFamily="34" charset="0"/>
                <a:ea typeface="Calibri" pitchFamily="34" charset="-122"/>
                <a:cs typeface="Calibri" pitchFamily="34" charset="-120"/>
              </a:rPr>
              <a:t>R² variance is real, not decoration. One fold holds roughly 17 types and a single outlier moves it considerably — which is why the MPNN’s ± 0.94 is reported rather than smoothed.</a:t>
            </a:r>
            <a:endParaRPr lang="en-US" sz="1150" dirty="0"/>
          </a:p>
        </p:txBody>
      </p:sp>
      <p:sp>
        <p:nvSpPr>
          <p:cNvPr id="14" name="Text 11"/>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graph_subnetworks/GSN_connectome_workflow.ipynb · deterministic given the notebook seeds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417320"/>
            <a:ext cx="1051560" cy="1051560"/>
          </a:xfrm>
          <a:prstGeom prst="ellipse">
            <a:avLst/>
          </a:prstGeom>
          <a:solidFill>
            <a:srgbClr val="1F7A8C"/>
          </a:solidFill>
          <a:ln w="12700">
            <a:solidFill>
              <a:srgbClr val="1F7A8C"/>
            </a:solidFill>
            <a:prstDash val="solid"/>
          </a:ln>
        </p:spPr>
      </p:sp>
      <p:sp>
        <p:nvSpPr>
          <p:cNvPr id="3" name="Text 1"/>
          <p:cNvSpPr txBox="1"/>
          <p:nvPr/>
        </p:nvSpPr>
        <p:spPr>
          <a:xfrm>
            <a:off x="548640" y="1417320"/>
            <a:ext cx="1051560" cy="10515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05</a:t>
            </a:r>
            <a:endParaRPr lang="en-US" sz="4000" dirty="0"/>
          </a:p>
        </p:txBody>
      </p:sp>
      <p:sp>
        <p:nvSpPr>
          <p:cNvPr id="4" name="Text 2"/>
          <p:cNvSpPr txBox="1"/>
          <p:nvPr/>
        </p:nvSpPr>
        <p:spPr>
          <a:xfrm>
            <a:off x="548640" y="777240"/>
            <a:ext cx="11091672" cy="274320"/>
          </a:xfrm>
          <a:prstGeom prst="rect">
            <a:avLst/>
          </a:prstGeom>
          <a:noFill/>
          <a:ln/>
        </p:spPr>
        <p:txBody>
          <a:bodyPr wrap="square" lIns="0" tIns="0" rIns="0" bIns="0" rtlCol="0" anchor="ctr"/>
          <a:lstStyle/>
          <a:p>
            <a:pPr indent="0" marL="0">
              <a:buNone/>
            </a:pPr>
            <a:r>
              <a:rPr lang="en-US" sz="1000" b="1" spc="200" kern="0" dirty="0">
                <a:solidFill>
                  <a:srgbClr val="B9CEDE"/>
                </a:solidFill>
                <a:latin typeface="Calibri" pitchFamily="34" charset="0"/>
                <a:ea typeface="Calibri" pitchFamily="34" charset="-122"/>
                <a:cs typeface="Calibri" pitchFamily="34" charset="-120"/>
              </a:rPr>
              <a:t>STAGE 05</a:t>
            </a:r>
            <a:endParaRPr lang="en-US" sz="1000" dirty="0"/>
          </a:p>
        </p:txBody>
      </p:sp>
      <p:sp>
        <p:nvSpPr>
          <p:cNvPr id="5" name="Text 3"/>
          <p:cNvSpPr txBox="1"/>
          <p:nvPr/>
        </p:nvSpPr>
        <p:spPr>
          <a:xfrm>
            <a:off x="1874520" y="1371600"/>
            <a:ext cx="9765792" cy="11430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Eigen and Schur decomposition</a:t>
            </a:r>
            <a:endParaRPr lang="en-US" sz="3200" dirty="0"/>
          </a:p>
        </p:txBody>
      </p:sp>
      <p:sp>
        <p:nvSpPr>
          <p:cNvPr id="6" name="Text 4"/>
          <p:cNvSpPr txBox="1"/>
          <p:nvPr/>
        </p:nvSpPr>
        <p:spPr>
          <a:xfrm>
            <a:off x="548640" y="3063240"/>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QUESTION</a:t>
            </a:r>
            <a:endParaRPr lang="en-US" sz="950" dirty="0"/>
          </a:p>
        </p:txBody>
      </p:sp>
      <p:sp>
        <p:nvSpPr>
          <p:cNvPr id="7" name="Text 5"/>
          <p:cNvSpPr txBox="1"/>
          <p:nvPr/>
        </p:nvSpPr>
        <p:spPr>
          <a:xfrm>
            <a:off x="1874520" y="3026664"/>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Where do the network’s modes live, how do they couple, and what does removing the within-type diagonal do to any of it?</a:t>
            </a:r>
            <a:endParaRPr lang="en-US" sz="1450" dirty="0"/>
          </a:p>
        </p:txBody>
      </p:sp>
      <p:sp>
        <p:nvSpPr>
          <p:cNvPr id="8" name="Text 6"/>
          <p:cNvSpPr txBox="1"/>
          <p:nvPr/>
        </p:nvSpPr>
        <p:spPr>
          <a:xfrm>
            <a:off x="548640" y="4123944"/>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METHOD</a:t>
            </a:r>
            <a:endParaRPr lang="en-US" sz="950" dirty="0"/>
          </a:p>
        </p:txBody>
      </p:sp>
      <p:sp>
        <p:nvSpPr>
          <p:cNvPr id="9" name="Text 7"/>
          <p:cNvSpPr txBox="1"/>
          <p:nvPr/>
        </p:nvSpPr>
        <p:spPr>
          <a:xfrm>
            <a:off x="1874520" y="4087368"/>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Complex Schur decomposition A = Q T Q* of the oriented, spectral-radius-normalised state matrix; modal seeding and propagation; greedy top-contributor trees per mode; matched with-self / no-self comparison across all ten notebooks.</a:t>
            </a:r>
            <a:endParaRPr lang="en-US" sz="1450" dirty="0"/>
          </a:p>
        </p:txBody>
      </p:sp>
      <p:sp>
        <p:nvSpPr>
          <p:cNvPr id="10" name="Text 8"/>
          <p:cNvSpPr txBox="1"/>
          <p:nvPr/>
        </p:nvSpPr>
        <p:spPr>
          <a:xfrm>
            <a:off x="548640" y="5184648"/>
            <a:ext cx="1234440" cy="310896"/>
          </a:xfrm>
          <a:prstGeom prst="rect">
            <a:avLst/>
          </a:prstGeom>
          <a:noFill/>
          <a:ln/>
        </p:spPr>
        <p:txBody>
          <a:bodyPr wrap="square" lIns="0" tIns="0" rIns="0" bIns="0" rtlCol="0" anchor="t"/>
          <a:lstStyle/>
          <a:p>
            <a:pPr indent="0" marL="0">
              <a:buNone/>
            </a:pPr>
            <a:r>
              <a:rPr lang="en-US" sz="950" b="1" spc="150" kern="0" dirty="0">
                <a:solidFill>
                  <a:srgbClr val="D9A441"/>
                </a:solidFill>
                <a:latin typeface="Calibri" pitchFamily="34" charset="0"/>
                <a:ea typeface="Calibri" pitchFamily="34" charset="-122"/>
                <a:cs typeface="Calibri" pitchFamily="34" charset="-120"/>
              </a:rPr>
              <a:t>FINDING</a:t>
            </a:r>
            <a:endParaRPr lang="en-US" sz="950" dirty="0"/>
          </a:p>
        </p:txBody>
      </p:sp>
      <p:sp>
        <p:nvSpPr>
          <p:cNvPr id="11" name="Text 9"/>
          <p:cNvSpPr txBox="1"/>
          <p:nvPr/>
        </p:nvSpPr>
        <p:spPr>
          <a:xfrm>
            <a:off x="1874520" y="5148072"/>
            <a:ext cx="9765792" cy="960120"/>
          </a:xfrm>
          <a:prstGeom prst="rect">
            <a:avLst/>
          </a:prstGeom>
          <a:noFill/>
          <a:ln/>
        </p:spPr>
        <p:txBody>
          <a:bodyPr wrap="square" lIns="0" tIns="0" rIns="0" bIns="0" rtlCol="0" anchor="t"/>
          <a:lstStyle/>
          <a:p>
            <a:pPr indent="0" marL="0">
              <a:lnSpc>
                <a:spcPts val="2000"/>
              </a:lnSpc>
              <a:buNone/>
            </a:pPr>
            <a:r>
              <a:rPr lang="en-US" sz="1450" b="1" dirty="0">
                <a:solidFill>
                  <a:srgbClr val="FFFFFF"/>
                </a:solidFill>
                <a:latin typeface="Calibri" pitchFamily="34" charset="0"/>
                <a:ea typeface="Calibri" pitchFamily="34" charset="-122"/>
                <a:cs typeface="Calibri" pitchFamily="34" charset="-120"/>
              </a:rPr>
              <a:t>Removing self-connections nearly triples non-normality (5,870 → 18,320) while preserving the dominant modal direction (overlap 0.901). The influence does not disappear — normalisation redistributes it into off-diagonal pathways.</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05 · METHOD</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Why Schur and not eigendecomposition</a:t>
            </a:r>
            <a:endParaRPr lang="en-US" sz="2700" dirty="0"/>
          </a:p>
        </p:txBody>
      </p:sp>
      <p:sp>
        <p:nvSpPr>
          <p:cNvPr id="4" name="Shape 2"/>
          <p:cNvSpPr/>
          <p:nvPr/>
        </p:nvSpPr>
        <p:spPr>
          <a:xfrm>
            <a:off x="11247120" y="402336"/>
            <a:ext cx="512064" cy="512064"/>
          </a:xfrm>
          <a:prstGeom prst="ellipse">
            <a:avLst/>
          </a:prstGeom>
          <a:solidFill>
            <a:srgbClr val="1F7A8C"/>
          </a:solidFill>
          <a:ln w="12700">
            <a:solidFill>
              <a:srgbClr val="1F7A8C"/>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6" name="Text 4"/>
          <p:cNvSpPr txBox="1"/>
          <p:nvPr/>
        </p:nvSpPr>
        <p:spPr>
          <a:xfrm>
            <a:off x="548640" y="1335024"/>
            <a:ext cx="11091672" cy="365760"/>
          </a:xfrm>
          <a:prstGeom prst="rect">
            <a:avLst/>
          </a:prstGeom>
          <a:noFill/>
          <a:ln/>
        </p:spPr>
        <p:txBody>
          <a:bodyPr wrap="square" lIns="0" tIns="0" rIns="0" bIns="0" rtlCol="0" anchor="t"/>
          <a:lstStyle/>
          <a:p>
            <a:pPr algn="l" indent="0" marL="0">
              <a:lnSpc>
                <a:spcPts val="1900"/>
              </a:lnSpc>
              <a:buNone/>
            </a:pPr>
            <a:r>
              <a:rPr lang="en-US" sz="1450" b="1" dirty="0">
                <a:solidFill>
                  <a:srgbClr val="3D5A80"/>
                </a:solidFill>
                <a:latin typeface="Cambria" pitchFamily="34" charset="0"/>
                <a:ea typeface="Cambria" pitchFamily="34" charset="-122"/>
                <a:cs typeface="Cambria" pitchFamily="34" charset="-120"/>
              </a:rPr>
              <a:t>A  =  Q T Q*        Q unitary, T upper-triangular — the diagonal is the spectrum, the upper triangle is mode-to-mode coupling.</a:t>
            </a:r>
            <a:endParaRPr lang="en-US" sz="1450" dirty="0"/>
          </a:p>
        </p:txBody>
      </p:sp>
      <p:sp>
        <p:nvSpPr>
          <p:cNvPr id="7" name="Text 5"/>
          <p:cNvSpPr txBox="1"/>
          <p:nvPr/>
        </p:nvSpPr>
        <p:spPr>
          <a:xfrm>
            <a:off x="548640" y="1874520"/>
            <a:ext cx="6949440" cy="2743200"/>
          </a:xfrm>
          <a:prstGeom prst="rect">
            <a:avLst/>
          </a:prstGeom>
          <a:noFill/>
          <a:ln/>
        </p:spPr>
        <p:txBody>
          <a:bodyPr wrap="square" lIns="0" tIns="0" rIns="0" bIns="0" rtlCol="0" anchor="t"/>
          <a:lstStyle/>
          <a:p>
            <a:pPr marL="203200" indent="-203200">
              <a:lnSpc>
                <a:spcPts val="1700"/>
              </a:lnSpc>
              <a:spcAft>
                <a:spcPts val="900"/>
              </a:spcAft>
              <a:buSzPct val="100000"/>
              <a:buChar char="•"/>
            </a:pPr>
            <a:r>
              <a:rPr lang="en-US" sz="1250" dirty="0">
                <a:solidFill>
                  <a:srgbClr val="1A1F2B"/>
                </a:solidFill>
                <a:latin typeface="Calibri" pitchFamily="34" charset="0"/>
                <a:ea typeface="Calibri" pitchFamily="34" charset="-122"/>
                <a:cs typeface="Calibri" pitchFamily="34" charset="-120"/>
              </a:rPr>
              <a:t>This matrix is directed and strongly non-normal. Eigenvalues alone do not describe transient amplification or directional coupling, and the eigenvector basis is badly conditioned — condition number 9.9 × 10⁴, so modes are not separately excitable and cannot be treated as independent channels.</a:t>
            </a:r>
            <a:endParaRPr lang="en-US" sz="1250" dirty="0"/>
          </a:p>
          <a:p>
            <a:pPr marL="203200" indent="-203200">
              <a:lnSpc>
                <a:spcPts val="1700"/>
              </a:lnSpc>
              <a:spcAft>
                <a:spcPts val="900"/>
              </a:spcAft>
              <a:buSzPct val="100000"/>
              <a:buChar char="•"/>
            </a:pPr>
            <a:r>
              <a:rPr lang="en-US" sz="1250" dirty="0">
                <a:solidFill>
                  <a:srgbClr val="1A1F2B"/>
                </a:solidFill>
                <a:latin typeface="Calibri" pitchFamily="34" charset="0"/>
                <a:ea typeface="Calibri" pitchFamily="34" charset="-122"/>
                <a:cs typeface="Calibri" pitchFamily="34" charset="-120"/>
              </a:rPr>
              <a:t>Q is unitary, so Schur coordinates are numerically stable where the modal basis is not, and the triangular structure keeps the cascade visible instead of collapsing it into a diagonal.</a:t>
            </a:r>
            <a:endParaRPr lang="en-US" sz="1250" dirty="0"/>
          </a:p>
          <a:p>
            <a:pPr marL="203200" indent="-203200">
              <a:lnSpc>
                <a:spcPts val="1700"/>
              </a:lnSpc>
              <a:spcAft>
                <a:spcPts val="900"/>
              </a:spcAft>
              <a:buSzPct val="100000"/>
              <a:buChar char="•"/>
            </a:pPr>
            <a:r>
              <a:rPr lang="en-US" sz="1250" dirty="0">
                <a:solidFill>
                  <a:srgbClr val="1A1F2B"/>
                </a:solidFill>
                <a:latin typeface="Calibri" pitchFamily="34" charset="0"/>
                <a:ea typeface="Calibri" pitchFamily="34" charset="-122"/>
                <a:cs typeface="Calibri" pitchFamily="34" charset="-120"/>
              </a:rPr>
              <a:t>Direction convention: in p = Q*x we have ṗ_m = Σ_n T[m,n] p_n, so a non-zero T[m,n] with n &gt; m means mode n drives mode m. The cascade runs high index to low index.</a:t>
            </a:r>
            <a:endParaRPr lang="en-US" sz="1250" dirty="0"/>
          </a:p>
          <a:p>
            <a:pPr marL="203200" indent="-203200">
              <a:lnSpc>
                <a:spcPts val="1700"/>
              </a:lnSpc>
              <a:spcAft>
                <a:spcPts val="900"/>
              </a:spcAft>
              <a:buSzPct val="100000"/>
              <a:buChar char="•"/>
            </a:pPr>
            <a:r>
              <a:rPr lang="en-US" sz="1250" dirty="0">
                <a:solidFill>
                  <a:srgbClr val="1A1F2B"/>
                </a:solidFill>
                <a:latin typeface="Calibri" pitchFamily="34" charset="0"/>
                <a:ea typeface="Calibri" pitchFamily="34" charset="-122"/>
                <a:cs typeface="Calibri" pitchFamily="34" charset="-120"/>
              </a:rPr>
              <a:t>Borst &amp; Leibold want R lower-triangular so the lower triangle reads as forward flow; scipy returns upper-triangular. Converting is a basis reversal — J = I[::−1], R = J T Jᵀ, Z = Q Jᵀ — not a transpose. Transposing would change the operator.</a:t>
            </a:r>
            <a:endParaRPr lang="en-US" sz="1250" dirty="0"/>
          </a:p>
        </p:txBody>
      </p:sp>
      <p:pic>
        <p:nvPicPr>
          <p:cNvPr id="8" name="Image 0" descr="/mnt/user-data/uploads/AscoliLab/jacobian_analysis/outputs/01_jacobian_construction/schur_coupling.png">    </p:cNvPr>
          <p:cNvPicPr>
            <a:picLocks noChangeAspect="1"/>
          </p:cNvPicPr>
          <p:nvPr/>
        </p:nvPicPr>
        <p:blipFill>
          <a:blip r:embed="rId1"/>
          <a:srcRect l="0" r="0" t="0" b="0"/>
          <a:stretch/>
        </p:blipFill>
        <p:spPr>
          <a:xfrm>
            <a:off x="7589520" y="1783080"/>
            <a:ext cx="4050792" cy="1554480"/>
          </a:xfrm>
          <a:prstGeom prst="rect">
            <a:avLst/>
          </a:prstGeom>
        </p:spPr>
      </p:pic>
      <p:sp>
        <p:nvSpPr>
          <p:cNvPr id="9" name="Shape 6"/>
          <p:cNvSpPr/>
          <p:nvPr/>
        </p:nvSpPr>
        <p:spPr>
          <a:xfrm>
            <a:off x="7589520" y="3520440"/>
            <a:ext cx="4050792" cy="1097280"/>
          </a:xfrm>
          <a:prstGeom prst="roundRect">
            <a:avLst>
              <a:gd name="adj" fmla="val 4167"/>
            </a:avLst>
          </a:prstGeom>
          <a:solidFill>
            <a:srgbClr val="FBEFEA"/>
          </a:solidFill>
          <a:ln w="12700">
            <a:solidFill>
              <a:srgbClr val="FBEFEA"/>
            </a:solidFill>
            <a:prstDash val="solid"/>
          </a:ln>
        </p:spPr>
      </p:sp>
      <p:sp>
        <p:nvSpPr>
          <p:cNvPr id="10" name="Text 7"/>
          <p:cNvSpPr txBox="1"/>
          <p:nvPr/>
        </p:nvSpPr>
        <p:spPr>
          <a:xfrm>
            <a:off x="7845552" y="3630168"/>
            <a:ext cx="3538728" cy="274320"/>
          </a:xfrm>
          <a:prstGeom prst="rect">
            <a:avLst/>
          </a:prstGeom>
          <a:noFill/>
          <a:ln/>
        </p:spPr>
        <p:txBody>
          <a:bodyPr wrap="square" lIns="0" tIns="0" rIns="0" bIns="0" rtlCol="0" anchor="ctr"/>
          <a:lstStyle/>
          <a:p>
            <a:pPr indent="0" marL="0">
              <a:buNone/>
            </a:pPr>
            <a:r>
              <a:rPr lang="en-US" sz="1200" b="1" dirty="0">
                <a:solidFill>
                  <a:srgbClr val="C1553B"/>
                </a:solidFill>
                <a:latin typeface="Calibri" pitchFamily="34" charset="0"/>
                <a:ea typeface="Calibri" pitchFamily="34" charset="-122"/>
                <a:cs typeface="Calibri" pitchFamily="34" charset="-120"/>
              </a:rPr>
              <a:t>Open item, flagged not fixed</a:t>
            </a:r>
            <a:endParaRPr lang="en-US" sz="1200" dirty="0"/>
          </a:p>
        </p:txBody>
      </p:sp>
      <p:sp>
        <p:nvSpPr>
          <p:cNvPr id="11" name="Text 8"/>
          <p:cNvSpPr txBox="1"/>
          <p:nvPr/>
        </p:nvSpPr>
        <p:spPr>
          <a:xfrm>
            <a:off x="7845552" y="3904488"/>
            <a:ext cx="3538728" cy="621792"/>
          </a:xfrm>
          <a:prstGeom prst="rect">
            <a:avLst/>
          </a:prstGeom>
          <a:noFill/>
          <a:ln/>
        </p:spPr>
        <p:txBody>
          <a:bodyPr wrap="square" lIns="0" tIns="0" rIns="0" bIns="0" rtlCol="0" anchor="t"/>
          <a:lstStyle/>
          <a:p>
            <a:pPr indent="0" marL="0">
              <a:lnSpc>
                <a:spcPts val="1400"/>
              </a:lnSpc>
              <a:buNone/>
            </a:pPr>
            <a:r>
              <a:rPr lang="en-US" sz="1100" dirty="0">
                <a:solidFill>
                  <a:srgbClr val="6B7280"/>
                </a:solidFill>
                <a:latin typeface="Calibri" pitchFamily="34" charset="0"/>
                <a:ea typeface="Calibri" pitchFamily="34" charset="-122"/>
                <a:cs typeface="Calibri" pitchFamily="34" charset="-120"/>
              </a:rPr>
              <a:t>Notebook 03 labels this coupling backwards — schur_upper_coupling_out_abs is read as flow into later modes when it is flow in from them. It affects labels and prose, not the invariant rankings.</a:t>
            </a:r>
            <a:endParaRPr lang="en-US" sz="1100" dirty="0"/>
          </a:p>
        </p:txBody>
      </p:sp>
      <p:sp>
        <p:nvSpPr>
          <p:cNvPr id="12" name="Shape 9"/>
          <p:cNvSpPr/>
          <p:nvPr/>
        </p:nvSpPr>
        <p:spPr>
          <a:xfrm>
            <a:off x="548640" y="4800600"/>
            <a:ext cx="11091672" cy="1298448"/>
          </a:xfrm>
          <a:prstGeom prst="roundRect">
            <a:avLst>
              <a:gd name="adj" fmla="val 3521"/>
            </a:avLst>
          </a:prstGeom>
          <a:solidFill>
            <a:srgbClr val="EDF3F6"/>
          </a:solidFill>
          <a:ln w="12700">
            <a:solidFill>
              <a:srgbClr val="EDF3F6"/>
            </a:solidFill>
            <a:prstDash val="solid"/>
          </a:ln>
        </p:spPr>
      </p:sp>
      <p:sp>
        <p:nvSpPr>
          <p:cNvPr id="13" name="Text 10"/>
          <p:cNvSpPr txBox="1"/>
          <p:nvPr/>
        </p:nvSpPr>
        <p:spPr>
          <a:xfrm>
            <a:off x="841248" y="4919472"/>
            <a:ext cx="10506456" cy="292608"/>
          </a:xfrm>
          <a:prstGeom prst="rect">
            <a:avLst/>
          </a:prstGeom>
          <a:noFill/>
          <a:ln/>
        </p:spPr>
        <p:txBody>
          <a:bodyPr wrap="square" lIns="0" tIns="0" rIns="0" bIns="0" rtlCol="0" anchor="ctr"/>
          <a:lstStyle/>
          <a:p>
            <a:pPr indent="0" marL="0">
              <a:buNone/>
            </a:pPr>
            <a:r>
              <a:rPr lang="en-US" sz="1300" b="1" dirty="0">
                <a:solidFill>
                  <a:srgbClr val="1F7A8C"/>
                </a:solidFill>
                <a:latin typeface="Calibri" pitchFamily="34" charset="0"/>
                <a:ea typeface="Calibri" pitchFamily="34" charset="-122"/>
                <a:cs typeface="Calibri" pitchFamily="34" charset="-120"/>
              </a:rPr>
              <a:t>What survives a wrong transpose, and what does not</a:t>
            </a:r>
            <a:endParaRPr lang="en-US" sz="1300" dirty="0"/>
          </a:p>
        </p:txBody>
      </p:sp>
      <p:sp>
        <p:nvSpPr>
          <p:cNvPr id="14" name="Text 11"/>
          <p:cNvSpPr txBox="1"/>
          <p:nvPr/>
        </p:nvSpPr>
        <p:spPr>
          <a:xfrm>
            <a:off x="841248" y="5230368"/>
            <a:ext cx="10506456" cy="777240"/>
          </a:xfrm>
          <a:prstGeom prst="rect">
            <a:avLst/>
          </a:prstGeom>
          <a:noFill/>
          <a:ln/>
        </p:spPr>
        <p:txBody>
          <a:bodyPr wrap="square" lIns="0" tIns="0" rIns="0" bIns="0" rtlCol="0" anchor="t"/>
          <a:lstStyle/>
          <a:p>
            <a:pPr indent="0" marL="0">
              <a:lnSpc>
                <a:spcPts val="1600"/>
              </a:lnSpc>
              <a:buNone/>
            </a:pPr>
            <a:r>
              <a:rPr lang="en-US" sz="1200" dirty="0">
                <a:solidFill>
                  <a:srgbClr val="1A1F2B"/>
                </a:solidFill>
                <a:latin typeface="Calibri" pitchFamily="34" charset="0"/>
                <a:ea typeface="Calibri" pitchFamily="34" charset="-122"/>
                <a:cs typeface="Calibri" pitchFamily="34" charset="-120"/>
              </a:rPr>
              <a:t>Invariant: spectral radius and every eigenvalue, the Schur off-diagonal norm and departure ratio, resolvent gain and condition number at z = 1 — so the headline motif rankings hold either way.   Not invariant: every cell-attributed quantity — node Schur participation, dominant Schur node, and the entire signed-overlap operator in notebook 04, which is built from signed loadings. That is the part to verify rather than assume.</a:t>
            </a:r>
            <a:endParaRPr lang="en-US" sz="1200" dirty="0"/>
          </a:p>
        </p:txBody>
      </p:sp>
      <p:sp>
        <p:nvSpPr>
          <p:cNvPr id="15" name="Text 12"/>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schur_decomp/01–06 · Goldman MS (2009) Neuron 61:621–634, the feedforward-in-transformed-coordinates result Eq. 10 builds on.</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05 · RESULTS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Matched normalised dynamics, with and without the diagonal</a:t>
            </a:r>
            <a:endParaRPr lang="en-US" sz="2700" dirty="0"/>
          </a:p>
        </p:txBody>
      </p:sp>
      <p:sp>
        <p:nvSpPr>
          <p:cNvPr id="4" name="Shape 2"/>
          <p:cNvSpPr/>
          <p:nvPr/>
        </p:nvSpPr>
        <p:spPr>
          <a:xfrm>
            <a:off x="11247120" y="402336"/>
            <a:ext cx="512064" cy="512064"/>
          </a:xfrm>
          <a:prstGeom prst="ellipse">
            <a:avLst/>
          </a:prstGeom>
          <a:solidFill>
            <a:srgbClr val="1F7A8C"/>
          </a:solidFill>
          <a:ln w="12700">
            <a:solidFill>
              <a:srgbClr val="1F7A8C"/>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1672" cy="914400"/>
        </p:xfrm>
        <a:graphic>
          <a:graphicData uri="http://schemas.openxmlformats.org/drawingml/2006/table">
            <a:tbl>
              <a:tblPr/>
              <a:tblGrid>
                <a:gridCol w="1947672"/>
                <a:gridCol w="1828800"/>
                <a:gridCol w="1828800"/>
                <a:gridCol w="1828800"/>
                <a:gridCol w="2011680"/>
                <a:gridCol w="164592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Variant</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Raw ρ</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Achieved ρ</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‖M‖_F</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Non-normality</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Signal at t = 10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47472">
                <a:tc>
                  <a:txBody>
                    <a:bodyPr/>
                    <a:lstStyle/>
                    <a:p>
                      <a:pPr algn="l" indent="0" marL="0">
                        <a:buNone/>
                      </a:pPr>
                      <a:r>
                        <a:rPr lang="en-US" sz="1200" b="1" dirty="0">
                          <a:solidFill>
                            <a:srgbClr val="1A1F2B"/>
                          </a:solidFill>
                          <a:latin typeface="Calibri" pitchFamily="34" charset="0"/>
                          <a:ea typeface="Calibri" pitchFamily="34" charset="-122"/>
                          <a:cs typeface="Calibri" pitchFamily="34" charset="-120"/>
                        </a:rPr>
                        <a:t>with_self</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26,213.13</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77.18</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5,869.90</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17.35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47472">
                <a:tc>
                  <a:txBody>
                    <a:bodyPr/>
                    <a:lstStyle/>
                    <a:p>
                      <a:pPr algn="l" indent="0" marL="0">
                        <a:buNone/>
                      </a:pPr>
                      <a:r>
                        <a:rPr lang="en-US" sz="1200" b="1" dirty="0">
                          <a:solidFill>
                            <a:srgbClr val="1A1F2B"/>
                          </a:solidFill>
                          <a:latin typeface="Calibri" pitchFamily="34" charset="0"/>
                          <a:ea typeface="Calibri" pitchFamily="34" charset="-122"/>
                          <a:cs typeface="Calibri" pitchFamily="34" charset="-120"/>
                        </a:rPr>
                        <a:t>no_self</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14,837.87</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136.35</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18,319.83</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latin typeface="Calibri" pitchFamily="34" charset="0"/>
                          <a:ea typeface="Calibri" pitchFamily="34" charset="-122"/>
                          <a:cs typeface="Calibri" pitchFamily="34" charset="-120"/>
                        </a:rPr>
                        <a:t>39.48</a:t>
                      </a:r>
                      <a:endParaRPr lang="en-US" sz="12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pic>
        <p:nvPicPr>
          <p:cNvPr id="7" name="Image 0" descr="/mnt/user-data/uploads/AscoliLab/schur_decomp/outputs/schur_decomp_project/schur_decomp_self_comparison.png">    </p:cNvPr>
          <p:cNvPicPr>
            <a:picLocks noChangeAspect="1"/>
          </p:cNvPicPr>
          <p:nvPr/>
        </p:nvPicPr>
        <p:blipFill>
          <a:blip r:embed="rId1"/>
          <a:srcRect l="0" r="0" t="0" b="0"/>
          <a:stretch/>
        </p:blipFill>
        <p:spPr>
          <a:xfrm>
            <a:off x="548640" y="2697480"/>
            <a:ext cx="5349240" cy="1691640"/>
          </a:xfrm>
          <a:prstGeom prst="rect">
            <a:avLst/>
          </a:prstGeom>
        </p:spPr>
      </p:pic>
      <p:sp>
        <p:nvSpPr>
          <p:cNvPr id="8" name="Text 4"/>
          <p:cNvSpPr txBox="1"/>
          <p:nvPr/>
        </p:nvSpPr>
        <p:spPr>
          <a:xfrm>
            <a:off x="6126480" y="2697480"/>
            <a:ext cx="5513832" cy="3291840"/>
          </a:xfrm>
          <a:prstGeom prst="rect">
            <a:avLst/>
          </a:prstGeom>
          <a:noFill/>
          <a:ln/>
        </p:spPr>
        <p:txBody>
          <a:bodyPr wrap="square" lIns="0" tIns="0" rIns="0" bIns="0" rtlCol="0" anchor="t"/>
          <a:lstStyle/>
          <a:p>
            <a:pPr marL="203200" indent="-203200">
              <a:lnSpc>
                <a:spcPts val="1500"/>
              </a:lnSpc>
              <a:spcAft>
                <a:spcPts val="700"/>
              </a:spcAft>
              <a:buSzPct val="100000"/>
              <a:buChar char="•"/>
            </a:pPr>
            <a:r>
              <a:rPr lang="en-US" sz="1150" dirty="0">
                <a:solidFill>
                  <a:srgbClr val="1A1F2B"/>
                </a:solidFill>
                <a:latin typeface="Calibri" pitchFamily="34" charset="0"/>
                <a:ea typeface="Calibri" pitchFamily="34" charset="-122"/>
                <a:cs typeface="Calibri" pitchFamily="34" charset="-120"/>
              </a:rPr>
              <a:t>Dominant vector overlap between variants is 0.901 — the dominant modal direction is broadly preserved when self-connections are removed.</a:t>
            </a:r>
            <a:endParaRPr lang="en-US" sz="1150" dirty="0"/>
          </a:p>
          <a:p>
            <a:pPr marL="203200" indent="-203200">
              <a:lnSpc>
                <a:spcPts val="1500"/>
              </a:lnSpc>
              <a:spcAft>
                <a:spcPts val="700"/>
              </a:spcAft>
              <a:buSzPct val="100000"/>
              <a:buChar char="•"/>
            </a:pPr>
            <a:r>
              <a:rPr lang="en-US" sz="1150" dirty="0">
                <a:solidFill>
                  <a:srgbClr val="1A1F2B"/>
                </a:solidFill>
                <a:latin typeface="Calibri" pitchFamily="34" charset="0"/>
                <a:ea typeface="Calibri" pitchFamily="34" charset="-122"/>
                <a:cs typeface="Calibri" pitchFamily="34" charset="-120"/>
              </a:rPr>
              <a:t>Regional dominance: CA1 dominates 26 of 85 Schur modes, CA3 and DG 15 each, MEC 12. High-loading cells are predominantly inhibitory — CA1-dominant modes average 25.46 high-loading inhibitory cells, CA3 modes 27.67, DG modes 26.20.</a:t>
            </a:r>
            <a:endParaRPr lang="en-US" sz="1150" dirty="0"/>
          </a:p>
          <a:p>
            <a:pPr marL="203200" indent="-203200">
              <a:lnSpc>
                <a:spcPts val="1500"/>
              </a:lnSpc>
              <a:spcAft>
                <a:spcPts val="700"/>
              </a:spcAft>
              <a:buSzPct val="100000"/>
              <a:buChar char="•"/>
            </a:pPr>
            <a:r>
              <a:rPr lang="en-US" sz="1150" dirty="0">
                <a:solidFill>
                  <a:srgbClr val="1A1F2B"/>
                </a:solidFill>
                <a:latin typeface="Calibri" pitchFamily="34" charset="0"/>
                <a:ea typeface="Calibri" pitchFamily="34" charset="-122"/>
                <a:cs typeface="Calibri" pitchFamily="34" charset="-120"/>
              </a:rPr>
              <a:t>Greedy top-contributor trees average 4.26 edges and 2.74 connected components per mode: many modal contributor sets are not explained by a single connected source tree. Leading modes are dominated by the same inhibitory cells that top the disinhibition ranking in Stage 2 — MEC LIII Superficial Multipolar, DG AIPRIM, CA1 Trilaminar.</a:t>
            </a:r>
            <a:endParaRPr lang="en-US" sz="1150" dirty="0"/>
          </a:p>
          <a:p>
            <a:pPr marL="203200" indent="-203200">
              <a:lnSpc>
                <a:spcPts val="1500"/>
              </a:lnSpc>
              <a:spcAft>
                <a:spcPts val="700"/>
              </a:spcAft>
              <a:buSzPct val="100000"/>
              <a:buChar char="•"/>
            </a:pPr>
            <a:r>
              <a:rPr lang="en-US" sz="1150" dirty="0">
                <a:solidFill>
                  <a:srgbClr val="1A1F2B"/>
                </a:solidFill>
                <a:latin typeface="Calibri" pitchFamily="34" charset="0"/>
                <a:ea typeface="Calibri" pitchFamily="34" charset="-122"/>
                <a:cs typeface="Calibri" pitchFamily="34" charset="-120"/>
              </a:rPr>
              <a:t>Linear-systems companion, no_self vs with_self after matched normalisation: cumulative path ‖·‖_F 323.87 vs 131.96, Gramian trace 56,246 vs 9,547, Gramian condition 42,740 vs 5,767, peak gain 193.43 vs 69.39, both peaking at frequency 0.01.</a:t>
            </a:r>
            <a:endParaRPr lang="en-US" sz="1150" dirty="0"/>
          </a:p>
        </p:txBody>
      </p:sp>
      <p:sp>
        <p:nvSpPr>
          <p:cNvPr id="9" name="Shape 5"/>
          <p:cNvSpPr/>
          <p:nvPr/>
        </p:nvSpPr>
        <p:spPr>
          <a:xfrm>
            <a:off x="548640" y="4572000"/>
            <a:ext cx="5349240" cy="1572768"/>
          </a:xfrm>
          <a:prstGeom prst="roundRect">
            <a:avLst>
              <a:gd name="adj" fmla="val 2907"/>
            </a:avLst>
          </a:prstGeom>
          <a:solidFill>
            <a:srgbClr val="FBEFEA"/>
          </a:solidFill>
          <a:ln w="12700">
            <a:solidFill>
              <a:srgbClr val="FBEFEA"/>
            </a:solidFill>
            <a:prstDash val="solid"/>
          </a:ln>
        </p:spPr>
      </p:sp>
      <p:sp>
        <p:nvSpPr>
          <p:cNvPr id="10" name="Text 6"/>
          <p:cNvSpPr txBox="1"/>
          <p:nvPr/>
        </p:nvSpPr>
        <p:spPr>
          <a:xfrm>
            <a:off x="804672" y="4681728"/>
            <a:ext cx="4846320" cy="274320"/>
          </a:xfrm>
          <a:prstGeom prst="rect">
            <a:avLst/>
          </a:prstGeom>
          <a:noFill/>
          <a:ln/>
        </p:spPr>
        <p:txBody>
          <a:bodyPr wrap="square" lIns="0" tIns="0" rIns="0" bIns="0" rtlCol="0" anchor="ctr"/>
          <a:lstStyle/>
          <a:p>
            <a:pPr indent="0" marL="0">
              <a:buNone/>
            </a:pPr>
            <a:r>
              <a:rPr lang="en-US" sz="1250" b="1" dirty="0">
                <a:solidFill>
                  <a:srgbClr val="C1553B"/>
                </a:solidFill>
                <a:latin typeface="Calibri" pitchFamily="34" charset="0"/>
                <a:ea typeface="Calibri" pitchFamily="34" charset="-122"/>
                <a:cs typeface="Calibri" pitchFamily="34" charset="-120"/>
              </a:rPr>
              <a:t>How to read the no-self column</a:t>
            </a:r>
            <a:endParaRPr lang="en-US" sz="1250" dirty="0"/>
          </a:p>
        </p:txBody>
      </p:sp>
      <p:sp>
        <p:nvSpPr>
          <p:cNvPr id="11" name="Text 7"/>
          <p:cNvSpPr txBox="1"/>
          <p:nvPr/>
        </p:nvSpPr>
        <p:spPr>
          <a:xfrm>
            <a:off x="804672" y="4956048"/>
            <a:ext cx="4846320" cy="1115568"/>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Calibri" pitchFamily="34" charset="0"/>
                <a:ea typeface="Calibri" pitchFamily="34" charset="-122"/>
                <a:cs typeface="Calibri" pitchFamily="34" charset="-120"/>
              </a:rPr>
              <a:t>The two variants are normalised independently, so this is not a raw-diagonal-mass comparison. The consistent pattern — higher non-normality, stronger propagation, larger gain and larger Gramian trace without the diagonal — is a structural consequence of normalisation redistributing influence into off-diagonal pathways, and should be stated that way rather than as "self-connections suppress propagation".</a:t>
            </a:r>
            <a:endParaRPr lang="en-US" sz="1050" dirty="0"/>
          </a:p>
        </p:txBody>
      </p:sp>
      <p:sp>
        <p:nvSpPr>
          <p:cNvPr id="12" name="Text 8"/>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schur_decomp/02, 04, 05, 08, 10 · outputs/schur_modes, schur_mode_greedy_trees, network_linear_systems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417320"/>
            <a:ext cx="1051560" cy="1051560"/>
          </a:xfrm>
          <a:prstGeom prst="ellipse">
            <a:avLst/>
          </a:prstGeom>
          <a:solidFill>
            <a:srgbClr val="C1553B"/>
          </a:solidFill>
          <a:ln w="12700">
            <a:solidFill>
              <a:srgbClr val="C1553B"/>
            </a:solidFill>
            <a:prstDash val="solid"/>
          </a:ln>
        </p:spPr>
      </p:sp>
      <p:sp>
        <p:nvSpPr>
          <p:cNvPr id="3" name="Text 1"/>
          <p:cNvSpPr txBox="1"/>
          <p:nvPr/>
        </p:nvSpPr>
        <p:spPr>
          <a:xfrm>
            <a:off x="548640" y="1417320"/>
            <a:ext cx="1051560" cy="10515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06</a:t>
            </a:r>
            <a:endParaRPr lang="en-US" sz="4000" dirty="0"/>
          </a:p>
        </p:txBody>
      </p:sp>
      <p:sp>
        <p:nvSpPr>
          <p:cNvPr id="4" name="Text 2"/>
          <p:cNvSpPr txBox="1"/>
          <p:nvPr/>
        </p:nvSpPr>
        <p:spPr>
          <a:xfrm>
            <a:off x="548640" y="777240"/>
            <a:ext cx="11091672" cy="274320"/>
          </a:xfrm>
          <a:prstGeom prst="rect">
            <a:avLst/>
          </a:prstGeom>
          <a:noFill/>
          <a:ln/>
        </p:spPr>
        <p:txBody>
          <a:bodyPr wrap="square" lIns="0" tIns="0" rIns="0" bIns="0" rtlCol="0" anchor="ctr"/>
          <a:lstStyle/>
          <a:p>
            <a:pPr indent="0" marL="0">
              <a:buNone/>
            </a:pPr>
            <a:r>
              <a:rPr lang="en-US" sz="1000" b="1" spc="200" kern="0" dirty="0">
                <a:solidFill>
                  <a:srgbClr val="B9CEDE"/>
                </a:solidFill>
                <a:latin typeface="Calibri" pitchFamily="34" charset="0"/>
                <a:ea typeface="Calibri" pitchFamily="34" charset="-122"/>
                <a:cs typeface="Calibri" pitchFamily="34" charset="-120"/>
              </a:rPr>
              <a:t>STAGE 06</a:t>
            </a:r>
            <a:endParaRPr lang="en-US" sz="1000" dirty="0"/>
          </a:p>
        </p:txBody>
      </p:sp>
      <p:sp>
        <p:nvSpPr>
          <p:cNvPr id="5" name="Text 3"/>
          <p:cNvSpPr txBox="1"/>
          <p:nvPr/>
        </p:nvSpPr>
        <p:spPr>
          <a:xfrm>
            <a:off x="1874520" y="1371600"/>
            <a:ext cx="9765792" cy="11430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Continuous time and non-normal structure</a:t>
            </a:r>
            <a:endParaRPr lang="en-US" sz="3200" dirty="0"/>
          </a:p>
        </p:txBody>
      </p:sp>
      <p:sp>
        <p:nvSpPr>
          <p:cNvPr id="6" name="Text 4"/>
          <p:cNvSpPr txBox="1"/>
          <p:nvPr/>
        </p:nvSpPr>
        <p:spPr>
          <a:xfrm>
            <a:off x="548640" y="3063240"/>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QUESTION</a:t>
            </a:r>
            <a:endParaRPr lang="en-US" sz="950" dirty="0"/>
          </a:p>
        </p:txBody>
      </p:sp>
      <p:sp>
        <p:nvSpPr>
          <p:cNvPr id="7" name="Text 5"/>
          <p:cNvSpPr txBox="1"/>
          <p:nvPr/>
        </p:nvSpPr>
        <p:spPr>
          <a:xfrm>
            <a:off x="1874520" y="3026664"/>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The matrix was built as a discrete Markov operator but used to talk about continuous-time dynamics. Does the conclusion survive being restated correctly?</a:t>
            </a:r>
            <a:endParaRPr lang="en-US" sz="1450" dirty="0"/>
          </a:p>
        </p:txBody>
      </p:sp>
      <p:sp>
        <p:nvSpPr>
          <p:cNvPr id="8" name="Text 6"/>
          <p:cNvSpPr txBox="1"/>
          <p:nvPr/>
        </p:nvSpPr>
        <p:spPr>
          <a:xfrm>
            <a:off x="548640" y="4123944"/>
            <a:ext cx="1234440" cy="310896"/>
          </a:xfrm>
          <a:prstGeom prst="rect">
            <a:avLst/>
          </a:prstGeom>
          <a:noFill/>
          <a:ln/>
        </p:spPr>
        <p:txBody>
          <a:bodyPr wrap="square" lIns="0" tIns="0" rIns="0" bIns="0" rtlCol="0" anchor="t"/>
          <a:lstStyle/>
          <a:p>
            <a:pPr indent="0" marL="0">
              <a:buNone/>
            </a:pPr>
            <a:r>
              <a:rPr lang="en-US" sz="950" b="1" spc="150" kern="0" dirty="0">
                <a:solidFill>
                  <a:srgbClr val="B9CEDE"/>
                </a:solidFill>
                <a:latin typeface="Calibri" pitchFamily="34" charset="0"/>
                <a:ea typeface="Calibri" pitchFamily="34" charset="-122"/>
                <a:cs typeface="Calibri" pitchFamily="34" charset="-120"/>
              </a:rPr>
              <a:t>METHOD</a:t>
            </a:r>
            <a:endParaRPr lang="en-US" sz="950" dirty="0"/>
          </a:p>
        </p:txBody>
      </p:sp>
      <p:sp>
        <p:nvSpPr>
          <p:cNvPr id="9" name="Text 7"/>
          <p:cNvSpPr txBox="1"/>
          <p:nvPr/>
        </p:nvSpPr>
        <p:spPr>
          <a:xfrm>
            <a:off x="1874520" y="4087368"/>
            <a:ext cx="9765792" cy="960120"/>
          </a:xfrm>
          <a:prstGeom prst="rect">
            <a:avLst/>
          </a:prstGeom>
          <a:noFill/>
          <a:ln/>
        </p:spPr>
        <p:txBody>
          <a:bodyPr wrap="square" lIns="0" tIns="0" rIns="0" bIns="0" rtlCol="0" anchor="t"/>
          <a:lstStyle/>
          <a:p>
            <a:pPr indent="0" marL="0">
              <a:lnSpc>
                <a:spcPts val="2000"/>
              </a:lnSpc>
              <a:buNone/>
            </a:pPr>
            <a:r>
              <a:rPr lang="en-US" sz="1450" dirty="0">
                <a:solidFill>
                  <a:srgbClr val="B9CEDE"/>
                </a:solidFill>
                <a:latin typeface="Calibri" pitchFamily="34" charset="0"/>
                <a:ea typeface="Calibri" pitchFamily="34" charset="-122"/>
                <a:cs typeface="Calibri" pitchFamily="34" charset="-120"/>
              </a:rPr>
              <a:t>τ dx/dt = −x + W x, so J = (−I + W)/τ with W the same oriented, normalised M[post, pre]. Spectral, numerical and pseudospectral abscissas; transient envelope; Kreiss bound; Henrici departure; a normal surrogate as control.</a:t>
            </a:r>
            <a:endParaRPr lang="en-US" sz="1450" dirty="0"/>
          </a:p>
        </p:txBody>
      </p:sp>
      <p:sp>
        <p:nvSpPr>
          <p:cNvPr id="10" name="Text 8"/>
          <p:cNvSpPr txBox="1"/>
          <p:nvPr/>
        </p:nvSpPr>
        <p:spPr>
          <a:xfrm>
            <a:off x="548640" y="5184648"/>
            <a:ext cx="1234440" cy="310896"/>
          </a:xfrm>
          <a:prstGeom prst="rect">
            <a:avLst/>
          </a:prstGeom>
          <a:noFill/>
          <a:ln/>
        </p:spPr>
        <p:txBody>
          <a:bodyPr wrap="square" lIns="0" tIns="0" rIns="0" bIns="0" rtlCol="0" anchor="t"/>
          <a:lstStyle/>
          <a:p>
            <a:pPr indent="0" marL="0">
              <a:buNone/>
            </a:pPr>
            <a:r>
              <a:rPr lang="en-US" sz="950" b="1" spc="150" kern="0" dirty="0">
                <a:solidFill>
                  <a:srgbClr val="D9A441"/>
                </a:solidFill>
                <a:latin typeface="Calibri" pitchFamily="34" charset="0"/>
                <a:ea typeface="Calibri" pitchFamily="34" charset="-122"/>
                <a:cs typeface="Calibri" pitchFamily="34" charset="-120"/>
              </a:rPr>
              <a:t>FINDING</a:t>
            </a:r>
            <a:endParaRPr lang="en-US" sz="950" dirty="0"/>
          </a:p>
        </p:txBody>
      </p:sp>
      <p:sp>
        <p:nvSpPr>
          <p:cNvPr id="11" name="Text 9"/>
          <p:cNvSpPr txBox="1"/>
          <p:nvPr/>
        </p:nvSpPr>
        <p:spPr>
          <a:xfrm>
            <a:off x="1874520" y="5148072"/>
            <a:ext cx="9765792" cy="960120"/>
          </a:xfrm>
          <a:prstGeom prst="rect">
            <a:avLst/>
          </a:prstGeom>
          <a:noFill/>
          <a:ln/>
        </p:spPr>
        <p:txBody>
          <a:bodyPr wrap="square" lIns="0" tIns="0" rIns="0" bIns="0" rtlCol="0" anchor="t"/>
          <a:lstStyle/>
          <a:p>
            <a:pPr indent="0" marL="0">
              <a:lnSpc>
                <a:spcPts val="2000"/>
              </a:lnSpc>
              <a:buNone/>
            </a:pPr>
            <a:r>
              <a:rPr lang="en-US" sz="1450" b="1" dirty="0">
                <a:solidFill>
                  <a:srgbClr val="FFFFFF"/>
                </a:solidFill>
                <a:latin typeface="Calibri" pitchFamily="34" charset="0"/>
                <a:ea typeface="Calibri" pitchFamily="34" charset="-122"/>
                <a:cs typeface="Calibri" pitchFamily="34" charset="-120"/>
              </a:rPr>
              <a:t>Asymptotically stable at α = −0.05, and amplifying a worst-case perturbation 27-fold before it decays. The normal surrogate carrying the same eigenvalues amplifies exactly 1.0×, so the amplification is structure, not spectrum.</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06 · FRAMING</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Restating the operator in continuous time</a:t>
            </a:r>
            <a:endParaRPr lang="en-US" sz="2700" dirty="0"/>
          </a:p>
        </p:txBody>
      </p:sp>
      <p:sp>
        <p:nvSpPr>
          <p:cNvPr id="4" name="Shape 2"/>
          <p:cNvSpPr/>
          <p:nvPr/>
        </p:nvSpPr>
        <p:spPr>
          <a:xfrm>
            <a:off x="11247120" y="402336"/>
            <a:ext cx="512064" cy="512064"/>
          </a:xfrm>
          <a:prstGeom prst="ellipse">
            <a:avLst/>
          </a:prstGeom>
          <a:solidFill>
            <a:srgbClr val="C1553B"/>
          </a:solidFill>
          <a:ln w="12700">
            <a:solidFill>
              <a:srgbClr val="C1553B"/>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6" name="Shape 4"/>
          <p:cNvSpPr/>
          <p:nvPr/>
        </p:nvSpPr>
        <p:spPr>
          <a:xfrm>
            <a:off x="548640" y="1316736"/>
            <a:ext cx="11091672" cy="841248"/>
          </a:xfrm>
          <a:prstGeom prst="roundRect">
            <a:avLst>
              <a:gd name="adj" fmla="val 5435"/>
            </a:avLst>
          </a:prstGeom>
          <a:solidFill>
            <a:srgbClr val="FBEFEA"/>
          </a:solidFill>
          <a:ln w="12700">
            <a:solidFill>
              <a:srgbClr val="FBEFEA"/>
            </a:solidFill>
            <a:prstDash val="solid"/>
          </a:ln>
        </p:spPr>
      </p:sp>
      <p:sp>
        <p:nvSpPr>
          <p:cNvPr id="7" name="Text 5"/>
          <p:cNvSpPr txBox="1"/>
          <p:nvPr/>
        </p:nvSpPr>
        <p:spPr>
          <a:xfrm>
            <a:off x="841248" y="1426464"/>
            <a:ext cx="10506456" cy="274320"/>
          </a:xfrm>
          <a:prstGeom prst="rect">
            <a:avLst/>
          </a:prstGeom>
          <a:noFill/>
          <a:ln/>
        </p:spPr>
        <p:txBody>
          <a:bodyPr wrap="square" lIns="0" tIns="0" rIns="0" bIns="0" rtlCol="0" anchor="ctr"/>
          <a:lstStyle/>
          <a:p>
            <a:pPr indent="0" marL="0">
              <a:buNone/>
            </a:pPr>
            <a:r>
              <a:rPr lang="en-US" sz="1300" b="1" dirty="0">
                <a:solidFill>
                  <a:srgbClr val="C1553B"/>
                </a:solidFill>
                <a:latin typeface="Calibri" pitchFamily="34" charset="0"/>
                <a:ea typeface="Calibri" pitchFamily="34" charset="-122"/>
                <a:cs typeface="Calibri" pitchFamily="34" charset="-120"/>
              </a:rPr>
              <a:t>The mismatch, stated for reviewers rather than left implicit</a:t>
            </a:r>
            <a:endParaRPr lang="en-US" sz="1300" dirty="0"/>
          </a:p>
        </p:txBody>
      </p:sp>
      <p:sp>
        <p:nvSpPr>
          <p:cNvPr id="8" name="Text 6"/>
          <p:cNvSpPr txBox="1"/>
          <p:nvPr/>
        </p:nvSpPr>
        <p:spPr>
          <a:xfrm>
            <a:off x="841248" y="1700784"/>
            <a:ext cx="10506456" cy="411480"/>
          </a:xfrm>
          <a:prstGeom prst="rect">
            <a:avLst/>
          </a:prstGeom>
          <a:noFill/>
          <a:ln/>
        </p:spPr>
        <p:txBody>
          <a:bodyPr wrap="square" lIns="0" tIns="0" rIns="0" bIns="0" rtlCol="0" anchor="t"/>
          <a:lstStyle/>
          <a:p>
            <a:pPr indent="0" marL="0">
              <a:buNone/>
            </a:pPr>
            <a:r>
              <a:rPr lang="en-US" sz="1250" dirty="0">
                <a:solidFill>
                  <a:srgbClr val="1A1F2B"/>
                </a:solidFill>
                <a:latin typeface="Calibri" pitchFamily="34" charset="0"/>
                <a:ea typeface="Calibri" pitchFamily="34" charset="-122"/>
                <a:cs typeface="Calibri" pitchFamily="34" charset="-120"/>
              </a:rPr>
              <a:t>M was constructed as a discrete operator — x[t+1] = M x[t], stable iff ρ(M) &lt; 1 — and then used to discuss continuous-time circuit dynamics, where stability is max Re λ &lt; 0. Those are different boundaries: a disk and a half-plane.</a:t>
            </a:r>
            <a:endParaRPr lang="en-US" sz="1250" dirty="0"/>
          </a:p>
        </p:txBody>
      </p:sp>
      <p:sp>
        <p:nvSpPr>
          <p:cNvPr id="9" name="Text 7"/>
          <p:cNvSpPr txBox="1"/>
          <p:nvPr/>
        </p:nvSpPr>
        <p:spPr>
          <a:xfrm>
            <a:off x="548640" y="2286000"/>
            <a:ext cx="11091672" cy="365760"/>
          </a:xfrm>
          <a:prstGeom prst="rect">
            <a:avLst/>
          </a:prstGeom>
          <a:noFill/>
          <a:ln/>
        </p:spPr>
        <p:txBody>
          <a:bodyPr wrap="square" lIns="0" tIns="0" rIns="0" bIns="0" rtlCol="0" anchor="t"/>
          <a:lstStyle/>
          <a:p>
            <a:pPr algn="l" indent="0" marL="0">
              <a:lnSpc>
                <a:spcPts val="2000"/>
              </a:lnSpc>
              <a:buNone/>
            </a:pPr>
            <a:r>
              <a:rPr lang="en-US" sz="1500" b="1" dirty="0">
                <a:solidFill>
                  <a:srgbClr val="3D5A80"/>
                </a:solidFill>
                <a:latin typeface="Cambria" pitchFamily="34" charset="0"/>
                <a:ea typeface="Cambria" pitchFamily="34" charset="-122"/>
                <a:cs typeface="Cambria" pitchFamily="34" charset="-120"/>
              </a:rPr>
              <a:t>τ dx_i/dt  =  −x_i  +  Σ_j W_ij x_j        J = (−I + W) / τ        stable iff max Re λ &lt; 0</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2761488"/>
          <a:ext cx="11091672" cy="914400"/>
        </p:xfrm>
        <a:graphic>
          <a:graphicData uri="http://schemas.openxmlformats.org/drawingml/2006/table">
            <a:tbl>
              <a:tblPr/>
              <a:tblGrid>
                <a:gridCol w="2926080"/>
                <a:gridCol w="3291840"/>
                <a:gridCol w="4873752"/>
              </a:tblGrid>
              <a:tr h="3657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Quantity</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Definition</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Question it answers</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Spectral abscissa</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α(J) = max Re λ</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How fast does it settle, eventually?</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Numerical abscissa</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ω(J) = λ_max((J + Jᵀ)/2)</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How fast can it grow at t = 0?</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Pseudospectral abscissa</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α_ε(J)</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250" dirty="0">
                          <a:solidFill>
                            <a:srgbClr val="1A1F2B"/>
                          </a:solidFill>
                          <a:latin typeface="Calibri" pitchFamily="34" charset="0"/>
                          <a:ea typeface="Calibri" pitchFamily="34" charset="-122"/>
                          <a:cs typeface="Calibri" pitchFamily="34" charset="-120"/>
                        </a:rPr>
                        <a:t>How far can a perturbation of size ε push it?</a:t>
                      </a:r>
                      <a:endParaRPr lang="en-US" sz="12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bl>
          </a:graphicData>
        </a:graphic>
      </p:graphicFrame>
      <p:sp>
        <p:nvSpPr>
          <p:cNvPr id="11" name="Text 8"/>
          <p:cNvSpPr txBox="1"/>
          <p:nvPr/>
        </p:nvSpPr>
        <p:spPr>
          <a:xfrm>
            <a:off x="548640" y="4343400"/>
            <a:ext cx="11091672" cy="914400"/>
          </a:xfrm>
          <a:prstGeom prst="rect">
            <a:avLst/>
          </a:prstGeom>
          <a:noFill/>
          <a:ln/>
        </p:spPr>
        <p:txBody>
          <a:bodyPr wrap="square" lIns="0" tIns="0" rIns="0" bIns="0" rtlCol="0" anchor="t"/>
          <a:lstStyle/>
          <a:p>
            <a:pPr algn="l" indent="0" marL="0">
              <a:lnSpc>
                <a:spcPts val="1700"/>
              </a:lnSpc>
              <a:buNone/>
            </a:pPr>
            <a:r>
              <a:rPr lang="en-US" sz="1300" dirty="0">
                <a:solidFill>
                  <a:srgbClr val="1A1F2B"/>
                </a:solidFill>
                <a:latin typeface="Calibri" pitchFamily="34" charset="0"/>
                <a:ea typeface="Calibri" pitchFamily="34" charset="-122"/>
                <a:cs typeface="Calibri" pitchFamily="34" charset="-120"/>
              </a:rPr>
              <a:t>These three coincide for a normal matrix. The gap between them is transient amplification, and it is invisible to eigenvalue analysis alone. Given that this network is strongly non-normal, that gap is the point of the project — and the continuous formulation also makes questions expressible that the discrete one cannot state cleanly: the optimal-perturbation SVD of exp(Jt), the Kreiss lower bound, the inhibitory gain at which α(J) crosses zero, and the ISN test comparing J_EE against full J.</a:t>
            </a:r>
            <a:endParaRPr lang="en-US" sz="1300" dirty="0"/>
          </a:p>
        </p:txBody>
      </p:sp>
      <p:sp>
        <p:nvSpPr>
          <p:cNvPr id="12" name="Shape 9"/>
          <p:cNvSpPr/>
          <p:nvPr/>
        </p:nvSpPr>
        <p:spPr>
          <a:xfrm>
            <a:off x="548640" y="5230368"/>
            <a:ext cx="11091672" cy="1005840"/>
          </a:xfrm>
          <a:prstGeom prst="roundRect">
            <a:avLst>
              <a:gd name="adj" fmla="val 4545"/>
            </a:avLst>
          </a:prstGeom>
          <a:solidFill>
            <a:srgbClr val="EDF3F6"/>
          </a:solidFill>
          <a:ln w="12700">
            <a:solidFill>
              <a:srgbClr val="EDF3F6"/>
            </a:solidFill>
            <a:prstDash val="solid"/>
          </a:ln>
        </p:spPr>
      </p:sp>
      <p:sp>
        <p:nvSpPr>
          <p:cNvPr id="13" name="Text 10"/>
          <p:cNvSpPr txBox="1"/>
          <p:nvPr/>
        </p:nvSpPr>
        <p:spPr>
          <a:xfrm>
            <a:off x="841248" y="5321808"/>
            <a:ext cx="10506456" cy="274320"/>
          </a:xfrm>
          <a:prstGeom prst="rect">
            <a:avLst/>
          </a:prstGeom>
          <a:noFill/>
          <a:ln/>
        </p:spPr>
        <p:txBody>
          <a:bodyPr wrap="square" lIns="0" tIns="0" rIns="0" bIns="0" rtlCol="0" anchor="ctr"/>
          <a:lstStyle/>
          <a:p>
            <a:pPr indent="0" marL="0">
              <a:buNone/>
            </a:pPr>
            <a:r>
              <a:rPr lang="en-US" sz="1250" b="1" dirty="0">
                <a:solidFill>
                  <a:srgbClr val="1F7A8C"/>
                </a:solidFill>
                <a:latin typeface="Calibri" pitchFamily="34" charset="0"/>
                <a:ea typeface="Calibri" pitchFamily="34" charset="-122"/>
                <a:cs typeface="Calibri" pitchFamily="34" charset="-120"/>
              </a:rPr>
              <a:t>Three conventions carried into this stage</a:t>
            </a:r>
            <a:endParaRPr lang="en-US" sz="1250" dirty="0"/>
          </a:p>
        </p:txBody>
      </p:sp>
      <p:sp>
        <p:nvSpPr>
          <p:cNvPr id="14" name="Text 11"/>
          <p:cNvSpPr txBox="1"/>
          <p:nvPr/>
        </p:nvSpPr>
        <p:spPr>
          <a:xfrm>
            <a:off x="841248" y="5596128"/>
            <a:ext cx="10506456" cy="548640"/>
          </a:xfrm>
          <a:prstGeom prst="rect">
            <a:avLst/>
          </a:prstGeom>
          <a:noFill/>
          <a:ln/>
        </p:spPr>
        <p:txBody>
          <a:bodyPr wrap="square" lIns="0" tIns="0" rIns="0" bIns="0" rtlCol="0" anchor="t"/>
          <a:lstStyle/>
          <a:p>
            <a:pPr indent="0" marL="0">
              <a:lnSpc>
                <a:spcPts val="1500"/>
              </a:lnSpc>
              <a:buNone/>
            </a:pPr>
            <a:r>
              <a:rPr lang="en-US" sz="1100" dirty="0">
                <a:solidFill>
                  <a:srgbClr val="1A1F2B"/>
                </a:solidFill>
                <a:latin typeface="Calibri" pitchFamily="34" charset="0"/>
                <a:ea typeface="Calibri" pitchFamily="34" charset="-122"/>
                <a:cs typeface="Calibri" pitchFamily="34" charset="-120"/>
              </a:rPr>
              <a:t>Normalise W, never J — scaling J rescales the leak and silently changes τ.   ·   Ablations are not renormalised by default: a cut changes the network’s gain, and renormalising afterwards scales that change away; notebook 04 runs the sweep both ways.   ·   Self-connections are autapses, not the leak. The −I term lives in J and is never removed by a no_self variant.</a:t>
            </a:r>
            <a:endParaRPr lang="en-US" sz="1100" dirty="0"/>
          </a:p>
        </p:txBody>
      </p:sp>
      <p:sp>
        <p:nvSpPr>
          <p:cNvPr id="15" name="Text 12"/>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jacobian_analysis/README.md · jacobian_core.py</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06 · DIAGNOSTICS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Stable, and amplifying 27-fold on the way there</a:t>
            </a:r>
            <a:endParaRPr lang="en-US" sz="2700" dirty="0"/>
          </a:p>
        </p:txBody>
      </p:sp>
      <p:sp>
        <p:nvSpPr>
          <p:cNvPr id="4" name="Shape 2"/>
          <p:cNvSpPr/>
          <p:nvPr/>
        </p:nvSpPr>
        <p:spPr>
          <a:xfrm>
            <a:off x="11247120" y="402336"/>
            <a:ext cx="512064" cy="512064"/>
          </a:xfrm>
          <a:prstGeom prst="ellipse">
            <a:avLst/>
          </a:prstGeom>
          <a:solidFill>
            <a:srgbClr val="C1553B"/>
          </a:solidFill>
          <a:ln w="12700">
            <a:solidFill>
              <a:srgbClr val="C1553B"/>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6" name="Text 4"/>
          <p:cNvSpPr txBox="1"/>
          <p:nvPr/>
        </p:nvSpPr>
        <p:spPr>
          <a:xfrm>
            <a:off x="548640" y="1316736"/>
            <a:ext cx="11091672" cy="274320"/>
          </a:xfrm>
          <a:prstGeom prst="rect">
            <a:avLst/>
          </a:prstGeom>
          <a:noFill/>
          <a:ln/>
        </p:spPr>
        <p:txBody>
          <a:bodyPr wrap="square" lIns="0" tIns="0" rIns="0" bIns="0" rtlCol="0" anchor="t"/>
          <a:lstStyle/>
          <a:p>
            <a:pPr algn="l" indent="0" marL="0">
              <a:lnSpc>
                <a:spcPts val="1700"/>
              </a:lnSpc>
              <a:buNone/>
            </a:pPr>
            <a:r>
              <a:rPr lang="en-US" sz="1300" dirty="0">
                <a:solidFill>
                  <a:srgbClr val="1A1F2B"/>
                </a:solidFill>
                <a:latin typeface="Calibri" pitchFamily="34" charset="0"/>
                <a:ea typeface="Calibri" pitchFamily="34" charset="-122"/>
                <a:cs typeface="Calibri" pitchFamily="34" charset="-120"/>
              </a:rPr>
              <a:t>At ρ(W) = 0.95, τ = 1, leak = 1.</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03720" cy="914400"/>
        </p:xfrm>
        <a:graphic>
          <a:graphicData uri="http://schemas.openxmlformats.org/drawingml/2006/table">
            <a:tbl>
              <a:tblPr/>
              <a:tblGrid>
                <a:gridCol w="2788920"/>
                <a:gridCol w="1828800"/>
                <a:gridCol w="2286000"/>
              </a:tblGrid>
              <a:tr h="32461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Quantity</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Reading</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24612">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Spectral abscissa  α(J)</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150" dirty="0">
                          <a:solidFill>
                            <a:srgbClr val="1A1F2B"/>
                          </a:solidFill>
                          <a:latin typeface="Calibri" pitchFamily="34" charset="0"/>
                          <a:ea typeface="Calibri" pitchFamily="34" charset="-122"/>
                          <a:cs typeface="Calibri" pitchFamily="34" charset="-120"/>
                        </a:rPr>
                        <a:t>−0.0500</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stable; slowest mode decays with time constant 20 τ</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4612">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Numerical abscissa  ω(J)</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A1F2B"/>
                          </a:solidFill>
                          <a:latin typeface="Calibri" pitchFamily="34" charset="0"/>
                          <a:ea typeface="Calibri" pitchFamily="34" charset="-122"/>
                          <a:cs typeface="Calibri" pitchFamily="34" charset="-120"/>
                        </a:rPr>
                        <a:t>29.58</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growth rate at t = 0 is strongly positive</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4612">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Abscissa gap</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150" dirty="0">
                          <a:solidFill>
                            <a:srgbClr val="1A1F2B"/>
                          </a:solidFill>
                          <a:latin typeface="Calibri" pitchFamily="34" charset="0"/>
                          <a:ea typeface="Calibri" pitchFamily="34" charset="-122"/>
                          <a:cs typeface="Calibri" pitchFamily="34" charset="-120"/>
                        </a:rPr>
                        <a:t>29.63</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the entire gap is non-normal transient structure</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4612">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Peak amplification</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A1F2B"/>
                          </a:solidFill>
                          <a:latin typeface="Calibri" pitchFamily="34" charset="0"/>
                          <a:ea typeface="Calibri" pitchFamily="34" charset="-122"/>
                          <a:cs typeface="Calibri" pitchFamily="34" charset="-120"/>
                        </a:rPr>
                        <a:t>27.11×  at t = 1.2 τ</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worst-case transient gain</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4612">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Kreiss lower bound</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150" dirty="0">
                          <a:solidFill>
                            <a:srgbClr val="1A1F2B"/>
                          </a:solidFill>
                          <a:latin typeface="Calibri" pitchFamily="34" charset="0"/>
                          <a:ea typeface="Calibri" pitchFamily="34" charset="-122"/>
                          <a:cs typeface="Calibri" pitchFamily="34" charset="-120"/>
                        </a:rPr>
                        <a:t>18.47  at ε = 0.05</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amplification guaranteed without simulating</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24612">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Henrici departure</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A1F2B"/>
                          </a:solidFill>
                          <a:latin typeface="Calibri" pitchFamily="34" charset="0"/>
                          <a:ea typeface="Calibri" pitchFamily="34" charset="-122"/>
                          <a:cs typeface="Calibri" pitchFamily="34" charset="-120"/>
                        </a:rPr>
                        <a:t>77.17  (99.3% of ‖J‖_F)</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almost all of the matrix norm is non-normal</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24612">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Eigenvector condition number</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150" dirty="0">
                          <a:solidFill>
                            <a:srgbClr val="1A1F2B"/>
                          </a:solidFill>
                          <a:latin typeface="Calibri" pitchFamily="34" charset="0"/>
                          <a:ea typeface="Calibri" pitchFamily="34" charset="-122"/>
                          <a:cs typeface="Calibri" pitchFamily="34" charset="-120"/>
                        </a:rPr>
                        <a:t>9.9 × 10⁴</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l" indent="0" marL="0">
                        <a:buNone/>
                      </a:pPr>
                      <a:r>
                        <a:rPr lang="en-US" sz="1150" dirty="0">
                          <a:solidFill>
                            <a:srgbClr val="1A1F2B"/>
                          </a:solidFill>
                          <a:latin typeface="Calibri" pitchFamily="34" charset="0"/>
                          <a:ea typeface="Calibri" pitchFamily="34" charset="-122"/>
                          <a:cs typeface="Calibri" pitchFamily="34" charset="-120"/>
                        </a:rPr>
                        <a:t>the modal basis is nowhere near orthogonal</a:t>
                      </a:r>
                      <a:endParaRPr lang="en-US" sz="115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bl>
          </a:graphicData>
        </a:graphic>
      </p:graphicFrame>
      <p:pic>
        <p:nvPicPr>
          <p:cNvPr id="8" name="Image 0" descr="/mnt/user-data/uploads/AscoliLab/jacobian_analysis/outputs/01_jacobian_construction/spectrum.png">    </p:cNvPr>
          <p:cNvPicPr>
            <a:picLocks noChangeAspect="1"/>
          </p:cNvPicPr>
          <p:nvPr/>
        </p:nvPicPr>
        <p:blipFill>
          <a:blip r:embed="rId1"/>
          <a:srcRect l="0" r="0" t="0" b="0"/>
          <a:stretch/>
        </p:blipFill>
        <p:spPr>
          <a:xfrm>
            <a:off x="7452360" y="1645920"/>
            <a:ext cx="2011680" cy="1691640"/>
          </a:xfrm>
          <a:prstGeom prst="rect">
            <a:avLst/>
          </a:prstGeom>
        </p:spPr>
      </p:pic>
      <p:pic>
        <p:nvPicPr>
          <p:cNvPr id="9" name="Image 1" descr="/mnt/user-data/uploads/AscoliLab/jacobian_analysis/outputs/01_jacobian_construction/transient_envelope.png">    </p:cNvPr>
          <p:cNvPicPr>
            <a:picLocks noChangeAspect="1"/>
          </p:cNvPicPr>
          <p:nvPr/>
        </p:nvPicPr>
        <p:blipFill>
          <a:blip r:embed="rId2"/>
          <a:srcRect l="0" r="0" t="0" b="0"/>
          <a:stretch/>
        </p:blipFill>
        <p:spPr>
          <a:xfrm>
            <a:off x="9601200" y="1645920"/>
            <a:ext cx="2039112" cy="1691640"/>
          </a:xfrm>
          <a:prstGeom prst="rect">
            <a:avLst/>
          </a:prstGeom>
        </p:spPr>
      </p:pic>
      <p:sp>
        <p:nvSpPr>
          <p:cNvPr id="10" name="Shape 5"/>
          <p:cNvSpPr/>
          <p:nvPr/>
        </p:nvSpPr>
        <p:spPr>
          <a:xfrm>
            <a:off x="7452360" y="3474720"/>
            <a:ext cx="4187952" cy="1874520"/>
          </a:xfrm>
          <a:prstGeom prst="roundRect">
            <a:avLst>
              <a:gd name="adj" fmla="val 2439"/>
            </a:avLst>
          </a:prstGeom>
          <a:solidFill>
            <a:srgbClr val="14213D"/>
          </a:solidFill>
          <a:ln w="12700">
            <a:solidFill>
              <a:srgbClr val="14213D"/>
            </a:solidFill>
            <a:prstDash val="solid"/>
          </a:ln>
        </p:spPr>
      </p:sp>
      <p:sp>
        <p:nvSpPr>
          <p:cNvPr id="11" name="Text 6"/>
          <p:cNvSpPr txBox="1"/>
          <p:nvPr/>
        </p:nvSpPr>
        <p:spPr>
          <a:xfrm>
            <a:off x="7708392" y="3602736"/>
            <a:ext cx="3675888" cy="292608"/>
          </a:xfrm>
          <a:prstGeom prst="rect">
            <a:avLst/>
          </a:prstGeom>
          <a:noFill/>
          <a:ln/>
        </p:spPr>
        <p:txBody>
          <a:bodyPr wrap="square" lIns="0" tIns="0" rIns="0" bIns="0" rtlCol="0" anchor="ctr"/>
          <a:lstStyle/>
          <a:p>
            <a:pPr indent="0" marL="0">
              <a:buNone/>
            </a:pPr>
            <a:r>
              <a:rPr lang="en-US" sz="1500" b="1" dirty="0">
                <a:solidFill>
                  <a:srgbClr val="D9A441"/>
                </a:solidFill>
                <a:latin typeface="Cambria" pitchFamily="34" charset="0"/>
                <a:ea typeface="Cambria" pitchFamily="34" charset="-122"/>
                <a:cs typeface="Cambria" pitchFamily="34" charset="-120"/>
              </a:rPr>
              <a:t>The control that makes this a claim</a:t>
            </a:r>
            <a:endParaRPr lang="en-US" sz="1500" dirty="0"/>
          </a:p>
        </p:txBody>
      </p:sp>
      <p:sp>
        <p:nvSpPr>
          <p:cNvPr id="12" name="Text 7"/>
          <p:cNvSpPr txBox="1"/>
          <p:nvPr/>
        </p:nvSpPr>
        <p:spPr>
          <a:xfrm>
            <a:off x="7708392" y="3931920"/>
            <a:ext cx="3675888" cy="1325880"/>
          </a:xfrm>
          <a:prstGeom prst="rect">
            <a:avLst/>
          </a:prstGeom>
          <a:noFill/>
          <a:ln/>
        </p:spPr>
        <p:txBody>
          <a:bodyPr wrap="square" lIns="0" tIns="0" rIns="0" bIns="0" rtlCol="0" anchor="t"/>
          <a:lstStyle/>
          <a:p>
            <a:pPr indent="0" marL="0">
              <a:lnSpc>
                <a:spcPts val="1500"/>
              </a:lnSpc>
              <a:buNone/>
            </a:pPr>
            <a:r>
              <a:rPr lang="en-US" sz="1150" dirty="0">
                <a:solidFill>
                  <a:srgbClr val="B9CEDE"/>
                </a:solidFill>
                <a:latin typeface="Calibri" pitchFamily="34" charset="0"/>
                <a:ea typeface="Calibri" pitchFamily="34" charset="-122"/>
                <a:cs typeface="Calibri" pitchFamily="34" charset="-120"/>
              </a:rPr>
              <a:t>A normal surrogate — a diagonal matrix carrying exactly the same eigenvalues — has peak amplification of exactly 1.0.</a:t>
            </a:r>
            <a:endParaRPr lang="en-US" sz="1150" dirty="0"/>
          </a:p>
          <a:p>
            <a:pPr indent="0" marL="0">
              <a:lnSpc>
                <a:spcPts val="1500"/>
              </a:lnSpc>
              <a:buNone/>
            </a:pPr>
            <a:endParaRPr lang="en-US" sz="1150" dirty="0"/>
          </a:p>
          <a:p>
            <a:pPr indent="0" marL="0">
              <a:lnSpc>
                <a:spcPts val="1500"/>
              </a:lnSpc>
              <a:buNone/>
            </a:pPr>
            <a:r>
              <a:rPr lang="en-US" sz="1150" dirty="0">
                <a:solidFill>
                  <a:srgbClr val="B9CEDE"/>
                </a:solidFill>
                <a:latin typeface="Calibri" pitchFamily="34" charset="0"/>
                <a:ea typeface="Calibri" pitchFamily="34" charset="-122"/>
                <a:cs typeface="Calibri" pitchFamily="34" charset="-120"/>
              </a:rPr>
              <a:t>So the 27-fold gain is attributable to non-normal structure and not to the spectrum. A purely spectral reading predicts monotone decay at rate 0.05 and is wrong about the entire first few τ of the response.</a:t>
            </a:r>
            <a:endParaRPr lang="en-US" sz="1150" dirty="0"/>
          </a:p>
        </p:txBody>
      </p:sp>
      <p:sp>
        <p:nvSpPr>
          <p:cNvPr id="13" name="Text 8"/>
          <p:cNvSpPr txBox="1"/>
          <p:nvPr/>
        </p:nvSpPr>
        <p:spPr>
          <a:xfrm>
            <a:off x="548640" y="5486400"/>
            <a:ext cx="11091672" cy="822960"/>
          </a:xfrm>
          <a:prstGeom prst="rect">
            <a:avLst/>
          </a:prstGeom>
          <a:noFill/>
          <a:ln/>
        </p:spPr>
        <p:txBody>
          <a:bodyPr wrap="square" lIns="0" tIns="0" rIns="0" bIns="0" rtlCol="0" anchor="t"/>
          <a:lstStyle/>
          <a:p>
            <a:pPr algn="l" indent="0" marL="0">
              <a:lnSpc>
                <a:spcPts val="1700"/>
              </a:lnSpc>
              <a:buNone/>
            </a:pPr>
            <a:r>
              <a:rPr lang="en-US" sz="1250" dirty="0">
                <a:solidFill>
                  <a:srgbClr val="1A1F2B"/>
                </a:solidFill>
                <a:latin typeface="Calibri" pitchFamily="34" charset="0"/>
                <a:ea typeface="Calibri" pitchFamily="34" charset="-122"/>
                <a:cs typeface="Calibri" pitchFamily="34" charset="-120"/>
              </a:rPr>
              <a:t>Stiffness: λ_J = μ − 1 for each eigenvalue μ of W, so the per-mode effective time constant is τ/(1 − μ). Re(μ) spans [−0.310, 0.950], giving effective time constants from 0.76 τ to 20 τ, with 44 of 85 modes faster than τ — a 26-fold spread. Read those as a description of the spectrum, not as measurable relaxation times: with an eigenvector condition number of 9.9 × 10⁴ the eigendirections are not separately excitable, and with ω(J) = +29.6 a worst-case state grows rather than relaxing at any of these rates.</a:t>
            </a:r>
            <a:endParaRPr lang="en-US" sz="1250" dirty="0"/>
          </a:p>
        </p:txBody>
      </p:sp>
      <p:sp>
        <p:nvSpPr>
          <p:cNvPr id="14" name="Text 9"/>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jacobian_analysis/01_jacobian_construction.ipynb · Trefethen &amp; Embree (2005) Spectra and Pseudospectra · Dayan &amp; Abbott, Theoretical Neuroscience ch. 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STAGE 06 · STRUCTURE</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Where the amplification lives — and one number not to misread</a:t>
            </a:r>
            <a:endParaRPr lang="en-US" sz="2700" dirty="0"/>
          </a:p>
        </p:txBody>
      </p:sp>
      <p:sp>
        <p:nvSpPr>
          <p:cNvPr id="4" name="Shape 2"/>
          <p:cNvSpPr/>
          <p:nvPr/>
        </p:nvSpPr>
        <p:spPr>
          <a:xfrm>
            <a:off x="11247120" y="402336"/>
            <a:ext cx="512064" cy="512064"/>
          </a:xfrm>
          <a:prstGeom prst="ellipse">
            <a:avLst/>
          </a:prstGeom>
          <a:solidFill>
            <a:srgbClr val="C1553B"/>
          </a:solidFill>
          <a:ln w="12700">
            <a:solidFill>
              <a:srgbClr val="C1553B"/>
            </a:solidFill>
            <a:prstDash val="solid"/>
          </a:ln>
        </p:spPr>
      </p:sp>
      <p:sp>
        <p:nvSpPr>
          <p:cNvPr id="5" name="Text 3"/>
          <p:cNvSpPr txBox="1"/>
          <p:nvPr/>
        </p:nvSpPr>
        <p:spPr>
          <a:xfrm>
            <a:off x="11247120" y="4023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4846320" cy="914400"/>
        </p:xfrm>
        <a:graphic>
          <a:graphicData uri="http://schemas.openxmlformats.org/drawingml/2006/table">
            <a:tbl>
              <a:tblPr/>
              <a:tblGrid>
                <a:gridCol w="2926080"/>
                <a:gridCol w="192024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Block  (source → target)</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‖·‖_F at ρ(W) = 0.95</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14213D"/>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E → I</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300" dirty="0">
                          <a:solidFill>
                            <a:srgbClr val="1A1F2B"/>
                          </a:solidFill>
                          <a:latin typeface="Calibri" pitchFamily="34" charset="0"/>
                          <a:ea typeface="Calibri" pitchFamily="34" charset="-122"/>
                          <a:cs typeface="Calibri" pitchFamily="34" charset="-120"/>
                        </a:rPr>
                        <a:t>77.02</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E → E</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F2B"/>
                          </a:solidFill>
                          <a:latin typeface="Calibri" pitchFamily="34" charset="0"/>
                          <a:ea typeface="Calibri" pitchFamily="34" charset="-122"/>
                          <a:cs typeface="Calibri" pitchFamily="34" charset="-120"/>
                        </a:rPr>
                        <a:t>4.91</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I → I</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c>
                  <a:txBody>
                    <a:bodyPr/>
                    <a:lstStyle/>
                    <a:p>
                      <a:pPr algn="r" indent="0" marL="0">
                        <a:buNone/>
                      </a:pPr>
                      <a:r>
                        <a:rPr lang="en-US" sz="1300" dirty="0">
                          <a:solidFill>
                            <a:srgbClr val="1A1F2B"/>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1F4F8"/>
                    </a:solidFill>
                  </a:tcPr>
                </a:tc>
              </a:tr>
              <a:tr h="365760">
                <a:tc>
                  <a:txBody>
                    <a:bodyPr/>
                    <a:lstStyle/>
                    <a:p>
                      <a:pPr algn="l" indent="0" marL="0">
                        <a:buNone/>
                      </a:pPr>
                      <a:r>
                        <a:rPr lang="en-US" sz="1300" b="1" dirty="0">
                          <a:solidFill>
                            <a:srgbClr val="1A1F2B"/>
                          </a:solidFill>
                          <a:latin typeface="Calibri" pitchFamily="34" charset="0"/>
                          <a:ea typeface="Calibri" pitchFamily="34" charset="-122"/>
                          <a:cs typeface="Calibri" pitchFamily="34" charset="-120"/>
                        </a:rPr>
                        <a:t>I → E</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F2B"/>
                          </a:solidFill>
                          <a:latin typeface="Calibri" pitchFamily="34" charset="0"/>
                          <a:ea typeface="Calibri" pitchFamily="34" charset="-122"/>
                          <a:cs typeface="Calibri" pitchFamily="34" charset="-120"/>
                        </a:rPr>
                        <a:t>0.084</a:t>
                      </a:r>
                      <a:endParaRPr lang="en-US" sz="1300" dirty="0">
                        <a:latin typeface="Calibri" charset="0"/>
                        <a:ea typeface="Calibri" charset="0"/>
                        <a:cs typeface="Calibri" charset="0"/>
                      </a:endParaRPr>
                    </a:p>
                  </a:txBody>
                  <a:tcPr marL="88900" marR="88900" marT="38100" marB="38100" anchor="ctr">
                    <a:lnL w="6350" cap="flat" cmpd="sng" algn="ctr">
                      <a:solidFill>
                        <a:srgbClr val="D7DEE7"/>
                      </a:solidFill>
                      <a:prstDash val="solid"/>
                      <a:round/>
                      <a:headEnd type="none" w="med" len="med"/>
                      <a:tailEnd type="none" w="med" len="med"/>
                    </a:lnL>
                    <a:lnR w="6350" cap="flat" cmpd="sng" algn="ctr">
                      <a:solidFill>
                        <a:srgbClr val="D7DEE7"/>
                      </a:solidFill>
                      <a:prstDash val="solid"/>
                      <a:round/>
                      <a:headEnd type="none" w="med" len="med"/>
                      <a:tailEnd type="none" w="med" len="med"/>
                    </a:lnR>
                    <a:lnT w="6350" cap="flat" cmpd="sng" algn="ctr">
                      <a:solidFill>
                        <a:srgbClr val="D7DEE7"/>
                      </a:solidFill>
                      <a:prstDash val="solid"/>
                      <a:round/>
                      <a:headEnd type="none" w="med" len="med"/>
                      <a:tailEnd type="none" w="med" len="med"/>
                    </a:lnT>
                    <a:lnB w="6350" cap="flat" cmpd="sng" algn="ctr">
                      <a:solidFill>
                        <a:srgbClr val="D7DEE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310128"/>
            <a:ext cx="4846320" cy="1005840"/>
          </a:xfrm>
          <a:prstGeom prst="rect">
            <a:avLst/>
          </a:prstGeom>
          <a:noFill/>
          <a:ln/>
        </p:spPr>
        <p:txBody>
          <a:bodyPr wrap="square" lIns="0" tIns="0" rIns="0" bIns="0" rtlCol="0" anchor="t"/>
          <a:lstStyle/>
          <a:p>
            <a:pPr algn="l" indent="0" marL="0">
              <a:lnSpc>
                <a:spcPts val="1600"/>
              </a:lnSpc>
              <a:buNone/>
            </a:pPr>
            <a:r>
              <a:rPr lang="en-US" sz="1200" dirty="0">
                <a:solidFill>
                  <a:srgbClr val="1A1F2B"/>
                </a:solidFill>
                <a:latin typeface="Calibri" pitchFamily="34" charset="0"/>
                <a:ea typeface="Calibri" pitchFamily="34" charset="-122"/>
                <a:cs typeface="Calibri" pitchFamily="34" charset="-120"/>
              </a:rPr>
              <a:t>Nearly all of the matrix norm sits in one off-diagonal block with a very weak return path — the canonical feedforward geometry that produces non-normal amplification, and the same asymmetry that made cross-E/I removal destabilising in Stage 2. Notebooks 04 and 05 are where that reading gets tested rather than assumed.</a:t>
            </a:r>
            <a:endParaRPr lang="en-US" sz="1200" dirty="0"/>
          </a:p>
        </p:txBody>
      </p:sp>
      <p:pic>
        <p:nvPicPr>
          <p:cNvPr id="8" name="Image 0" descr="/mnt/user-data/uploads/AscoliLab/jacobian_analysis/outputs/01_jacobian_construction/pseudospectra.png">    </p:cNvPr>
          <p:cNvPicPr>
            <a:picLocks noChangeAspect="1"/>
          </p:cNvPicPr>
          <p:nvPr/>
        </p:nvPicPr>
        <p:blipFill>
          <a:blip r:embed="rId1"/>
          <a:srcRect l="0" r="0" t="0" b="0"/>
          <a:stretch/>
        </p:blipFill>
        <p:spPr>
          <a:xfrm>
            <a:off x="914400" y="4370832"/>
            <a:ext cx="4114800" cy="1737360"/>
          </a:xfrm>
          <a:prstGeom prst="rect">
            <a:avLst/>
          </a:prstGeom>
        </p:spPr>
      </p:pic>
      <p:sp>
        <p:nvSpPr>
          <p:cNvPr id="9" name="Shape 5"/>
          <p:cNvSpPr/>
          <p:nvPr/>
        </p:nvSpPr>
        <p:spPr>
          <a:xfrm>
            <a:off x="5852160" y="1353312"/>
            <a:ext cx="5788152" cy="2331720"/>
          </a:xfrm>
          <a:prstGeom prst="roundRect">
            <a:avLst>
              <a:gd name="adj" fmla="val 1961"/>
            </a:avLst>
          </a:prstGeom>
          <a:solidFill>
            <a:srgbClr val="FBEFEA"/>
          </a:solidFill>
          <a:ln w="12700">
            <a:solidFill>
              <a:srgbClr val="FBEFEA"/>
            </a:solidFill>
            <a:prstDash val="solid"/>
          </a:ln>
        </p:spPr>
      </p:sp>
      <p:sp>
        <p:nvSpPr>
          <p:cNvPr id="10" name="Text 6"/>
          <p:cNvSpPr txBox="1"/>
          <p:nvPr/>
        </p:nvSpPr>
        <p:spPr>
          <a:xfrm>
            <a:off x="6108192" y="1481328"/>
            <a:ext cx="5276088" cy="310896"/>
          </a:xfrm>
          <a:prstGeom prst="rect">
            <a:avLst/>
          </a:prstGeom>
          <a:noFill/>
          <a:ln/>
        </p:spPr>
        <p:txBody>
          <a:bodyPr wrap="square" lIns="0" tIns="0" rIns="0" bIns="0" rtlCol="0" anchor="ctr"/>
          <a:lstStyle/>
          <a:p>
            <a:pPr indent="0" marL="0">
              <a:buNone/>
            </a:pPr>
            <a:r>
              <a:rPr lang="en-US" sz="1700" b="1" dirty="0">
                <a:solidFill>
                  <a:srgbClr val="C1553B"/>
                </a:solidFill>
                <a:latin typeface="Cambria" pitchFamily="34" charset="0"/>
                <a:ea typeface="Cambria" pitchFamily="34" charset="-122"/>
                <a:cs typeface="Cambria" pitchFamily="34" charset="-120"/>
              </a:rPr>
              <a:t>ρ(J) = 1.31 is not instability</a:t>
            </a:r>
            <a:endParaRPr lang="en-US" sz="1700" dirty="0"/>
          </a:p>
        </p:txBody>
      </p:sp>
      <p:sp>
        <p:nvSpPr>
          <p:cNvPr id="11" name="Text 7"/>
          <p:cNvSpPr txBox="1"/>
          <p:nvPr/>
        </p:nvSpPr>
        <p:spPr>
          <a:xfrm>
            <a:off x="6108192" y="1847088"/>
            <a:ext cx="5276088" cy="1737360"/>
          </a:xfrm>
          <a:prstGeom prst="rect">
            <a:avLst/>
          </a:prstGeom>
          <a:noFill/>
          <a:ln/>
        </p:spPr>
        <p:txBody>
          <a:bodyPr wrap="square" lIns="0" tIns="0" rIns="0" bIns="0" rtlCol="0" anchor="t"/>
          <a:lstStyle/>
          <a:p>
            <a:pPr indent="0" marL="0">
              <a:lnSpc>
                <a:spcPts val="1500"/>
              </a:lnSpc>
              <a:buNone/>
            </a:pPr>
            <a:r>
              <a:rPr lang="en-US" sz="1150" dirty="0">
                <a:solidFill>
                  <a:srgbClr val="1A1F2B"/>
                </a:solidFill>
                <a:latin typeface="Calibri" pitchFamily="34" charset="0"/>
                <a:ea typeface="Calibri" pitchFamily="34" charset="-122"/>
                <a:cs typeface="Calibri" pitchFamily="34" charset="-120"/>
              </a:rPr>
              <a:t>The spectral radius measures distance from the origin, and in continuous time the origin means nothing: the stability boundary is the imaginary axis, and |λ| = √(Re² + Im²) mixes decay rate with oscillation frequency.</a:t>
            </a:r>
            <a:endParaRPr lang="en-US" sz="1150" dirty="0"/>
          </a:p>
          <a:p>
            <a:pPr indent="0" marL="0">
              <a:lnSpc>
                <a:spcPts val="1500"/>
              </a:lnSpc>
              <a:buNone/>
            </a:pPr>
            <a:endParaRPr lang="en-US" sz="1150" dirty="0"/>
          </a:p>
          <a:p>
            <a:pPr indent="0" marL="0">
              <a:lnSpc>
                <a:spcPts val="1500"/>
              </a:lnSpc>
              <a:buNone/>
            </a:pPr>
            <a:r>
              <a:rPr lang="en-US" sz="1150" dirty="0">
                <a:solidFill>
                  <a:srgbClr val="1A1F2B"/>
                </a:solidFill>
                <a:latin typeface="Calibri" pitchFamily="34" charset="0"/>
                <a:ea typeface="Calibri" pitchFamily="34" charset="-122"/>
                <a:cs typeface="Calibri" pitchFamily="34" charset="-120"/>
              </a:rPr>
              <a:t>λ_J = λ_W − 1, so the spectrum of J is the spectrum of W — a cloud of radius 0.95 — translated to centre −1. The eigenvalue attaining ρ(J) is λ = −1.3103, the most negative one; measured from the correct centre, max |λ_J + 1| = 0.95 exactly. ρ(J) is a speed statistic, not a stability one.</a:t>
            </a:r>
            <a:endParaRPr lang="en-US" sz="1150" dirty="0"/>
          </a:p>
        </p:txBody>
      </p:sp>
      <p:sp>
        <p:nvSpPr>
          <p:cNvPr id="12" name="Shape 8"/>
          <p:cNvSpPr/>
          <p:nvPr/>
        </p:nvSpPr>
        <p:spPr>
          <a:xfrm>
            <a:off x="5852160" y="3840480"/>
            <a:ext cx="5788152" cy="2240280"/>
          </a:xfrm>
          <a:prstGeom prst="roundRect">
            <a:avLst>
              <a:gd name="adj" fmla="val 2041"/>
            </a:avLst>
          </a:prstGeom>
          <a:solidFill>
            <a:srgbClr val="EDF3F6"/>
          </a:solidFill>
          <a:ln w="12700">
            <a:solidFill>
              <a:srgbClr val="EDF3F6"/>
            </a:solidFill>
            <a:prstDash val="solid"/>
          </a:ln>
        </p:spPr>
      </p:sp>
      <p:sp>
        <p:nvSpPr>
          <p:cNvPr id="13" name="Text 9"/>
          <p:cNvSpPr txBox="1"/>
          <p:nvPr/>
        </p:nvSpPr>
        <p:spPr>
          <a:xfrm>
            <a:off x="6108192" y="3968496"/>
            <a:ext cx="5276088" cy="310896"/>
          </a:xfrm>
          <a:prstGeom prst="rect">
            <a:avLst/>
          </a:prstGeom>
          <a:noFill/>
          <a:ln/>
        </p:spPr>
        <p:txBody>
          <a:bodyPr wrap="square" lIns="0" tIns="0" rIns="0" bIns="0" rtlCol="0" anchor="ctr"/>
          <a:lstStyle/>
          <a:p>
            <a:pPr indent="0" marL="0">
              <a:buNone/>
            </a:pPr>
            <a:r>
              <a:rPr lang="en-US" sz="1600" b="1" dirty="0">
                <a:solidFill>
                  <a:srgbClr val="1F7A8C"/>
                </a:solidFill>
                <a:latin typeface="Cambria" pitchFamily="34" charset="0"/>
                <a:ea typeface="Cambria" pitchFamily="34" charset="-122"/>
                <a:cs typeface="Cambria" pitchFamily="34" charset="-120"/>
              </a:rPr>
              <a:t>The two criteria are the same operator</a:t>
            </a:r>
            <a:endParaRPr lang="en-US" sz="1600" dirty="0"/>
          </a:p>
        </p:txBody>
      </p:sp>
      <p:sp>
        <p:nvSpPr>
          <p:cNvPr id="14" name="Text 10"/>
          <p:cNvSpPr txBox="1"/>
          <p:nvPr/>
        </p:nvSpPr>
        <p:spPr>
          <a:xfrm>
            <a:off x="6108192" y="4315968"/>
            <a:ext cx="5276088" cy="1691640"/>
          </a:xfrm>
          <a:prstGeom prst="rect">
            <a:avLst/>
          </a:prstGeom>
          <a:noFill/>
          <a:ln/>
        </p:spPr>
        <p:txBody>
          <a:bodyPr wrap="square" lIns="0" tIns="0" rIns="0" bIns="0" rtlCol="0" anchor="t"/>
          <a:lstStyle/>
          <a:p>
            <a:pPr indent="0" marL="0">
              <a:lnSpc>
                <a:spcPts val="1400"/>
              </a:lnSpc>
              <a:buNone/>
            </a:pPr>
            <a:r>
              <a:rPr lang="en-US" sz="1100" dirty="0">
                <a:solidFill>
                  <a:srgbClr val="1A1F2B"/>
                </a:solidFill>
                <a:latin typeface="Calibri" pitchFamily="34" charset="0"/>
                <a:ea typeface="Calibri" pitchFamily="34" charset="-122"/>
                <a:cs typeface="Calibri" pitchFamily="34" charset="-120"/>
              </a:rPr>
              <a:t>(I + J) − W = 0 to machine precision, so the discrete M analysed in Stage 5 is the forward-Euler propagator of this Jacobian at dt = τ. The discrete criterion ρ(M) &lt; 1 is the Euler-step condition |1 + dt·λ| &lt; 1 — a disk of radius 1/dt centred at −1/dt; the continuous criterion is the half-plane. Both are satisfied.</a:t>
            </a:r>
            <a:endParaRPr lang="en-US" sz="1100" dirty="0"/>
          </a:p>
          <a:p>
            <a:pPr indent="0" marL="0">
              <a:lnSpc>
                <a:spcPts val="1400"/>
              </a:lnSpc>
              <a:buNone/>
            </a:pPr>
            <a:endParaRPr lang="en-US" sz="1100" dirty="0"/>
          </a:p>
          <a:p>
            <a:pPr indent="0" marL="0">
              <a:lnSpc>
                <a:spcPts val="1400"/>
              </a:lnSpc>
              <a:buNone/>
            </a:pPr>
            <a:r>
              <a:rPr lang="en-US" sz="1100" dirty="0">
                <a:solidFill>
                  <a:srgbClr val="1A1F2B"/>
                </a:solidFill>
                <a:latin typeface="Calibri" pitchFamily="34" charset="0"/>
                <a:ea typeface="Calibri" pitchFamily="34" charset="-122"/>
                <a:cs typeface="Calibri" pitchFamily="34" charset="-120"/>
              </a:rPr>
              <a:t>Worth stating in the dissertation: the largest stable Euler step here is 1.53 τ, so dt = τ sits inside the stability region with about 50% margin. Had the fastest mode been roughly twice as fast, the discrete analysis would have been an unstable discretisation of a stable system — an artefact of the time step rather than a property of the circuit. The exact propagator gives ρ(exp(Jτ)) = 0.9512 against 0.95 for Euler.</a:t>
            </a:r>
            <a:endParaRPr lang="en-US" sz="1100" dirty="0"/>
          </a:p>
        </p:txBody>
      </p:sp>
      <p:sp>
        <p:nvSpPr>
          <p:cNvPr id="15" name="Text 11"/>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jacobian_analysis/01_jacobian_construction.ipynb, block baseline and Euler-equivalence sections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SYNTHESIS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What is settled, and what is still open</a:t>
            </a:r>
            <a:endParaRPr lang="en-US" sz="2700" dirty="0"/>
          </a:p>
        </p:txBody>
      </p:sp>
      <p:sp>
        <p:nvSpPr>
          <p:cNvPr id="4" name="Shape 2"/>
          <p:cNvSpPr/>
          <p:nvPr/>
        </p:nvSpPr>
        <p:spPr>
          <a:xfrm>
            <a:off x="548640" y="1353312"/>
            <a:ext cx="5362956" cy="4709160"/>
          </a:xfrm>
          <a:prstGeom prst="roundRect">
            <a:avLst>
              <a:gd name="adj" fmla="val 971"/>
            </a:avLst>
          </a:prstGeom>
          <a:solidFill>
            <a:srgbClr val="EDF3F6"/>
          </a:solidFill>
          <a:ln w="12700">
            <a:solidFill>
              <a:srgbClr val="EDF3F6"/>
            </a:solidFill>
            <a:prstDash val="solid"/>
          </a:ln>
        </p:spPr>
      </p:sp>
      <p:sp>
        <p:nvSpPr>
          <p:cNvPr id="5" name="Text 3"/>
          <p:cNvSpPr txBox="1"/>
          <p:nvPr/>
        </p:nvSpPr>
        <p:spPr>
          <a:xfrm>
            <a:off x="841248" y="1481328"/>
            <a:ext cx="4777740" cy="329184"/>
          </a:xfrm>
          <a:prstGeom prst="rect">
            <a:avLst/>
          </a:prstGeom>
          <a:noFill/>
          <a:ln/>
        </p:spPr>
        <p:txBody>
          <a:bodyPr wrap="square" lIns="0" tIns="0" rIns="0" bIns="0" rtlCol="0" anchor="ctr"/>
          <a:lstStyle/>
          <a:p>
            <a:pPr indent="0" marL="0">
              <a:buNone/>
            </a:pPr>
            <a:r>
              <a:rPr lang="en-US" sz="1900" b="1" dirty="0">
                <a:solidFill>
                  <a:srgbClr val="1F7A8C"/>
                </a:solidFill>
                <a:latin typeface="Cambria" pitchFamily="34" charset="0"/>
                <a:ea typeface="Cambria" pitchFamily="34" charset="-122"/>
                <a:cs typeface="Cambria" pitchFamily="34" charset="-120"/>
              </a:rPr>
              <a:t>Settled</a:t>
            </a:r>
            <a:endParaRPr lang="en-US" sz="1900" dirty="0"/>
          </a:p>
        </p:txBody>
      </p:sp>
      <p:sp>
        <p:nvSpPr>
          <p:cNvPr id="6" name="Text 4"/>
          <p:cNvSpPr txBox="1"/>
          <p:nvPr/>
        </p:nvSpPr>
        <p:spPr>
          <a:xfrm>
            <a:off x="841248" y="1874520"/>
            <a:ext cx="4777740" cy="4023360"/>
          </a:xfrm>
          <a:prstGeom prst="rect">
            <a:avLst/>
          </a:prstGeom>
          <a:noFill/>
          <a:ln/>
        </p:spPr>
        <p:txBody>
          <a:bodyPr wrap="square" lIns="0" tIns="0" rIns="0" bIns="0" rtlCol="0" anchor="t"/>
          <a:lstStyle/>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Orientation, empirically, for this dataset: netlist residual 3.0 × 10⁻¹⁸ transposed against 1.414 as stored, and the loader now raises if a supplied netlist disagrees with the selected orientation.</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The discrete and continuous readings are the same operator, and the Euler step sits inside the stability region with roughly 50% margin.</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Non-normality is not marginal: 99.3% of ‖J‖_F is departure from normality, and a normal surrogate with the same spectrum amplifies exactly 1.0×.</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The connectome is transitive and cycle-averse against a degree- and dyad-preserving null, and the recurrent excitatory core is a placement effect rather than an inventory effect.</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Inhibitory feedback returns the effective excitatory dynamics to target from either variant, and the enriched motif class is a disinhibitory chain.</a:t>
            </a:r>
            <a:endParaRPr lang="en-US" sz="1200" dirty="0"/>
          </a:p>
        </p:txBody>
      </p:sp>
      <p:sp>
        <p:nvSpPr>
          <p:cNvPr id="7" name="Shape 5"/>
          <p:cNvSpPr/>
          <p:nvPr/>
        </p:nvSpPr>
        <p:spPr>
          <a:xfrm>
            <a:off x="6277356" y="1353312"/>
            <a:ext cx="5362956" cy="4709160"/>
          </a:xfrm>
          <a:prstGeom prst="roundRect">
            <a:avLst>
              <a:gd name="adj" fmla="val 971"/>
            </a:avLst>
          </a:prstGeom>
          <a:solidFill>
            <a:srgbClr val="FBEFEA"/>
          </a:solidFill>
          <a:ln w="12700">
            <a:solidFill>
              <a:srgbClr val="FBEFEA"/>
            </a:solidFill>
            <a:prstDash val="solid"/>
          </a:ln>
        </p:spPr>
      </p:sp>
      <p:sp>
        <p:nvSpPr>
          <p:cNvPr id="8" name="Text 6"/>
          <p:cNvSpPr txBox="1"/>
          <p:nvPr/>
        </p:nvSpPr>
        <p:spPr>
          <a:xfrm>
            <a:off x="6569964" y="1481328"/>
            <a:ext cx="4777740" cy="329184"/>
          </a:xfrm>
          <a:prstGeom prst="rect">
            <a:avLst/>
          </a:prstGeom>
          <a:noFill/>
          <a:ln/>
        </p:spPr>
        <p:txBody>
          <a:bodyPr wrap="square" lIns="0" tIns="0" rIns="0" bIns="0" rtlCol="0" anchor="ctr"/>
          <a:lstStyle/>
          <a:p>
            <a:pPr indent="0" marL="0">
              <a:buNone/>
            </a:pPr>
            <a:r>
              <a:rPr lang="en-US" sz="1900" b="1" dirty="0">
                <a:solidFill>
                  <a:srgbClr val="C1553B"/>
                </a:solidFill>
                <a:latin typeface="Cambria" pitchFamily="34" charset="0"/>
                <a:ea typeface="Cambria" pitchFamily="34" charset="-122"/>
                <a:cs typeface="Cambria" pitchFamily="34" charset="-120"/>
              </a:rPr>
              <a:t>Open</a:t>
            </a:r>
            <a:endParaRPr lang="en-US" sz="1900" dirty="0"/>
          </a:p>
        </p:txBody>
      </p:sp>
      <p:sp>
        <p:nvSpPr>
          <p:cNvPr id="9" name="Text 7"/>
          <p:cNvSpPr txBox="1"/>
          <p:nvPr/>
        </p:nvSpPr>
        <p:spPr>
          <a:xfrm>
            <a:off x="6569964" y="1874520"/>
            <a:ext cx="4777740" cy="4023360"/>
          </a:xfrm>
          <a:prstGeom prst="rect">
            <a:avLst/>
          </a:prstGeom>
          <a:noFill/>
          <a:ln/>
        </p:spPr>
        <p:txBody>
          <a:bodyPr wrap="square" lIns="0" tIns="0" rIns="0" bIns="0" rtlCol="0" anchor="t"/>
          <a:lstStyle/>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Both null-test conclusions in the ordering notebook reverse under a real feedback-arc optimiser. Twelve nulls so far; redo at 100 before any of it is quoted.</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The EE-backbone path-weight tables predate the branch-and-bound and MILP solver fixes and need regeneration.</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The motif Schur coupling direction is labelled backwards in notebook 03, and the motif-block orientation is asserted rather than verified against the w_ij metadata columns.</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The E/I backbone placement null is first-order — out-degree and weight multiset preserved, target in-degree free. A strength-preserving randomisation is the stronger comparison.</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motif_analysis motif ids are built in [pre, post] and do not join against the tarjan_reorder or inhib_modulation motif tables without remapping.</a:t>
            </a:r>
            <a:endParaRPr lang="en-US" sz="1200" dirty="0"/>
          </a:p>
          <a:p>
            <a:pPr marL="203200" indent="-203200">
              <a:lnSpc>
                <a:spcPts val="1600"/>
              </a:lnSpc>
              <a:spcAft>
                <a:spcPts val="900"/>
              </a:spcAft>
              <a:buSzPct val="100000"/>
              <a:buChar char="•"/>
            </a:pPr>
            <a:r>
              <a:rPr lang="en-US" sz="1200" dirty="0">
                <a:solidFill>
                  <a:srgbClr val="1A1F2B"/>
                </a:solidFill>
                <a:latin typeface="Calibri" pitchFamily="34" charset="0"/>
                <a:ea typeface="Calibri" pitchFamily="34" charset="-122"/>
                <a:cs typeface="Calibri" pitchFamily="34" charset="-120"/>
              </a:rPr>
              <a:t>The order index is saturated at this density and should be dropped as a headline discriminator or reported against a density-matched baseline.</a:t>
            </a:r>
            <a:endParaRPr lang="en-US" sz="1200" dirty="0"/>
          </a:p>
        </p:txBody>
      </p:sp>
      <p:sp>
        <p:nvSpPr>
          <p:cNvPr id="10" name="Text 8"/>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Open items are tracked in tarjan_reorder/NOTEBOOK_REVIEW_vs_Borst_Leibold_2023.md and docs/TRANSPOSE_WARNINGS.md.</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1F7A8C"/>
                </a:solidFill>
                <a:latin typeface="Calibri" pitchFamily="34" charset="0"/>
                <a:ea typeface="Calibri" pitchFamily="34" charset="-122"/>
                <a:cs typeface="Calibri" pitchFamily="34" charset="-120"/>
              </a:rPr>
              <a:t>NEXT</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700" b="1" dirty="0">
                <a:solidFill>
                  <a:srgbClr val="1A1F2B"/>
                </a:solidFill>
                <a:latin typeface="Cambria" pitchFamily="34" charset="0"/>
                <a:ea typeface="Cambria" pitchFamily="34" charset="-122"/>
                <a:cs typeface="Cambria" pitchFamily="34" charset="-120"/>
              </a:rPr>
              <a:t>Where the work goes from here</a:t>
            </a:r>
            <a:endParaRPr lang="en-US" sz="2700" dirty="0"/>
          </a:p>
        </p:txBody>
      </p:sp>
      <p:sp>
        <p:nvSpPr>
          <p:cNvPr id="4" name="Shape 2"/>
          <p:cNvSpPr/>
          <p:nvPr/>
        </p:nvSpPr>
        <p:spPr>
          <a:xfrm>
            <a:off x="548640" y="1371600"/>
            <a:ext cx="5399532" cy="1444752"/>
          </a:xfrm>
          <a:prstGeom prst="roundRect">
            <a:avLst>
              <a:gd name="adj" fmla="val 3165"/>
            </a:avLst>
          </a:prstGeom>
          <a:solidFill>
            <a:srgbClr val="F1F4F8"/>
          </a:solidFill>
          <a:ln w="12700">
            <a:solidFill>
              <a:srgbClr val="F1F4F8"/>
            </a:solidFill>
            <a:prstDash val="solid"/>
          </a:ln>
        </p:spPr>
      </p:sp>
      <p:sp>
        <p:nvSpPr>
          <p:cNvPr id="5" name="Shape 3"/>
          <p:cNvSpPr/>
          <p:nvPr/>
        </p:nvSpPr>
        <p:spPr>
          <a:xfrm>
            <a:off x="749808" y="1554480"/>
            <a:ext cx="384048" cy="384048"/>
          </a:xfrm>
          <a:prstGeom prst="ellipse">
            <a:avLst/>
          </a:prstGeom>
          <a:solidFill>
            <a:srgbClr val="C1553B"/>
          </a:solidFill>
          <a:ln w="12700">
            <a:solidFill>
              <a:srgbClr val="C1553B"/>
            </a:solidFill>
            <a:prstDash val="solid"/>
          </a:ln>
        </p:spPr>
      </p:sp>
      <p:sp>
        <p:nvSpPr>
          <p:cNvPr id="6" name="Text 4"/>
          <p:cNvSpPr txBox="1"/>
          <p:nvPr/>
        </p:nvSpPr>
        <p:spPr>
          <a:xfrm>
            <a:off x="749808" y="15544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243584" y="1554480"/>
            <a:ext cx="450342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Close the ordering null</a:t>
            </a:r>
            <a:endParaRPr lang="en-US" sz="1350" dirty="0"/>
          </a:p>
        </p:txBody>
      </p:sp>
      <p:sp>
        <p:nvSpPr>
          <p:cNvPr id="8" name="Text 6"/>
          <p:cNvSpPr txBox="1"/>
          <p:nvPr/>
        </p:nvSpPr>
        <p:spPr>
          <a:xfrm>
            <a:off x="749808" y="2029968"/>
            <a:ext cx="4997196" cy="621792"/>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Replace modified Tarjan with the feedback-arc optimiser inside ordering_null_test and re-run at the full 100 nulls. This is the highest-value scientific fix outstanding.</a:t>
            </a:r>
            <a:endParaRPr lang="en-US" sz="1100" dirty="0"/>
          </a:p>
        </p:txBody>
      </p:sp>
      <p:sp>
        <p:nvSpPr>
          <p:cNvPr id="9" name="Shape 7"/>
          <p:cNvSpPr/>
          <p:nvPr/>
        </p:nvSpPr>
        <p:spPr>
          <a:xfrm>
            <a:off x="6240780" y="1371600"/>
            <a:ext cx="5399532" cy="1444752"/>
          </a:xfrm>
          <a:prstGeom prst="roundRect">
            <a:avLst>
              <a:gd name="adj" fmla="val 3165"/>
            </a:avLst>
          </a:prstGeom>
          <a:solidFill>
            <a:srgbClr val="F1F4F8"/>
          </a:solidFill>
          <a:ln w="12700">
            <a:solidFill>
              <a:srgbClr val="F1F4F8"/>
            </a:solidFill>
            <a:prstDash val="solid"/>
          </a:ln>
        </p:spPr>
      </p:sp>
      <p:sp>
        <p:nvSpPr>
          <p:cNvPr id="10" name="Shape 8"/>
          <p:cNvSpPr/>
          <p:nvPr/>
        </p:nvSpPr>
        <p:spPr>
          <a:xfrm>
            <a:off x="6441948" y="1554480"/>
            <a:ext cx="384048" cy="384048"/>
          </a:xfrm>
          <a:prstGeom prst="ellipse">
            <a:avLst/>
          </a:prstGeom>
          <a:solidFill>
            <a:srgbClr val="1F7A8C"/>
          </a:solidFill>
          <a:ln w="12700">
            <a:solidFill>
              <a:srgbClr val="1F7A8C"/>
            </a:solidFill>
            <a:prstDash val="solid"/>
          </a:ln>
        </p:spPr>
      </p:sp>
      <p:sp>
        <p:nvSpPr>
          <p:cNvPr id="11" name="Text 9"/>
          <p:cNvSpPr txBox="1"/>
          <p:nvPr/>
        </p:nvSpPr>
        <p:spPr>
          <a:xfrm>
            <a:off x="6441948" y="15544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6935724" y="1554480"/>
            <a:ext cx="450342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Finish the Jacobian suite</a:t>
            </a:r>
            <a:endParaRPr lang="en-US" sz="1350" dirty="0"/>
          </a:p>
        </p:txBody>
      </p:sp>
      <p:sp>
        <p:nvSpPr>
          <p:cNvPr id="13" name="Text 11"/>
          <p:cNvSpPr txBox="1"/>
          <p:nvPr/>
        </p:nvSpPr>
        <p:spPr>
          <a:xfrm>
            <a:off x="6441948" y="2029968"/>
            <a:ext cx="4997196" cy="621792"/>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Notebooks 02–06: optimal perturbations from the SVD of exp(Jt), ablations against block-preserving nulls, the inhibitory gain at which α(J) crosses zero, and the ISN test comparing J_EE against full J.</a:t>
            </a:r>
            <a:endParaRPr lang="en-US" sz="1100" dirty="0"/>
          </a:p>
        </p:txBody>
      </p:sp>
      <p:sp>
        <p:nvSpPr>
          <p:cNvPr id="14" name="Shape 12"/>
          <p:cNvSpPr/>
          <p:nvPr/>
        </p:nvSpPr>
        <p:spPr>
          <a:xfrm>
            <a:off x="548640" y="3035808"/>
            <a:ext cx="5399532" cy="1444752"/>
          </a:xfrm>
          <a:prstGeom prst="roundRect">
            <a:avLst>
              <a:gd name="adj" fmla="val 3165"/>
            </a:avLst>
          </a:prstGeom>
          <a:solidFill>
            <a:srgbClr val="F1F4F8"/>
          </a:solidFill>
          <a:ln w="12700">
            <a:solidFill>
              <a:srgbClr val="F1F4F8"/>
            </a:solidFill>
            <a:prstDash val="solid"/>
          </a:ln>
        </p:spPr>
      </p:sp>
      <p:sp>
        <p:nvSpPr>
          <p:cNvPr id="15" name="Shape 13"/>
          <p:cNvSpPr/>
          <p:nvPr/>
        </p:nvSpPr>
        <p:spPr>
          <a:xfrm>
            <a:off x="749808" y="3218688"/>
            <a:ext cx="384048" cy="384048"/>
          </a:xfrm>
          <a:prstGeom prst="ellipse">
            <a:avLst/>
          </a:prstGeom>
          <a:solidFill>
            <a:srgbClr val="3D5A80"/>
          </a:solidFill>
          <a:ln w="12700">
            <a:solidFill>
              <a:srgbClr val="3D5A80"/>
            </a:solidFill>
            <a:prstDash val="solid"/>
          </a:ln>
        </p:spPr>
      </p:sp>
      <p:sp>
        <p:nvSpPr>
          <p:cNvPr id="16" name="Text 14"/>
          <p:cNvSpPr txBox="1"/>
          <p:nvPr/>
        </p:nvSpPr>
        <p:spPr>
          <a:xfrm>
            <a:off x="749808" y="32186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243584" y="3218688"/>
            <a:ext cx="450342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Left eigenvectors, Eq. 9</a:t>
            </a:r>
            <a:endParaRPr lang="en-US" sz="1350" dirty="0"/>
          </a:p>
        </p:txBody>
      </p:sp>
      <p:sp>
        <p:nvSpPr>
          <p:cNvPr id="18" name="Text 16"/>
          <p:cNvSpPr txBox="1"/>
          <p:nvPr/>
        </p:nvSpPr>
        <p:spPr>
          <a:xfrm>
            <a:off x="749808" y="3694176"/>
            <a:ext cx="4997196" cy="621792"/>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The input-gain decomposition is the substantive gap and the one closest to the dissertation question — it is where the non-normality argument becomes an input-output claim rather than a matrix property.</a:t>
            </a:r>
            <a:endParaRPr lang="en-US" sz="1100" dirty="0"/>
          </a:p>
        </p:txBody>
      </p:sp>
      <p:sp>
        <p:nvSpPr>
          <p:cNvPr id="19" name="Shape 17"/>
          <p:cNvSpPr/>
          <p:nvPr/>
        </p:nvSpPr>
        <p:spPr>
          <a:xfrm>
            <a:off x="6240780" y="3035808"/>
            <a:ext cx="5399532" cy="1444752"/>
          </a:xfrm>
          <a:prstGeom prst="roundRect">
            <a:avLst>
              <a:gd name="adj" fmla="val 3165"/>
            </a:avLst>
          </a:prstGeom>
          <a:solidFill>
            <a:srgbClr val="F1F4F8"/>
          </a:solidFill>
          <a:ln w="12700">
            <a:solidFill>
              <a:srgbClr val="F1F4F8"/>
            </a:solidFill>
            <a:prstDash val="solid"/>
          </a:ln>
        </p:spPr>
      </p:sp>
      <p:sp>
        <p:nvSpPr>
          <p:cNvPr id="20" name="Shape 18"/>
          <p:cNvSpPr/>
          <p:nvPr/>
        </p:nvSpPr>
        <p:spPr>
          <a:xfrm>
            <a:off x="6441948" y="3218688"/>
            <a:ext cx="384048" cy="384048"/>
          </a:xfrm>
          <a:prstGeom prst="ellipse">
            <a:avLst/>
          </a:prstGeom>
          <a:solidFill>
            <a:srgbClr val="3D5A80"/>
          </a:solidFill>
          <a:ln w="12700">
            <a:solidFill>
              <a:srgbClr val="3D5A80"/>
            </a:solidFill>
            <a:prstDash val="solid"/>
          </a:ln>
        </p:spPr>
      </p:sp>
      <p:sp>
        <p:nvSpPr>
          <p:cNvPr id="21" name="Text 19"/>
          <p:cNvSpPr txBox="1"/>
          <p:nvPr/>
        </p:nvSpPr>
        <p:spPr>
          <a:xfrm>
            <a:off x="6441948" y="32186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6935724" y="3218688"/>
            <a:ext cx="450342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Constant edge_attr GSN run</a:t>
            </a:r>
            <a:endParaRPr lang="en-US" sz="1350" dirty="0"/>
          </a:p>
        </p:txBody>
      </p:sp>
      <p:sp>
        <p:nvSpPr>
          <p:cNvPr id="23" name="Text 21"/>
          <p:cNvSpPr txBox="1"/>
          <p:nvPr/>
        </p:nvSpPr>
        <p:spPr>
          <a:xfrm>
            <a:off x="6441948" y="3694176"/>
            <a:ext cx="4997196" cy="621792"/>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Strip m_ij from the edge attribute so the orbit features are tested on topology alone. The cleanest expressivity test available on this data.</a:t>
            </a:r>
            <a:endParaRPr lang="en-US" sz="1100" dirty="0"/>
          </a:p>
        </p:txBody>
      </p:sp>
      <p:sp>
        <p:nvSpPr>
          <p:cNvPr id="24" name="Shape 22"/>
          <p:cNvSpPr/>
          <p:nvPr/>
        </p:nvSpPr>
        <p:spPr>
          <a:xfrm>
            <a:off x="548640" y="4700016"/>
            <a:ext cx="5399532" cy="1444752"/>
          </a:xfrm>
          <a:prstGeom prst="roundRect">
            <a:avLst>
              <a:gd name="adj" fmla="val 3165"/>
            </a:avLst>
          </a:prstGeom>
          <a:solidFill>
            <a:srgbClr val="F1F4F8"/>
          </a:solidFill>
          <a:ln w="12700">
            <a:solidFill>
              <a:srgbClr val="F1F4F8"/>
            </a:solidFill>
            <a:prstDash val="solid"/>
          </a:ln>
        </p:spPr>
      </p:sp>
      <p:sp>
        <p:nvSpPr>
          <p:cNvPr id="25" name="Shape 23"/>
          <p:cNvSpPr/>
          <p:nvPr/>
        </p:nvSpPr>
        <p:spPr>
          <a:xfrm>
            <a:off x="749808" y="4882896"/>
            <a:ext cx="384048" cy="384048"/>
          </a:xfrm>
          <a:prstGeom prst="ellipse">
            <a:avLst/>
          </a:prstGeom>
          <a:solidFill>
            <a:srgbClr val="1F7A8C"/>
          </a:solidFill>
          <a:ln w="12700">
            <a:solidFill>
              <a:srgbClr val="1F7A8C"/>
            </a:solidFill>
            <a:prstDash val="solid"/>
          </a:ln>
        </p:spPr>
      </p:sp>
      <p:sp>
        <p:nvSpPr>
          <p:cNvPr id="26" name="Text 24"/>
          <p:cNvSpPr txBox="1"/>
          <p:nvPr/>
        </p:nvSpPr>
        <p:spPr>
          <a:xfrm>
            <a:off x="749808" y="48828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243584" y="4882896"/>
            <a:ext cx="450342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Population level → motif level</a:t>
            </a:r>
            <a:endParaRPr lang="en-US" sz="1350" dirty="0"/>
          </a:p>
        </p:txBody>
      </p:sp>
      <p:sp>
        <p:nvSpPr>
          <p:cNvPr id="28" name="Text 26"/>
          <p:cNvSpPr txBox="1"/>
          <p:nvPr/>
        </p:nvSpPr>
        <p:spPr>
          <a:xfrm>
            <a:off x="749808" y="5358384"/>
            <a:ext cx="4997196" cy="621792"/>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Move the effects from population-level coupling to motif-level, then generalise the pipeline to C. elegans, the Drosophila hemibrain, and the Allen Mouse Connectivity Atlas.</a:t>
            </a:r>
            <a:endParaRPr lang="en-US" sz="1100" dirty="0"/>
          </a:p>
        </p:txBody>
      </p:sp>
      <p:sp>
        <p:nvSpPr>
          <p:cNvPr id="29" name="Shape 27"/>
          <p:cNvSpPr/>
          <p:nvPr/>
        </p:nvSpPr>
        <p:spPr>
          <a:xfrm>
            <a:off x="6240780" y="4700016"/>
            <a:ext cx="5399532" cy="1444752"/>
          </a:xfrm>
          <a:prstGeom prst="roundRect">
            <a:avLst>
              <a:gd name="adj" fmla="val 3165"/>
            </a:avLst>
          </a:prstGeom>
          <a:solidFill>
            <a:srgbClr val="F1F4F8"/>
          </a:solidFill>
          <a:ln w="12700">
            <a:solidFill>
              <a:srgbClr val="F1F4F8"/>
            </a:solidFill>
            <a:prstDash val="solid"/>
          </a:ln>
        </p:spPr>
      </p:sp>
      <p:sp>
        <p:nvSpPr>
          <p:cNvPr id="30" name="Shape 28"/>
          <p:cNvSpPr/>
          <p:nvPr/>
        </p:nvSpPr>
        <p:spPr>
          <a:xfrm>
            <a:off x="6441948" y="4882896"/>
            <a:ext cx="384048" cy="384048"/>
          </a:xfrm>
          <a:prstGeom prst="ellipse">
            <a:avLst/>
          </a:prstGeom>
          <a:solidFill>
            <a:srgbClr val="C1553B"/>
          </a:solidFill>
          <a:ln w="12700">
            <a:solidFill>
              <a:srgbClr val="C1553B"/>
            </a:solidFill>
            <a:prstDash val="solid"/>
          </a:ln>
        </p:spPr>
      </p:sp>
      <p:sp>
        <p:nvSpPr>
          <p:cNvPr id="31" name="Text 29"/>
          <p:cNvSpPr txBox="1"/>
          <p:nvPr/>
        </p:nvSpPr>
        <p:spPr>
          <a:xfrm>
            <a:off x="6441948" y="48828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6935724" y="4882896"/>
            <a:ext cx="4503420" cy="402336"/>
          </a:xfrm>
          <a:prstGeom prst="rect">
            <a:avLst/>
          </a:prstGeom>
          <a:noFill/>
          <a:ln/>
        </p:spPr>
        <p:txBody>
          <a:bodyPr wrap="square" lIns="0" tIns="0" rIns="0" bIns="0" rtlCol="0" anchor="ctr"/>
          <a:lstStyle/>
          <a:p>
            <a:pPr indent="0" marL="0">
              <a:buNone/>
            </a:pPr>
            <a:r>
              <a:rPr lang="en-US" sz="1350" b="1" dirty="0">
                <a:solidFill>
                  <a:srgbClr val="1A1F2B"/>
                </a:solidFill>
                <a:latin typeface="Calibri" pitchFamily="34" charset="0"/>
                <a:ea typeface="Calibri" pitchFamily="34" charset="-122"/>
                <a:cs typeface="Calibri" pitchFamily="34" charset="-120"/>
              </a:rPr>
              <a:t>Promote the orientation guard</a:t>
            </a:r>
            <a:endParaRPr lang="en-US" sz="1350" dirty="0"/>
          </a:p>
        </p:txBody>
      </p:sp>
      <p:sp>
        <p:nvSpPr>
          <p:cNvPr id="33" name="Text 31"/>
          <p:cNvSpPr txBox="1"/>
          <p:nvPr/>
        </p:nvSpPr>
        <p:spPr>
          <a:xfrm>
            <a:off x="6441948" y="5358384"/>
            <a:ext cx="4997196" cy="621792"/>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Move assert_post_pre and the orientation audit into a repo-level common/orientation.py, so orientation is a property of the file rather than of anyone’s memory.</a:t>
            </a:r>
            <a:endParaRPr lang="en-US" sz="1100" dirty="0"/>
          </a:p>
        </p:txBody>
      </p:sp>
      <p:sp>
        <p:nvSpPr>
          <p:cNvPr id="34" name="Text 32"/>
          <p:cNvSpPr txBox="1"/>
          <p:nvPr/>
        </p:nvSpPr>
        <p:spPr>
          <a:xfrm>
            <a:off x="548640" y="6391656"/>
            <a:ext cx="11091672"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Dissertation framing: non-normal linear algebra applied to empirically reconstructed hippocampal–entorhinal connectomes.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219456"/>
          </a:xfrm>
          <a:prstGeom prst="rect">
            <a:avLst/>
          </a:prstGeom>
          <a:noFill/>
          <a:ln/>
        </p:spPr>
        <p:txBody>
          <a:bodyPr wrap="square" lIns="0" tIns="0" rIns="0" bIns="0" rtlCol="0" anchor="ctr"/>
          <a:lstStyle/>
          <a:p>
            <a:pPr indent="0" marL="0">
              <a:buNone/>
            </a:pPr>
            <a:r>
              <a:rPr lang="en-US" sz="1000" b="1" spc="200" kern="0" dirty="0">
                <a:solidFill>
                  <a:srgbClr val="D9A441"/>
                </a:solidFill>
                <a:latin typeface="Calibri" pitchFamily="34" charset="0"/>
                <a:ea typeface="Calibri" pitchFamily="34" charset="-122"/>
                <a:cs typeface="Calibri" pitchFamily="34" charset="-120"/>
              </a:rPr>
              <a:t>SOURCES</a:t>
            </a:r>
            <a:endParaRPr lang="en-US" sz="1000" dirty="0"/>
          </a:p>
        </p:txBody>
      </p:sp>
      <p:sp>
        <p:nvSpPr>
          <p:cNvPr id="3" name="Text 1"/>
          <p:cNvSpPr txBox="1"/>
          <p:nvPr/>
        </p:nvSpPr>
        <p:spPr>
          <a:xfrm>
            <a:off x="548640" y="585216"/>
            <a:ext cx="10268712" cy="60350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References and primary code</a:t>
            </a:r>
            <a:endParaRPr lang="en-US" sz="2600" dirty="0"/>
          </a:p>
        </p:txBody>
      </p:sp>
      <p:sp>
        <p:nvSpPr>
          <p:cNvPr id="4" name="Text 2"/>
          <p:cNvSpPr txBox="1"/>
          <p:nvPr/>
        </p:nvSpPr>
        <p:spPr>
          <a:xfrm>
            <a:off x="548640" y="1325880"/>
            <a:ext cx="5317236" cy="292608"/>
          </a:xfrm>
          <a:prstGeom prst="rect">
            <a:avLst/>
          </a:prstGeom>
          <a:noFill/>
          <a:ln/>
        </p:spPr>
        <p:txBody>
          <a:bodyPr wrap="square" lIns="0" tIns="0" rIns="0" bIns="0" rtlCol="0" anchor="ctr"/>
          <a:lstStyle/>
          <a:p>
            <a:pPr indent="0" marL="0">
              <a:buNone/>
            </a:pPr>
            <a:r>
              <a:rPr lang="en-US" sz="1600" b="1" dirty="0">
                <a:solidFill>
                  <a:srgbClr val="D9A441"/>
                </a:solidFill>
                <a:latin typeface="Cambria" pitchFamily="34" charset="0"/>
                <a:ea typeface="Cambria" pitchFamily="34" charset="-122"/>
                <a:cs typeface="Cambria" pitchFamily="34" charset="-120"/>
              </a:rPr>
              <a:t>Literature</a:t>
            </a:r>
            <a:endParaRPr lang="en-US" sz="1600" dirty="0"/>
          </a:p>
        </p:txBody>
      </p:sp>
      <p:sp>
        <p:nvSpPr>
          <p:cNvPr id="5" name="Text 3"/>
          <p:cNvSpPr txBox="1"/>
          <p:nvPr/>
        </p:nvSpPr>
        <p:spPr>
          <a:xfrm>
            <a:off x="548640" y="1691640"/>
            <a:ext cx="5317236" cy="4206240"/>
          </a:xfrm>
          <a:prstGeom prst="rect">
            <a:avLst/>
          </a:prstGeom>
          <a:noFill/>
          <a:ln/>
        </p:spPr>
        <p:txBody>
          <a:bodyPr wrap="square" lIns="0" tIns="0" rIns="0" bIns="0" rtlCol="0" anchor="t"/>
          <a:lstStyle/>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Borst A, Leibold C (2023) Connecting Connectomes to Physiology. J Neurosci 43(20):3599–3610.</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Bouritsas G, Frasca F, Zafeiriou S, Bronstein MM (2022) Improving graph neural network expressivity via subgraph isomorphism counting. IEEE TPAMI 45(1):657–668.</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Rees CL, Wheeler DW, Hamilton DJ, White CM, Komendantov AO, Ascoli GA (2016) eNeuro 3(6):ENEURO.0205-16.2016.</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Davis JA, Leinhardt S (1972); Holland PW, Leinhardt S (1970) — the 13 triad classes and the U|MAN null.</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Trefethen LN, Embree M (2005) Spectra and Pseudospectra. Princeton.</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Goldman MS (2009) Neuron 61:621–634 · Dayan P, Abbott LF, Theoretical Neuroscience ch. 7.</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Hennequin et al. (2012, 2014) · Murphy &amp; Miller (2009) · Milisav et al. (2024) Nat Comput Sci.</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Tarjan RE (1972) · Cuthill E, McKee J (1969) · Page L et al. (1999).</a:t>
            </a:r>
            <a:endParaRPr lang="en-US" sz="1150" dirty="0"/>
          </a:p>
        </p:txBody>
      </p:sp>
      <p:sp>
        <p:nvSpPr>
          <p:cNvPr id="6" name="Text 4"/>
          <p:cNvSpPr txBox="1"/>
          <p:nvPr/>
        </p:nvSpPr>
        <p:spPr>
          <a:xfrm>
            <a:off x="6323076" y="1325880"/>
            <a:ext cx="5317236" cy="292608"/>
          </a:xfrm>
          <a:prstGeom prst="rect">
            <a:avLst/>
          </a:prstGeom>
          <a:noFill/>
          <a:ln/>
        </p:spPr>
        <p:txBody>
          <a:bodyPr wrap="square" lIns="0" tIns="0" rIns="0" bIns="0" rtlCol="0" anchor="ctr"/>
          <a:lstStyle/>
          <a:p>
            <a:pPr indent="0" marL="0">
              <a:buNone/>
            </a:pPr>
            <a:r>
              <a:rPr lang="en-US" sz="1600" b="1" dirty="0">
                <a:solidFill>
                  <a:srgbClr val="D9A441"/>
                </a:solidFill>
                <a:latin typeface="Cambria" pitchFamily="34" charset="0"/>
                <a:ea typeface="Cambria" pitchFamily="34" charset="-122"/>
                <a:cs typeface="Cambria" pitchFamily="34" charset="-120"/>
              </a:rPr>
              <a:t>Code and data</a:t>
            </a:r>
            <a:endParaRPr lang="en-US" sz="1600" dirty="0"/>
          </a:p>
        </p:txBody>
      </p:sp>
      <p:sp>
        <p:nvSpPr>
          <p:cNvPr id="7" name="Text 5"/>
          <p:cNvSpPr txBox="1"/>
          <p:nvPr/>
        </p:nvSpPr>
        <p:spPr>
          <a:xfrm>
            <a:off x="6323076" y="1691640"/>
            <a:ext cx="5317236" cy="4206240"/>
          </a:xfrm>
          <a:prstGeom prst="rect">
            <a:avLst/>
          </a:prstGeom>
          <a:noFill/>
          <a:ln/>
        </p:spPr>
        <p:txBody>
          <a:bodyPr wrap="square" lIns="0" tIns="0" rIns="0" bIns="0" rtlCol="0" anchor="t"/>
          <a:lstStyle/>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AscoliLab/docs — TRANSPOSE_WARNINGS.md, matrix_orientation_inventory.md, orientation_convention_proposal.md</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AscoliLab/EE_backbone — ee_backbone_analysis.py, ee_backbone_ordering.py, ei_backbone_analysis_helpers.py</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AscoliLab/inhib_modulation — notebooks 01–03, inhibitory_modulation.py</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AscoliLab/motif_analysis — triad_utils.py, motif Schur and signed-overlap scripts</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AscoliLab/tarjan_reorder — notebooks 01–04, ORIENTATION_AUDIT.md, NOTEBOOK_REVIEW_vs_Borst_Leibold_2023.md</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AscoliLab/schur_decomp — notebooks 01–10, schur_core_script.py and four analysis modules</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AscoliLab/jacobian_analysis — jacobian_core.py, notebooks 01–06</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graph_subnetworks — gsn_connectome.py, GSN_connectome_workflow.ipynb, motif_characterization.ipynb</a:t>
            </a:r>
            <a:endParaRPr lang="en-US" sz="1150" dirty="0"/>
          </a:p>
          <a:p>
            <a:pPr marL="203200" indent="-203200">
              <a:lnSpc>
                <a:spcPts val="1500"/>
              </a:lnSpc>
              <a:spcAft>
                <a:spcPts val="700"/>
              </a:spcAft>
              <a:buSzPct val="100000"/>
              <a:buChar char="•"/>
            </a:pPr>
            <a:r>
              <a:rPr lang="en-US" sz="1150" dirty="0">
                <a:solidFill>
                  <a:srgbClr val="B9CEDE"/>
                </a:solidFill>
                <a:latin typeface="Calibri" pitchFamily="34" charset="0"/>
                <a:ea typeface="Calibri" pitchFamily="34" charset="-122"/>
                <a:cs typeface="Calibri" pitchFamily="34" charset="-120"/>
              </a:rPr>
              <a:t>Data: mij_netlist.csv (1,641 rows) → mij_matrix.csv (85 × 85, stored [pre, post])</a:t>
            </a:r>
            <a:endParaRPr lang="en-US" sz="1150" dirty="0"/>
          </a:p>
        </p:txBody>
      </p:sp>
      <p:sp>
        <p:nvSpPr>
          <p:cNvPr id="8" name="Text 6"/>
          <p:cNvSpPr txBox="1"/>
          <p:nvPr/>
        </p:nvSpPr>
        <p:spPr>
          <a:xfrm>
            <a:off x="548640" y="6080760"/>
            <a:ext cx="11091672" cy="292608"/>
          </a:xfrm>
          <a:prstGeom prst="rect">
            <a:avLst/>
          </a:prstGeom>
          <a:noFill/>
          <a:ln/>
        </p:spPr>
        <p:txBody>
          <a:bodyPr wrap="square" lIns="0" tIns="0" rIns="0" bIns="0" rtlCol="0" anchor="ctr"/>
          <a:lstStyle/>
          <a:p>
            <a:pPr indent="0" marL="0">
              <a:buNone/>
            </a:pPr>
            <a:r>
              <a:rPr lang="en-US" sz="1100" dirty="0">
                <a:solidFill>
                  <a:srgbClr val="B9CEDE"/>
                </a:solidFill>
                <a:latin typeface="Calibri" pitchFamily="34" charset="0"/>
                <a:ea typeface="Calibri" pitchFamily="34" charset="-122"/>
                <a:cs typeface="Calibri" pitchFamily="34" charset="-120"/>
              </a:rPr>
              <a:t>Roxanne Aniceto  ·  Ascoli Lab, Krasnow Institute  ·  George Mason University  ·  10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Wiring Geometry and Stability in the Hippocampal-Entorhinal Connectome</dc:title>
  <dc:subject>PptxGenJS Presentation</dc:subject>
  <dc:creator>Roxanne Aniceto</dc:creator>
  <cp:lastModifiedBy>Roxanne Aniceto</cp:lastModifiedBy>
  <cp:revision>1</cp:revision>
  <dcterms:created xsi:type="dcterms:W3CDTF">2026-09-10T22:46:51Z</dcterms:created>
  <dcterms:modified xsi:type="dcterms:W3CDTF">2026-09-10T22:46:51Z</dcterms:modified>
</cp:coreProperties>
</file>