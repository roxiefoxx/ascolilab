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344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BRIEF  ·  PREPARED FOR DR. GIORGIO ASCOLI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10916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analytical techniques applied to</a:t>
            </a:r>
            <a:endParaRPr lang="en-US" sz="3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Hippocampome connectome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204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9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one is, why it is required, and what it tells us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4343400"/>
            <a:ext cx="1711452" cy="786384"/>
          </a:xfrm>
          <a:prstGeom prst="roundRect">
            <a:avLst>
              <a:gd name="adj" fmla="val 5814"/>
            </a:avLst>
          </a:prstGeom>
          <a:solidFill>
            <a:srgbClr val="1E3057"/>
          </a:solidFill>
          <a:ln w="12700">
            <a:solidFill>
              <a:srgbClr val="1E30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416552"/>
            <a:ext cx="17114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03504" y="4690872"/>
            <a:ext cx="16017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Transposition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4684" y="4343400"/>
            <a:ext cx="1711452" cy="786384"/>
          </a:xfrm>
          <a:prstGeom prst="roundRect">
            <a:avLst>
              <a:gd name="adj" fmla="val 5814"/>
            </a:avLst>
          </a:prstGeom>
          <a:solidFill>
            <a:srgbClr val="1E3057"/>
          </a:solidFill>
          <a:ln w="12700">
            <a:solidFill>
              <a:srgbClr val="1E30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24684" y="4416552"/>
            <a:ext cx="17114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479548" y="4690872"/>
            <a:ext cx="16017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0728" y="4343400"/>
            <a:ext cx="1711452" cy="786384"/>
          </a:xfrm>
          <a:prstGeom prst="roundRect">
            <a:avLst>
              <a:gd name="adj" fmla="val 5814"/>
            </a:avLst>
          </a:prstGeom>
          <a:solidFill>
            <a:srgbClr val="1E3057"/>
          </a:solidFill>
          <a:ln w="12700">
            <a:solidFill>
              <a:srgbClr val="1E30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00728" y="4416552"/>
            <a:ext cx="17114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CE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355592" y="4690872"/>
            <a:ext cx="16017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 / Schur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6772" y="4343400"/>
            <a:ext cx="1711452" cy="786384"/>
          </a:xfrm>
          <a:prstGeom prst="roundRect">
            <a:avLst>
              <a:gd name="adj" fmla="val 5814"/>
            </a:avLst>
          </a:prstGeom>
          <a:solidFill>
            <a:srgbClr val="1E3057"/>
          </a:solidFill>
          <a:ln w="12700">
            <a:solidFill>
              <a:srgbClr val="1E305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6772" y="4416552"/>
            <a:ext cx="17114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15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31636" y="4690872"/>
            <a:ext cx="16017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Feedforward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52816" y="4343400"/>
            <a:ext cx="1711452" cy="786384"/>
          </a:xfrm>
          <a:prstGeom prst="roundRect">
            <a:avLst>
              <a:gd name="adj" fmla="val 5814"/>
            </a:avLst>
          </a:prstGeom>
          <a:solidFill>
            <a:srgbClr val="1E3057"/>
          </a:solidFill>
          <a:ln w="12700">
            <a:solidFill>
              <a:srgbClr val="1E305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52816" y="4416552"/>
            <a:ext cx="17114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CE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107680" y="4690872"/>
            <a:ext cx="16017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928860" y="4343400"/>
            <a:ext cx="1711452" cy="786384"/>
          </a:xfrm>
          <a:prstGeom prst="roundRect">
            <a:avLst>
              <a:gd name="adj" fmla="val 5814"/>
            </a:avLst>
          </a:prstGeom>
          <a:solidFill>
            <a:srgbClr val="1E3057"/>
          </a:solidFill>
          <a:ln w="12700">
            <a:solidFill>
              <a:srgbClr val="1E305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928860" y="4416552"/>
            <a:ext cx="17114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983724" y="4690872"/>
            <a:ext cx="16017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6235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Roxanne Aniceto   ·   85 neuron types, 32 E / 53 I, 8 regions, 1,570 directed edges   ·   15 September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FOREWORD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68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Provenance, and what preprocessing does not do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91672" cy="1280160"/>
          </a:xfrm>
          <a:prstGeom prst="roundRect">
            <a:avLst>
              <a:gd name="adj" fmla="val 357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444752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Provenance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1773936"/>
            <a:ext cx="105064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9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one exception these techniques were not assigned. Dr. Ascoli asked for an examination of motifs, without specifying a method. The remaining five techniques, the specific motif methodology, and the orientation, normalisation and verification conventions throughout were identified, evaluated and applied in the course of this work.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06624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WORD “PREPROCESSING”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35224"/>
            <a:ext cx="110916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 six are operations performed before any analysis runs. "Preprocessing" can be read as implying the measured data has been altered. It has not: each is a re-expression of the same numbers, and each is exactly invertible.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3514344" cy="1280160"/>
          </a:xfrm>
          <a:prstGeom prst="roundRect">
            <a:avLst>
              <a:gd name="adj" fmla="val 3571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" y="3584448"/>
            <a:ext cx="3038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Relabelings change nothing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3968496"/>
            <a:ext cx="3038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Transposition and reordering are bijections on the index set — same cell types, same edges, same weights. Eigenvalues, spectral radius and triad counts are unchanged; only the reading of direction changes.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37304" y="3474720"/>
            <a:ext cx="3514344" cy="1280160"/>
          </a:xfrm>
          <a:prstGeom prst="roundRect">
            <a:avLst>
              <a:gd name="adj" fmla="val 3571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5048" y="3584448"/>
            <a:ext cx="3038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rescaling preserves every ratio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5048" y="3968496"/>
            <a:ext cx="3038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positive constant across every entry. Signs, sparsity, the rank ordering of every weight and every eigenvector direction are preserved exactly; dividing by it restores the original matrix.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25968" y="3474720"/>
            <a:ext cx="3514344" cy="1280160"/>
          </a:xfrm>
          <a:prstGeom prst="roundRect">
            <a:avLst>
              <a:gd name="adj" fmla="val 3571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3712" y="3584448"/>
            <a:ext cx="3038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transforms preserve order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363712" y="3968496"/>
            <a:ext cx="3038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only to learning-model inputs, never to the dynamical operator. Strictly monotone and invertible, so distinct values stay distinct — the expressivity guarantee survives. Spacing changes; order does not.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846320"/>
            <a:ext cx="3526536" cy="1371600"/>
          </a:xfrm>
          <a:prstGeom prst="roundRect">
            <a:avLst>
              <a:gd name="adj" fmla="val 3333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4965192"/>
            <a:ext cx="301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cost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5266944"/>
            <a:ext cx="301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makes absolute magnitudes uninterpretable, so our claims are ordinal and comparative rather than absolute — stated wherever a magnitude appears.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31208" y="4846320"/>
            <a:ext cx="3526536" cy="1371600"/>
          </a:xfrm>
          <a:prstGeom prst="roundRect">
            <a:avLst>
              <a:gd name="adj" fmla="val 3333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87240" y="4965192"/>
            <a:ext cx="301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not preprocessing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87240" y="5266944"/>
            <a:ext cx="301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Zeroing the diagonal, and the block and node ablations, do change the matrix — deliberate experiments, reported as such. The choice of activity variable is a modelling decision, not a neutral re-expression.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13776" y="4846320"/>
            <a:ext cx="3526536" cy="1371600"/>
          </a:xfrm>
          <a:prstGeom prst="roundRect">
            <a:avLst>
              <a:gd name="adj" fmla="val 3333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69808" y="4965192"/>
            <a:ext cx="301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Self-connections are kept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369808" y="5266944"/>
            <a:ext cx="301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diagonal is within-type coupling between distinct cells, not autapses — 71 of 85 types carry one. Keeping it moves results toward stability: ρ(M[E,E]) 0.886 against 0.996, non-normality 5,870 against 18,320.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39165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distinction matters for reading the results: a relabeling cannot produce a finding, which is exactly why a wrong one is dangerous — the diagnostics that should catch it are invariant too.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READ THIS ONE ON ITS OWN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68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techniques, why each is required, what each yields</a:t>
            </a:r>
            <a:endParaRPr lang="en-US" sz="2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98448"/>
          <a:ext cx="1109167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4343400"/>
                <a:gridCol w="459943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is 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tells 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Transposition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numerical and graph library reads M[i,j] as "j acts on i"; the stored table is the opposite. A flipped run is invisible to every structural diagnostic.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causal direction; feedforward lands below the diagonal; verified by netlist residual 3.0 × 10⁻¹⁸ transposed against 1.414 as stored.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Normalisation,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  transform, scaling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ρ(M) = 26,213 — the system diverges and resolvent, Neumann and Gramian terms overflow. Coupling spans eight orders of magnitude.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With-self and no-self variants become comparable; gain is separated from geometry; ρ is transpose-invariant where L1 normalisation is not.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Eigenvalues 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  eigenvectors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Eigenvalues give the asymptotics only. Henrici departure is 99.3% of ‖J‖_F and the eigenvector condition number is 9.9 × 10⁴, so the modal basis cannot be used alone.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α(J) = −0.05 (stable), ω(J) = 29.58, gap 29.63; 27× worst-case transient; a normal surrogate with the same spectrum amplifies 1.00×.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Feedforward 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  feedback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"Feedforward" is a property of the matrix under an ordering, so the claim needs an explicit optimiser and a null to mean anything.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94.96% forward weight against a null of 0.486; the trisynaptic order recovered with no anatomical input; E→I 77.02 against I→E 0.084.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Motif analysis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triad counts report degree and reciprocity rather than three-node structure, and the diagonal is within-type coupling, not autapses.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300 enriched 7.7× (z = +62), 201 suppressed to 0.11×; disinhibitory E→I→I→E at z ≈ 52 with three named relay cell types.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Machine learning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whether local three-node structure carries information about global dynamics rather than merely describing it.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GSN-e R² 0.57 against 0.21 and 0.22 baselines; Spearman flat, so the gain is calibration; δ = 0.9529 orbit-signature distinctness.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846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compose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5175504"/>
            <a:ext cx="2608326" cy="841248"/>
          </a:xfrm>
          <a:prstGeom prst="roundRect">
            <a:avLst>
              <a:gd name="adj" fmla="val 5435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5285232"/>
            <a:ext cx="22059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2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5541264"/>
            <a:ext cx="220599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Preconditions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76422" y="5175504"/>
            <a:ext cx="2608326" cy="841248"/>
          </a:xfrm>
          <a:prstGeom prst="roundRect">
            <a:avLst>
              <a:gd name="adj" fmla="val 5435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77590" y="5285232"/>
            <a:ext cx="22059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4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577590" y="5541264"/>
            <a:ext cx="220599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readings of one operator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04204" y="5175504"/>
            <a:ext cx="2608326" cy="841248"/>
          </a:xfrm>
          <a:prstGeom prst="roundRect">
            <a:avLst>
              <a:gd name="adj" fmla="val 5435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5372" y="5285232"/>
            <a:ext cx="22059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405372" y="5541264"/>
            <a:ext cx="220599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intermediate scale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031986" y="5175504"/>
            <a:ext cx="2608326" cy="841248"/>
          </a:xfrm>
          <a:prstGeom prst="roundRect">
            <a:avLst>
              <a:gd name="adj" fmla="val 5435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233154" y="5285232"/>
            <a:ext cx="22059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5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233154" y="5541264"/>
            <a:ext cx="220599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39165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is from our own runs. Aside from a request to examine motifs — method unspecified — these techniques were identified and applied by me. Full derivations and sources in the accompanying methods brief.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68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six compose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91672" cy="1097280"/>
          </a:xfrm>
          <a:prstGeom prst="roundRect">
            <a:avLst>
              <a:gd name="adj" fmla="val 416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664208"/>
            <a:ext cx="868680" cy="530352"/>
          </a:xfrm>
          <a:prstGeom prst="roundRect">
            <a:avLst>
              <a:gd name="adj" fmla="val 8621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664208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15544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Preconditions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572768"/>
            <a:ext cx="6291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Transposition fixes the direction of causation. Normalisation makes the dynamical question well-posed at all. Neither produces a result; both determine whether a result means anything.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15184"/>
            <a:ext cx="11091672" cy="1097280"/>
          </a:xfrm>
          <a:prstGeom prst="roundRect">
            <a:avLst>
              <a:gd name="adj" fmla="val 416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2889504"/>
            <a:ext cx="868680" cy="530352"/>
          </a:xfrm>
          <a:prstGeom prst="roundRect">
            <a:avLst>
              <a:gd name="adj" fmla="val 8621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2889504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4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2779776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readings of one operator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2798064"/>
            <a:ext cx="6291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Feedforward/feedback reads the matrix geometrically — where flow goes and how much returns. Eigen/Schur reads the same matrix spectrally — where it settles and how fast. The gap between the two readings is the central finding.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11091672" cy="1097280"/>
          </a:xfrm>
          <a:prstGeom prst="roundRect">
            <a:avLst>
              <a:gd name="adj" fmla="val 416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4114800"/>
            <a:ext cx="868680" cy="530352"/>
          </a:xfrm>
          <a:prstGeom prst="roundRect">
            <a:avLst>
              <a:gd name="adj" fmla="val 8621"/>
            </a:avLst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4114800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400507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intermediate scale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983480" y="4023360"/>
            <a:ext cx="6291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analysis sits between the single edge and the whole operator. It is where a global dynamical property becomes attributable to identifiable, named circuits.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065776"/>
            <a:ext cx="11091672" cy="1097280"/>
          </a:xfrm>
          <a:prstGeom prst="roundRect">
            <a:avLst>
              <a:gd name="adj" fmla="val 416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5340096"/>
            <a:ext cx="868680" cy="530352"/>
          </a:xfrm>
          <a:prstGeom prst="roundRect">
            <a:avLst>
              <a:gd name="adj" fmla="val 8621"/>
            </a:avLst>
          </a:prstGeom>
          <a:solidFill>
            <a:srgbClr val="C1553B"/>
          </a:solidFill>
          <a:ln w="12700">
            <a:solidFill>
              <a:srgbClr val="C1553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" y="5340096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874520" y="52303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test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983480" y="5248656"/>
            <a:ext cx="6291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is applied not for prediction but to test whether that intermediate scale is real — whether local three-node structure carries information about global dynamics, or only describes it.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9165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 six are preconditions rather than analyses. They are in scope because if either is wrong, every downstream result is wrong in a way inspection cannot detect.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68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Transposition — fixing the direction of causation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247120" y="402336"/>
            <a:ext cx="512064" cy="512064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47120" y="4023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544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the stored matrix from M[pre, post] — rows are presynaptic sources — into M[post, pre], where rows are targets, before any dynamical, spectral or graph operation.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9572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REQUIRED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624328"/>
            <a:ext cx="64008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M[pre, post] is the natural table for a biologist. Every numerical and graph library instead reads M[i, j] as the influence of j on i — x[t+1] = Mx[t], dV/dt = AV, scipy.linalg.schur, numpy.linalg.eig, expm, controllability Gramians, networkx.add_edge. None raises an error on a source-row matrix; each silently reverses the causal statements downstream.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325880"/>
          <a:ext cx="4462272" cy="914400"/>
        </p:xfrm>
        <a:graphic>
          <a:graphicData uri="http://schemas.openxmlformats.org/drawingml/2006/table">
            <a:tbl>
              <a:tblPr/>
              <a:tblGrid>
                <a:gridCol w="1243584"/>
                <a:gridCol w="1609344"/>
                <a:gridCol w="1609344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M[post, pre]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M[pre, post]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→ 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pos (382)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pos (382)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→ 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pos (352)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pos (171)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→ 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pos (171)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pos (352)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→ 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pos (736)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pos (736)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7178040" y="3017520"/>
            <a:ext cx="4462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E/I identity is carried by outgoing weight sign, so the block sign pattern is itself an orientation test. The separation is total. The check runs at every loader boundary.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749040"/>
            <a:ext cx="11091672" cy="960120"/>
          </a:xfrm>
          <a:prstGeom prst="roundRect">
            <a:avLst>
              <a:gd name="adj" fmla="val 4762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4672" y="3867912"/>
            <a:ext cx="10579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gain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04672" y="4169664"/>
            <a:ext cx="10579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causal direction throughout  ·  feedforward lands below the diagonal, so upper-triangle mass reads as recurrency  ·  E/I block identities do not swap  ·  orientation is a verified property of the file: netlist residual 1.414 as stored against 3.0 × 10⁻¹⁸ transposed.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4864608"/>
            <a:ext cx="11091672" cy="1078992"/>
          </a:xfrm>
          <a:prstGeom prst="roundRect">
            <a:avLst>
              <a:gd name="adj" fmla="val 4237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4672" y="4983480"/>
            <a:ext cx="10579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804672" y="5285232"/>
            <a:ext cx="10579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transposed run is invisible to every structural diagnostic: recurrency, order index, feedforward fraction and bandwidth are numerically identical, because the reversed ordering is exactly as good. The only symptoms are a reversed cell ordering and the absence of the trisynaptic pathway — both of which read as results.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39165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docs/TRANSPOSE_WARNINGS.md · docs/orientation_convention_proposal.md · tarjan_reorder/ORIENTATION_AUDIT.md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68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Normalisation, transform, and scaling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247120" y="402336"/>
            <a:ext cx="512064" cy="51206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47120" y="4023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DIFFERENT OPERATIONS, OFTEN CONFLATED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rescales the operator so its spectral radius meets a target. Transformation changes the variable so a heavy-tailed quantity becomes tractable. Scaling standardises features for a learning algorithm. Three different problems, not interchangeable.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12848"/>
          <a:ext cx="11091672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291840"/>
                <a:gridCol w="3867912"/>
              </a:tblGrid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this 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Schur modes, propagation, linear systems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ρ(M) = 0.95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matched and stable across with-self / no-self variants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Inhibitory stable-response analyses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ρ(M) = 0.85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keeps resolvent, Neumann and Gramian terms in range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Jacobian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ρ(W) = 0.95, on W and never on 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scaling J rescales the leak and silently changes 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Neural-mass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= α·Mᵀ / ρ(Mᵀ),  α = 0.9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map must be contractive or no fixed point exists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Orbit-count features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log1p, then z-score per 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heavy-tailed counts; monotone, so injectivity is preserved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Coupling as a 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sign(x) · log1p(|x|)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preserves Dale sign across eight orders of magnitude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187952"/>
            <a:ext cx="5349240" cy="1005840"/>
          </a:xfrm>
          <a:prstGeom prst="roundRect">
            <a:avLst>
              <a:gd name="adj" fmla="val 4545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4672" y="4306824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required, not cosmetic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4608576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ρ(M) = 26,213. At native scale the system diverges and the resolvent, Neumann and Gramian terms overflow. Normalisation is what makes the dynamical question askable at all.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91072" y="4187952"/>
            <a:ext cx="5349240" cy="1005840"/>
          </a:xfrm>
          <a:prstGeom prst="roundRect">
            <a:avLst>
              <a:gd name="adj" fmla="val 4545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47104" y="4306824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 of bug eliminated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547104" y="4608576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Spectral-radius normalisation is transpose-invariant; row- and column-L1 swap meaning under transposition. Choosing ρ removes a whole family of orientation errors.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5266944"/>
            <a:ext cx="11091672" cy="1024128"/>
          </a:xfrm>
          <a:prstGeom prst="roundRect">
            <a:avLst>
              <a:gd name="adj" fmla="val 4464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4672" y="5385816"/>
            <a:ext cx="10579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804672" y="5687568"/>
            <a:ext cx="10579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Magnitudes become conditional, so claims are ordinal and comparative. Transient amplification is also basis-dependent: under a similarity transform leaving the spectrum identical to 4 × 10⁻¹⁵, peak amplification is 27× in extensive population activity, 575× under an A/√q split, 47,695× in per-cell rate. Stability and α are invariant; ω and peak gain are not. The norm is declared: Euclidean on extensive activity, since q·r is total spike output.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39165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schur_decomp/README.md · jacobian_analysis/README.md · docs/WEIGHTS_VS_TOPOLOGY.md §3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68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Eigenvalues, eigenvectors, and the Schur extension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247120" y="402336"/>
            <a:ext cx="512064" cy="5120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47120" y="4023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5448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decomposition of the oriented, normalised operator — plus the extensions eigenvalues alone cannot supply: Schur decomposition A = QTQ*, the spectral, numerical and pseudospectral abscissas, ε-pseudospectra, and the Kreiss constant.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59152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REQUIRED — AND WHY IT IS NOT SUFFICIENT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587752"/>
            <a:ext cx="6492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 answer where a linear system ends up: stability, timescales, dominant direction. They say almost nothing about what it does first. For a normal matrix the distinction does not arise. This matrix is not normal — Henrici departure is 99.3% of ‖J‖_F and the eigenvector condition number is 9.9 × 10⁴ — so modal directions are not separately excitable and a single mode’s time constant cannot be isolated. Used alone, eigenvalues mislead.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1325880"/>
          <a:ext cx="4370832" cy="914400"/>
        </p:xfrm>
        <a:graphic>
          <a:graphicData uri="http://schemas.openxmlformats.org/drawingml/2006/table">
            <a:tbl>
              <a:tblPr/>
              <a:tblGrid>
                <a:gridCol w="2816352"/>
                <a:gridCol w="1554480"/>
              </a:tblGrid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Spectral abscissa α(J)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 abscissa ω(J)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Abscissa gap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29.63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amplification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27.11× at 1.2τ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Kreiss bound (ε = 0.05)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Henrici departure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99.3% of ‖J‖_F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Eigenvector condition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 × 10⁴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surrogate, same spectrum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4096512"/>
            <a:ext cx="5349240" cy="1115568"/>
          </a:xfrm>
          <a:prstGeom prst="roundRect">
            <a:avLst>
              <a:gd name="adj" fmla="val 409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4672" y="4215384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Schur rather than eigendecomposition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04672" y="4517136"/>
            <a:ext cx="4837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is unitary, so Schur coordinates are stable exactly where the modal basis is not. T’s diagonal carries the spectrum while its upper triangle preserves mode-to-mode coupling, so the cascade stays visible rather than collapsing into a diagonal.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91072" y="4096512"/>
            <a:ext cx="5349240" cy="1115568"/>
          </a:xfrm>
          <a:prstGeom prst="roundRect">
            <a:avLst>
              <a:gd name="adj" fmla="val 409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47104" y="4215384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Timescales and attribution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6547104" y="4517136"/>
            <a:ext cx="4837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Per-mode effective time constants run 0.76τ to 20τ with 44 of 85 modes faster than τ — a 26-fold spread. CA1 dominates 26 of 85 Schur modes; high-loading cells are predominantly inhibitory.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5321808"/>
            <a:ext cx="11091672" cy="987552"/>
          </a:xfrm>
          <a:prstGeom prst="roundRect">
            <a:avLst>
              <a:gd name="adj" fmla="val 4630"/>
            </a:avLst>
          </a:prstGeom>
          <a:solidFill>
            <a:srgbClr val="EDF3F6"/>
          </a:solidFill>
          <a:ln w="12700">
            <a:solidFill>
              <a:srgbClr val="EDF3F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4672" y="5440680"/>
            <a:ext cx="10579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804672" y="5742432"/>
            <a:ext cx="10579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Eigen-analysis answers where the circuit settles; the non-normal extensions answer what it does on the way there. In a memory circuit the transient is the part of interest, and a purely spectral reading predicts monotone decay at rate 0.05 — wrong about the entire first few τ of the response. The normal surrogate of identical spectrum amplifying exactly 1.00× is the control that makes this a claim.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39165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schur_decomp/01–10 · jacobian_analysis/01_jacobian_construction.ipynb · Trefethen &amp; Embree (2005); Goldman (2009)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68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Feedforward and feedback structure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247120" y="402336"/>
            <a:ext cx="512064" cy="512064"/>
          </a:xfrm>
          <a:prstGeom prst="ellipse">
            <a:avLst/>
          </a:prstGeom>
          <a:solidFill>
            <a:srgbClr val="C1553B"/>
          </a:solidFill>
          <a:ln w="12700">
            <a:solidFill>
              <a:srgbClr val="C155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47120" y="4023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1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IS, AND WHY AN ORDERING IS NEEDED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10916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"Feedforward" is a property of a connectome under an ordering, not of the connectome itself, so the claim is only as strong as the search and the null behind it. Only shared permutations M′ = PᵀMP are admissible: permuting rows independently of columns renames cells inconsistently.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176272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C15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0.9496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7121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E→E weight fraction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0.486 (n = 2,000), p &lt; 0.005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176272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3D5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99.52%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87121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|weight| placeable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diagonal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17627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77.02 / 0.084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87121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E→I against I→E block norm —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stage, negligible return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11880"/>
          <a:ext cx="11091672" cy="914400"/>
        </p:xfrm>
        <a:graphic>
          <a:graphicData uri="http://schemas.openxmlformats.org/drawingml/2006/table">
            <a:tbl>
              <a:tblPr/>
              <a:tblGrid>
                <a:gridCol w="3776472"/>
                <a:gridCol w="1645920"/>
                <a:gridCol w="1828800"/>
                <a:gridCol w="1920240"/>
                <a:gridCol w="1920240"/>
              </a:tblGrid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Henrici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amp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E→I / I→E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Fwd 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— real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27.13×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— sign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/ κ_j — no postsynaptic gain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7.74×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/ q_i — no census weighting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1.45×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/ (κ_j q_i) — neither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48640" y="5285232"/>
            <a:ext cx="11091672" cy="1042416"/>
          </a:xfrm>
          <a:prstGeom prst="roundRect">
            <a:avLst>
              <a:gd name="adj" fmla="val 4386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4672" y="5404104"/>
            <a:ext cx="10579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produced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804672" y="5705856"/>
            <a:ext cx="10579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topology amplifies 1.06×; the real operator amplifies 27×. Strip both diagonal scalings and E→I / I→E is 0.96 — a balanced substrate. The feedforward geometry is not in the wiring: it is produced by the cell-type census (q_i, median 5,615 excitatory against 333 inhibitory) and postsynaptic gain (κ_j, ~2.7× median, ~9× at the tails). A binary or even synaptically weighted connectome cannot predict these dynamics; the Hippocampome parameter tables are indispensable.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39165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EE_backbone/ee_backbone_ordering.py · tarjan_reorder/01–02 · docs/WEIGHTS_VS_TOPOLOGY.md · Borst &amp; Leibold (2023) J Neurosci 43(20):3599–3610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68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Motif analysis — the intermediate scale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247120" y="402336"/>
            <a:ext cx="512064" cy="5120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47120" y="4023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IS, AND WHY IT IS REQUIRED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Enumeration and significance testing of the thirteen Davis–Holland–Leinhardt directed triad classes, with the within-type diagonal unrolled into twin nodes, scored against two null ensembles. Motifs occupy the scale at which a global dynamical property becomes attributable to a nameable circuit: operator-level results describe the whole matrix, edge-level results single connections, and neither identifies the responsible circuit. Raw counts report degree and reciprocity rather than three-node structure, so a null is mandatory; and since the diagonal is within-type coupling rather than autapses, unrolling keeps that structure from vanishing silently.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54864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22960"/>
                <a:gridCol w="822960"/>
                <a:gridCol w="777240"/>
                <a:gridCol w="7772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 reciprocal triangle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030T  feed-forward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48640" y="43434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transitive and cycle-averse; reciprocity clusters into closed triangles rather than open chains — which raw counts report the opposite way. Nulls: U|MAN, and a degree- and dyad-preserving rewiring.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63640" y="2651760"/>
            <a:ext cx="5376672" cy="1042416"/>
          </a:xfrm>
          <a:prstGeom prst="roundRect">
            <a:avLst>
              <a:gd name="adj" fmla="val 438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92240" y="2761488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in the lab’s prior work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3017520"/>
            <a:ext cx="4919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thirteen classes map letter-for-letter onto the Rees et al. (2016) superpatterns A–M, and that paper’s combinatorics reproduce exactly — so results are directly commensurable with the earlier Hippocampome analysis.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63640" y="3785616"/>
            <a:ext cx="5376672" cy="1042416"/>
          </a:xfrm>
          <a:prstGeom prst="roundRect">
            <a:avLst>
              <a:gd name="adj" fmla="val 438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92240" y="3895344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Placement, not just abundance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4151376"/>
            <a:ext cx="4919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Permuting E/I labels on the fixed graph shows all-excitatory triads over-represented in the reciprocal classes (201 z = +13, 300 z = +9). Composition restates the 32/53 inventory; placement establishes that the recurrent excitatory core is structural.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63640" y="4919472"/>
            <a:ext cx="5376672" cy="1042416"/>
          </a:xfrm>
          <a:prstGeom prst="roundRect">
            <a:avLst>
              <a:gd name="adj" fmla="val 438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92240" y="502920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cell-type result we have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6492240" y="5285232"/>
            <a:ext cx="4919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Disinhibitory E→I→I→E at z ≈ 52 and I→I→E at z ≈ 28, stable across variants, with three named relay types: CA1 Perforant Path Associated, MEC LIII Superficial Multipolar, DG AIPRIM.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5257800"/>
            <a:ext cx="5486400" cy="914400"/>
          </a:xfrm>
          <a:prstGeom prst="roundRect">
            <a:avLst>
              <a:gd name="adj" fmla="val 5000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04672" y="5376672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denominator, caught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04672" y="5678424"/>
            <a:ext cx="4974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networkx.directed_edge_swap preserves degrees but destroys ~60% of the 422 mutual dyads. As a null it reports very large, entirely spurious enrichment for every reciprocal class.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39165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graph_subnetworks/motif_characterization.ipynb · inhib_modulation/02–03 · schur_decomp/07 · Rees et al. (2016) eNeuro 3(6); Davis &amp; Leinhardt (1972)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68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— testing whether the motif scale is real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247120" y="402336"/>
            <a:ext cx="512064" cy="51206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47120" y="4023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IS, AND WHAT IT IS FOR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109167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 Substructure Network (Bouritsas et al., 2022): counts of three-node subgraph orbits are appended to node and edge features so the network exceeds the expressive ceiling of standard message passing. The purpose is not predictive accuracy — it is to establish that the three-node motif is a legitimate analytical primitive. The target is deliberately global (the neural-mass steady state under unit DG Granule drive) so a shallow network cannot reach it locally and must use the structural features; splits are drawn over cell types, never node instances, since twins are exchangeable and would let the model memorise.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42032"/>
          <a:ext cx="6309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280160"/>
              </a:tblGrid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R² (10 splits)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— first-order features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 ± 0.53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— first-order + orbit counts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 ± 0.42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Message-passing network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 ± 0.94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GSN-v — vertex orbits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 ± 0.29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GSN-e — edge orbits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 ± 0.23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040880" y="2542032"/>
            <a:ext cx="4599432" cy="987552"/>
          </a:xfrm>
          <a:prstGeom prst="roundRect">
            <a:avLst>
              <a:gd name="adj" fmla="val 463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296912" y="2660904"/>
            <a:ext cx="4087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Three-node structure is informative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296912" y="2962656"/>
            <a:ext cx="4087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counts help with and without message passing, and edge orbits beat vertex orbits as the expressivity theorem predicts. This is the result the technique was adopted to obtain.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040880" y="3639312"/>
            <a:ext cx="4599432" cy="1060704"/>
          </a:xfrm>
          <a:prstGeom prst="roundRect">
            <a:avLst>
              <a:gd name="adj" fmla="val 431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296912" y="3758184"/>
            <a:ext cx="4087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gain is calibration, not ranking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296912" y="4059936"/>
            <a:ext cx="4087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is flat at ≈0.72 across all five models while R² more than doubles. Either metric alone misstates the result; the disagreement is the finding.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279392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= 0.9529 — 81 of 85 cell types have distinct orbit signatures. The four ties are types Hippocampome separates on molecular markers, not connectivity, so the tie is a property of the data. Orbit counts are a near-complete connectivity fingerprint for cell type.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5138928"/>
            <a:ext cx="11091672" cy="1078992"/>
          </a:xfrm>
          <a:prstGeom prst="roundRect">
            <a:avLst>
              <a:gd name="adj" fmla="val 4237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4672" y="5257800"/>
            <a:ext cx="10579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decisive experiment, not yet run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804672" y="5559552"/>
            <a:ext cx="10579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 attribute carries the coupling magnitude, which is most of what determines the dynamics — so given that the geometry resides in the weights, the informative design is three-way: (a) orbit counts only; (b) orbit counts plus q_i and κ_j as node features; (c) the full model. If (b) ≈ (c) ≫ (a), motif structure becomes predictive once population size and excitability are known, making the three-node motif load-bearing rather than parallel. A poor result for (a) alone confirms, not undermines, the finding that topology alone carries little of the dynamics.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39165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graph_subnetworks/gsn_connectome.py · GSN_connectome_workflow.ipynb · Bouritsas et al. (2022) IEEE TPAMI 45(1):657–668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68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set of techniques buys the project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9532" cy="1572768"/>
          </a:xfrm>
          <a:prstGeom prst="roundRect">
            <a:avLst>
              <a:gd name="adj" fmla="val 2907"/>
            </a:avLst>
          </a:prstGeom>
          <a:solidFill>
            <a:srgbClr val="1E3057"/>
          </a:solidFill>
          <a:ln w="12700">
            <a:solidFill>
              <a:srgbClr val="1E30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36192"/>
            <a:ext cx="48508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claim that can be falsified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38528"/>
            <a:ext cx="48508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9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circuit is functionally feedforward inside a structurally recurrent graph, and that geometry rather than its spectrum governs its transient dynamics. Four scales measure the same thing — edge-weight ordering, triad census, block asymmetry, operator non-normality — with a normal surrogate of identical spectrum as the control.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40780" y="1371600"/>
            <a:ext cx="5399532" cy="1572768"/>
          </a:xfrm>
          <a:prstGeom prst="roundRect">
            <a:avLst>
              <a:gd name="adj" fmla="val 2907"/>
            </a:avLst>
          </a:prstGeom>
          <a:solidFill>
            <a:srgbClr val="1E3057"/>
          </a:solidFill>
          <a:ln w="12700">
            <a:solidFill>
              <a:srgbClr val="1E30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15100" y="1536192"/>
            <a:ext cx="48508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argument for parameterised connectomics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15100" y="1938528"/>
            <a:ext cx="48508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9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synaptic substrate is close to E/I-balanced; the geometry comes from census and excitability. A binary or even synaptically weighted connectome is insufficient to predict dynamics, so the Hippocampome parameter tables are doing indispensable work.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5399532" cy="1572768"/>
          </a:xfrm>
          <a:prstGeom prst="roundRect">
            <a:avLst>
              <a:gd name="adj" fmla="val 2907"/>
            </a:avLst>
          </a:prstGeom>
          <a:solidFill>
            <a:srgbClr val="1E3057"/>
          </a:solidFill>
          <a:ln w="12700">
            <a:solidFill>
              <a:srgbClr val="1E30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364992"/>
            <a:ext cx="48508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Cell-type-resolved predictions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767328"/>
            <a:ext cx="48508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9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interneurons are identified as the disinhibitory relays setting the excitatory operating point, which no prior treatment of this circuit has specified.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40780" y="3200400"/>
            <a:ext cx="5399532" cy="1572768"/>
          </a:xfrm>
          <a:prstGeom prst="roundRect">
            <a:avLst>
              <a:gd name="adj" fmla="val 2907"/>
            </a:avLst>
          </a:prstGeom>
          <a:solidFill>
            <a:srgbClr val="1E3057"/>
          </a:solidFill>
          <a:ln w="12700">
            <a:solidFill>
              <a:srgbClr val="1E30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5100" y="3364992"/>
            <a:ext cx="48508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Conventions asserted, not remembered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15100" y="3767328"/>
            <a:ext cx="48508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9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Orientation, scale and ordering are checked in code at every boundary, which is what makes the results reproducible by someone other than me.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828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honest limits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175504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9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Magnitudes are conditional on normalisation and on the choice of activity variable, so claims are ordinal and comparative. And non-normal amplification is a linear phenomenon: whether the 27-fold transient survives a saturating nonlinearity is untested, and that test is the next priority.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Six Analytical Techniques Applied to the Hippocampome Connectome</dc:title>
  <dc:subject>PptxGenJS Presentation</dc:subject>
  <dc:creator>Roxanne Aniceto</dc:creator>
  <cp:lastModifiedBy>Roxanne Aniceto</cp:lastModifiedBy>
  <cp:revision>1</cp:revision>
  <dcterms:created xsi:type="dcterms:W3CDTF">2026-09-15T22:05:50Z</dcterms:created>
  <dcterms:modified xsi:type="dcterms:W3CDTF">2026-09-15T22:05:50Z</dcterms:modified>
</cp:coreProperties>
</file>